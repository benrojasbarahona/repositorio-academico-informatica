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466" r:id="rId3"/>
    <p:sldId id="539" r:id="rId4"/>
    <p:sldId id="540" r:id="rId5"/>
    <p:sldId id="524" r:id="rId6"/>
    <p:sldId id="541" r:id="rId7"/>
    <p:sldId id="547" r:id="rId8"/>
    <p:sldId id="544" r:id="rId9"/>
    <p:sldId id="542" r:id="rId10"/>
    <p:sldId id="545" r:id="rId11"/>
    <p:sldId id="546" r:id="rId12"/>
    <p:sldId id="543" r:id="rId13"/>
    <p:sldId id="548" r:id="rId14"/>
    <p:sldId id="549" r:id="rId15"/>
    <p:sldId id="528" r:id="rId16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525" autoAdjust="0"/>
  </p:normalViewPr>
  <p:slideViewPr>
    <p:cSldViewPr snapToGrid="0">
      <p:cViewPr varScale="1">
        <p:scale>
          <a:sx n="54" d="100"/>
          <a:sy n="54" d="100"/>
        </p:scale>
        <p:origin x="12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15-10-2024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15-10-2024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F630-7B50-ADCD-4EB3-2B3B66FB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D94244-1D18-29FF-83F2-DF9D274B8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8AF819-7411-3F54-04C3-28272A122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36A34E-988E-01DE-17CD-5BD8CE0DA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9988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605A-7688-6317-8D41-435EE0E1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15929C-39A4-5C1D-8D46-E017628A6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2993B3-2C1D-FDE8-51DE-A180970E2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6DB774-2E0C-8C51-64AF-CFBDBA04F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369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25AA-0F9C-0F7A-AD19-8EA2D8FB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DEEA98-4EA6-E7C9-66C3-7363F22D2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8E8C25-CAD9-7567-1C6E-DA6558705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4635F4-23FF-ECBB-8793-67B7E3BE65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718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E8262-45E2-CA51-AFE0-A33D8A8F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B08ED7-02F9-0E31-EA06-AEF71B88C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C3C1E7-E540-547D-0957-23A852A40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1FF671-5311-BF45-DC4E-DB36DA6D2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8260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D6B8-C699-E174-213B-4B9BB320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289408-44F8-9E0F-1D49-2FA1457E5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2B1C25-AFB1-EBD2-CFD8-563872D99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(*) Lo ideal es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reglas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estas</a:t>
            </a:r>
            <a:r>
              <a:rPr lang="en-US" dirty="0"/>
              <a:t>, que </a:t>
            </a:r>
            <a:r>
              <a:rPr lang="en-US" dirty="0" err="1"/>
              <a:t>sean</a:t>
            </a:r>
            <a:r>
              <a:rPr lang="en-US" dirty="0"/>
              <a:t> “</a:t>
            </a:r>
            <a:r>
              <a:rPr lang="en-US" dirty="0" err="1"/>
              <a:t>implementables</a:t>
            </a:r>
            <a:r>
              <a:rPr lang="en-US" dirty="0"/>
              <a:t>”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1ED69D-C0AA-2B97-1C6E-846E2947F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1725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88C5D-C2EE-2936-F82A-EFF0FAD6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72AC3E-F9CD-274B-1A24-062482EB6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CC0F60-1588-FF9C-710F-CB3A11C53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C14914-9F74-44F8-A092-E41D483B2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8821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9551-0F25-F356-E47D-5B7168F5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C3CAED8-97E5-4018-B072-B3AE941A9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2639DB-3DFC-7BAB-1106-18E62E7A8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AA01DA-361B-0FBB-EA3C-300D722B4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9511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857F-4D28-6245-35D2-79FD75C9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9284EB5-FF0D-5C6B-7FF4-D5142097B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778143-E200-6B59-4E2F-763F9E334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18FEA8-F4A6-E6BA-54B4-779F38639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7778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BE91-72CF-77C1-8C02-C1E59331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419C2B-7FE2-A05A-E048-7E52E894A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8E8E63-EF1B-AFD9-87E9-F6D1E9537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las </a:t>
            </a:r>
            <a:r>
              <a:rPr lang="en-US" dirty="0" err="1"/>
              <a:t>restricciones</a:t>
            </a:r>
            <a:r>
              <a:rPr lang="en-US" dirty="0"/>
              <a:t> de </a:t>
            </a:r>
            <a:r>
              <a:rPr lang="en-US" dirty="0" err="1"/>
              <a:t>integridad</a:t>
            </a:r>
            <a:r>
              <a:rPr lang="en-US" dirty="0"/>
              <a:t> (unique, not null, primary key, foreign key, not null), son buenos </a:t>
            </a:r>
            <a:r>
              <a:rPr lang="en-US" dirty="0" err="1"/>
              <a:t>ejemplos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07BDF1-C64F-4C71-3B46-AC00266AE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5610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F508-9BAD-DD3D-8648-87C54E4C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16AB72-B13A-0140-AFC6-C1699DC1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57A714-4FCE-E18A-676A-07D8ED419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las </a:t>
            </a:r>
            <a:r>
              <a:rPr lang="en-US" dirty="0" err="1"/>
              <a:t>restricciones</a:t>
            </a:r>
            <a:r>
              <a:rPr lang="en-US" dirty="0"/>
              <a:t> de </a:t>
            </a:r>
            <a:r>
              <a:rPr lang="en-US" dirty="0" err="1"/>
              <a:t>integridad</a:t>
            </a:r>
            <a:r>
              <a:rPr lang="en-US" dirty="0"/>
              <a:t> (unique, not null, primary key, foreign key, not null), son buenos </a:t>
            </a:r>
            <a:r>
              <a:rPr lang="en-US" dirty="0" err="1"/>
              <a:t>ejemplos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91D0C0-EFB8-372A-84B8-2F14636FA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583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C37B4-FB41-9EEE-761E-145ABEC02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AAD5C9-AE70-A602-5591-D0127F104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8268D4-F265-D070-9FFA-02E2AC606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D359A6-B0E7-45A2-ECAB-53BB8C8FE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8619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53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15-10-2024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cn.cl/leychile/navegar?idNorma=61438&amp;idVersion=2019-03-1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cn.cl/leychile/navegar?idNorma=207436&amp;idParte=8511869&amp;idVersion=2016-12-03" TargetMode="External"/><Relationship Id="rId5" Type="http://schemas.openxmlformats.org/officeDocument/2006/relationships/hyperlink" Target="https://www.latamairlines.com/cl/es" TargetMode="External"/><Relationship Id="rId4" Type="http://schemas.openxmlformats.org/officeDocument/2006/relationships/hyperlink" Target="https://www.amazon.co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Especificación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51129" y="2710260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E8E0-46F7-05AB-C339-FE61A0F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90926-F786-8C09-3B33-1BD48817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SRS (Especificación de requisitos de software).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AEDC00-46E1-03EC-8F1B-FC1EDF1679F7}"/>
              </a:ext>
            </a:extLst>
          </p:cNvPr>
          <p:cNvSpPr txBox="1"/>
          <p:nvPr/>
        </p:nvSpPr>
        <p:spPr>
          <a:xfrm>
            <a:off x="5018569" y="1121498"/>
            <a:ext cx="6836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Este </a:t>
            </a:r>
            <a:r>
              <a:rPr lang="es-CL" sz="2400" dirty="0" err="1"/>
              <a:t>template</a:t>
            </a:r>
            <a:r>
              <a:rPr lang="es-CL" sz="2400" dirty="0"/>
              <a:t> reúne información que hemos ido construyendo en etapas previas.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Está plasmado en la norma ISO/IEC/IEEE 29148:2018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0EA3FF-B465-A447-D527-F9B40168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195" y="984481"/>
            <a:ext cx="3383386" cy="54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05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B2C9-5B3B-AF29-4512-FA81A316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3BA68A-E712-FFCF-7ECC-8AF247F1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8DEB49-11B3-406D-98DA-FC65BB1D1DF6}"/>
              </a:ext>
            </a:extLst>
          </p:cNvPr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3D7BB5C1-7DEA-1BAC-B4CB-6EE9AEFD3680}"/>
              </a:ext>
            </a:extLst>
          </p:cNvPr>
          <p:cNvSpPr/>
          <p:nvPr/>
        </p:nvSpPr>
        <p:spPr>
          <a:xfrm>
            <a:off x="1085708" y="3209654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7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es una </a:t>
            </a:r>
            <a:r>
              <a:rPr lang="es-CL" sz="2800" b="1" dirty="0"/>
              <a:t>regla de negocio</a:t>
            </a:r>
            <a:r>
              <a:rPr lang="es-CL" sz="2800" dirty="0"/>
              <a:t>? Una afirmación que: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Define o restringe algún aspecto operativo.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Influye en el comportamiento de personas o sistemas.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concepto no aplica sólo a negocios, sino a cualquier sistema o proceso.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lvl="1"/>
            <a:r>
              <a:rPr lang="es-CL" sz="2800" dirty="0"/>
              <a:t>Ejemplo: </a:t>
            </a:r>
            <a:r>
              <a:rPr lang="es-CL" sz="2800" b="1" dirty="0"/>
              <a:t>juego de naipes UNO</a:t>
            </a:r>
            <a:r>
              <a:rPr lang="es-CL" sz="28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Cuántas cartas reparto a cada jugador.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Qué cartas puedo jugar.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Condición de finalización del juego.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Etc.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A35D5A-7989-C3A7-1E34-E4DB24180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70" y="3641651"/>
            <a:ext cx="3284661" cy="229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3C83-D559-C57C-B8CA-93BBA301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36472-E208-B7A1-05C4-1E6930CD0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B7D59A-0214-B3E7-97F3-809EFC8B821D}"/>
              </a:ext>
            </a:extLst>
          </p:cNvPr>
          <p:cNvSpPr txBox="1"/>
          <p:nvPr/>
        </p:nvSpPr>
        <p:spPr>
          <a:xfrm>
            <a:off x="143435" y="1514903"/>
            <a:ext cx="117811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Tipos de reglas de negocio: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Restricciones. Afirmación que restringe o prohíbe el comportamiento de personas.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Condiciones que gatillan una acción.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Fórmulas matemáticas.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Reglas derivadas de otras condiciones o reglas. </a:t>
            </a:r>
          </a:p>
        </p:txBody>
      </p:sp>
    </p:spTree>
    <p:extLst>
      <p:ext uri="{BB962C8B-B14F-4D97-AF65-F5344CB8AC3E}">
        <p14:creationId xmlns:p14="http://schemas.microsoft.com/office/powerpoint/2010/main" val="387460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0CE50-0F20-438A-5958-1315DB67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955EA-EC73-5A60-23C4-C0261E62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67EE58A-69A6-12DD-F85C-CD6AEF9D474E}"/>
              </a:ext>
            </a:extLst>
          </p:cNvPr>
          <p:cNvSpPr txBox="1"/>
          <p:nvPr/>
        </p:nvSpPr>
        <p:spPr>
          <a:xfrm>
            <a:off x="143435" y="1514903"/>
            <a:ext cx="117811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escribimos una regla de negocios?: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b="1" dirty="0"/>
              <a:t>Restricciones.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Usuario/objeto </a:t>
            </a:r>
            <a:r>
              <a:rPr lang="es-CL" sz="2800" b="1" dirty="0"/>
              <a:t>{debe/puede} </a:t>
            </a:r>
            <a:r>
              <a:rPr lang="es-CL" sz="2800" dirty="0"/>
              <a:t>restricción</a:t>
            </a:r>
            <a:r>
              <a:rPr lang="es-CL" sz="2800" b="1" dirty="0"/>
              <a:t>.</a:t>
            </a: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b="1" dirty="0"/>
              <a:t>Condiciones que gatillan una acción.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b="1" dirty="0"/>
              <a:t>Si </a:t>
            </a:r>
            <a:r>
              <a:rPr lang="es-CL" sz="2800" dirty="0"/>
              <a:t>se cumple una condición </a:t>
            </a:r>
            <a:r>
              <a:rPr lang="es-CL" sz="2800" b="1" dirty="0"/>
              <a:t>entonces </a:t>
            </a:r>
            <a:r>
              <a:rPr lang="es-CL" sz="2800" dirty="0"/>
              <a:t>se realiza una acción.</a:t>
            </a:r>
            <a:endParaRPr lang="es-CL" sz="2800" b="1" dirty="0"/>
          </a:p>
        </p:txBody>
      </p:sp>
    </p:spTree>
    <p:extLst>
      <p:ext uri="{BB962C8B-B14F-4D97-AF65-F5344CB8AC3E}">
        <p14:creationId xmlns:p14="http://schemas.microsoft.com/office/powerpoint/2010/main" val="1920021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9C23-31D7-0B86-28EB-4B62083AA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87960-662F-B677-F1A4-DD798483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53CD2E-72CB-C086-5444-5C36A33BCBD4}"/>
              </a:ext>
            </a:extLst>
          </p:cNvPr>
          <p:cNvSpPr txBox="1"/>
          <p:nvPr/>
        </p:nvSpPr>
        <p:spPr>
          <a:xfrm>
            <a:off x="111538" y="1312884"/>
            <a:ext cx="11781123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Tipos de reglas de negocio – </a:t>
            </a:r>
            <a:r>
              <a:rPr lang="es-CL" sz="2800" b="1" dirty="0"/>
              <a:t>restricciones</a:t>
            </a:r>
            <a:r>
              <a:rPr lang="es-CL" sz="2800" dirty="0"/>
              <a:t>. Ejemplo </a:t>
            </a:r>
            <a:r>
              <a:rPr lang="es-CL" sz="2800" b="1" dirty="0"/>
              <a:t>RAE</a:t>
            </a:r>
            <a:r>
              <a:rPr lang="es-CL" sz="2800" dirty="0"/>
              <a:t>:</a:t>
            </a:r>
          </a:p>
          <a:p>
            <a:pPr lvl="1"/>
            <a:r>
              <a:rPr lang="es-CL" sz="2800" b="1" dirty="0"/>
              <a:t>ARTÍCULO 30. </a:t>
            </a:r>
            <a:r>
              <a:rPr lang="es-CL" sz="2800" dirty="0"/>
              <a:t>Las asignaturas o módulos podrán contemplar un examen final, el que estará consignado en el respectivo Programa. Su condición de</a:t>
            </a:r>
          </a:p>
          <a:p>
            <a:pPr lvl="1"/>
            <a:r>
              <a:rPr lang="es-CL" sz="2800" dirty="0"/>
              <a:t>obligatoriedad si corresponde, así como los requisitos necesarios para rendirlo serán aprobados por la Dirección de Escuela. El examen tendrá una</a:t>
            </a:r>
          </a:p>
          <a:p>
            <a:pPr lvl="1"/>
            <a:r>
              <a:rPr lang="es-CL" sz="2800" dirty="0"/>
              <a:t>ponderación máxima de 30% y mínima de 20%. La aprobación del examen final no podrá ser requisito para la aprobación de la asignatura o módulo. </a:t>
            </a:r>
          </a:p>
          <a:p>
            <a:pPr lvl="1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(*) Las asignaturas </a:t>
            </a:r>
            <a:r>
              <a:rPr lang="es-CL" sz="2800" b="1" dirty="0"/>
              <a:t>pueden </a:t>
            </a:r>
            <a:r>
              <a:rPr lang="es-CL" sz="2800" dirty="0"/>
              <a:t>contemplar examen final.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(*) El examen final </a:t>
            </a:r>
            <a:r>
              <a:rPr lang="es-CL" sz="2800" b="1" dirty="0"/>
              <a:t>debe tener </a:t>
            </a:r>
            <a:r>
              <a:rPr lang="es-CL" sz="2800" dirty="0"/>
              <a:t>una ponderación entre 20% y 30%.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estudiante </a:t>
            </a:r>
            <a:r>
              <a:rPr lang="es-CL" sz="2800" b="1" dirty="0"/>
              <a:t>puede</a:t>
            </a:r>
            <a:r>
              <a:rPr lang="es-CL" sz="2800" dirty="0"/>
              <a:t> aprobar la asignatura, aun cuando la nota del examen sea inferior a 4.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27608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4BF1-2EC5-5C3D-9999-C0A9FE87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FF8BB-D25C-E4C3-55FF-00A0ABD1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2B78A6-9090-FD26-14D9-9B8237768FA8}"/>
              </a:ext>
            </a:extLst>
          </p:cNvPr>
          <p:cNvSpPr txBox="1"/>
          <p:nvPr/>
        </p:nvSpPr>
        <p:spPr>
          <a:xfrm>
            <a:off x="143435" y="1514903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Tipos de reglas de negocio – </a:t>
            </a:r>
            <a:r>
              <a:rPr lang="es-CL" sz="2800" b="1" dirty="0"/>
              <a:t>condiciones que gatillan una acción</a:t>
            </a:r>
            <a:r>
              <a:rPr lang="es-CL" sz="2800" dirty="0"/>
              <a:t>. Ejemplo </a:t>
            </a:r>
            <a:r>
              <a:rPr lang="es-CL" sz="2800" b="1" dirty="0"/>
              <a:t>RAE</a:t>
            </a:r>
            <a:r>
              <a:rPr lang="es-CL" sz="2800" dirty="0"/>
              <a:t>:</a:t>
            </a:r>
          </a:p>
          <a:p>
            <a:pPr lvl="1"/>
            <a:r>
              <a:rPr lang="es-CL" sz="2800" b="1" dirty="0"/>
              <a:t>ARTÍCULO 16. </a:t>
            </a:r>
            <a:r>
              <a:rPr lang="es-CL" sz="2800" dirty="0"/>
              <a:t>Se considerará estudiante Graduado o Titulado a aquél que</a:t>
            </a:r>
          </a:p>
          <a:p>
            <a:pPr lvl="1"/>
            <a:r>
              <a:rPr lang="es-CL" sz="2800" dirty="0"/>
              <a:t>habiendo cumplido con todos los requisitos académicos y administrativos</a:t>
            </a:r>
          </a:p>
          <a:p>
            <a:pPr lvl="1"/>
            <a:r>
              <a:rPr lang="es-CL" sz="2800" dirty="0"/>
              <a:t>estipulados en su Plan de Estudios reciba la certificación correspondiente de</a:t>
            </a:r>
          </a:p>
          <a:p>
            <a:pPr lvl="1"/>
            <a:r>
              <a:rPr lang="es-CL" sz="2800" dirty="0"/>
              <a:t>acuerdo a las disposiciones reglamentarias y legales vigentes. </a:t>
            </a:r>
          </a:p>
          <a:p>
            <a:pPr lvl="1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Si </a:t>
            </a:r>
            <a:r>
              <a:rPr lang="es-CL" sz="2800" dirty="0"/>
              <a:t>el estudiante cumple con todos los requisitos del plan de estudios, </a:t>
            </a:r>
            <a:r>
              <a:rPr lang="es-CL" sz="2800" b="1" dirty="0"/>
              <a:t>entonces </a:t>
            </a:r>
            <a:r>
              <a:rPr lang="es-CL" sz="2800" dirty="0"/>
              <a:t>pasa a estado Graduado o Titulado.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Si </a:t>
            </a:r>
            <a:r>
              <a:rPr lang="es-CL" sz="2800" dirty="0"/>
              <a:t>el estudiante está en estado Graduado o Titulado,</a:t>
            </a:r>
            <a:r>
              <a:rPr lang="es-CL" sz="2800" b="1" dirty="0"/>
              <a:t> entonces </a:t>
            </a:r>
            <a:r>
              <a:rPr lang="es-CL" sz="2800" dirty="0"/>
              <a:t>recibe la certificación correspondiente.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978044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FA2B-724C-C88D-48D2-636E00A1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A089F-ECC3-0CD8-0BE5-E999EF31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7901CA-179D-3352-8D61-4138EB57E1E7}"/>
              </a:ext>
            </a:extLst>
          </p:cNvPr>
          <p:cNvSpPr txBox="1"/>
          <p:nvPr/>
        </p:nvSpPr>
        <p:spPr>
          <a:xfrm>
            <a:off x="143435" y="1514903"/>
            <a:ext cx="11781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Tipos de reglas de negocio – </a:t>
            </a:r>
            <a:r>
              <a:rPr lang="es-CL" sz="2800" b="1" dirty="0"/>
              <a:t>fórmulas matemáticas</a:t>
            </a:r>
            <a:r>
              <a:rPr lang="es-CL" sz="2800" dirty="0"/>
              <a:t>. Ejemplo </a:t>
            </a:r>
            <a:r>
              <a:rPr lang="es-CL" sz="2800" b="1" dirty="0"/>
              <a:t>RAE</a:t>
            </a:r>
            <a:r>
              <a:rPr lang="es-CL" sz="2800" dirty="0"/>
              <a:t>:</a:t>
            </a:r>
          </a:p>
          <a:p>
            <a:pPr lvl="1"/>
            <a:r>
              <a:rPr lang="es-CL" sz="2800" b="1" dirty="0"/>
              <a:t>ARTÍCULO 30. </a:t>
            </a:r>
            <a:r>
              <a:rPr lang="es-CL" sz="2800" dirty="0"/>
              <a:t>Las asignaturas o módulos podrán contemplar un examen final, el que estará consignado en el respectivo Programa. Su condición de</a:t>
            </a:r>
          </a:p>
          <a:p>
            <a:pPr lvl="1"/>
            <a:r>
              <a:rPr lang="es-CL" sz="2800" dirty="0"/>
              <a:t>obligatoriedad si corresponde, así como los requisitos necesarios para rendirlo serán aprobados por la Dirección de Escuela. El examen tendrá una</a:t>
            </a:r>
          </a:p>
          <a:p>
            <a:pPr lvl="1"/>
            <a:r>
              <a:rPr lang="es-CL" sz="2800" dirty="0"/>
              <a:t>ponderación máxima de 30% y mínima de 20%. La aprobación del examen final no podrá ser requisito para la aprobación de la asignatura o módulo. </a:t>
            </a:r>
          </a:p>
          <a:p>
            <a:pPr lvl="1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Promedio final = </a:t>
            </a:r>
            <a:r>
              <a:rPr lang="es-CL" sz="2800" dirty="0" err="1"/>
              <a:t>NPresentación</a:t>
            </a:r>
            <a:r>
              <a:rPr lang="es-CL" sz="2800" dirty="0"/>
              <a:t>* (1-%examen) + </a:t>
            </a:r>
            <a:r>
              <a:rPr lang="es-CL" sz="2800" dirty="0" err="1"/>
              <a:t>NExamen</a:t>
            </a:r>
            <a:r>
              <a:rPr lang="es-CL" sz="2800" dirty="0"/>
              <a:t>*(%examen)</a:t>
            </a:r>
          </a:p>
        </p:txBody>
      </p:sp>
    </p:spTree>
    <p:extLst>
      <p:ext uri="{BB962C8B-B14F-4D97-AF65-F5344CB8AC3E}">
        <p14:creationId xmlns:p14="http://schemas.microsoft.com/office/powerpoint/2010/main" val="390986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95D8-B225-5B0C-A6C0-20071335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2F3A7-69F8-8088-C044-508F569D8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445125-DD5E-4DD0-9700-069F955F64BD}"/>
              </a:ext>
            </a:extLst>
          </p:cNvPr>
          <p:cNvSpPr txBox="1"/>
          <p:nvPr/>
        </p:nvSpPr>
        <p:spPr>
          <a:xfrm>
            <a:off x="143435" y="1514903"/>
            <a:ext cx="117811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Tipos de reglas de negocio – </a:t>
            </a:r>
            <a:r>
              <a:rPr lang="es-CL" sz="2800" b="1" dirty="0"/>
              <a:t>reglas derivadas de otras condiciones o reglas</a:t>
            </a:r>
            <a:r>
              <a:rPr lang="es-CL" sz="2800" dirty="0"/>
              <a:t>. Ejemplo </a:t>
            </a:r>
            <a:r>
              <a:rPr lang="es-CL" sz="2800" b="1" dirty="0"/>
              <a:t>RAE</a:t>
            </a:r>
            <a:r>
              <a:rPr lang="es-CL" sz="2800" dirty="0"/>
              <a:t>:</a:t>
            </a:r>
          </a:p>
          <a:p>
            <a:pPr lvl="1"/>
            <a:r>
              <a:rPr lang="es-CL" sz="2800" b="1" dirty="0"/>
              <a:t>ARTÍCULO 39. </a:t>
            </a:r>
            <a:r>
              <a:rPr lang="es-CL" sz="2800" dirty="0"/>
              <a:t>El estudiante que haya reprobado una asignatura o módulo</a:t>
            </a:r>
          </a:p>
          <a:p>
            <a:pPr lvl="1"/>
            <a:r>
              <a:rPr lang="es-CL" sz="2800" dirty="0"/>
              <a:t>deberá inscribirlo en la primera oportunidad que se dicte y en la modalidad</a:t>
            </a:r>
          </a:p>
          <a:p>
            <a:pPr lvl="1"/>
            <a:r>
              <a:rPr lang="es-CL" sz="2800" dirty="0"/>
              <a:t>definida en el Programa respectivo.</a:t>
            </a:r>
          </a:p>
          <a:p>
            <a:pPr lvl="1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Si</a:t>
            </a:r>
            <a:r>
              <a:rPr lang="es-CL" sz="2800" dirty="0"/>
              <a:t> el estudiante ha reprobado una asignatura, </a:t>
            </a:r>
            <a:r>
              <a:rPr lang="es-CL" sz="2800" b="1" dirty="0"/>
              <a:t>entonces</a:t>
            </a:r>
            <a:r>
              <a:rPr lang="es-CL" sz="2800" dirty="0"/>
              <a:t> debe inscribirla en la primera oportunidad en que se dicte. </a:t>
            </a:r>
          </a:p>
        </p:txBody>
      </p:sp>
    </p:spTree>
    <p:extLst>
      <p:ext uri="{BB962C8B-B14F-4D97-AF65-F5344CB8AC3E}">
        <p14:creationId xmlns:p14="http://schemas.microsoft.com/office/powerpoint/2010/main" val="78594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C479-66C0-D006-246C-B22AE476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2459A-DC61-9915-4271-A471D8B6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3CC953-612B-2FCE-105E-A4E1EED58A33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descubrimos las reglas de negocio?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Leyes, regulaciones de la industria, estándares.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Políticas de la empresa.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Cultura, reglas en uso, pero no escritas.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Ingeniería inversa.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Modelos de datos. ¿Ejemplos?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Algoritmos.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hacemos con las reglas?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asociarlas a casos de uso / historias de usuario específicas.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definir qué hará el sistema si la regla es violada. </a:t>
            </a:r>
          </a:p>
        </p:txBody>
      </p:sp>
    </p:spTree>
    <p:extLst>
      <p:ext uri="{BB962C8B-B14F-4D97-AF65-F5344CB8AC3E}">
        <p14:creationId xmlns:p14="http://schemas.microsoft.com/office/powerpoint/2010/main" val="35728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55923-CE1A-BEEB-4143-831C5FBF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4AC20-BE8C-159A-5E2A-C20906D6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BDEEAC-DC20-1620-AFD0-B4B747293981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</a:t>
            </a:r>
            <a:r>
              <a:rPr lang="es-CL" sz="2800" b="1" dirty="0"/>
              <a:t>documentamos</a:t>
            </a:r>
            <a:r>
              <a:rPr lang="es-CL" sz="2800" dirty="0"/>
              <a:t> las reglas de negocio?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Tablas de verdad.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If-then-else</a:t>
            </a: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Álgebra de Boole.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</a:t>
            </a:r>
            <a:r>
              <a:rPr lang="es-CL" sz="2800" b="1" dirty="0"/>
              <a:t>aplicamos</a:t>
            </a:r>
            <a:r>
              <a:rPr lang="es-CL" sz="2800" dirty="0"/>
              <a:t> las reglas de negocio?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vincularlas a requisitos funcionales, a casos de uso, historias de usuario, modelos de datos.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Idealmente, debiésemos tener las reglas de negocio definidas en un conjunto aparte, y vinculadas a los elementos indicados. No “escondidas” entre los requisitos. </a:t>
            </a:r>
          </a:p>
        </p:txBody>
      </p:sp>
    </p:spTree>
    <p:extLst>
      <p:ext uri="{BB962C8B-B14F-4D97-AF65-F5344CB8AC3E}">
        <p14:creationId xmlns:p14="http://schemas.microsoft.com/office/powerpoint/2010/main" val="3679417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4E6A-2660-7B77-3498-93598B92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15204-08E9-E36F-E69A-0DCA7BDF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P16: : Identificar y documentar las reglas de negocio.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AB54B4-E69D-3D83-418A-7337BE50FBC0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Veamos otros ejemplos: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Ley sobre protección de derechos de los consumidores: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>
                <a:hlinkClick r:id="rId3"/>
              </a:rPr>
              <a:t>https://www.bcn.cl/leychile/navegar?idNorma=61438&amp;idVersion=2019-03-14</a:t>
            </a: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Compra de productos en Amazon.com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>
                <a:hlinkClick r:id="rId4"/>
              </a:rPr>
              <a:t>https://www.amazon.com/</a:t>
            </a: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Compra de pasajes aéreos nacionales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>
                <a:hlinkClick r:id="rId5"/>
              </a:rPr>
              <a:t>https://www.latamairlines.com/cl/es</a:t>
            </a: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Código del Trabajo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>
                <a:hlinkClick r:id="rId6"/>
              </a:rPr>
              <a:t>https://www.bcn.cl/leychile/navegar?idNorma=207436&amp;idParte=8511869&amp;idVersion=2016-12-03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76349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51129" y="3140070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33801</TotalTime>
  <Words>1217</Words>
  <Application>Microsoft Office PowerPoint</Application>
  <PresentationFormat>Panorámica</PresentationFormat>
  <Paragraphs>129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Unidad 0 - Introducción</vt:lpstr>
      <vt:lpstr>Prácticas asociadas a la especificación de requisitos</vt:lpstr>
      <vt:lpstr>P15: SRS (Especificación de requisitos de software).</vt:lpstr>
      <vt:lpstr>Prácticas asociadas a la especificación de requisitos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P16: : Identificar y documentar las reglas de negocio. </vt:lpstr>
      <vt:lpstr>Prácticas asociadas a la especificación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Salazar F.</cp:lastModifiedBy>
  <cp:revision>219</cp:revision>
  <cp:lastPrinted>2020-10-05T12:16:48Z</cp:lastPrinted>
  <dcterms:created xsi:type="dcterms:W3CDTF">2018-03-05T20:26:11Z</dcterms:created>
  <dcterms:modified xsi:type="dcterms:W3CDTF">2024-10-16T16:42:40Z</dcterms:modified>
</cp:coreProperties>
</file>
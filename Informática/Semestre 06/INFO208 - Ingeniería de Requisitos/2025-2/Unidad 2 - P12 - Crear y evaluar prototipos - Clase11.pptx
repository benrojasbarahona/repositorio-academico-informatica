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7" r:id="rId2"/>
    <p:sldId id="464" r:id="rId3"/>
    <p:sldId id="466" r:id="rId4"/>
    <p:sldId id="495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487" r:id="rId13"/>
    <p:sldId id="503" r:id="rId14"/>
    <p:sldId id="504" r:id="rId15"/>
    <p:sldId id="506" r:id="rId16"/>
    <p:sldId id="505" r:id="rId17"/>
    <p:sldId id="507" r:id="rId18"/>
    <p:sldId id="508" r:id="rId19"/>
    <p:sldId id="509" r:id="rId20"/>
    <p:sldId id="486" r:id="rId21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467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30-09-2025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30-09-2025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285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490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CL" dirty="0"/>
              <a:t>Estructura vs comportamiento.</a:t>
            </a:r>
            <a:r>
              <a:rPr lang="es-CL" baseline="0" dirty="0"/>
              <a:t> Debemos entender ambos.</a:t>
            </a:r>
          </a:p>
          <a:p>
            <a:pPr marL="228600" indent="-228600">
              <a:buAutoNum type="arabicParenR"/>
            </a:pPr>
            <a:r>
              <a:rPr lang="es-CL" baseline="0" dirty="0"/>
              <a:t>Requisitos más complejos requieren más detalle.</a:t>
            </a:r>
          </a:p>
          <a:p>
            <a:pPr marL="228600" indent="-228600">
              <a:buAutoNum type="arabicParenR"/>
            </a:pPr>
            <a:r>
              <a:rPr lang="es-CL" baseline="0" dirty="0"/>
              <a:t>Un modelo estará incorrecto si no representa el problema.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8859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9097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0524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906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253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Segunda</a:t>
            </a:r>
            <a:r>
              <a:rPr lang="es-CL" baseline="0" dirty="0"/>
              <a:t> versión (sólo proceso de realización de practicas).</a:t>
            </a:r>
          </a:p>
          <a:p>
            <a:pPr marL="0" indent="0">
              <a:buNone/>
            </a:pPr>
            <a:r>
              <a:rPr lang="es-CL" baseline="0" dirty="0"/>
              <a:t>Ojo con mejora en estándar BPMN (compuertas lógicas, temporizadores, estados inicial y final).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663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4375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Siempre es más sencillo criticar algo</a:t>
            </a:r>
            <a:r>
              <a:rPr lang="es-CL" baseline="0" dirty="0"/>
              <a:t> existente que hacer una propuesta desde cero.</a:t>
            </a:r>
          </a:p>
          <a:p>
            <a:endParaRPr lang="es-CL" baseline="0" dirty="0"/>
          </a:p>
          <a:p>
            <a:r>
              <a:rPr lang="es-CL" baseline="0" dirty="0"/>
              <a:t>Los prototipos ayudan a que los requisitos sean más tangibles.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6631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Siempre es </a:t>
            </a:r>
            <a:r>
              <a:rPr lang="es-CL" dirty="0" err="1"/>
              <a:t>mp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693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Siempre es </a:t>
            </a:r>
            <a:r>
              <a:rPr lang="es-CL" dirty="0" err="1"/>
              <a:t>mp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5092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2 ejemplos de interfaz, la primera es mucho</a:t>
            </a:r>
            <a:r>
              <a:rPr lang="es-CL" baseline="0" dirty="0"/>
              <a:t> más “limpia”.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7866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Siempre es </a:t>
            </a:r>
            <a:r>
              <a:rPr lang="es-CL" dirty="0" err="1"/>
              <a:t>mp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6695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Siempre es </a:t>
            </a:r>
            <a:r>
              <a:rPr lang="es-CL" dirty="0" err="1"/>
              <a:t>mp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6850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¿Qué</a:t>
            </a:r>
            <a:r>
              <a:rPr lang="es-CL" baseline="0" dirty="0"/>
              <a:t> escenarios específicos? </a:t>
            </a:r>
          </a:p>
          <a:p>
            <a:r>
              <a:rPr lang="es-CL" baseline="0" dirty="0"/>
              <a:t>	Dar ejemplos concretos de servicios prestados, para emitir boleta. </a:t>
            </a:r>
          </a:p>
          <a:p>
            <a:r>
              <a:rPr lang="es-CL" baseline="0" dirty="0"/>
              <a:t>	Dejar al usuario que interactúe libremente con el prototipo. Que siga la secuencia de pasos. </a:t>
            </a:r>
          </a:p>
          <a:p>
            <a:r>
              <a:rPr lang="es-CL" baseline="0" dirty="0"/>
              <a:t>	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3891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baseline="0" dirty="0"/>
              <a:t>	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4686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54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30-09-2025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9/30/2025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Análisis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analizar los requisitos?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70105" y="2522940"/>
            <a:ext cx="112170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i="1" dirty="0"/>
              <a:t>“Asegurarse de que se </a:t>
            </a:r>
            <a:r>
              <a:rPr lang="es-CL" sz="2800" b="1" i="1" dirty="0"/>
              <a:t>entienden</a:t>
            </a:r>
            <a:r>
              <a:rPr lang="es-CL" sz="2800" i="1" dirty="0"/>
              <a:t> las necesidades de los </a:t>
            </a:r>
            <a:r>
              <a:rPr lang="es-CL" sz="2800" i="1" dirty="0" err="1"/>
              <a:t>stakeholders</a:t>
            </a:r>
            <a:r>
              <a:rPr lang="es-CL" sz="2800" i="1" dirty="0"/>
              <a:t> y que </a:t>
            </a:r>
            <a:r>
              <a:rPr lang="es-CL" sz="2800" b="1" i="1" dirty="0"/>
              <a:t>es posible definir, acordar, construir y testear una solución </a:t>
            </a:r>
            <a:r>
              <a:rPr lang="es-CL" sz="2800" i="1" dirty="0"/>
              <a:t>satisfactoria”</a:t>
            </a:r>
          </a:p>
          <a:p>
            <a:pPr algn="r"/>
            <a:r>
              <a:rPr lang="es-CL" sz="2800" dirty="0"/>
              <a:t>Wiegers &amp; </a:t>
            </a:r>
            <a:r>
              <a:rPr lang="es-CL" sz="2800" dirty="0" err="1"/>
              <a:t>Hokakson</a:t>
            </a:r>
            <a:r>
              <a:rPr lang="es-CL" sz="2800" dirty="0"/>
              <a:t>, 2023 </a:t>
            </a:r>
          </a:p>
        </p:txBody>
      </p:sp>
    </p:spTree>
    <p:extLst>
      <p:ext uri="{BB962C8B-B14F-4D97-AF65-F5344CB8AC3E}">
        <p14:creationId xmlns:p14="http://schemas.microsoft.com/office/powerpoint/2010/main" val="21974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700670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 continuación, veremos un diagrama con un levantamiento preliminar acerca del </a:t>
            </a:r>
            <a:r>
              <a:rPr lang="es-CL" sz="2800" b="1" dirty="0"/>
              <a:t>proceso de gestión de prácticas</a:t>
            </a:r>
            <a:r>
              <a:rPr lang="es-CL" sz="2800" dirty="0"/>
              <a:t> en la FCI-UACh.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En parte, cómo 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En parte, cómo pudiese ser.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 la clase anterior, se les invito a </a:t>
            </a:r>
            <a:r>
              <a:rPr lang="es-CL" sz="2800" b="1" dirty="0"/>
              <a:t>revisar el diagrama </a:t>
            </a:r>
            <a:r>
              <a:rPr lang="es-CL" sz="2800" dirty="0"/>
              <a:t>y a </a:t>
            </a:r>
            <a:r>
              <a:rPr lang="es-CL" sz="2800" b="1" dirty="0"/>
              <a:t>hacer preguntas </a:t>
            </a:r>
            <a:r>
              <a:rPr lang="es-CL" sz="2800" dirty="0"/>
              <a:t>respecto de: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Cuestiones que no están claras.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Cuestiones que se debiesen detallar/precisar.</a:t>
            </a:r>
          </a:p>
          <a:p>
            <a:pPr lvl="2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Veremos cómo incorporar algunas de esas preguntas al diagrama.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37218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Diagrama de Proceso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784" y="0"/>
            <a:ext cx="10688216" cy="674343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4114805" y="6041322"/>
            <a:ext cx="54661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400" b="1" dirty="0"/>
              <a:t>ingrese a menti.com, código 8289 5796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629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 (2024)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214" y="1081869"/>
            <a:ext cx="6826786" cy="539349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68942" y="1514902"/>
            <a:ext cx="50191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CL" sz="2400" dirty="0"/>
              <a:t>En general, preguntas bien encaminadas, pero …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400" dirty="0"/>
              <a:t>Debemos ser </a:t>
            </a:r>
            <a:r>
              <a:rPr lang="es-CL" sz="2400" b="1" dirty="0"/>
              <a:t>más precisos</a:t>
            </a:r>
            <a:r>
              <a:rPr lang="es-CL" sz="2400" dirty="0"/>
              <a:t>, para que las respuestas nos permitan </a:t>
            </a:r>
            <a:r>
              <a:rPr lang="es-CL" sz="2400" b="1" dirty="0"/>
              <a:t>mejorar los requisitos</a:t>
            </a:r>
            <a:r>
              <a:rPr lang="es-CL" sz="24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400" dirty="0"/>
              <a:t>Debemos poner énfasis en: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Flujos sin inicio/fin lógico.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Verificaciones sin “IF” a la salida.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Roles faltantes …</a:t>
            </a:r>
          </a:p>
        </p:txBody>
      </p:sp>
    </p:spTree>
    <p:extLst>
      <p:ext uri="{BB962C8B-B14F-4D97-AF65-F5344CB8AC3E}">
        <p14:creationId xmlns:p14="http://schemas.microsoft.com/office/powerpoint/2010/main" val="154163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 - preguntas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268942" y="1514903"/>
            <a:ext cx="11655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87016"/>
              </p:ext>
            </p:extLst>
          </p:nvPr>
        </p:nvGraphicFramePr>
        <p:xfrm>
          <a:off x="268942" y="1317679"/>
          <a:ext cx="11655616" cy="5348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9929">
                  <a:extLst>
                    <a:ext uri="{9D8B030D-6E8A-4147-A177-3AD203B41FA5}">
                      <a16:colId xmlns:a16="http://schemas.microsoft.com/office/drawing/2014/main" val="4074871837"/>
                    </a:ext>
                  </a:extLst>
                </a:gridCol>
                <a:gridCol w="7065687">
                  <a:extLst>
                    <a:ext uri="{9D8B030D-6E8A-4147-A177-3AD203B41FA5}">
                      <a16:colId xmlns:a16="http://schemas.microsoft.com/office/drawing/2014/main" val="3421540455"/>
                    </a:ext>
                  </a:extLst>
                </a:gridCol>
              </a:tblGrid>
              <a:tr h="349756">
                <a:tc>
                  <a:txBody>
                    <a:bodyPr/>
                    <a:lstStyle/>
                    <a:p>
                      <a:r>
                        <a:rPr lang="es-CL" sz="2400" dirty="0"/>
                        <a:t>Pregunta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Impacto(s) en</a:t>
                      </a:r>
                      <a:r>
                        <a:rPr lang="es-CL" sz="2400" baseline="0" dirty="0"/>
                        <a:t> modelo de proceso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35440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¿Cuáles</a:t>
                      </a:r>
                      <a:r>
                        <a:rPr lang="es-CL" sz="2400" baseline="0" dirty="0"/>
                        <a:t> son los mecanismos de seguimiento?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Contar con</a:t>
                      </a:r>
                      <a:r>
                        <a:rPr lang="es-CL" sz="2400" baseline="0" dirty="0"/>
                        <a:t> documento referido en diagrama.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585867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¿Qué</a:t>
                      </a:r>
                      <a:r>
                        <a:rPr lang="es-CL" sz="2400" baseline="0" dirty="0"/>
                        <a:t> impacto tienen las actividades de seguimiento en el flujo de proceso?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Definir flujos alternativos en función del resultado.</a:t>
                      </a:r>
                    </a:p>
                    <a:p>
                      <a:pPr marL="952485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Estudiante</a:t>
                      </a:r>
                      <a:r>
                        <a:rPr lang="es-CL" sz="2400" baseline="0" dirty="0"/>
                        <a:t> renuncia.</a:t>
                      </a:r>
                    </a:p>
                    <a:p>
                      <a:pPr marL="952485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baseline="0" dirty="0"/>
                        <a:t>Empresa despide a estudiante. </a:t>
                      </a:r>
                    </a:p>
                    <a:p>
                      <a:pPr marL="952485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baseline="0" dirty="0"/>
                        <a:t>Implementación de apoyos. </a:t>
                      </a:r>
                      <a:endParaRPr lang="es-CL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929298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¿Se verifica</a:t>
                      </a:r>
                      <a:r>
                        <a:rPr lang="es-CL" sz="2400" baseline="0" dirty="0"/>
                        <a:t> que el estudiante haya hecho su práctica antes?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Necesidad</a:t>
                      </a:r>
                      <a:r>
                        <a:rPr lang="es-CL" sz="2400" baseline="0" dirty="0"/>
                        <a:t> (o no) de validación.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baseline="0" dirty="0"/>
                        <a:t>Impacto en flujo futuro (posibilidad de prácticas no evaluadas).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58559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¿Puede</a:t>
                      </a:r>
                      <a:r>
                        <a:rPr lang="es-CL" sz="2400" baseline="0" dirty="0"/>
                        <a:t> el estudiante postular a varias prácticas?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Definir si esto es posible.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Definir</a:t>
                      </a:r>
                      <a:r>
                        <a:rPr lang="es-CL" sz="2400" baseline="0" dirty="0"/>
                        <a:t> qué sucede si estudiante es aceptado(a) en más de una empresa.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69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45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 - preguntas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268942" y="1514903"/>
            <a:ext cx="11655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41512"/>
              </p:ext>
            </p:extLst>
          </p:nvPr>
        </p:nvGraphicFramePr>
        <p:xfrm>
          <a:off x="268942" y="1514903"/>
          <a:ext cx="116556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9929">
                  <a:extLst>
                    <a:ext uri="{9D8B030D-6E8A-4147-A177-3AD203B41FA5}">
                      <a16:colId xmlns:a16="http://schemas.microsoft.com/office/drawing/2014/main" val="4074871837"/>
                    </a:ext>
                  </a:extLst>
                </a:gridCol>
                <a:gridCol w="7065687">
                  <a:extLst>
                    <a:ext uri="{9D8B030D-6E8A-4147-A177-3AD203B41FA5}">
                      <a16:colId xmlns:a16="http://schemas.microsoft.com/office/drawing/2014/main" val="3421540455"/>
                    </a:ext>
                  </a:extLst>
                </a:gridCol>
              </a:tblGrid>
              <a:tr h="349756">
                <a:tc>
                  <a:txBody>
                    <a:bodyPr/>
                    <a:lstStyle/>
                    <a:p>
                      <a:r>
                        <a:rPr lang="es-CL" sz="2400" dirty="0"/>
                        <a:t>Pregunta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Impacto(s) en</a:t>
                      </a:r>
                      <a:r>
                        <a:rPr lang="es-CL" sz="2400" baseline="0" dirty="0"/>
                        <a:t> modelo de proceso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35440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¿Se</a:t>
                      </a:r>
                      <a:r>
                        <a:rPr lang="es-CL" sz="2400" baseline="0" dirty="0"/>
                        <a:t> le entrega al estudiante el formato y rúbrica de informe de práctica?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Actividad “Elaboración informe</a:t>
                      </a:r>
                      <a:r>
                        <a:rPr lang="es-CL" sz="2400" baseline="0" dirty="0"/>
                        <a:t> de práctica” debe tener entradas.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585867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¿Sólo el consejo de escuela hace seguimiento a la práctica?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Verificar quién</a:t>
                      </a:r>
                      <a:r>
                        <a:rPr lang="es-CL" sz="2400" baseline="0" dirty="0"/>
                        <a:t> realiza la actividad (roles). ¿Qué actividades realiza en relación a ello la empresa y los estudiantes?</a:t>
                      </a:r>
                      <a:endParaRPr lang="es-CL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929298"/>
                  </a:ext>
                </a:extLst>
              </a:tr>
              <a:tr h="959250">
                <a:tc>
                  <a:txBody>
                    <a:bodyPr/>
                    <a:lstStyle/>
                    <a:p>
                      <a:r>
                        <a:rPr lang="es-CL" sz="2400" dirty="0"/>
                        <a:t>¿De qué sirve la estimación de cantidad de estudiantes?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Actividad sin flujo de salida (documento</a:t>
                      </a:r>
                      <a:r>
                        <a:rPr lang="es-CL" sz="2400" baseline="0" dirty="0"/>
                        <a:t> o actividades). Definir impacto. Posibilidades:</a:t>
                      </a:r>
                    </a:p>
                    <a:p>
                      <a:pPr marL="952485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dirty="0"/>
                        <a:t>Requerimiento a gestión de convenios.</a:t>
                      </a:r>
                      <a:r>
                        <a:rPr lang="es-CL" sz="2400" baseline="0" dirty="0"/>
                        <a:t> </a:t>
                      </a:r>
                    </a:p>
                    <a:p>
                      <a:pPr marL="952485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s-CL" sz="2400" baseline="0" dirty="0"/>
                        <a:t>Acciones de la escuela en búsqueda de prácticas.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58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22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Las preguntas anteriores nos llevarán a </a:t>
            </a:r>
            <a:r>
              <a:rPr lang="es-CL" sz="3200" b="1" dirty="0"/>
              <a:t>detallar más el proceso</a:t>
            </a:r>
            <a:r>
              <a:rPr lang="es-CL" sz="3200" dirty="0"/>
              <a:t>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No parece práctico tener un único diagrama con muchísimas actividades y flujos alternativos.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El diagrama incluye </a:t>
            </a:r>
            <a:r>
              <a:rPr lang="es-CL" sz="3200" b="1" dirty="0"/>
              <a:t>varios procesos</a:t>
            </a:r>
            <a:r>
              <a:rPr lang="es-CL" sz="3200" dirty="0"/>
              <a:t>, que debieran separarse.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Procesos (ejemplos):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Gestión de convenios de prácticas.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Definición de criterios para prácticas.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Realización de prácticas por parte de estudiantes. </a:t>
            </a:r>
          </a:p>
        </p:txBody>
      </p:sp>
    </p:spTree>
    <p:extLst>
      <p:ext uri="{BB962C8B-B14F-4D97-AF65-F5344CB8AC3E}">
        <p14:creationId xmlns:p14="http://schemas.microsoft.com/office/powerpoint/2010/main" val="124376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 –v2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93" y="808526"/>
            <a:ext cx="11938612" cy="59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2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18418" y="3209654"/>
            <a:ext cx="9955161" cy="447946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57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Crear y evaluar prototipos (IKIWISI).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44010" y="1663759"/>
            <a:ext cx="107914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“I </a:t>
            </a:r>
            <a:r>
              <a:rPr lang="es-CL" sz="2800" dirty="0" err="1"/>
              <a:t>can´t</a:t>
            </a:r>
            <a:r>
              <a:rPr lang="es-CL" sz="2800" dirty="0"/>
              <a:t> </a:t>
            </a:r>
            <a:r>
              <a:rPr lang="es-CL" sz="2800" dirty="0" err="1"/>
              <a:t>tell</a:t>
            </a:r>
            <a:r>
              <a:rPr lang="es-CL" sz="2800" dirty="0"/>
              <a:t> </a:t>
            </a:r>
            <a:r>
              <a:rPr lang="es-CL" sz="2800" dirty="0" err="1"/>
              <a:t>you</a:t>
            </a:r>
            <a:r>
              <a:rPr lang="es-CL" sz="2800" dirty="0"/>
              <a:t> </a:t>
            </a:r>
            <a:r>
              <a:rPr lang="es-CL" sz="2800" dirty="0" err="1"/>
              <a:t>what</a:t>
            </a:r>
            <a:r>
              <a:rPr lang="es-CL" sz="2800" dirty="0"/>
              <a:t> I </a:t>
            </a:r>
            <a:r>
              <a:rPr lang="es-CL" sz="2800" dirty="0" err="1"/>
              <a:t>need</a:t>
            </a:r>
            <a:r>
              <a:rPr lang="es-CL" sz="2800" dirty="0"/>
              <a:t>, </a:t>
            </a:r>
            <a:r>
              <a:rPr lang="es-CL" sz="2800" dirty="0" err="1"/>
              <a:t>but</a:t>
            </a:r>
            <a:r>
              <a:rPr lang="es-CL" sz="2800" dirty="0"/>
              <a:t> </a:t>
            </a:r>
            <a:r>
              <a:rPr lang="es-CL" sz="2800" b="1" dirty="0" err="1"/>
              <a:t>I</a:t>
            </a:r>
            <a:r>
              <a:rPr lang="es-CL" sz="2800" dirty="0" err="1"/>
              <a:t>’ll</a:t>
            </a:r>
            <a:r>
              <a:rPr lang="es-CL" sz="2800" dirty="0"/>
              <a:t> </a:t>
            </a:r>
            <a:r>
              <a:rPr lang="es-CL" sz="2800" b="1" dirty="0" err="1"/>
              <a:t>k</a:t>
            </a:r>
            <a:r>
              <a:rPr lang="es-CL" sz="2800" dirty="0" err="1"/>
              <a:t>now</a:t>
            </a:r>
            <a:r>
              <a:rPr lang="es-CL" sz="2800" dirty="0"/>
              <a:t> </a:t>
            </a:r>
            <a:r>
              <a:rPr lang="es-CL" sz="2800" b="1" dirty="0" err="1"/>
              <a:t>i</a:t>
            </a:r>
            <a:r>
              <a:rPr lang="es-CL" sz="2800" dirty="0" err="1"/>
              <a:t>t</a:t>
            </a:r>
            <a:r>
              <a:rPr lang="es-CL" sz="2800" dirty="0"/>
              <a:t> </a:t>
            </a:r>
            <a:r>
              <a:rPr lang="es-CL" sz="2800" b="1" dirty="0" err="1"/>
              <a:t>w</a:t>
            </a:r>
            <a:r>
              <a:rPr lang="es-CL" sz="2800" dirty="0" err="1"/>
              <a:t>hen</a:t>
            </a:r>
            <a:r>
              <a:rPr lang="es-CL" sz="2800" dirty="0"/>
              <a:t> </a:t>
            </a:r>
            <a:r>
              <a:rPr lang="es-CL" sz="2800" b="1" dirty="0"/>
              <a:t>I</a:t>
            </a:r>
            <a:r>
              <a:rPr lang="es-CL" sz="2800" dirty="0"/>
              <a:t> </a:t>
            </a:r>
            <a:r>
              <a:rPr lang="es-CL" sz="2800" b="1" dirty="0" err="1"/>
              <a:t>s</a:t>
            </a:r>
            <a:r>
              <a:rPr lang="es-CL" sz="2800" dirty="0" err="1"/>
              <a:t>ee</a:t>
            </a:r>
            <a:r>
              <a:rPr lang="es-CL" sz="2800" dirty="0"/>
              <a:t> </a:t>
            </a:r>
            <a:r>
              <a:rPr lang="es-CL" sz="2800" b="1" dirty="0" err="1"/>
              <a:t>i</a:t>
            </a:r>
            <a:r>
              <a:rPr lang="es-CL" sz="2800" dirty="0" err="1"/>
              <a:t>t</a:t>
            </a:r>
            <a:r>
              <a:rPr lang="es-CL" sz="2800" dirty="0"/>
              <a:t> [IKIWISI]”.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b="1" dirty="0" err="1"/>
              <a:t>Ejm</a:t>
            </a:r>
            <a:r>
              <a:rPr lang="es-CL" sz="2800" b="1" dirty="0"/>
              <a:t>:</a:t>
            </a:r>
          </a:p>
          <a:p>
            <a:r>
              <a:rPr lang="es-CL" sz="2800" i="1" dirty="0"/>
              <a:t>“Conocí una empresa informática que fue contratada por una empresa valdiviana, para que le desarrollen un sitio web. Después de 4 iteraciones de plantillas de diseño, donde el cliente no quedaba conforme, le sugerí a la empresa informática que le pidiera al cliente que le envíe ejemplos de sitios web que le gustaran. De esa manera se destrabó la situación.”</a:t>
            </a:r>
          </a:p>
        </p:txBody>
      </p:sp>
    </p:spTree>
    <p:extLst>
      <p:ext uri="{BB962C8B-B14F-4D97-AF65-F5344CB8AC3E}">
        <p14:creationId xmlns:p14="http://schemas.microsoft.com/office/powerpoint/2010/main" val="54700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Crear y evaluar prototipos (IKIWISI).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44010" y="1663759"/>
            <a:ext cx="10791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Los prototipos ayudan a lograr que los requisitos sean más tangibles.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Al hacer un </a:t>
            </a:r>
            <a:r>
              <a:rPr lang="es-CL" sz="2800" b="1" dirty="0"/>
              <a:t>prototipo</a:t>
            </a:r>
            <a:r>
              <a:rPr lang="es-CL" sz="2800" dirty="0"/>
              <a:t>, ¿estoy haciendo </a:t>
            </a:r>
            <a:r>
              <a:rPr lang="es-CL" sz="2800" b="1" dirty="0"/>
              <a:t>análisis</a:t>
            </a:r>
            <a:r>
              <a:rPr lang="es-CL" sz="2800" dirty="0"/>
              <a:t> o </a:t>
            </a:r>
            <a:r>
              <a:rPr lang="es-CL" sz="2800" b="1" dirty="0"/>
              <a:t>diseño</a:t>
            </a:r>
            <a:r>
              <a:rPr lang="es-CL" sz="2800" dirty="0"/>
              <a:t>? La frontera no es tan evidente.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prototipado ayuda a </a:t>
            </a:r>
            <a:r>
              <a:rPr lang="es-CL" sz="2800" b="1" dirty="0"/>
              <a:t>reducir el riesgo </a:t>
            </a:r>
            <a:r>
              <a:rPr lang="es-CL" sz="2800" dirty="0"/>
              <a:t>de equivocar el camino durante la implementación.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prototipado </a:t>
            </a:r>
            <a:r>
              <a:rPr lang="es-CL" sz="2800" b="1" dirty="0"/>
              <a:t>no reemplaza </a:t>
            </a:r>
            <a:r>
              <a:rPr lang="es-CL" sz="2800" dirty="0"/>
              <a:t>a las otras técnicas de </a:t>
            </a:r>
            <a:r>
              <a:rPr lang="es-CL" sz="2800" b="1" dirty="0"/>
              <a:t>análisis</a:t>
            </a:r>
            <a:r>
              <a:rPr lang="es-CL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77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Razones para prototipar interacción.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44010" y="1663759"/>
            <a:ext cx="1079149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Verificar que estamos entendiendo el problema de negocios.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Clarificar algún requerimiento.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Validar requerimientos.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Mejorar el flujo de tareas/procesos.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Revelar escenarios poco comunes.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Obtener feedback del diseño gráfico.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Mejorar diseño de usabilidad.</a:t>
            </a:r>
          </a:p>
        </p:txBody>
      </p:sp>
    </p:spTree>
    <p:extLst>
      <p:ext uri="{BB962C8B-B14F-4D97-AF65-F5344CB8AC3E}">
        <p14:creationId xmlns:p14="http://schemas.microsoft.com/office/powerpoint/2010/main" val="633364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134" y="1174772"/>
            <a:ext cx="3327785" cy="522602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52" y="1564539"/>
            <a:ext cx="7949266" cy="4446494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Razones para prototipar interacción.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00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Razones para prototipar aspectos técnicos.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44010" y="1663759"/>
            <a:ext cx="107914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Evaluar factibilidad técnica (prueba de concepto).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Estimar rendimiento potencial.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Evaluar algoritmos, diseño de base de datos, arquitectura.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Validar integración de tecnologías.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Juzgar costos y riesgos de implementación.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Ver factibilidad de cumplir con atributos de calidad.</a:t>
            </a:r>
          </a:p>
        </p:txBody>
      </p:sp>
    </p:spTree>
    <p:extLst>
      <p:ext uri="{BB962C8B-B14F-4D97-AF65-F5344CB8AC3E}">
        <p14:creationId xmlns:p14="http://schemas.microsoft.com/office/powerpoint/2010/main" val="2376164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¿Cómo prototipar?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644010" y="1663759"/>
            <a:ext cx="10791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recomienda ver el </a:t>
            </a:r>
            <a:r>
              <a:rPr lang="es-CL" sz="2800" b="1" dirty="0"/>
              <a:t>prototipo como un experimento</a:t>
            </a:r>
            <a:r>
              <a:rPr lang="es-CL" sz="28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 es la hipótesis? ¿Qué quiero testear? </a:t>
            </a:r>
            <a:r>
              <a:rPr lang="es-CL" sz="2800" dirty="0" err="1"/>
              <a:t>Ejms</a:t>
            </a:r>
            <a:r>
              <a:rPr lang="es-CL" sz="2800" dirty="0"/>
              <a:t>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Que determinado diseño de interfaz es adecuada para el tipo de usuario y tarea.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Que es posible integrar 2 tecnologías (</a:t>
            </a:r>
            <a:r>
              <a:rPr lang="es-CL" sz="2800" dirty="0" err="1"/>
              <a:t>ejm</a:t>
            </a:r>
            <a:r>
              <a:rPr lang="es-CL" sz="2800" dirty="0"/>
              <a:t>: </a:t>
            </a:r>
            <a:r>
              <a:rPr lang="es-CL" sz="2800" dirty="0" err="1"/>
              <a:t>Power</a:t>
            </a:r>
            <a:r>
              <a:rPr lang="es-CL" sz="2800" dirty="0"/>
              <a:t> BI &amp; </a:t>
            </a:r>
            <a:r>
              <a:rPr lang="es-CL" sz="2800" dirty="0" err="1"/>
              <a:t>MySQL</a:t>
            </a:r>
            <a:r>
              <a:rPr lang="es-CL" sz="2800" dirty="0"/>
              <a:t>).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Que la carga de datos para cierto proceso es rápida.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Que los usuarios entienden determinado flujo de proceso.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Etc.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18429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¿Cómo prototipar? Ejemplo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700250" y="1502395"/>
            <a:ext cx="107914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Experimento: </a:t>
            </a:r>
            <a:r>
              <a:rPr lang="es-CL" sz="2800" dirty="0"/>
              <a:t>Ver si determinado diseño de interfaz es adecuada para el tipo de usuario y tarea.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Funcionalidad: Emisión de boletas de honorarios electrónicas.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Caracterización de usuario: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b="1" dirty="0"/>
              <a:t>Novicio: </a:t>
            </a:r>
            <a:r>
              <a:rPr lang="es-CL" sz="2800" dirty="0"/>
              <a:t>Persona que realiza trabajos esporádicos. Puede pasar un tiempo largo sin emitir boletas. Sabe leer y escribir.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Utiliza computador o teléfono.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podría testear la interfaz?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Necesito un grupo de </a:t>
            </a:r>
            <a:r>
              <a:rPr lang="es-CL" sz="2800" b="1" dirty="0"/>
              <a:t>personas de perfil equivalente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Necesito que realicen la </a:t>
            </a:r>
            <a:r>
              <a:rPr lang="es-CL" sz="2800" b="1" dirty="0"/>
              <a:t>prueba en dispositivos equivalentes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Necesito definir </a:t>
            </a:r>
            <a:r>
              <a:rPr lang="es-CL" sz="2800" b="1" dirty="0"/>
              <a:t>escenarios específicos</a:t>
            </a:r>
            <a:r>
              <a:rPr lang="es-CL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692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145435"/>
            <a:ext cx="8875504" cy="553998"/>
          </a:xfrm>
        </p:spPr>
        <p:txBody>
          <a:bodyPr/>
          <a:lstStyle/>
          <a:p>
            <a:r>
              <a:rPr lang="es-CL" dirty="0"/>
              <a:t>P12: ¿Qué hago con los resultados?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700250" y="1502395"/>
            <a:ext cx="10791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En general, debiera usar los resultados para mejorar los requisitos, el flujo de procesos, como insumo para el diseño.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Utilizar el prototipo como versión inicial del software definitivo puede ser complejo.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Prototipo pudiese no tener atributos de calidad requeridos.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Pudiesen existir presiones para hacerlo.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Idealmente, esto debiera decidirse antes de construir el prototipo y diseñar el experimento.</a:t>
            </a:r>
          </a:p>
        </p:txBody>
      </p:sp>
    </p:spTree>
    <p:extLst>
      <p:ext uri="{BB962C8B-B14F-4D97-AF65-F5344CB8AC3E}">
        <p14:creationId xmlns:p14="http://schemas.microsoft.com/office/powerpoint/2010/main" val="2058440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18418" y="3209654"/>
            <a:ext cx="9955161" cy="42392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30934</TotalTime>
  <Words>1361</Words>
  <Application>Microsoft Office PowerPoint</Application>
  <PresentationFormat>Panorámica</PresentationFormat>
  <Paragraphs>172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Unidad 0 - Introducción</vt:lpstr>
      <vt:lpstr>¿Qué significa analizar los requisitos?</vt:lpstr>
      <vt:lpstr>Prácticas asociadas al análisis de requisitos</vt:lpstr>
      <vt:lpstr>P11: Ejemplo – Gestión de Prácticas</vt:lpstr>
      <vt:lpstr>P11: Ejemplo – Diagrama de Proceso</vt:lpstr>
      <vt:lpstr>P11: Ejemplo – Gestión de Prácticas (2024)</vt:lpstr>
      <vt:lpstr>P11: Ejemplo – Gestión de Prácticas - preguntas</vt:lpstr>
      <vt:lpstr>P11: Ejemplo – Gestión de Prácticas - preguntas</vt:lpstr>
      <vt:lpstr>P11: Ejemplo – Gestión de Prácticas</vt:lpstr>
      <vt:lpstr>P11: Ejemplo – Gestión de Prácticas –v2</vt:lpstr>
      <vt:lpstr>Prácticas asociadas al análisis de requisitos</vt:lpstr>
      <vt:lpstr>P12: Crear y evaluar prototipos (IKIWISI).</vt:lpstr>
      <vt:lpstr>P12: Crear y evaluar prototipos (IKIWISI).</vt:lpstr>
      <vt:lpstr>P12: Razones para prototipar interacción.</vt:lpstr>
      <vt:lpstr>P12: Razones para prototipar interacción.</vt:lpstr>
      <vt:lpstr>P12: Razones para prototipar aspectos técnicos.</vt:lpstr>
      <vt:lpstr>P12: ¿Cómo prototipar?</vt:lpstr>
      <vt:lpstr>P12: ¿Cómo prototipar? Ejemplo</vt:lpstr>
      <vt:lpstr>P12: ¿Qué hago con los resultados?</vt:lpstr>
      <vt:lpstr>Prácticas asociadas al análisis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211</cp:revision>
  <cp:lastPrinted>2020-10-05T12:16:48Z</cp:lastPrinted>
  <dcterms:created xsi:type="dcterms:W3CDTF">2018-03-05T20:26:11Z</dcterms:created>
  <dcterms:modified xsi:type="dcterms:W3CDTF">2025-09-30T22:09:23Z</dcterms:modified>
</cp:coreProperties>
</file>
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523" r:id="rId3"/>
    <p:sldId id="466" r:id="rId4"/>
    <p:sldId id="524" r:id="rId5"/>
    <p:sldId id="528" r:id="rId6"/>
    <p:sldId id="529" r:id="rId7"/>
    <p:sldId id="530" r:id="rId8"/>
    <p:sldId id="531" r:id="rId9"/>
    <p:sldId id="532" r:id="rId10"/>
    <p:sldId id="533" r:id="rId11"/>
    <p:sldId id="534" r:id="rId12"/>
    <p:sldId id="535" r:id="rId13"/>
    <p:sldId id="536" r:id="rId14"/>
    <p:sldId id="537" r:id="rId15"/>
    <p:sldId id="538" r:id="rId16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525" autoAdjust="0"/>
  </p:normalViewPr>
  <p:slideViewPr>
    <p:cSldViewPr snapToGrid="0">
      <p:cViewPr varScale="1">
        <p:scale>
          <a:sx n="90" d="100"/>
          <a:sy n="90" d="100"/>
        </p:scale>
        <p:origin x="12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14-10-2024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14-10-2024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7148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534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8FCA-68FD-961B-37F8-23CC7C65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89C940-AAF0-CE7C-A8C1-395B6F835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98F0CC0-2D83-3DC2-595A-8CC02912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8FC02A-C60C-5C3C-0247-98A8E2F0A8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1681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74E6-B685-FCB8-2D69-E794FDB2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2BF99C-6E50-6D76-78C6-B17048C8D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34D111-1605-AF67-EE02-92F1962CA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38523B-8FB5-3B40-0864-AEDEEE90B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6590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8805-D432-085F-9F61-F29229EC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280581-4B92-0FB4-1AC5-A2F6D6E5E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7EBF8-6659-058B-E1D5-27C67C5E7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4792F2-298A-F6D1-EEB0-172029458D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0761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DB154-DA27-6047-1F2A-417C49B0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C3DBDF-F0BD-010A-FE70-4B2C61DF64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8B0CE7-0AC8-5221-FC57-708E22D0B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1AC481-542E-116F-238D-66092745A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7478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D3468-A408-F860-E41B-12C2565E0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234F07C-F37B-EA6F-07A1-7028D1283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FE135E-4204-13E4-5C40-0AB61E11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CE1243-F397-C880-8A28-2B7B5CD42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6278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5643-AFDD-0261-9D4D-3952009E1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38C769-4712-1AF5-6A51-9EFB4E0CE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0F0F6B-8D51-62F7-4A69-AC1AF29DE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2049170-B676-A6A0-EC61-27DE51383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9793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5D04-6AA8-8AA7-CFE1-2AB2E338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646F73-96EB-7987-5186-0B3957852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B33B6A9-1819-882E-2603-80F7E0D57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116846-3F92-C394-691C-1A53D05F8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5018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50A2-0A34-56E7-6243-A16ABC39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58AA5-D12C-E1D3-02BD-501649858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366346-2601-0DB7-02A2-1F2CC6003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Macrounidad</a:t>
            </a:r>
            <a:r>
              <a:rPr lang="en-US" dirty="0"/>
              <a:t>, </a:t>
            </a:r>
            <a:r>
              <a:rPr lang="en-US" dirty="0" err="1"/>
              <a:t>ejm</a:t>
            </a:r>
            <a:r>
              <a:rPr lang="en-US" dirty="0"/>
              <a:t>: </a:t>
            </a:r>
            <a:r>
              <a:rPr lang="en-US" dirty="0" err="1"/>
              <a:t>Sede</a:t>
            </a:r>
            <a:r>
              <a:rPr lang="en-US" dirty="0"/>
              <a:t> Puerto Montt.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A2B415-8F34-40DD-BD4D-6E9AA8E850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0357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DF91-E362-68E8-AF2B-FA3EB8690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DC5934-3833-52C1-1EE3-7F76D702B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CB8573-46F5-F5B6-D428-0BA7BBC15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Es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generar</a:t>
            </a:r>
            <a:r>
              <a:rPr lang="en-US" dirty="0"/>
              <a:t> la </a:t>
            </a:r>
            <a:r>
              <a:rPr lang="en-US" dirty="0" err="1"/>
              <a:t>documentación</a:t>
            </a:r>
            <a:r>
              <a:rPr lang="en-US" dirty="0"/>
              <a:t> </a:t>
            </a:r>
            <a:r>
              <a:rPr lang="en-US" dirty="0" err="1"/>
              <a:t>pensando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distintas</a:t>
            </a:r>
            <a:r>
              <a:rPr lang="en-US" dirty="0"/>
              <a:t> audiencias.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AE04F8-881A-253A-DB1B-504D049BB6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3506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91F4-B0B7-4FC3-63D3-31680E38A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55CA90-E910-0CBE-0A30-8F1CA20F7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344069-B9B6-DB5C-A76F-5D411767E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Tener presente que existen diferentes maneras de especificarlos (texto, diagramas, fórmulas matemáticas, entre otros.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7443B-CABB-6497-A45F-C99108604B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4239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14-10-2024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uru99.com/requirement-management-tools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Especificación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Especificación de requisitos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¿Con qué detalle especificar los requisitos? Con el que sea necesario ;)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Tamaño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Duración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Criticidad del sistema.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Rotación de personal.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Nivel de formalidad y distancia en la relación entre quienes especifican y quienes implementan.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95572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301713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P14: Escribir los requisitos de manera consistente.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Buena práctica: Utilizar patrones (aunque sea aburrido!). Ejemplos: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&lt;clase de usuario&gt; será capaz de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 permitirá a &lt;clase de usuario&gt; &lt;hacer algo&gt;.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mejor escribir de manera monótona, en vez de generar confusión con variaciones pequeñas. Ejemplo: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podrá ...”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será capaz de …”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“El usuario deberá …”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085708" y="2769545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24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C7BFF-E384-E765-625D-A206BE1E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A9CBD-BC70-E4FC-6B6A-AB9D5CC1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Organizar los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B064EE7-55FB-6554-3B1F-4D81816A71D4}"/>
              </a:ext>
            </a:extLst>
          </p:cNvPr>
          <p:cNvSpPr txBox="1"/>
          <p:nvPr/>
        </p:nvSpPr>
        <p:spPr>
          <a:xfrm>
            <a:off x="143435" y="1514903"/>
            <a:ext cx="11781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Importancia de utilizar </a:t>
            </a:r>
            <a:r>
              <a:rPr lang="es-CL" sz="2800" dirty="0" err="1"/>
              <a:t>templates</a:t>
            </a:r>
            <a:r>
              <a:rPr lang="es-CL" sz="2800" dirty="0"/>
              <a:t>. ¿Qué son?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Plantillas, que nos permiten asegurar que los diferentes proyectos manejen los requisitos de la misma manera.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Utilizar </a:t>
            </a:r>
            <a:r>
              <a:rPr lang="es-CL" sz="2800" dirty="0" err="1"/>
              <a:t>templates</a:t>
            </a:r>
            <a:r>
              <a:rPr lang="es-CL" sz="2800" dirty="0"/>
              <a:t> nos permiten realizar </a:t>
            </a:r>
            <a:r>
              <a:rPr lang="es-CL" sz="2800" dirty="0" err="1"/>
              <a:t>checklists</a:t>
            </a:r>
            <a:r>
              <a:rPr lang="es-CL" sz="2800" dirty="0"/>
              <a:t>, para identificar información faltante.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Veremos algunos ejemplos.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Una buena práctica es ir llenando el documento de requisitos a medida que levantamos la información, no de forma secuencial.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55981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4E88-DA9B-0881-DAE3-27397684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51CF5-459A-3572-8330-98ED6C99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Organizar los requisitos. </a:t>
            </a:r>
            <a:r>
              <a:rPr lang="es-CL" sz="3200" dirty="0" err="1"/>
              <a:t>Templates</a:t>
            </a:r>
            <a:r>
              <a:rPr lang="es-CL" sz="3200" dirty="0"/>
              <a:t> (1)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1AE4E53-041F-25CC-3CA2-D2721C0A456B}"/>
              </a:ext>
            </a:extLst>
          </p:cNvPr>
          <p:cNvSpPr txBox="1"/>
          <p:nvPr/>
        </p:nvSpPr>
        <p:spPr>
          <a:xfrm>
            <a:off x="143435" y="1514903"/>
            <a:ext cx="11781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Declaración de visión (red de sensores de MP intradomiciliario).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4A8D39-73E9-A3A4-B5DF-1771BC99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727" y="2038123"/>
            <a:ext cx="7688538" cy="41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6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2A8F7-5230-0CB1-09DE-6D1EF8D3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0529D-6DC3-700C-F24C-85D8DB2C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Organizar los requisitos. </a:t>
            </a:r>
            <a:r>
              <a:rPr lang="es-CL" sz="3200" dirty="0" err="1"/>
              <a:t>Templates</a:t>
            </a:r>
            <a:r>
              <a:rPr lang="es-CL" sz="3200" dirty="0"/>
              <a:t> (2)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3150B2-54AD-AA45-CC8D-E3628CA6F37F}"/>
              </a:ext>
            </a:extLst>
          </p:cNvPr>
          <p:cNvSpPr txBox="1"/>
          <p:nvPr/>
        </p:nvSpPr>
        <p:spPr>
          <a:xfrm>
            <a:off x="143435" y="1514903"/>
            <a:ext cx="11781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Matriz RACI (sistema de apoyo a la enseñanza de la programación).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131413-8E32-C876-6305-E560C4E3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74" y="2619536"/>
            <a:ext cx="11088661" cy="26116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D493375-B8D4-9225-BDFC-0D397DF5DC40}"/>
              </a:ext>
            </a:extLst>
          </p:cNvPr>
          <p:cNvSpPr txBox="1"/>
          <p:nvPr/>
        </p:nvSpPr>
        <p:spPr>
          <a:xfrm>
            <a:off x="1170101" y="4889302"/>
            <a:ext cx="9994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En este ejemplo, si por ejemplo identificamos un nuevo </a:t>
            </a:r>
            <a:r>
              <a:rPr lang="es-CL" dirty="0" err="1"/>
              <a:t>stakeholder</a:t>
            </a:r>
            <a:r>
              <a:rPr lang="es-CL" dirty="0"/>
              <a:t> en alguna entrevista, lo agregamos a nuestra matriz RACI.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Si, por ejemplo, después de varias entrevistas, nos damos cuenta de que no aparece ningún responsable en la matriz RACI, o si no sabemos cuál es el rol de cierto actor, es algo que deberemos aclarar.</a:t>
            </a:r>
          </a:p>
        </p:txBody>
      </p:sp>
    </p:spTree>
    <p:extLst>
      <p:ext uri="{BB962C8B-B14F-4D97-AF65-F5344CB8AC3E}">
        <p14:creationId xmlns:p14="http://schemas.microsoft.com/office/powerpoint/2010/main" val="3635341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B778-B56B-E9A4-85DD-9A82893D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531EE-2AE7-C130-98ED-DA0FC88B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SRS (Especificación de requisitos de software).</a:t>
            </a:r>
            <a:endParaRPr lang="en-US" sz="32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63AEA0-2378-44C8-70FD-CCD72906F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523" y="1176760"/>
            <a:ext cx="5740952" cy="5133507"/>
          </a:xfrm>
          <a:prstGeom prst="rect">
            <a:avLst/>
          </a:prstGeom>
        </p:spPr>
      </p:pic>
      <p:sp>
        <p:nvSpPr>
          <p:cNvPr id="4" name="Rectángulo redondeado 4">
            <a:extLst>
              <a:ext uri="{FF2B5EF4-FFF2-40B4-BE49-F238E27FC236}">
                <a16:creationId xmlns:a16="http://schemas.microsoft.com/office/drawing/2014/main" id="{36BA61C3-7FDD-3549-D92F-3E18550CD181}"/>
              </a:ext>
            </a:extLst>
          </p:cNvPr>
          <p:cNvSpPr/>
          <p:nvPr/>
        </p:nvSpPr>
        <p:spPr>
          <a:xfrm>
            <a:off x="6224848" y="4848447"/>
            <a:ext cx="2094271" cy="754911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7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0A97A-E348-C328-1504-D2CC3D03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C9F0EE-51F3-AF67-64A2-FF03CC43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SRS (Especificación de requisitos de software).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024D89C-0E5C-A7FE-7A5B-AB72557A5A94}"/>
              </a:ext>
            </a:extLst>
          </p:cNvPr>
          <p:cNvSpPr txBox="1"/>
          <p:nvPr/>
        </p:nvSpPr>
        <p:spPr>
          <a:xfrm>
            <a:off x="5018569" y="1121498"/>
            <a:ext cx="683673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Este </a:t>
            </a:r>
            <a:r>
              <a:rPr lang="es-CL" sz="2400" dirty="0" err="1"/>
              <a:t>template</a:t>
            </a:r>
            <a:r>
              <a:rPr lang="es-CL" sz="2400" dirty="0"/>
              <a:t> reúne información que hemos ido construyendo en etapas previas.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Está plasmado en la norma ISO/IEC/IEEE 29148:2018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Revisemos su contenido y estructura.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Objetivos de negocio.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Usuarios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Requerimientos funcionales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Estructuras de datos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Interfaces externas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Requisitos no funcionales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2231E7-D52F-E12F-17C2-11E53A422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195" y="984481"/>
            <a:ext cx="3383386" cy="543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2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7158-EA50-2198-283C-B6939AB0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92A78-E641-DC0B-9971-64435C0E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P15: Organizar los requisitos. Herramientas.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4789A92-D465-67F0-76F4-FDEFDE637764}"/>
              </a:ext>
            </a:extLst>
          </p:cNvPr>
          <p:cNvSpPr txBox="1"/>
          <p:nvPr/>
        </p:nvSpPr>
        <p:spPr>
          <a:xfrm>
            <a:off x="111537" y="1270354"/>
            <a:ext cx="117811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Herramientas: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>
                <a:hlinkClick r:id="rId3"/>
              </a:rPr>
              <a:t>https://www.guru99.com/requirement-management-tools.html</a:t>
            </a: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Ventajas: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 la nube, multiusuario, múltiples proyectos.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Templates</a:t>
            </a:r>
            <a:r>
              <a:rPr lang="es-CL" sz="2800" dirty="0"/>
              <a:t> configurables.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Manejo de versiones.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Trazabilidad, análisis de impacto (ante cambios en requisitos).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Reutilización de requisitos.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Reportes.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Dificultades: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Curva de aprendizaje.</a:t>
            </a:r>
          </a:p>
        </p:txBody>
      </p:sp>
    </p:spTree>
    <p:extLst>
      <p:ext uri="{BB962C8B-B14F-4D97-AF65-F5344CB8AC3E}">
        <p14:creationId xmlns:p14="http://schemas.microsoft.com/office/powerpoint/2010/main" val="101597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7C4D6-0C2B-DF57-7934-B4B89378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31A79-AA0A-88F4-53D2-1C28C440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401D33-9D75-5250-73EC-ED0D7DA8C8EA}"/>
              </a:ext>
            </a:extLst>
          </p:cNvPr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6C528471-E431-5423-AC28-B15A1FC65F6B}"/>
              </a:ext>
            </a:extLst>
          </p:cNvPr>
          <p:cNvSpPr/>
          <p:nvPr/>
        </p:nvSpPr>
        <p:spPr>
          <a:xfrm>
            <a:off x="1151129" y="3662681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74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82BF-1937-DE59-5C6A-B8B553C70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E6DD0-891E-8F6F-2921-62D90CC3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P17: Crear un glosario.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C3FBD3-A824-B5F4-72F6-7A40F4EFDAAE}"/>
              </a:ext>
            </a:extLst>
          </p:cNvPr>
          <p:cNvSpPr txBox="1"/>
          <p:nvPr/>
        </p:nvSpPr>
        <p:spPr>
          <a:xfrm>
            <a:off x="122170" y="1493638"/>
            <a:ext cx="11781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Cada organización/área/problemática tiene su propio conjunto de términos, su propia “jerga”.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En un proyecto grande, diferentes áreas podrían utilizar nombres distintos para los mismos conceptos. </a:t>
            </a:r>
            <a:r>
              <a:rPr lang="es-CL" sz="2800" dirty="0" err="1"/>
              <a:t>Ejm</a:t>
            </a:r>
            <a:r>
              <a:rPr lang="es-CL" sz="2800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Macrounidad</a:t>
            </a:r>
            <a:r>
              <a:rPr lang="es-CL" sz="2800" dirty="0"/>
              <a:t>, Facultad. ¿Significan lo mismo o no? No exactamente  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Cliente, comprador.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Un concepto puede asumir varios roles. </a:t>
            </a:r>
            <a:r>
              <a:rPr lang="es-CL" sz="2800" dirty="0" err="1"/>
              <a:t>Ejm</a:t>
            </a:r>
            <a:r>
              <a:rPr lang="es-CL" sz="2800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Dirección</a:t>
            </a:r>
            <a:r>
              <a:rPr lang="es-CL" sz="2800" dirty="0"/>
              <a:t> de instalación.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Dirección</a:t>
            </a:r>
            <a:r>
              <a:rPr lang="es-CL" sz="2800" dirty="0"/>
              <a:t> de facturación.</a:t>
            </a:r>
          </a:p>
        </p:txBody>
      </p:sp>
    </p:spTree>
    <p:extLst>
      <p:ext uri="{BB962C8B-B14F-4D97-AF65-F5344CB8AC3E}">
        <p14:creationId xmlns:p14="http://schemas.microsoft.com/office/powerpoint/2010/main" val="3889106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9F5E1-6379-4D02-719F-0451D2B6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CF347D-CBFC-C350-AFE6-0C7DC4239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P17: Crear un glosario. ¿Dónde poner atención?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040A88-8351-901C-F3FB-154C246A30CF}"/>
              </a:ext>
            </a:extLst>
          </p:cNvPr>
          <p:cNvSpPr txBox="1"/>
          <p:nvPr/>
        </p:nvSpPr>
        <p:spPr>
          <a:xfrm>
            <a:off x="122170" y="1493638"/>
            <a:ext cx="117811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Modelos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Es crítico tener claro el significado de entidades y atributos.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Interfaces de usuario.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Puede ocurrir que, en una interfaz de ingreso de datos, o en un reporte, tengamos atributos que difieren del modelo de datos.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Actividades – diagramas de procesos.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También son una fuente potencial de elementos para el glosario.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1C563AF-6867-B71E-4A45-198A73A30AC6}"/>
              </a:ext>
            </a:extLst>
          </p:cNvPr>
          <p:cNvSpPr txBox="1"/>
          <p:nvPr/>
        </p:nvSpPr>
        <p:spPr>
          <a:xfrm>
            <a:off x="446183" y="5274330"/>
            <a:ext cx="112996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/>
              <a:t>¿Por qué no dejar simplemente la definición de esos términos en el diccionario de datos?</a:t>
            </a:r>
          </a:p>
        </p:txBody>
      </p:sp>
    </p:spTree>
    <p:extLst>
      <p:ext uri="{BB962C8B-B14F-4D97-AF65-F5344CB8AC3E}">
        <p14:creationId xmlns:p14="http://schemas.microsoft.com/office/powerpoint/2010/main" val="1119669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C669-CE7D-114A-D553-74E26838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EDBA9-9149-C988-AF84-425C8644C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especificación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91209B-AA1E-0A0D-8B38-40FDA7D1D876}"/>
              </a:ext>
            </a:extLst>
          </p:cNvPr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P14: Escribir los requisitos de manera consistente.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P15: Organizar los requisitos de una manera estructurada.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P16: Identificar y documentar las reglas de negocio.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P17: Crear un glosario.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8333FB17-ACBF-5F11-2DDC-C6442C63789D}"/>
              </a:ext>
            </a:extLst>
          </p:cNvPr>
          <p:cNvSpPr/>
          <p:nvPr/>
        </p:nvSpPr>
        <p:spPr>
          <a:xfrm>
            <a:off x="1151129" y="3662681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ángulo redondeado 3">
            <a:extLst>
              <a:ext uri="{FF2B5EF4-FFF2-40B4-BE49-F238E27FC236}">
                <a16:creationId xmlns:a16="http://schemas.microsoft.com/office/drawing/2014/main" id="{F3078CC2-75ED-8C57-37C6-53C485D1BC7C}"/>
              </a:ext>
            </a:extLst>
          </p:cNvPr>
          <p:cNvSpPr/>
          <p:nvPr/>
        </p:nvSpPr>
        <p:spPr>
          <a:xfrm>
            <a:off x="1151129" y="2773090"/>
            <a:ext cx="9955161" cy="492443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5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32031</TotalTime>
  <Words>902</Words>
  <Application>Microsoft Office PowerPoint</Application>
  <PresentationFormat>Panorámica</PresentationFormat>
  <Paragraphs>117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Unidad 0 - Introducción</vt:lpstr>
      <vt:lpstr>Especificación de requisitos</vt:lpstr>
      <vt:lpstr>Prácticas asociadas a la especificación de requisitos</vt:lpstr>
      <vt:lpstr>P14: Escribir los requisitos de manera consistente.</vt:lpstr>
      <vt:lpstr>Prácticas asociadas a la especificación de requisitos</vt:lpstr>
      <vt:lpstr>P15: Organizar los requisitos.</vt:lpstr>
      <vt:lpstr>P15: Organizar los requisitos. Templates (1)</vt:lpstr>
      <vt:lpstr>P15: Organizar los requisitos. Templates (2)</vt:lpstr>
      <vt:lpstr>P15: SRS (Especificación de requisitos de software).</vt:lpstr>
      <vt:lpstr>P15: SRS (Especificación de requisitos de software).</vt:lpstr>
      <vt:lpstr>P15: Organizar los requisitos. Herramientas.</vt:lpstr>
      <vt:lpstr>Prácticas asociadas a la especificación de requisitos</vt:lpstr>
      <vt:lpstr>P17: Crear un glosario.</vt:lpstr>
      <vt:lpstr>P17: Crear un glosario. ¿Dónde poner atención?</vt:lpstr>
      <vt:lpstr>Prácticas asociadas a la especificación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Salazar F.</cp:lastModifiedBy>
  <cp:revision>216</cp:revision>
  <cp:lastPrinted>2020-10-05T12:16:48Z</cp:lastPrinted>
  <dcterms:created xsi:type="dcterms:W3CDTF">2018-03-05T20:26:11Z</dcterms:created>
  <dcterms:modified xsi:type="dcterms:W3CDTF">2024-10-15T02:33:52Z</dcterms:modified>
</cp:coreProperties>
</file>
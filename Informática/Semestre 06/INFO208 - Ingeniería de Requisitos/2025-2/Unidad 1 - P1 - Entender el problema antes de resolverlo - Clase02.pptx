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7" r:id="rId2"/>
    <p:sldId id="451" r:id="rId3"/>
    <p:sldId id="441" r:id="rId4"/>
    <p:sldId id="449" r:id="rId5"/>
    <p:sldId id="450" r:id="rId6"/>
    <p:sldId id="453" r:id="rId7"/>
    <p:sldId id="452" r:id="rId8"/>
    <p:sldId id="455" r:id="rId9"/>
    <p:sldId id="456" r:id="rId10"/>
    <p:sldId id="454" r:id="rId11"/>
    <p:sldId id="457" r:id="rId12"/>
    <p:sldId id="458" r:id="rId13"/>
    <p:sldId id="461" r:id="rId14"/>
    <p:sldId id="459" r:id="rId15"/>
    <p:sldId id="460" r:id="rId16"/>
    <p:sldId id="462" r:id="rId17"/>
    <p:sldId id="463" r:id="rId18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0107" autoAdjust="0"/>
  </p:normalViewPr>
  <p:slideViewPr>
    <p:cSldViewPr snapToGrid="0">
      <p:cViewPr varScale="1">
        <p:scale>
          <a:sx n="79" d="100"/>
          <a:sy n="79" d="100"/>
        </p:scale>
        <p:origin x="17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07-08-2025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07-08-2025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387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5507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2021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s-CL" baseline="0" dirty="0"/>
              <a:t>La decisión no es simple. </a:t>
            </a:r>
          </a:p>
          <a:p>
            <a:pPr marL="171450" indent="-171450">
              <a:buFontTx/>
              <a:buChar char="-"/>
            </a:pPr>
            <a:r>
              <a:rPr lang="es-CL" baseline="0" dirty="0"/>
              <a:t>Depende, por ejemplo de:</a:t>
            </a:r>
          </a:p>
          <a:p>
            <a:pPr marL="171450" indent="-171450">
              <a:buFontTx/>
              <a:buChar char="-"/>
            </a:pPr>
            <a:r>
              <a:rPr lang="es-CL" baseline="0" dirty="0"/>
              <a:t>1) Variabilidad en los requisitos</a:t>
            </a:r>
          </a:p>
          <a:p>
            <a:pPr marL="171450" indent="-171450">
              <a:buFontTx/>
              <a:buChar char="-"/>
            </a:pPr>
            <a:r>
              <a:rPr lang="es-CL" baseline="0" dirty="0"/>
              <a:t>2) Costo de realizar cambios.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55455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8525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8446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6788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784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398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6432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9702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5494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3748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1505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45324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7269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07-08-2025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- 2025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1. Identificación de Necesidades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un requisito?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38291" y="2803160"/>
            <a:ext cx="111154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i="1" dirty="0"/>
              <a:t>“Lo más difícil en la construcción de un software es decidir precisamente qué construir”</a:t>
            </a:r>
          </a:p>
          <a:p>
            <a:endParaRPr lang="es-CL" sz="2400" dirty="0"/>
          </a:p>
          <a:p>
            <a:r>
              <a:rPr lang="es-CL" sz="2400" dirty="0" err="1"/>
              <a:t>F.P.Brooks</a:t>
            </a:r>
            <a:r>
              <a:rPr lang="es-CL" sz="2400" dirty="0"/>
              <a:t>, 1987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1179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un requisito?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38291" y="2803160"/>
            <a:ext cx="107642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i="1" dirty="0"/>
              <a:t>“Una </a:t>
            </a:r>
            <a:r>
              <a:rPr lang="es-CL" sz="2400" b="1" i="1" dirty="0"/>
              <a:t>especificación</a:t>
            </a:r>
            <a:r>
              <a:rPr lang="es-CL" sz="2400" i="1" dirty="0"/>
              <a:t> de lo que debiera implementarse.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i="1" dirty="0"/>
              <a:t>Es una </a:t>
            </a:r>
            <a:r>
              <a:rPr lang="es-CL" sz="2400" b="1" i="1" dirty="0"/>
              <a:t>descripción</a:t>
            </a:r>
            <a:r>
              <a:rPr lang="es-CL" sz="2400" i="1" dirty="0"/>
              <a:t> de cómo el sistema debiera </a:t>
            </a:r>
            <a:r>
              <a:rPr lang="es-CL" sz="2400" b="1" i="1" dirty="0"/>
              <a:t>comportarse</a:t>
            </a:r>
            <a:r>
              <a:rPr lang="es-CL" sz="2400" i="1" dirty="0"/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i="1" dirty="0"/>
              <a:t>o de un </a:t>
            </a:r>
            <a:r>
              <a:rPr lang="es-CL" sz="2400" b="1" i="1" dirty="0"/>
              <a:t>atributo</a:t>
            </a:r>
            <a:r>
              <a:rPr lang="es-CL" sz="2400" i="1" dirty="0"/>
              <a:t> o propiedad del sistema.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i="1" dirty="0"/>
              <a:t>Puede ser también una </a:t>
            </a:r>
            <a:r>
              <a:rPr lang="es-CL" sz="2400" b="1" i="1" dirty="0"/>
              <a:t>restricción</a:t>
            </a:r>
            <a:r>
              <a:rPr lang="es-CL" sz="2400" i="1" dirty="0"/>
              <a:t> sobre el </a:t>
            </a:r>
            <a:r>
              <a:rPr lang="es-CL" sz="2400" b="1" i="1" dirty="0"/>
              <a:t>proceso de desarrollo </a:t>
            </a:r>
            <a:r>
              <a:rPr lang="es-CL" sz="2400" i="1" dirty="0"/>
              <a:t>del sistema.”</a:t>
            </a:r>
          </a:p>
          <a:p>
            <a:endParaRPr lang="es-CL" sz="2400" dirty="0"/>
          </a:p>
          <a:p>
            <a:r>
              <a:rPr lang="es-CL" sz="2400" dirty="0" err="1"/>
              <a:t>Sommerville</a:t>
            </a:r>
            <a:r>
              <a:rPr lang="es-CL" sz="2400" dirty="0"/>
              <a:t>, I. &amp; Sawyer, P., 1997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4273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808521" y="5891133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219290"/>
            <a:ext cx="5740952" cy="51335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B175AE4-0C90-41D2-9249-6BB1A74D79C9}"/>
              </a:ext>
            </a:extLst>
          </p:cNvPr>
          <p:cNvSpPr txBox="1"/>
          <p:nvPr/>
        </p:nvSpPr>
        <p:spPr>
          <a:xfrm>
            <a:off x="7399199" y="1219290"/>
            <a:ext cx="45884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Analogía (pedida a </a:t>
            </a:r>
            <a:r>
              <a:rPr lang="es-ES" b="1" dirty="0" err="1"/>
              <a:t>ChatGPT</a:t>
            </a:r>
            <a:r>
              <a:rPr lang="es-ES" b="1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Business </a:t>
            </a:r>
            <a:r>
              <a:rPr lang="es-ES" b="1" dirty="0" err="1"/>
              <a:t>requirement</a:t>
            </a:r>
            <a:r>
              <a:rPr lang="es-ES" b="1" dirty="0"/>
              <a:t>: </a:t>
            </a:r>
            <a:r>
              <a:rPr lang="es-ES" dirty="0"/>
              <a:t>conectar dos ciudades para mejorar el comercio.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User</a:t>
            </a:r>
            <a:r>
              <a:rPr lang="es-ES" b="1" dirty="0"/>
              <a:t> </a:t>
            </a:r>
            <a:r>
              <a:rPr lang="es-ES" b="1" dirty="0" err="1"/>
              <a:t>requirement</a:t>
            </a:r>
            <a:r>
              <a:rPr lang="es-ES" b="1" dirty="0"/>
              <a:t>: </a:t>
            </a:r>
            <a:r>
              <a:rPr lang="es-ES" dirty="0"/>
              <a:t>los conductores deben poder cruzar el río con sus vehículos.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System</a:t>
            </a:r>
            <a:r>
              <a:rPr lang="es-ES" b="1" dirty="0"/>
              <a:t> </a:t>
            </a:r>
            <a:r>
              <a:rPr lang="es-ES" b="1" dirty="0" err="1"/>
              <a:t>requirement</a:t>
            </a:r>
            <a:r>
              <a:rPr lang="es-ES" b="1" dirty="0"/>
              <a:t>: </a:t>
            </a:r>
            <a:r>
              <a:rPr lang="es-ES" dirty="0"/>
              <a:t>el puente debe tener al menos 4 carriles, soportar 30 toneladas, incluir señalización,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Constraint</a:t>
            </a:r>
            <a:r>
              <a:rPr lang="es-ES" b="1" dirty="0"/>
              <a:t>: </a:t>
            </a:r>
            <a:r>
              <a:rPr lang="es-ES" dirty="0"/>
              <a:t>debe construirse con acero local, en menos de 18 meses, cumpliendo la norma ISO XYZ.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33738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Dominios de la ingeniería de requisitos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630" y="1096255"/>
            <a:ext cx="6592737" cy="2531849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713851" y="3810538"/>
            <a:ext cx="107642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¿Cómo organizamos las actividades que nos permitan identificar y gestionar los requisitos en un proyecto?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¿De qué depende cuánto tiempo le dedicamos al inicio del proyecto?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4481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esenciales en Ing.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L" sz="2800" dirty="0"/>
              <a:t>Entender el problema antes de converger hacia una solución.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2"/>
            </a:pPr>
            <a:r>
              <a:rPr lang="es-CL" sz="2800" dirty="0"/>
              <a:t>Identificar objetivos de negocio.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3"/>
            </a:pPr>
            <a:r>
              <a:rPr lang="es-CL" sz="2800" dirty="0"/>
              <a:t>Definir el alcance de la solución.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4"/>
            </a:pPr>
            <a:r>
              <a:rPr lang="es-CL" sz="2800" dirty="0"/>
              <a:t>Identificar y caracterizar a las partes involucradas.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5"/>
            </a:pPr>
            <a:r>
              <a:rPr lang="es-CL" sz="2800" dirty="0"/>
              <a:t>Identificar a quienes toman las decisiones.</a:t>
            </a:r>
            <a:endParaRPr lang="en-US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880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1) Entender el problema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494046" y="1431561"/>
            <a:ext cx="1169795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b="1" dirty="0"/>
              <a:t>¿Qué es un problema de negocios?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Cualquier problema que </a:t>
            </a:r>
            <a:r>
              <a:rPr lang="es-CL" sz="2800" b="1" dirty="0"/>
              <a:t>impide al negocio</a:t>
            </a:r>
            <a:r>
              <a:rPr lang="es-CL" sz="2800" dirty="0"/>
              <a:t> alcanzar sus objetivos o aprovechar una oportunidad. Ejemplos: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Realizar una actividad toma demasiado tiempo (</a:t>
            </a:r>
            <a:r>
              <a:rPr lang="es-CL" sz="2800" dirty="0" err="1"/>
              <a:t>ejm</a:t>
            </a:r>
            <a:r>
              <a:rPr lang="es-CL" sz="2800" dirty="0"/>
              <a:t>: registro urgencia hospital).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La organización como un todo no está alcanzando algún objetivo de ventas, de ahorro, etc.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b="1" dirty="0"/>
              <a:t>¿Cómo lo identificamos?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Evitando definir soluciones apresuradas. </a:t>
            </a:r>
            <a:r>
              <a:rPr lang="es-CL" sz="2800" b="1" dirty="0"/>
              <a:t>Si ocurre, preguntar ¿por qué?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Indagando.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Buscando consenso. </a:t>
            </a:r>
            <a:r>
              <a:rPr lang="es-CL" sz="2800" b="1" dirty="0"/>
              <a:t>Implica buscar más de una visión. </a:t>
            </a:r>
          </a:p>
        </p:txBody>
      </p:sp>
    </p:spTree>
    <p:extLst>
      <p:ext uri="{BB962C8B-B14F-4D97-AF65-F5344CB8AC3E}">
        <p14:creationId xmlns:p14="http://schemas.microsoft.com/office/powerpoint/2010/main" val="420903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Técnica de los 5 porqués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L" sz="2800" dirty="0"/>
              <a:t>Busca identificar no sólo la causa superficial sino las relaciones causa-efecto.</a:t>
            </a:r>
          </a:p>
          <a:p>
            <a:pPr marL="457200" indent="-457200">
              <a:buFont typeface="+mj-lt"/>
              <a:buAutoNum type="arabicPeriod"/>
            </a:pPr>
            <a:endParaRPr lang="es-CL" sz="2800" dirty="0"/>
          </a:p>
          <a:p>
            <a:pPr marL="457200" indent="-457200">
              <a:buFont typeface="+mj-lt"/>
              <a:buAutoNum type="arabicPeriod"/>
            </a:pPr>
            <a:r>
              <a:rPr lang="es-CL" sz="2800" dirty="0"/>
              <a:t>Se aplica de manera sucesiva.</a:t>
            </a:r>
          </a:p>
          <a:p>
            <a:pPr marL="457200" indent="-457200">
              <a:buFont typeface="+mj-lt"/>
              <a:buAutoNum type="arabicPeriod"/>
            </a:pPr>
            <a:endParaRPr lang="es-CL" sz="2800" dirty="0"/>
          </a:p>
          <a:p>
            <a:pPr marL="457200" indent="-457200">
              <a:buFont typeface="+mj-lt"/>
              <a:buAutoNum type="arabicPeriod"/>
            </a:pPr>
            <a:r>
              <a:rPr lang="es-CL" sz="2800" dirty="0"/>
              <a:t>Mejora la comprensión de los problemas.</a:t>
            </a:r>
          </a:p>
          <a:p>
            <a:pPr marL="457200" indent="-457200">
              <a:buFont typeface="+mj-lt"/>
              <a:buAutoNum type="arabicPeriod"/>
            </a:pPr>
            <a:endParaRPr lang="es-CL" sz="2800" dirty="0"/>
          </a:p>
          <a:p>
            <a:pPr marL="457200" indent="-457200">
              <a:buFont typeface="+mj-lt"/>
              <a:buAutoNum type="arabicPeriod"/>
            </a:pPr>
            <a:r>
              <a:rPr lang="es-CL" sz="2800" dirty="0"/>
              <a:t>Instala una cultura de mejora continua. </a:t>
            </a:r>
          </a:p>
        </p:txBody>
      </p:sp>
    </p:spTree>
    <p:extLst>
      <p:ext uri="{BB962C8B-B14F-4D97-AF65-F5344CB8AC3E}">
        <p14:creationId xmlns:p14="http://schemas.microsoft.com/office/powerpoint/2010/main" val="3669901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Técnica de los 5 porqués – Cómo aplicarla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L" sz="2800" dirty="0"/>
              <a:t>Establecer qué está pasando.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800" dirty="0"/>
              <a:t>Definir “por qué” está ocurriendo ese hecho. 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800" dirty="0"/>
              <a:t>Determinar las posibles razones de la causa de cada situación en particular.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800" dirty="0"/>
              <a:t>Continuar con el planteamiento de preguntas. 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800" dirty="0"/>
              <a:t>Finalmente, proponer las soluciones más adecuadas. </a:t>
            </a:r>
          </a:p>
        </p:txBody>
      </p:sp>
    </p:spTree>
    <p:extLst>
      <p:ext uri="{BB962C8B-B14F-4D97-AF65-F5344CB8AC3E}">
        <p14:creationId xmlns:p14="http://schemas.microsoft.com/office/powerpoint/2010/main" val="1258721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5 Por qué. Ejemplo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760" y="1045871"/>
            <a:ext cx="7940477" cy="533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93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Técnica de los 5 porqués – Ejercicio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¿Por qué algunos estudiantes del curso no tienen acceso a SIVEDUC?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¿Por qué, al estar en un paradero de micro, no sabemos en cuánto tiempo más pasará la siguiente micro?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¿Por qué hay alta reprobación en Cálculo en Varias Variables? 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716595" y="5147187"/>
            <a:ext cx="85929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Grupos de 4-5 personas,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b="1" dirty="0"/>
              <a:t>	</a:t>
            </a:r>
            <a:r>
              <a:rPr lang="es-CL" sz="2400" dirty="0"/>
              <a:t>Escoger un problema.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	Identificar sólo el árbol/secuencia de causas, no soluciones.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49431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Diagrama de espina de pescado - Ishikawa</a:t>
            </a:r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933" y="985348"/>
            <a:ext cx="8424130" cy="4088354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155055" y="4935148"/>
            <a:ext cx="98818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dirty="0"/>
              <a:t>Es una manera de organizar/representar el análisis, jerarquizando las causas.</a:t>
            </a:r>
          </a:p>
          <a:p>
            <a:pPr algn="ctr"/>
            <a:r>
              <a:rPr lang="es-CL" sz="2400" dirty="0"/>
              <a:t>Es utilizado en muchas profesiones relacionadas con mejora de calidad.</a:t>
            </a:r>
          </a:p>
          <a:p>
            <a:pPr algn="ctr"/>
            <a:r>
              <a:rPr lang="es-CL" sz="2400" dirty="0"/>
              <a:t>Ejercicio de síntesis ayuda a </a:t>
            </a:r>
            <a:r>
              <a:rPr lang="es-CL" sz="2400" b="1" dirty="0"/>
              <a:t>poner de acuerdo </a:t>
            </a:r>
            <a:r>
              <a:rPr lang="es-CL" sz="2400" dirty="0"/>
              <a:t>a las partes interesadas.</a:t>
            </a:r>
          </a:p>
          <a:p>
            <a:pPr algn="ctr"/>
            <a:r>
              <a:rPr lang="es-CL" sz="2400" b="1" dirty="0"/>
              <a:t>Ambas técnicas </a:t>
            </a:r>
            <a:r>
              <a:rPr lang="es-CL" sz="2400" dirty="0"/>
              <a:t>(5 por </a:t>
            </a:r>
            <a:r>
              <a:rPr lang="es-CL" sz="2400" dirty="0" err="1"/>
              <a:t>qués</a:t>
            </a:r>
            <a:r>
              <a:rPr lang="es-CL" sz="2400" dirty="0"/>
              <a:t> &amp; Ishikawa) </a:t>
            </a:r>
            <a:r>
              <a:rPr lang="es-CL" sz="2400" b="1" dirty="0"/>
              <a:t>se pueden combinar.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50643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Ejercicio – Diagrama de Ishikawa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435052" y="1431560"/>
            <a:ext cx="1140790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¿Por qué algunos estudiantes no tienen acceso a SIVEDUC? Causas asociadas a: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Estudiantes / Escuelas / Administración UACh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¿Por qué, al estar en un paradero de micro, no sabemos en cuánto tiempo más pasará la siguiente micro? Causas asociadas a: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Líneas de buses / Municipalidad o Gobierno / Choferes /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¿Por qué hay alta reprobación en Cálculo en Varias Variables? Causas asociadas a: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Profesores / Estudiantes / Escuelas / Administración UACh / MINEDUC</a:t>
            </a:r>
          </a:p>
        </p:txBody>
      </p:sp>
    </p:spTree>
    <p:extLst>
      <p:ext uri="{BB962C8B-B14F-4D97-AF65-F5344CB8AC3E}">
        <p14:creationId xmlns:p14="http://schemas.microsoft.com/office/powerpoint/2010/main" val="4294601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Declaración del problema</a:t>
            </a:r>
            <a:endParaRPr lang="en-US"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892020"/>
              </p:ext>
            </p:extLst>
          </p:nvPr>
        </p:nvGraphicFramePr>
        <p:xfrm>
          <a:off x="468671" y="1828800"/>
          <a:ext cx="11462774" cy="3900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135">
                  <a:extLst>
                    <a:ext uri="{9D8B030D-6E8A-4147-A177-3AD203B41FA5}">
                      <a16:colId xmlns:a16="http://schemas.microsoft.com/office/drawing/2014/main" val="4060259948"/>
                    </a:ext>
                  </a:extLst>
                </a:gridCol>
                <a:gridCol w="8504639">
                  <a:extLst>
                    <a:ext uri="{9D8B030D-6E8A-4147-A177-3AD203B41FA5}">
                      <a16:colId xmlns:a16="http://schemas.microsoft.com/office/drawing/2014/main" val="878690265"/>
                    </a:ext>
                  </a:extLst>
                </a:gridCol>
              </a:tblGrid>
              <a:tr h="4563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003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800" b="1" dirty="0"/>
                        <a:t>Situación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800" dirty="0"/>
                        <a:t>Antecedentes, contexto.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177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800" b="1" dirty="0"/>
                        <a:t>Problema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800" dirty="0"/>
                        <a:t>Describe</a:t>
                      </a:r>
                      <a:r>
                        <a:rPr lang="es-CL" sz="2800" baseline="0" dirty="0"/>
                        <a:t> el problema de negocios o las oportunidades.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84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800" b="1" dirty="0"/>
                        <a:t>Implicancias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800" dirty="0"/>
                        <a:t>Describe los resultados probables si el problema no es resuelto.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86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800" b="1" dirty="0"/>
                        <a:t>Beneficios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800" dirty="0"/>
                        <a:t>Describe</a:t>
                      </a:r>
                      <a:r>
                        <a:rPr lang="es-CL" sz="2800" baseline="0" dirty="0"/>
                        <a:t> el valor para el negocio de que el problema sea resuelto.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26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800" b="1" dirty="0"/>
                        <a:t>Visión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800" dirty="0"/>
                        <a:t>Describe cómo sería el estado futuro deseado 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427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6947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Declaración del problema – Veamos un ejercicio</a:t>
            </a:r>
            <a:endParaRPr lang="en-US"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400244"/>
              </p:ext>
            </p:extLst>
          </p:nvPr>
        </p:nvGraphicFramePr>
        <p:xfrm>
          <a:off x="468671" y="1828800"/>
          <a:ext cx="11462774" cy="3047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135">
                  <a:extLst>
                    <a:ext uri="{9D8B030D-6E8A-4147-A177-3AD203B41FA5}">
                      <a16:colId xmlns:a16="http://schemas.microsoft.com/office/drawing/2014/main" val="4060259948"/>
                    </a:ext>
                  </a:extLst>
                </a:gridCol>
                <a:gridCol w="8504639">
                  <a:extLst>
                    <a:ext uri="{9D8B030D-6E8A-4147-A177-3AD203B41FA5}">
                      <a16:colId xmlns:a16="http://schemas.microsoft.com/office/drawing/2014/main" val="878690265"/>
                    </a:ext>
                  </a:extLst>
                </a:gridCol>
              </a:tblGrid>
              <a:tr h="4563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003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800" b="1" dirty="0"/>
                        <a:t>Situación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177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800" b="1" dirty="0"/>
                        <a:t>Problema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84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800" b="1" dirty="0"/>
                        <a:t>Implicancias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86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800" b="1" dirty="0"/>
                        <a:t>Beneficios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26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2800" b="1" dirty="0"/>
                        <a:t>Visión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427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255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03848" y="304688"/>
            <a:ext cx="9270309" cy="624460"/>
          </a:xfrm>
        </p:spPr>
        <p:txBody>
          <a:bodyPr/>
          <a:lstStyle/>
          <a:p>
            <a:r>
              <a:rPr lang="es-CL" sz="2800" dirty="0"/>
              <a:t>1) Entender el problema antes de converger hacia una solución</a:t>
            </a:r>
            <a:endParaRPr lang="en-US" sz="2800" dirty="0"/>
          </a:p>
        </p:txBody>
      </p:sp>
      <p:sp>
        <p:nvSpPr>
          <p:cNvPr id="3" name="CuadroTexto 2"/>
          <p:cNvSpPr txBox="1"/>
          <p:nvPr/>
        </p:nvSpPr>
        <p:spPr>
          <a:xfrm>
            <a:off x="435050" y="1770773"/>
            <a:ext cx="1140790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Vimos la importancia de entender el problema de negocios.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Vimos algunas técnicas que ayudan a entenderlo y a describirlo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dirty="0"/>
              <a:t>Siguiente clase: </a:t>
            </a:r>
          </a:p>
          <a:p>
            <a:r>
              <a:rPr lang="es-CL" sz="2800" b="1" dirty="0"/>
              <a:t>2) Identificar objetivos de negocio.</a:t>
            </a:r>
          </a:p>
          <a:p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256957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808521" y="5891133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219290"/>
            <a:ext cx="5740952" cy="5133507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2227006" y="1219290"/>
            <a:ext cx="1710813" cy="639007"/>
          </a:xfrm>
          <a:prstGeom prst="roundRect">
            <a:avLst/>
          </a:prstGeom>
          <a:solidFill>
            <a:srgbClr val="FF0000">
              <a:alpha val="1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19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29397</TotalTime>
  <Words>894</Words>
  <Application>Microsoft Office PowerPoint</Application>
  <PresentationFormat>Panorámica</PresentationFormat>
  <Paragraphs>136</Paragraphs>
  <Slides>17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Unidad 0 - Introducción</vt:lpstr>
      <vt:lpstr>¿Qué es un requisito?</vt:lpstr>
      <vt:lpstr>¿Qué es un requisito?</vt:lpstr>
      <vt:lpstr>Tipos de requisitos</vt:lpstr>
      <vt:lpstr>Dominios de la ingeniería de requisitos</vt:lpstr>
      <vt:lpstr>Prácticas esenciales en Ing. de Requisitos</vt:lpstr>
      <vt:lpstr>1) Entender el problema</vt:lpstr>
      <vt:lpstr>Técnica de los 5 porqués</vt:lpstr>
      <vt:lpstr>Técnica de los 5 porqués – Cómo aplicarla</vt:lpstr>
      <vt:lpstr>5 Por qué. Ejemplo</vt:lpstr>
      <vt:lpstr>Técnica de los 5 porqués – Ejercicio</vt:lpstr>
      <vt:lpstr>Diagrama de espina de pescado - Ishikawa</vt:lpstr>
      <vt:lpstr>Ejercicio – Diagrama de Ishikawa</vt:lpstr>
      <vt:lpstr>Declaración del problema</vt:lpstr>
      <vt:lpstr>Declaración del problema – Veamos un ejercicio</vt:lpstr>
      <vt:lpstr>1) Entender el problema antes de converger hacia una solución</vt:lpstr>
      <vt:lpstr>Tipos de requisitos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180</cp:revision>
  <cp:lastPrinted>2020-10-05T12:16:48Z</cp:lastPrinted>
  <dcterms:created xsi:type="dcterms:W3CDTF">2018-03-05T20:26:11Z</dcterms:created>
  <dcterms:modified xsi:type="dcterms:W3CDTF">2025-08-07T15:24:06Z</dcterms:modified>
</cp:coreProperties>
</file>
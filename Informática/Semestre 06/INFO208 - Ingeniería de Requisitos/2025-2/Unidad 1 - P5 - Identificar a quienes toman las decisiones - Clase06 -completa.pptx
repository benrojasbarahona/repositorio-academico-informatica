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7" r:id="rId2"/>
    <p:sldId id="453" r:id="rId3"/>
    <p:sldId id="493" r:id="rId4"/>
    <p:sldId id="496" r:id="rId5"/>
    <p:sldId id="469" r:id="rId6"/>
    <p:sldId id="495" r:id="rId7"/>
    <p:sldId id="483" r:id="rId8"/>
    <p:sldId id="500" r:id="rId9"/>
    <p:sldId id="501" r:id="rId10"/>
    <p:sldId id="497" r:id="rId11"/>
    <p:sldId id="498" r:id="rId12"/>
    <p:sldId id="502" r:id="rId13"/>
    <p:sldId id="503" r:id="rId14"/>
    <p:sldId id="499" r:id="rId15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83212" autoAdjust="0"/>
  </p:normalViewPr>
  <p:slideViewPr>
    <p:cSldViewPr snapToGrid="0">
      <p:cViewPr varScale="1">
        <p:scale>
          <a:sx n="94" d="100"/>
          <a:sy n="94" d="100"/>
        </p:scale>
        <p:origin x="3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02-09-2025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02-09-2025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Esto es lo que veremos en esta clase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2925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</a:t>
            </a:r>
            <a:r>
              <a:rPr lang="es-CL" baseline="0" dirty="0"/>
              <a:t> idea, que es intuitivamente fácil de comprender, requiere mucho trabajo de especificación.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8083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</a:t>
            </a:r>
            <a:r>
              <a:rPr lang="es-CL" baseline="0" dirty="0"/>
              <a:t> idea, que es intuitivamente fácil de comprender, requiere mucho trabajo de especificación.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3590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Cuando</a:t>
            </a:r>
            <a:r>
              <a:rPr lang="es-CL" baseline="0" dirty="0"/>
              <a:t> en un marco de trabajo definimos roles, estamos definiendo quiénes toman decisiones en qué ámbitos. 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7281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1886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5144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763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trabajé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Ministerio</a:t>
            </a:r>
            <a:r>
              <a:rPr lang="en-US" dirty="0"/>
              <a:t> de </a:t>
            </a:r>
            <a:r>
              <a:rPr lang="en-US" dirty="0" err="1"/>
              <a:t>Planificación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1155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8765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6623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que, 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primer release es web, los </a:t>
            </a:r>
            <a:r>
              <a:rPr lang="en-US" dirty="0" err="1"/>
              <a:t>empleados</a:t>
            </a:r>
            <a:r>
              <a:rPr lang="en-US" dirty="0"/>
              <a:t> </a:t>
            </a:r>
            <a:r>
              <a:rPr lang="en-US" dirty="0" err="1"/>
              <a:t>deberán</a:t>
            </a:r>
            <a:r>
              <a:rPr lang="en-US" dirty="0"/>
              <a:t> </a:t>
            </a:r>
            <a:r>
              <a:rPr lang="en-US" dirty="0" err="1"/>
              <a:t>digitar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oficina</a:t>
            </a:r>
            <a:r>
              <a:rPr lang="en-US" dirty="0"/>
              <a:t>, al final de </a:t>
            </a:r>
            <a:r>
              <a:rPr lang="en-US" dirty="0" err="1"/>
              <a:t>cada</a:t>
            </a:r>
            <a:r>
              <a:rPr lang="en-US" dirty="0"/>
              <a:t> jornada, </a:t>
            </a:r>
            <a:r>
              <a:rPr lang="en-US" dirty="0" err="1"/>
              <a:t>durante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6 meses, hasta que </a:t>
            </a:r>
            <a:r>
              <a:rPr lang="en-US" dirty="0" err="1"/>
              <a:t>salga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release </a:t>
            </a:r>
            <a:r>
              <a:rPr lang="en-US" dirty="0" err="1"/>
              <a:t>móvil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6858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17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02-09-2025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4333241"/>
            <a:ext cx="7975880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5219736"/>
            <a:ext cx="6911578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6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el proceso y roles en SCRUM.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970868"/>
            <a:ext cx="9542703" cy="491626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86266" y="5882622"/>
            <a:ext cx="11819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https://blogdatlas.wordpress.com/2023/04/02/roles-en-metodologia-scrum-cuales-son-y-por-que-son-tan-importantes-manuales-datlas/</a:t>
            </a:r>
          </a:p>
        </p:txBody>
      </p:sp>
    </p:spTree>
    <p:extLst>
      <p:ext uri="{BB962C8B-B14F-4D97-AF65-F5344CB8AC3E}">
        <p14:creationId xmlns:p14="http://schemas.microsoft.com/office/powerpoint/2010/main" val="61421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el proceso y roles en SCRUM.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73" y="1064875"/>
            <a:ext cx="6820852" cy="482984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876514" y="5938056"/>
            <a:ext cx="8315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https://ticsyformacion.com/2021/02/22/roles-en-scrum-infografia-infographic-agile/</a:t>
            </a:r>
          </a:p>
        </p:txBody>
      </p:sp>
    </p:spTree>
    <p:extLst>
      <p:ext uri="{BB962C8B-B14F-4D97-AF65-F5344CB8AC3E}">
        <p14:creationId xmlns:p14="http://schemas.microsoft.com/office/powerpoint/2010/main" val="230981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el proceso y roles en SCRUM.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417" y="1140561"/>
            <a:ext cx="6739164" cy="4754745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13266" y="5737325"/>
            <a:ext cx="11565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https://blogdatlas.wordpress.com/2023/04/02/roles-en-metodologia-scrum-cuales-son-y-por-que-son-tan-importantes-manuales-datlas/</a:t>
            </a:r>
          </a:p>
        </p:txBody>
      </p:sp>
    </p:spTree>
    <p:extLst>
      <p:ext uri="{BB962C8B-B14F-4D97-AF65-F5344CB8AC3E}">
        <p14:creationId xmlns:p14="http://schemas.microsoft.com/office/powerpoint/2010/main" val="317551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Requerimientos en conflicto en una clase de usuario, o entre clases de usuarios.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Priorización de requerimientos.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Resolver conflictos de prioridades entre </a:t>
            </a:r>
            <a:r>
              <a:rPr lang="es-CL" sz="2800" dirty="0" err="1"/>
              <a:t>stakeholders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Ajustar prioridades ante cambios en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Negociar atributos de calidad en conflicto.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Gestionar cambios en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Decidir ajustes en el alcance de un incremento (</a:t>
            </a:r>
            <a:r>
              <a:rPr lang="es-CL" sz="2800" dirty="0" err="1"/>
              <a:t>release</a:t>
            </a:r>
            <a:r>
              <a:rPr lang="es-CL" sz="2800" dirty="0"/>
              <a:t>).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Tipos de decisiones relativas a requerimientos.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15764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430982" y="1620012"/>
            <a:ext cx="58399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Ejm</a:t>
            </a:r>
            <a:r>
              <a:rPr lang="es-CL" sz="2400" b="1" dirty="0"/>
              <a:t>: </a:t>
            </a:r>
            <a:r>
              <a:rPr lang="es-CL" sz="2400" dirty="0"/>
              <a:t>Estamos trabajando en el </a:t>
            </a:r>
            <a:r>
              <a:rPr lang="es-CL" sz="2400" dirty="0" err="1"/>
              <a:t>release</a:t>
            </a:r>
            <a:r>
              <a:rPr lang="es-CL" sz="2400" dirty="0"/>
              <a:t> 2, y nos indican que se desea agregar medición de contaminantes en el exterior de las casas e incluir esa información en los reportes.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¿Agregamos estos requerimientos en un nuevo </a:t>
            </a:r>
            <a:r>
              <a:rPr lang="es-CL" sz="2400" dirty="0" err="1"/>
              <a:t>release</a:t>
            </a:r>
            <a:r>
              <a:rPr lang="es-CL" sz="2400" dirty="0"/>
              <a:t>, llamado 2.5?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¿Los colocamos al final, como </a:t>
            </a:r>
            <a:r>
              <a:rPr lang="es-CL" sz="2400" dirty="0" err="1"/>
              <a:t>release</a:t>
            </a:r>
            <a:r>
              <a:rPr lang="es-CL" sz="2400" dirty="0"/>
              <a:t> 5?</a:t>
            </a:r>
            <a:endParaRPr lang="en-US" sz="2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Tipos de decisiones relativas a requerimientos.</a:t>
            </a:r>
            <a:endParaRPr lang="en-US" kern="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492978"/>
              </p:ext>
            </p:extLst>
          </p:nvPr>
        </p:nvGraphicFramePr>
        <p:xfrm>
          <a:off x="423331" y="1620012"/>
          <a:ext cx="4634444" cy="4418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2">
                  <a:extLst>
                    <a:ext uri="{9D8B030D-6E8A-4147-A177-3AD203B41FA5}">
                      <a16:colId xmlns:a16="http://schemas.microsoft.com/office/drawing/2014/main" val="367906058"/>
                    </a:ext>
                  </a:extLst>
                </a:gridCol>
                <a:gridCol w="3669242">
                  <a:extLst>
                    <a:ext uri="{9D8B030D-6E8A-4147-A177-3AD203B41FA5}">
                      <a16:colId xmlns:a16="http://schemas.microsoft.com/office/drawing/2014/main" val="2714486921"/>
                    </a:ext>
                  </a:extLst>
                </a:gridCol>
              </a:tblGrid>
              <a:tr h="550056">
                <a:tc>
                  <a:txBody>
                    <a:bodyPr/>
                    <a:lstStyle/>
                    <a:p>
                      <a:r>
                        <a:rPr lang="es-CL" dirty="0" err="1"/>
                        <a:t>Release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Objetivo (hay</a:t>
                      </a:r>
                      <a:r>
                        <a:rPr lang="es-CL" baseline="0" dirty="0"/>
                        <a:t> más alternativas)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672186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 equipos </a:t>
                      </a:r>
                      <a:r>
                        <a:rPr lang="es-CL" dirty="0" err="1"/>
                        <a:t>Arduino</a:t>
                      </a:r>
                      <a:r>
                        <a:rPr lang="es-CL" dirty="0"/>
                        <a:t> con visor</a:t>
                      </a:r>
                      <a:r>
                        <a:rPr lang="es-CL" baseline="0" dirty="0"/>
                        <a:t> y </a:t>
                      </a:r>
                      <a:r>
                        <a:rPr lang="es-CL" dirty="0"/>
                        <a:t>sensores,</a:t>
                      </a:r>
                      <a:r>
                        <a:rPr lang="es-CL" baseline="0" dirty="0"/>
                        <a:t> y levantar datos a BD </a:t>
                      </a:r>
                      <a:r>
                        <a:rPr lang="es-CL" baseline="0" dirty="0" err="1"/>
                        <a:t>Influx</a:t>
                      </a:r>
                      <a:r>
                        <a:rPr lang="es-CL" baseline="0" dirty="0"/>
                        <a:t> DB.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34827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 reportes de contaminantes</a:t>
                      </a:r>
                      <a:r>
                        <a:rPr lang="es-CL" baseline="0" dirty="0"/>
                        <a:t> </a:t>
                      </a:r>
                      <a:r>
                        <a:rPr lang="es-CL" baseline="0" dirty="0" err="1"/>
                        <a:t>intradomiciliarios</a:t>
                      </a:r>
                      <a:r>
                        <a:rPr lang="es-CL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438368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Cargar</a:t>
                      </a:r>
                      <a:r>
                        <a:rPr lang="es-CL" baseline="0" dirty="0"/>
                        <a:t> </a:t>
                      </a:r>
                      <a:r>
                        <a:rPr lang="es-CL" baseline="0" dirty="0" err="1"/>
                        <a:t>info</a:t>
                      </a:r>
                      <a:r>
                        <a:rPr lang="es-CL" baseline="0" dirty="0"/>
                        <a:t> SINCA y </a:t>
                      </a:r>
                      <a:r>
                        <a:rPr lang="es-CL" baseline="0" dirty="0" err="1"/>
                        <a:t>Meteochile</a:t>
                      </a:r>
                      <a:r>
                        <a:rPr lang="es-CL" baseline="0" dirty="0"/>
                        <a:t> a BD </a:t>
                      </a:r>
                      <a:r>
                        <a:rPr lang="es-CL" baseline="0" dirty="0" err="1"/>
                        <a:t>Influx</a:t>
                      </a:r>
                      <a:r>
                        <a:rPr lang="es-CL" baseline="0" dirty="0"/>
                        <a:t> DB. Integrar </a:t>
                      </a:r>
                      <a:r>
                        <a:rPr lang="es-CL" baseline="0" dirty="0" err="1"/>
                        <a:t>info</a:t>
                      </a:r>
                      <a:r>
                        <a:rPr lang="es-CL" baseline="0" dirty="0"/>
                        <a:t> a reportes en </a:t>
                      </a:r>
                      <a:r>
                        <a:rPr lang="es-CL" baseline="0" dirty="0" err="1"/>
                        <a:t>Grafana</a:t>
                      </a:r>
                      <a:r>
                        <a:rPr lang="es-CL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016712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</a:t>
                      </a:r>
                      <a:r>
                        <a:rPr lang="es-CL" baseline="0" dirty="0"/>
                        <a:t> modelos matemáticos. </a:t>
                      </a:r>
                    </a:p>
                    <a:p>
                      <a:r>
                        <a:rPr lang="es-CL" dirty="0"/>
                        <a:t>Implementar monitoreo</a:t>
                      </a:r>
                      <a:r>
                        <a:rPr lang="es-CL" baseline="0" dirty="0"/>
                        <a:t> de fallas.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037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69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181936" y="1366218"/>
            <a:ext cx="58399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Ejm</a:t>
            </a:r>
            <a:r>
              <a:rPr lang="es-CL" sz="2400" b="1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Nos damos cuenta de que utilizar </a:t>
            </a:r>
            <a:r>
              <a:rPr lang="es-CL" sz="2400" dirty="0" err="1"/>
              <a:t>Influx</a:t>
            </a:r>
            <a:r>
              <a:rPr lang="es-CL" sz="2400" dirty="0"/>
              <a:t> DB en su versión Cloud genera – a veces - problemas de </a:t>
            </a:r>
            <a:r>
              <a:rPr lang="es-CL" sz="2400" b="1" dirty="0"/>
              <a:t>tiempo de respuesta </a:t>
            </a:r>
            <a:r>
              <a:rPr lang="es-CL" sz="2400" dirty="0"/>
              <a:t>en los reportes de </a:t>
            </a:r>
            <a:r>
              <a:rPr lang="es-CL" sz="2400" dirty="0" err="1"/>
              <a:t>Grafana</a:t>
            </a:r>
            <a:r>
              <a:rPr lang="es-CL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Pero, por otro lado, </a:t>
            </a:r>
            <a:r>
              <a:rPr lang="es-CL" sz="2400" dirty="0" err="1"/>
              <a:t>Influx</a:t>
            </a:r>
            <a:r>
              <a:rPr lang="es-CL" sz="2400" dirty="0"/>
              <a:t> DB Cloud tiene un </a:t>
            </a:r>
            <a:r>
              <a:rPr lang="es-CL" sz="2400" b="1" dirty="0"/>
              <a:t>excelente </a:t>
            </a:r>
            <a:r>
              <a:rPr lang="es-CL" sz="2400" b="1" dirty="0" err="1"/>
              <a:t>uptime</a:t>
            </a:r>
            <a:r>
              <a:rPr lang="es-CL" sz="2400" dirty="0"/>
              <a:t>, superior al 99.5%, por lo que casi nunca perdemos información de los sensores.  </a:t>
            </a:r>
          </a:p>
          <a:p>
            <a:r>
              <a:rPr lang="es-CL" sz="2400" dirty="0"/>
              <a:t>Implementar </a:t>
            </a:r>
            <a:r>
              <a:rPr lang="es-CL" sz="2400" dirty="0" err="1"/>
              <a:t>Influx</a:t>
            </a:r>
            <a:r>
              <a:rPr lang="es-CL" sz="2400" dirty="0"/>
              <a:t> DB en un servidor local, podría mejorar las consultas, pero bajaría el </a:t>
            </a:r>
            <a:r>
              <a:rPr lang="es-CL" sz="2400" dirty="0" err="1"/>
              <a:t>uptime</a:t>
            </a:r>
            <a:r>
              <a:rPr lang="es-CL" sz="2400" dirty="0"/>
              <a:t>.</a:t>
            </a:r>
          </a:p>
          <a:p>
            <a:endParaRPr lang="es-CL" sz="2400" dirty="0"/>
          </a:p>
          <a:p>
            <a:pPr algn="ctr"/>
            <a:r>
              <a:rPr lang="es-CL" sz="2400" b="1" dirty="0"/>
              <a:t>¿Cómo decidir? </a:t>
            </a:r>
            <a:endParaRPr lang="en-US" sz="2400" b="1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Tipos de decisiones relativas a requerimientos.</a:t>
            </a:r>
            <a:endParaRPr lang="en-US" kern="0" dirty="0"/>
          </a:p>
        </p:txBody>
      </p:sp>
      <p:sp>
        <p:nvSpPr>
          <p:cNvPr id="9" name="Rectángulo 8"/>
          <p:cNvSpPr/>
          <p:nvPr/>
        </p:nvSpPr>
        <p:spPr>
          <a:xfrm>
            <a:off x="2879751" y="1574801"/>
            <a:ext cx="1335226" cy="552800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SINCA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/>
          <p:cNvCxnSpPr>
            <a:stCxn id="12" idx="2"/>
            <a:endCxn id="15" idx="0"/>
          </p:cNvCxnSpPr>
          <p:nvPr/>
        </p:nvCxnSpPr>
        <p:spPr>
          <a:xfrm>
            <a:off x="1099790" y="2127600"/>
            <a:ext cx="1096151" cy="91354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848477" y="2418542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estaciones</a:t>
            </a:r>
            <a:endParaRPr lang="en-US" sz="1600" dirty="0"/>
          </a:p>
        </p:txBody>
      </p:sp>
      <p:sp>
        <p:nvSpPr>
          <p:cNvPr id="12" name="Rectángulo 11"/>
          <p:cNvSpPr/>
          <p:nvPr/>
        </p:nvSpPr>
        <p:spPr>
          <a:xfrm>
            <a:off x="432177" y="1574800"/>
            <a:ext cx="1335226" cy="552800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</a:t>
            </a:r>
            <a:r>
              <a:rPr lang="es-CL" dirty="0" err="1">
                <a:solidFill>
                  <a:schemeClr val="tx1"/>
                </a:solidFill>
              </a:rPr>
              <a:t>Meteochile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Conector recto de flecha 12"/>
          <p:cNvCxnSpPr>
            <a:stCxn id="17" idx="0"/>
            <a:endCxn id="15" idx="2"/>
          </p:cNvCxnSpPr>
          <p:nvPr/>
        </p:nvCxnSpPr>
        <p:spPr>
          <a:xfrm flipV="1">
            <a:off x="1029657" y="3671982"/>
            <a:ext cx="1166284" cy="27717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62044" y="2358620"/>
            <a:ext cx="1591887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Datos meteorológicos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1528328" y="3041148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BD </a:t>
            </a:r>
            <a:r>
              <a:rPr lang="es-CL" dirty="0" err="1">
                <a:solidFill>
                  <a:schemeClr val="tx1"/>
                </a:solidFill>
              </a:rPr>
              <a:t>InfluxDB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/>
          <p:cNvCxnSpPr>
            <a:stCxn id="9" idx="2"/>
            <a:endCxn id="15" idx="0"/>
          </p:cNvCxnSpPr>
          <p:nvPr/>
        </p:nvCxnSpPr>
        <p:spPr>
          <a:xfrm flipH="1">
            <a:off x="2195941" y="2127601"/>
            <a:ext cx="1351423" cy="91354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362044" y="3949156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Equipo </a:t>
            </a:r>
            <a:r>
              <a:rPr lang="es-CL" dirty="0" err="1">
                <a:solidFill>
                  <a:schemeClr val="tx1"/>
                </a:solidFill>
              </a:rPr>
              <a:t>Arduino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487205" y="3727646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Registro contaminantes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4540641" y="3041147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tx1"/>
                </a:solidFill>
              </a:rPr>
              <a:t>Grafana</a:t>
            </a:r>
            <a:r>
              <a:rPr lang="es-CL" dirty="0">
                <a:solidFill>
                  <a:schemeClr val="tx1"/>
                </a:solidFill>
              </a:rPr>
              <a:t> Cloud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Conector recto de flecha 19"/>
          <p:cNvCxnSpPr>
            <a:stCxn id="15" idx="3"/>
            <a:endCxn id="19" idx="1"/>
          </p:cNvCxnSpPr>
          <p:nvPr/>
        </p:nvCxnSpPr>
        <p:spPr>
          <a:xfrm flipV="1">
            <a:off x="2863554" y="3356564"/>
            <a:ext cx="1677088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2899347" y="3380669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Registro de variables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409121" y="5259699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Sensores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/>
          <p:cNvCxnSpPr>
            <a:stCxn id="22" idx="0"/>
            <a:endCxn id="17" idx="2"/>
          </p:cNvCxnSpPr>
          <p:nvPr/>
        </p:nvCxnSpPr>
        <p:spPr>
          <a:xfrm flipH="1" flipV="1">
            <a:off x="1029657" y="4579991"/>
            <a:ext cx="47077" cy="67970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1987302" y="5259699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Visor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/>
          <p:cNvCxnSpPr>
            <a:endCxn id="24" idx="0"/>
          </p:cNvCxnSpPr>
          <p:nvPr/>
        </p:nvCxnSpPr>
        <p:spPr>
          <a:xfrm>
            <a:off x="1274584" y="4637453"/>
            <a:ext cx="1380331" cy="62224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2168116" y="4637453"/>
            <a:ext cx="1215288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Variables ambientales</a:t>
            </a:r>
          </a:p>
        </p:txBody>
      </p:sp>
    </p:spTree>
    <p:extLst>
      <p:ext uri="{BB962C8B-B14F-4D97-AF65-F5344CB8AC3E}">
        <p14:creationId xmlns:p14="http://schemas.microsoft.com/office/powerpoint/2010/main" val="272557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12112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Como parte del análisis de los </a:t>
            </a:r>
            <a:r>
              <a:rPr lang="es-CL" sz="2800" dirty="0" err="1"/>
              <a:t>stakeholders</a:t>
            </a:r>
            <a:r>
              <a:rPr lang="es-CL" sz="2800" dirty="0"/>
              <a:t>, es importante identificar a quienes </a:t>
            </a:r>
            <a:r>
              <a:rPr lang="es-CL" sz="2800" b="1" dirty="0"/>
              <a:t>toman decisiones </a:t>
            </a:r>
            <a:r>
              <a:rPr lang="es-CL" sz="2800" dirty="0"/>
              <a:t>en diferentes ámbitos. </a:t>
            </a:r>
            <a:r>
              <a:rPr lang="es-CL" sz="2800" dirty="0" err="1"/>
              <a:t>Ejm</a:t>
            </a:r>
            <a:r>
              <a:rPr lang="es-CL" sz="2800" dirty="0"/>
              <a:t>: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Quienes imponen </a:t>
            </a:r>
            <a:r>
              <a:rPr lang="es-CL" sz="2800" b="1" dirty="0"/>
              <a:t>restricciones</a:t>
            </a:r>
            <a:r>
              <a:rPr lang="es-CL" sz="2800" dirty="0"/>
              <a:t> (alcance, recursos, legales, técnicas).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 proyectos ágiles, es clave tener un </a:t>
            </a:r>
            <a:r>
              <a:rPr lang="es-CL" sz="2800" b="1" dirty="0" err="1"/>
              <a:t>Product</a:t>
            </a:r>
            <a:r>
              <a:rPr lang="es-CL" sz="2800" b="1" dirty="0"/>
              <a:t> </a:t>
            </a:r>
            <a:r>
              <a:rPr lang="es-CL" sz="2800" b="1" dirty="0" err="1"/>
              <a:t>Owner</a:t>
            </a:r>
            <a:r>
              <a:rPr lang="es-CL" sz="2800" b="1" dirty="0"/>
              <a:t> </a:t>
            </a:r>
            <a:r>
              <a:rPr lang="es-CL" sz="2800" dirty="0"/>
              <a:t>empoderado.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buena práctica tener “</a:t>
            </a:r>
            <a:r>
              <a:rPr lang="es-CL" sz="2800" b="1" dirty="0" err="1"/>
              <a:t>user</a:t>
            </a:r>
            <a:r>
              <a:rPr lang="es-CL" sz="2800" b="1" dirty="0"/>
              <a:t> </a:t>
            </a:r>
            <a:r>
              <a:rPr lang="es-CL" sz="2800" b="1" dirty="0" err="1"/>
              <a:t>representatives</a:t>
            </a:r>
            <a:r>
              <a:rPr lang="es-CL" sz="2800" dirty="0"/>
              <a:t>”.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Quiénes toman decisiones.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7852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12112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buena idea colocarse de acuerdo en esto, </a:t>
            </a:r>
            <a:r>
              <a:rPr lang="es-CL" sz="2800" b="1" dirty="0"/>
              <a:t>antes</a:t>
            </a:r>
            <a:r>
              <a:rPr lang="es-CL" sz="2800" dirty="0"/>
              <a:t> de que surjan los conflictos.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Mecanismos de decisión: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Voto unánime: Todos deben estar de acuerdo.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Consenso: Todos encuentran un punto de acuerdo.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Voto de mayoría.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líder decide.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Delegación: Se busca a un tercero que decida.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se toman las decisiones.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5468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12112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Divídanse en grupos de 3 personas.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Imaginen que ustedes son analistas funcionales de diferentes áreas de negocios de una empresa de servicios financieros (seguros de vida, seguros de automóviles, inversiones).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 primer lugar, </a:t>
            </a:r>
            <a:r>
              <a:rPr lang="es-CL" sz="2800" b="1" dirty="0"/>
              <a:t>decidan</a:t>
            </a:r>
            <a:r>
              <a:rPr lang="es-CL" sz="2800" dirty="0"/>
              <a:t> quién representará a cada área de negocio.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La empresa va a desarrollar un nuevo sistema para gestionar los productos financieros. El sistema debe unificar las áreas de negocio.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Deben </a:t>
            </a:r>
            <a:r>
              <a:rPr lang="es-CL" sz="2800" b="1" dirty="0"/>
              <a:t>ponerse de acuerdo </a:t>
            </a:r>
            <a:r>
              <a:rPr lang="es-CL" sz="2800" dirty="0"/>
              <a:t>en cómo decidirán las prioridades en los requisitos.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Voto unánime, consenso, voto de mayoría.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se toman las decisiones - Ejercicio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5645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490371" y="1317367"/>
            <a:ext cx="1121125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Dado que ustedes son analistas funcionales de diferentes áreas de negocios de una empresa de servicios financieros (seguros de vida, seguros de automóviles, inversiones).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Dado que escogieron el modo de decisión (Voto unánime, consenso, voto de mayoría).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A continuación, deben decidir si el primer </a:t>
            </a:r>
            <a:r>
              <a:rPr lang="es-CL" sz="2400" dirty="0" err="1"/>
              <a:t>release</a:t>
            </a:r>
            <a:r>
              <a:rPr lang="es-CL" sz="2400" dirty="0"/>
              <a:t> de la aplicación será una versión web o móvil.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Considere que los </a:t>
            </a:r>
            <a:r>
              <a:rPr lang="es-CL" sz="2000" b="1" dirty="0"/>
              <a:t>vendedores de seguro </a:t>
            </a:r>
            <a:r>
              <a:rPr lang="es-CL" sz="2000" dirty="0"/>
              <a:t>trabajan principalmente en </a:t>
            </a:r>
            <a:r>
              <a:rPr lang="es-CL" sz="2000" b="1" dirty="0"/>
              <a:t>terreno</a:t>
            </a:r>
            <a:r>
              <a:rPr lang="es-CL" sz="2000" dirty="0"/>
              <a:t>, y que los </a:t>
            </a:r>
            <a:r>
              <a:rPr lang="es-CL" sz="2000" b="1" dirty="0"/>
              <a:t>captadores de inversiones </a:t>
            </a:r>
            <a:r>
              <a:rPr lang="es-CL" sz="2000" dirty="0"/>
              <a:t>trabajan en </a:t>
            </a:r>
            <a:r>
              <a:rPr lang="es-CL" sz="2000" b="1" dirty="0"/>
              <a:t>oficina</a:t>
            </a:r>
            <a:r>
              <a:rPr lang="es-CL" sz="2000" dirty="0"/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Considere que si el primer </a:t>
            </a:r>
            <a:r>
              <a:rPr lang="es-CL" sz="2000" dirty="0" err="1"/>
              <a:t>release</a:t>
            </a:r>
            <a:r>
              <a:rPr lang="es-CL" sz="2000" dirty="0"/>
              <a:t> es web (sólo utilizable en oficina), el segundo será móvil (y viceversa).  Dada la complejidad del desarrollo, el primer y segundo reléase debieran tomar unos 6-8 meses cada uno.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Dada la necesidad de unificar sistemas, todas las áreas deberán usar el primer </a:t>
            </a:r>
            <a:r>
              <a:rPr lang="es-CL" sz="2000" dirty="0" err="1"/>
              <a:t>release</a:t>
            </a:r>
            <a:r>
              <a:rPr lang="es-CL" sz="2000" dirty="0"/>
              <a:t>, y sólo podrán escoger cuál usar, una vez que ambas versiones estén operativas. 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se toman las decisiones - Ejercicio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97182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12112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Importancia de llevar registro de las decisiones.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Incluir las razones, la justificación de la decisión.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Importancia de comunicar a tiempo a quienes puedan verse afectados por la decisión.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Evitar implementar requerimientos cancelados.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Minimizar efectos negativos de cambios en prioridades.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gestionamos las decisiones.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34074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31616</TotalTime>
  <Words>1129</Words>
  <Application>Microsoft Office PowerPoint</Application>
  <PresentationFormat>Panorámica</PresentationFormat>
  <Paragraphs>133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Unidad 0 - Introducción</vt:lpstr>
      <vt:lpstr>Prácticas esenciales en Ing. de Requisitos</vt:lpstr>
      <vt:lpstr>Prácticas esenciales en Ing. de Requisitos</vt:lpstr>
      <vt:lpstr>Veamos el proceso y roles en SCRUM.</vt:lpstr>
      <vt:lpstr>Veamos el proceso y roles en SCRUM.</vt:lpstr>
      <vt:lpstr>Veamos el proceso y roles en SCRUM.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213</cp:revision>
  <cp:lastPrinted>2020-10-05T12:16:48Z</cp:lastPrinted>
  <dcterms:created xsi:type="dcterms:W3CDTF">2018-03-05T20:26:11Z</dcterms:created>
  <dcterms:modified xsi:type="dcterms:W3CDTF">2025-09-03T02:48:10Z</dcterms:modified>
</cp:coreProperties>
</file>
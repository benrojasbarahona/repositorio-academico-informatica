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handoutMasterIdLst>
    <p:handoutMasterId r:id="rId18"/>
  </p:handoutMasterIdLst>
  <p:sldIdLst>
    <p:sldId id="257" r:id="rId2"/>
    <p:sldId id="526" r:id="rId3"/>
    <p:sldId id="527" r:id="rId4"/>
    <p:sldId id="528" r:id="rId5"/>
    <p:sldId id="453" r:id="rId6"/>
    <p:sldId id="529" r:id="rId7"/>
    <p:sldId id="530" r:id="rId8"/>
    <p:sldId id="531" r:id="rId9"/>
    <p:sldId id="532" r:id="rId10"/>
    <p:sldId id="533" r:id="rId11"/>
    <p:sldId id="505" r:id="rId12"/>
    <p:sldId id="534" r:id="rId13"/>
    <p:sldId id="535" r:id="rId14"/>
    <p:sldId id="536" r:id="rId15"/>
    <p:sldId id="524" r:id="rId16"/>
  </p:sldIdLst>
  <p:sldSz cx="12192000" cy="6858000"/>
  <p:notesSz cx="7102475" cy="9388475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an Pablo Salazar Fernández" initials="JPSF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809" autoAdjust="0"/>
    <p:restoredTop sz="83212" autoAdjust="0"/>
  </p:normalViewPr>
  <p:slideViewPr>
    <p:cSldViewPr snapToGrid="0">
      <p:cViewPr varScale="1">
        <p:scale>
          <a:sx n="94" d="100"/>
          <a:sy n="94" d="100"/>
        </p:scale>
        <p:origin x="14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40" cy="471055"/>
          </a:xfrm>
          <a:prstGeom prst="rect">
            <a:avLst/>
          </a:prstGeom>
        </p:spPr>
        <p:txBody>
          <a:bodyPr vert="horz" lIns="93625" tIns="46813" rIns="93625" bIns="46813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4023093" y="0"/>
            <a:ext cx="3077740" cy="471055"/>
          </a:xfrm>
          <a:prstGeom prst="rect">
            <a:avLst/>
          </a:prstGeom>
        </p:spPr>
        <p:txBody>
          <a:bodyPr vert="horz" lIns="93625" tIns="46813" rIns="93625" bIns="46813" rtlCol="0"/>
          <a:lstStyle>
            <a:lvl1pPr algn="r">
              <a:defRPr sz="1200"/>
            </a:lvl1pPr>
          </a:lstStyle>
          <a:p>
            <a:fld id="{421F1719-9756-4A84-82A5-4DD33F36571E}" type="datetimeFigureOut">
              <a:rPr lang="es-CL" smtClean="0"/>
              <a:t>14-09-2025</a:t>
            </a:fld>
            <a:endParaRPr lang="es-CL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917423"/>
            <a:ext cx="3077740" cy="471054"/>
          </a:xfrm>
          <a:prstGeom prst="rect">
            <a:avLst/>
          </a:prstGeom>
        </p:spPr>
        <p:txBody>
          <a:bodyPr vert="horz" lIns="93625" tIns="46813" rIns="93625" bIns="46813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4023093" y="8917423"/>
            <a:ext cx="3077740" cy="471054"/>
          </a:xfrm>
          <a:prstGeom prst="rect">
            <a:avLst/>
          </a:prstGeom>
        </p:spPr>
        <p:txBody>
          <a:bodyPr vert="horz" lIns="93625" tIns="46813" rIns="93625" bIns="46813" rtlCol="0" anchor="b"/>
          <a:lstStyle>
            <a:lvl1pPr algn="r">
              <a:defRPr sz="1200"/>
            </a:lvl1pPr>
          </a:lstStyle>
          <a:p>
            <a:fld id="{AA1FAC36-D20F-4D20-A1F7-B93EBCBA800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750227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40" cy="471055"/>
          </a:xfrm>
          <a:prstGeom prst="rect">
            <a:avLst/>
          </a:prstGeom>
        </p:spPr>
        <p:txBody>
          <a:bodyPr vert="horz" lIns="93625" tIns="46813" rIns="93625" bIns="46813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4023093" y="0"/>
            <a:ext cx="3077740" cy="471055"/>
          </a:xfrm>
          <a:prstGeom prst="rect">
            <a:avLst/>
          </a:prstGeom>
        </p:spPr>
        <p:txBody>
          <a:bodyPr vert="horz" lIns="93625" tIns="46813" rIns="93625" bIns="46813" rtlCol="0"/>
          <a:lstStyle>
            <a:lvl1pPr algn="r">
              <a:defRPr sz="1200"/>
            </a:lvl1pPr>
          </a:lstStyle>
          <a:p>
            <a:fld id="{BCCA8EBD-F228-4310-98D3-0AA28F568233}" type="datetimeFigureOut">
              <a:rPr lang="es-CL" smtClean="0"/>
              <a:t>14-09-2025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735013" y="1173163"/>
            <a:ext cx="5632450" cy="31686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625" tIns="46813" rIns="93625" bIns="46813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710248" y="4518205"/>
            <a:ext cx="5681980" cy="3696712"/>
          </a:xfrm>
          <a:prstGeom prst="rect">
            <a:avLst/>
          </a:prstGeom>
        </p:spPr>
        <p:txBody>
          <a:bodyPr vert="horz" lIns="93625" tIns="46813" rIns="93625" bIns="46813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917423"/>
            <a:ext cx="3077740" cy="471054"/>
          </a:xfrm>
          <a:prstGeom prst="rect">
            <a:avLst/>
          </a:prstGeom>
        </p:spPr>
        <p:txBody>
          <a:bodyPr vert="horz" lIns="93625" tIns="46813" rIns="93625" bIns="46813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4023093" y="8917423"/>
            <a:ext cx="3077740" cy="471054"/>
          </a:xfrm>
          <a:prstGeom prst="rect">
            <a:avLst/>
          </a:prstGeom>
        </p:spPr>
        <p:txBody>
          <a:bodyPr vert="horz" lIns="93625" tIns="46813" rIns="93625" bIns="46813" rtlCol="0" anchor="b"/>
          <a:lstStyle>
            <a:lvl1pPr algn="r">
              <a:defRPr sz="1200"/>
            </a:lvl1pPr>
          </a:lstStyle>
          <a:p>
            <a:fld id="{BF801272-3DC3-4F9E-9400-55ED7D4F325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943694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591580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Aun cuando los casos de uso son muy útiles para entender las tareas que realizan usuarios</a:t>
            </a:r>
            <a:r>
              <a:rPr lang="es-CL" baseline="0" dirty="0"/>
              <a:t> con un sistema de manera interactiva, hay otro tipo de sistemas que requieren otros enfoques.</a:t>
            </a:r>
            <a:endParaRPr lang="en-US" dirty="0"/>
          </a:p>
          <a:p>
            <a:r>
              <a:rPr lang="es-CL" dirty="0"/>
              <a:t>Por ejemplo,</a:t>
            </a:r>
            <a:r>
              <a:rPr lang="es-CL" baseline="0" dirty="0"/>
              <a:t> en el caso de los sensores, no hay una interacción usuario-sistema que gatille las acciones del sistema. 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907214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Por el lado de la visualización,</a:t>
            </a:r>
            <a:r>
              <a:rPr lang="es-CL" baseline="0" dirty="0"/>
              <a:t> tiene sentido usar casos de uso. Por el lado de la recolección de datos, los CU nos entregan poca información,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664304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885255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La</a:t>
            </a:r>
            <a:r>
              <a:rPr lang="es-CL" baseline="0" dirty="0"/>
              <a:t> identificación de eventos permite levantar requisitos funcionales y no funcionales asociados a ellos.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916234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Completar una</a:t>
            </a:r>
            <a:r>
              <a:rPr lang="es-CL" baseline="0" dirty="0"/>
              <a:t> tabla con los detalles de cada evento ayuda a especificar el sistema. 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891851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/>
              <a:t>Completar una</a:t>
            </a:r>
            <a:r>
              <a:rPr lang="es-CL" baseline="0"/>
              <a:t> tabla con los detalles de cada evento ayuda a especificar el sistema. 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8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025463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Completar una</a:t>
            </a:r>
            <a:r>
              <a:rPr lang="es-CL" baseline="0" dirty="0"/>
              <a:t> tabla con los detalles de cada evento ayuda a especificar el sistema. 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9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592831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10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376366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UI: </a:t>
            </a:r>
            <a:r>
              <a:rPr lang="es-CL" dirty="0" err="1"/>
              <a:t>User</a:t>
            </a:r>
            <a:r>
              <a:rPr lang="es-CL" baseline="0" dirty="0"/>
              <a:t> Interface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113031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UI: </a:t>
            </a:r>
            <a:r>
              <a:rPr lang="es-CL" dirty="0" err="1"/>
              <a:t>User</a:t>
            </a:r>
            <a:r>
              <a:rPr lang="es-CL" baseline="0" dirty="0"/>
              <a:t> Interface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606905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UI: </a:t>
            </a:r>
            <a:r>
              <a:rPr lang="es-CL" dirty="0" err="1"/>
              <a:t>User</a:t>
            </a:r>
            <a:r>
              <a:rPr lang="es-CL" baseline="0" dirty="0"/>
              <a:t> Interface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589975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UI: </a:t>
            </a:r>
            <a:r>
              <a:rPr lang="es-CL" dirty="0" err="1"/>
              <a:t>User</a:t>
            </a:r>
            <a:r>
              <a:rPr lang="es-CL" baseline="0" dirty="0"/>
              <a:t> Interface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091067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Recordar tema de </a:t>
            </a:r>
            <a:r>
              <a:rPr lang="es-CL" dirty="0" err="1"/>
              <a:t>tradeoffs</a:t>
            </a:r>
            <a:r>
              <a:rPr lang="es-CL" dirty="0"/>
              <a:t>, los usuarios</a:t>
            </a:r>
            <a:r>
              <a:rPr lang="es-CL" baseline="0" dirty="0"/>
              <a:t> querrán todo.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609969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png"/><Relationship Id="rId7" Type="http://schemas.openxmlformats.org/officeDocument/2006/relationships/image" Target="../media/image6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png"/><Relationship Id="rId9" Type="http://schemas.openxmlformats.org/officeDocument/2006/relationships/image" Target="../media/image8.jp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7386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/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1" y="3840480"/>
            <a:ext cx="8534399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9/14/2025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8656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0" y="5952613"/>
            <a:ext cx="12192000" cy="8188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553998"/>
          </a:xfrm>
        </p:spPr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2910" y="1647156"/>
            <a:ext cx="10366180" cy="492443"/>
          </a:xfrm>
        </p:spPr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1" y="6190611"/>
            <a:ext cx="3901439" cy="276999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599" y="6191013"/>
            <a:ext cx="2804160" cy="276999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9/14/2025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190611"/>
            <a:ext cx="2804160" cy="276999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579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0" y="6039105"/>
            <a:ext cx="12192000" cy="8188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58247" y="98214"/>
            <a:ext cx="8875504" cy="553998"/>
          </a:xfrm>
        </p:spPr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333500"/>
            <a:ext cx="530352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79" y="1333500"/>
            <a:ext cx="530352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>
          <a:xfrm>
            <a:off x="4145281" y="6134101"/>
            <a:ext cx="3901439" cy="276999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>
          <a:xfrm>
            <a:off x="609600" y="6134101"/>
            <a:ext cx="2804160" cy="276999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9/14/2025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>
          <a:xfrm>
            <a:off x="8778240" y="6134101"/>
            <a:ext cx="2804160" cy="276999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4777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553998"/>
          </a:xfrm>
        </p:spPr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9/14/2025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130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0" y="6039105"/>
            <a:ext cx="12192000" cy="8188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1" name="bk object 21"/>
          <p:cNvSpPr/>
          <p:nvPr/>
        </p:nvSpPr>
        <p:spPr>
          <a:xfrm>
            <a:off x="2357119" y="1316735"/>
            <a:ext cx="7284720" cy="517956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2" name="bk object 22"/>
          <p:cNvSpPr/>
          <p:nvPr/>
        </p:nvSpPr>
        <p:spPr>
          <a:xfrm>
            <a:off x="451103" y="1570736"/>
            <a:ext cx="11098784" cy="194462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3" name="bk object 23"/>
          <p:cNvSpPr/>
          <p:nvPr/>
        </p:nvSpPr>
        <p:spPr>
          <a:xfrm>
            <a:off x="184912" y="1944623"/>
            <a:ext cx="11988800" cy="198119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4" name="bk object 24"/>
          <p:cNvSpPr/>
          <p:nvPr/>
        </p:nvSpPr>
        <p:spPr>
          <a:xfrm>
            <a:off x="203200" y="2544064"/>
            <a:ext cx="11738864" cy="319430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5" name="bk object 25"/>
          <p:cNvSpPr/>
          <p:nvPr/>
        </p:nvSpPr>
        <p:spPr>
          <a:xfrm>
            <a:off x="229616" y="4519168"/>
            <a:ext cx="11812016" cy="181660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9/14/2025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6017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663303"/>
            <a:ext cx="9144000" cy="184666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36933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09600" y="6377941"/>
            <a:ext cx="2804160" cy="276999"/>
          </a:xfrm>
        </p:spPr>
        <p:txBody>
          <a:bodyPr/>
          <a:lstStyle/>
          <a:p>
            <a:fld id="{A9667479-CA72-4F5A-B46B-B4A3B031F1A0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14-09-2025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145281" y="6377941"/>
            <a:ext cx="3901439" cy="276999"/>
          </a:xfrm>
        </p:spPr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778240" y="6377941"/>
            <a:ext cx="2804160" cy="276999"/>
          </a:xfrm>
        </p:spPr>
        <p:txBody>
          <a:bodyPr/>
          <a:lstStyle/>
          <a:p>
            <a:fld id="{55F34035-2F18-467C-941C-89571A5FBF17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3476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4154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2910" y="1647157"/>
            <a:ext cx="1036618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1" y="6377941"/>
            <a:ext cx="390143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1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9/14/2025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1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9311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609585">
        <a:defRPr>
          <a:latin typeface="+mn-lt"/>
          <a:ea typeface="+mn-ea"/>
          <a:cs typeface="+mn-cs"/>
        </a:defRPr>
      </a:lvl2pPr>
      <a:lvl3pPr marL="1219170">
        <a:defRPr>
          <a:latin typeface="+mn-lt"/>
          <a:ea typeface="+mn-ea"/>
          <a:cs typeface="+mn-cs"/>
        </a:defRPr>
      </a:lvl3pPr>
      <a:lvl4pPr marL="1828754">
        <a:defRPr>
          <a:latin typeface="+mn-lt"/>
          <a:ea typeface="+mn-ea"/>
          <a:cs typeface="+mn-cs"/>
        </a:defRPr>
      </a:lvl4pPr>
      <a:lvl5pPr marL="2438339">
        <a:defRPr>
          <a:latin typeface="+mn-lt"/>
          <a:ea typeface="+mn-ea"/>
          <a:cs typeface="+mn-cs"/>
        </a:defRPr>
      </a:lvl5pPr>
      <a:lvl6pPr marL="3047924">
        <a:defRPr>
          <a:latin typeface="+mn-lt"/>
          <a:ea typeface="+mn-ea"/>
          <a:cs typeface="+mn-cs"/>
        </a:defRPr>
      </a:lvl6pPr>
      <a:lvl7pPr marL="3657509">
        <a:defRPr>
          <a:latin typeface="+mn-lt"/>
          <a:ea typeface="+mn-ea"/>
          <a:cs typeface="+mn-cs"/>
        </a:defRPr>
      </a:lvl7pPr>
      <a:lvl8pPr marL="4267093">
        <a:defRPr>
          <a:latin typeface="+mn-lt"/>
          <a:ea typeface="+mn-ea"/>
          <a:cs typeface="+mn-cs"/>
        </a:defRPr>
      </a:lvl8pPr>
      <a:lvl9pPr marL="4876678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609585">
        <a:defRPr>
          <a:latin typeface="+mn-lt"/>
          <a:ea typeface="+mn-ea"/>
          <a:cs typeface="+mn-cs"/>
        </a:defRPr>
      </a:lvl2pPr>
      <a:lvl3pPr marL="1219170">
        <a:defRPr>
          <a:latin typeface="+mn-lt"/>
          <a:ea typeface="+mn-ea"/>
          <a:cs typeface="+mn-cs"/>
        </a:defRPr>
      </a:lvl3pPr>
      <a:lvl4pPr marL="1828754">
        <a:defRPr>
          <a:latin typeface="+mn-lt"/>
          <a:ea typeface="+mn-ea"/>
          <a:cs typeface="+mn-cs"/>
        </a:defRPr>
      </a:lvl4pPr>
      <a:lvl5pPr marL="2438339">
        <a:defRPr>
          <a:latin typeface="+mn-lt"/>
          <a:ea typeface="+mn-ea"/>
          <a:cs typeface="+mn-cs"/>
        </a:defRPr>
      </a:lvl5pPr>
      <a:lvl6pPr marL="3047924">
        <a:defRPr>
          <a:latin typeface="+mn-lt"/>
          <a:ea typeface="+mn-ea"/>
          <a:cs typeface="+mn-cs"/>
        </a:defRPr>
      </a:lvl6pPr>
      <a:lvl7pPr marL="3657509">
        <a:defRPr>
          <a:latin typeface="+mn-lt"/>
          <a:ea typeface="+mn-ea"/>
          <a:cs typeface="+mn-cs"/>
        </a:defRPr>
      </a:lvl7pPr>
      <a:lvl8pPr marL="4267093">
        <a:defRPr>
          <a:latin typeface="+mn-lt"/>
          <a:ea typeface="+mn-ea"/>
          <a:cs typeface="+mn-cs"/>
        </a:defRPr>
      </a:lvl8pPr>
      <a:lvl9pPr marL="4876678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2586634"/>
            <a:ext cx="9144000" cy="923329"/>
          </a:xfrm>
        </p:spPr>
        <p:txBody>
          <a:bodyPr/>
          <a:lstStyle/>
          <a:p>
            <a:r>
              <a:rPr lang="es-CL" dirty="0"/>
              <a:t>Unidad 0 - Introducción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5461000"/>
            <a:ext cx="9144000" cy="738664"/>
          </a:xfrm>
        </p:spPr>
        <p:txBody>
          <a:bodyPr/>
          <a:lstStyle/>
          <a:p>
            <a:r>
              <a:rPr lang="es-CL" dirty="0"/>
              <a:t>INFO 208 – Ingeniería de Requisitos - 2024</a:t>
            </a:r>
          </a:p>
          <a:p>
            <a:r>
              <a:rPr lang="es-CL" dirty="0"/>
              <a:t>Juan Pablo Salazar F.</a:t>
            </a:r>
          </a:p>
        </p:txBody>
      </p:sp>
      <p:sp>
        <p:nvSpPr>
          <p:cNvPr id="4" name="Título 1"/>
          <p:cNvSpPr txBox="1">
            <a:spLocks/>
          </p:cNvSpPr>
          <p:nvPr/>
        </p:nvSpPr>
        <p:spPr>
          <a:xfrm>
            <a:off x="36945" y="2678966"/>
            <a:ext cx="12192000" cy="830997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algn="ctr">
              <a:defRPr sz="4500" b="0" i="0">
                <a:solidFill>
                  <a:schemeClr val="bg1"/>
                </a:solidFill>
                <a:latin typeface="Calibri Light"/>
                <a:ea typeface="+mj-ea"/>
                <a:cs typeface="Calibri Light"/>
              </a:defRPr>
            </a:lvl1pPr>
          </a:lstStyle>
          <a:p>
            <a:r>
              <a:rPr lang="es-CL" sz="5400" kern="0" dirty="0">
                <a:solidFill>
                  <a:prstClr val="black"/>
                </a:solidFill>
              </a:rPr>
              <a:t>Unidad 1. Identificación de Necesidades</a:t>
            </a:r>
          </a:p>
        </p:txBody>
      </p:sp>
    </p:spTree>
    <p:extLst>
      <p:ext uri="{BB962C8B-B14F-4D97-AF65-F5344CB8AC3E}">
        <p14:creationId xmlns:p14="http://schemas.microsoft.com/office/powerpoint/2010/main" val="2926880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 err="1"/>
              <a:t>Elicitación</a:t>
            </a:r>
            <a:endParaRPr lang="en-US" dirty="0"/>
          </a:p>
        </p:txBody>
      </p:sp>
      <p:sp>
        <p:nvSpPr>
          <p:cNvPr id="3" name="CuadroTexto 2"/>
          <p:cNvSpPr txBox="1"/>
          <p:nvPr/>
        </p:nvSpPr>
        <p:spPr>
          <a:xfrm>
            <a:off x="523543" y="1874012"/>
            <a:ext cx="10764293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800" dirty="0"/>
              <a:t>6. Entender qué necesitan hacer los usuarios con la solución.</a:t>
            </a:r>
          </a:p>
          <a:p>
            <a:endParaRPr lang="es-CL" sz="2800" dirty="0"/>
          </a:p>
          <a:p>
            <a:r>
              <a:rPr lang="es-CL" sz="2800" dirty="0"/>
              <a:t>7. Identificar eventos y respuestas.</a:t>
            </a:r>
          </a:p>
          <a:p>
            <a:endParaRPr lang="es-CL" sz="2800" dirty="0"/>
          </a:p>
          <a:p>
            <a:r>
              <a:rPr lang="es-CL" sz="2800" dirty="0"/>
              <a:t>8. Evaluar conceptos y relaciones de datos.</a:t>
            </a:r>
          </a:p>
          <a:p>
            <a:endParaRPr lang="es-CL" sz="2800" dirty="0"/>
          </a:p>
          <a:p>
            <a:r>
              <a:rPr lang="es-CL" sz="2800" dirty="0"/>
              <a:t>9. Identificar y evaluar atributos de calidad. </a:t>
            </a:r>
          </a:p>
          <a:p>
            <a:endParaRPr lang="es-CL" sz="2800" dirty="0"/>
          </a:p>
        </p:txBody>
      </p:sp>
      <p:sp>
        <p:nvSpPr>
          <p:cNvPr id="5" name="CuadroTexto 4"/>
          <p:cNvSpPr txBox="1"/>
          <p:nvPr/>
        </p:nvSpPr>
        <p:spPr>
          <a:xfrm>
            <a:off x="5430981" y="5890533"/>
            <a:ext cx="6579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400" b="1" dirty="0"/>
              <a:t>Texto guía – </a:t>
            </a:r>
            <a:r>
              <a:rPr lang="es-CL" sz="2400" b="1" dirty="0" err="1"/>
              <a:t>Cap</a:t>
            </a:r>
            <a:r>
              <a:rPr lang="es-CL" sz="2400" b="1" dirty="0"/>
              <a:t> 3</a:t>
            </a:r>
            <a:r>
              <a:rPr lang="es-CL" sz="2400" dirty="0"/>
              <a:t>: Wiegers, K &amp; Hokanson, C; 2023</a:t>
            </a:r>
            <a:endParaRPr lang="en-US" sz="2400" dirty="0"/>
          </a:p>
        </p:txBody>
      </p:sp>
      <p:sp>
        <p:nvSpPr>
          <p:cNvPr id="4" name="Rectángulo redondeado 3"/>
          <p:cNvSpPr/>
          <p:nvPr/>
        </p:nvSpPr>
        <p:spPr>
          <a:xfrm>
            <a:off x="523543" y="2703745"/>
            <a:ext cx="9162324" cy="632121"/>
          </a:xfrm>
          <a:prstGeom prst="roundRect">
            <a:avLst/>
          </a:prstGeom>
          <a:solidFill>
            <a:schemeClr val="accent1">
              <a:alpha val="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15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b="1" dirty="0"/>
              <a:t>Diagrama de contexto (DFD Nivel 0)</a:t>
            </a:r>
            <a:endParaRPr lang="en-US" b="1" dirty="0"/>
          </a:p>
        </p:txBody>
      </p:sp>
      <p:sp>
        <p:nvSpPr>
          <p:cNvPr id="6" name="CuadroTexto 5"/>
          <p:cNvSpPr txBox="1"/>
          <p:nvPr/>
        </p:nvSpPr>
        <p:spPr>
          <a:xfrm>
            <a:off x="7744255" y="1091157"/>
            <a:ext cx="420624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Se conoce también como </a:t>
            </a:r>
            <a:r>
              <a:rPr lang="es-CL" sz="2800" b="1" dirty="0"/>
              <a:t>DFD de Nivel 0</a:t>
            </a:r>
            <a:r>
              <a:rPr lang="es-CL" sz="2800" dirty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CL" sz="2800" dirty="0"/>
          </a:p>
          <a:p>
            <a:r>
              <a:rPr lang="es-CL" sz="2800" dirty="0"/>
              <a:t>Básicamente, contiene: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El sistema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Los sistemas con los cuales interactúa.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Los flujos de datos.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s-CL" sz="2800" dirty="0"/>
          </a:p>
          <a:p>
            <a:r>
              <a:rPr lang="es-CL" sz="2800" b="1" dirty="0"/>
              <a:t>No incluye: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Interacciones entre sistemas.</a:t>
            </a:r>
          </a:p>
        </p:txBody>
      </p:sp>
      <p:sp>
        <p:nvSpPr>
          <p:cNvPr id="3" name="Elipse 2"/>
          <p:cNvSpPr/>
          <p:nvPr/>
        </p:nvSpPr>
        <p:spPr>
          <a:xfrm>
            <a:off x="2827033" y="3394856"/>
            <a:ext cx="1541767" cy="1113713"/>
          </a:xfrm>
          <a:prstGeom prst="ellipse">
            <a:avLst/>
          </a:prstGeom>
          <a:solidFill>
            <a:schemeClr val="accent1">
              <a:alpha val="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1600" dirty="0">
                <a:solidFill>
                  <a:schemeClr val="tx1"/>
                </a:solidFill>
              </a:rPr>
              <a:t>Sistema monitoreo </a:t>
            </a:r>
            <a:r>
              <a:rPr lang="es-CL" dirty="0">
                <a:solidFill>
                  <a:schemeClr val="tx1"/>
                </a:solidFill>
              </a:rPr>
              <a:t>MP-I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Rectángulo 3"/>
          <p:cNvSpPr/>
          <p:nvPr/>
        </p:nvSpPr>
        <p:spPr>
          <a:xfrm>
            <a:off x="2980267" y="1574800"/>
            <a:ext cx="1388533" cy="897467"/>
          </a:xfrm>
          <a:prstGeom prst="rect">
            <a:avLst/>
          </a:prstGeom>
          <a:solidFill>
            <a:schemeClr val="accent1">
              <a:alpha val="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chemeClr val="tx1"/>
                </a:solidFill>
              </a:rPr>
              <a:t>Sitio web SINCA 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8" name="Conector recto de flecha 7"/>
          <p:cNvCxnSpPr>
            <a:stCxn id="4" idx="2"/>
            <a:endCxn id="3" idx="0"/>
          </p:cNvCxnSpPr>
          <p:nvPr/>
        </p:nvCxnSpPr>
        <p:spPr>
          <a:xfrm flipH="1">
            <a:off x="3597917" y="2472267"/>
            <a:ext cx="76617" cy="922589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uadroTexto 8"/>
          <p:cNvSpPr txBox="1"/>
          <p:nvPr/>
        </p:nvSpPr>
        <p:spPr>
          <a:xfrm>
            <a:off x="3863661" y="2610396"/>
            <a:ext cx="18457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600" dirty="0"/>
              <a:t>Contaminantes estaciones</a:t>
            </a:r>
            <a:endParaRPr lang="en-US" sz="1600" dirty="0"/>
          </a:p>
        </p:txBody>
      </p:sp>
      <p:sp>
        <p:nvSpPr>
          <p:cNvPr id="10" name="Rectángulo 9"/>
          <p:cNvSpPr/>
          <p:nvPr/>
        </p:nvSpPr>
        <p:spPr>
          <a:xfrm>
            <a:off x="269714" y="3502978"/>
            <a:ext cx="1388533" cy="897467"/>
          </a:xfrm>
          <a:prstGeom prst="rect">
            <a:avLst/>
          </a:prstGeom>
          <a:solidFill>
            <a:schemeClr val="accent1">
              <a:alpha val="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chemeClr val="tx1"/>
                </a:solidFill>
              </a:rPr>
              <a:t>Sitio web </a:t>
            </a:r>
            <a:r>
              <a:rPr lang="es-CL" dirty="0" err="1">
                <a:solidFill>
                  <a:schemeClr val="tx1"/>
                </a:solidFill>
              </a:rPr>
              <a:t>Meteochile</a:t>
            </a:r>
            <a:r>
              <a:rPr lang="es-CL" dirty="0">
                <a:solidFill>
                  <a:schemeClr val="tx1"/>
                </a:solidFill>
              </a:rPr>
              <a:t> 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1" name="Conector recto de flecha 10"/>
          <p:cNvCxnSpPr>
            <a:stCxn id="10" idx="3"/>
            <a:endCxn id="3" idx="2"/>
          </p:cNvCxnSpPr>
          <p:nvPr/>
        </p:nvCxnSpPr>
        <p:spPr>
          <a:xfrm>
            <a:off x="1658247" y="3951712"/>
            <a:ext cx="1168786" cy="1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uadroTexto 13"/>
          <p:cNvSpPr txBox="1"/>
          <p:nvPr/>
        </p:nvSpPr>
        <p:spPr>
          <a:xfrm>
            <a:off x="1563056" y="3040827"/>
            <a:ext cx="16554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600" dirty="0"/>
              <a:t>Datos meteorológicos</a:t>
            </a:r>
            <a:endParaRPr lang="en-US" sz="1600" dirty="0"/>
          </a:p>
        </p:txBody>
      </p:sp>
      <p:sp>
        <p:nvSpPr>
          <p:cNvPr id="15" name="Rectángulo 14"/>
          <p:cNvSpPr/>
          <p:nvPr/>
        </p:nvSpPr>
        <p:spPr>
          <a:xfrm>
            <a:off x="5867818" y="3502978"/>
            <a:ext cx="1388533" cy="897467"/>
          </a:xfrm>
          <a:prstGeom prst="rect">
            <a:avLst/>
          </a:prstGeom>
          <a:solidFill>
            <a:schemeClr val="accent1">
              <a:alpha val="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chemeClr val="tx1"/>
                </a:solidFill>
              </a:rPr>
              <a:t>Usuarios MMA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6" name="Conector recto de flecha 15"/>
          <p:cNvCxnSpPr>
            <a:stCxn id="3" idx="6"/>
            <a:endCxn id="15" idx="1"/>
          </p:cNvCxnSpPr>
          <p:nvPr/>
        </p:nvCxnSpPr>
        <p:spPr>
          <a:xfrm flipV="1">
            <a:off x="4368800" y="3951712"/>
            <a:ext cx="1499018" cy="1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uadroTexto 18"/>
          <p:cNvSpPr txBox="1"/>
          <p:nvPr/>
        </p:nvSpPr>
        <p:spPr>
          <a:xfrm>
            <a:off x="4195442" y="3964819"/>
            <a:ext cx="18457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600" dirty="0"/>
              <a:t>Reportes</a:t>
            </a:r>
          </a:p>
          <a:p>
            <a:pPr algn="ctr"/>
            <a:r>
              <a:rPr lang="es-CL" sz="1600" dirty="0"/>
              <a:t>Modelos</a:t>
            </a:r>
          </a:p>
        </p:txBody>
      </p:sp>
      <p:sp>
        <p:nvSpPr>
          <p:cNvPr id="20" name="Rectángulo 19"/>
          <p:cNvSpPr/>
          <p:nvPr/>
        </p:nvSpPr>
        <p:spPr>
          <a:xfrm>
            <a:off x="2730278" y="5478872"/>
            <a:ext cx="1388533" cy="897467"/>
          </a:xfrm>
          <a:prstGeom prst="rect">
            <a:avLst/>
          </a:prstGeom>
          <a:solidFill>
            <a:schemeClr val="accent1">
              <a:alpha val="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chemeClr val="tx1"/>
                </a:solidFill>
              </a:rPr>
              <a:t>Hogares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1" name="Conector recto de flecha 20"/>
          <p:cNvCxnSpPr>
            <a:stCxn id="20" idx="0"/>
            <a:endCxn id="3" idx="4"/>
          </p:cNvCxnSpPr>
          <p:nvPr/>
        </p:nvCxnSpPr>
        <p:spPr>
          <a:xfrm flipV="1">
            <a:off x="3424545" y="4508569"/>
            <a:ext cx="173372" cy="970303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uadroTexto 23"/>
          <p:cNvSpPr txBox="1"/>
          <p:nvPr/>
        </p:nvSpPr>
        <p:spPr>
          <a:xfrm>
            <a:off x="1726770" y="4657299"/>
            <a:ext cx="18457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600" dirty="0"/>
              <a:t>Contaminantes </a:t>
            </a:r>
            <a:r>
              <a:rPr lang="es-CL" sz="1600" dirty="0" err="1"/>
              <a:t>intradomiciliarios</a:t>
            </a:r>
            <a:endParaRPr lang="en-US" sz="1600" dirty="0"/>
          </a:p>
        </p:txBody>
      </p:sp>
      <p:cxnSp>
        <p:nvCxnSpPr>
          <p:cNvPr id="25" name="Conector recto de flecha 24"/>
          <p:cNvCxnSpPr/>
          <p:nvPr/>
        </p:nvCxnSpPr>
        <p:spPr>
          <a:xfrm>
            <a:off x="3863661" y="4562700"/>
            <a:ext cx="0" cy="828105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uadroTexto 27"/>
          <p:cNvSpPr txBox="1"/>
          <p:nvPr/>
        </p:nvSpPr>
        <p:spPr>
          <a:xfrm>
            <a:off x="3761631" y="4689687"/>
            <a:ext cx="18457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600" dirty="0"/>
              <a:t>Despliegue</a:t>
            </a:r>
          </a:p>
          <a:p>
            <a:pPr algn="ctr"/>
            <a:r>
              <a:rPr lang="es-CL" sz="1600" dirty="0"/>
              <a:t>Contaminantes </a:t>
            </a:r>
            <a:r>
              <a:rPr lang="es-CL" sz="1600" dirty="0" err="1"/>
              <a:t>intradomiciliarios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7432336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Arquitectura para monitoreo &amp; observación</a:t>
            </a:r>
            <a:endParaRPr lang="en-US" dirty="0"/>
          </a:p>
        </p:txBody>
      </p:sp>
      <p:sp>
        <p:nvSpPr>
          <p:cNvPr id="7" name="CuadroTexto 6"/>
          <p:cNvSpPr txBox="1"/>
          <p:nvPr/>
        </p:nvSpPr>
        <p:spPr>
          <a:xfrm>
            <a:off x="1847088" y="1438208"/>
            <a:ext cx="19984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3200" b="1" dirty="0"/>
              <a:t>TIG </a:t>
            </a:r>
            <a:r>
              <a:rPr lang="es-CL" sz="3200" b="1" dirty="0" err="1"/>
              <a:t>Stack</a:t>
            </a:r>
            <a:endParaRPr lang="en-US" sz="2400" b="1" dirty="0"/>
          </a:p>
        </p:txBody>
      </p:sp>
      <p:sp>
        <p:nvSpPr>
          <p:cNvPr id="5" name="Rectángulo 4"/>
          <p:cNvSpPr/>
          <p:nvPr/>
        </p:nvSpPr>
        <p:spPr>
          <a:xfrm>
            <a:off x="1152562" y="6342102"/>
            <a:ext cx="988687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Fuente: </a:t>
            </a:r>
            <a:r>
              <a:rPr lang="en-US" dirty="0"/>
              <a:t>https://www.influxdata.com/blog/infrastructure-monitoring-basics-telegraf-influxdb-grafana/</a:t>
            </a: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0878" y="1190358"/>
            <a:ext cx="3562847" cy="1000265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4320" y="2313315"/>
            <a:ext cx="6855962" cy="3906095"/>
          </a:xfrm>
          <a:prstGeom prst="rect">
            <a:avLst/>
          </a:prstGeom>
        </p:spPr>
      </p:pic>
      <p:sp>
        <p:nvSpPr>
          <p:cNvPr id="8" name="Rectángulo redondeado 7"/>
          <p:cNvSpPr/>
          <p:nvPr/>
        </p:nvSpPr>
        <p:spPr>
          <a:xfrm>
            <a:off x="4460878" y="1190358"/>
            <a:ext cx="2414055" cy="957269"/>
          </a:xfrm>
          <a:prstGeom prst="roundRect">
            <a:avLst/>
          </a:prstGeom>
          <a:solidFill>
            <a:schemeClr val="accent1">
              <a:alpha val="17000"/>
            </a:schemeClr>
          </a:solidFill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ángulo redondeado 9"/>
          <p:cNvSpPr/>
          <p:nvPr/>
        </p:nvSpPr>
        <p:spPr>
          <a:xfrm>
            <a:off x="2361144" y="2330345"/>
            <a:ext cx="4513789" cy="4011757"/>
          </a:xfrm>
          <a:prstGeom prst="roundRect">
            <a:avLst/>
          </a:prstGeom>
          <a:solidFill>
            <a:schemeClr val="accent1">
              <a:alpha val="17000"/>
            </a:schemeClr>
          </a:solidFill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381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7) Identificar eventos y respuestas.</a:t>
            </a:r>
            <a:endParaRPr lang="en-US" dirty="0"/>
          </a:p>
        </p:txBody>
      </p:sp>
      <p:sp>
        <p:nvSpPr>
          <p:cNvPr id="5" name="CuadroTexto 4"/>
          <p:cNvSpPr txBox="1"/>
          <p:nvPr/>
        </p:nvSpPr>
        <p:spPr>
          <a:xfrm>
            <a:off x="5430981" y="5890533"/>
            <a:ext cx="6579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400" b="1" dirty="0"/>
              <a:t>Texto guía – </a:t>
            </a:r>
            <a:r>
              <a:rPr lang="es-CL" sz="2400" b="1" dirty="0" err="1"/>
              <a:t>Cap</a:t>
            </a:r>
            <a:r>
              <a:rPr lang="es-CL" sz="2400" b="1" dirty="0"/>
              <a:t> 3</a:t>
            </a:r>
            <a:r>
              <a:rPr lang="es-CL" sz="2400" dirty="0"/>
              <a:t>: Wiegers, K &amp; Hokanson, C; 2023</a:t>
            </a:r>
            <a:endParaRPr lang="en-US" sz="2400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4469" y="1085168"/>
            <a:ext cx="7363059" cy="4805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800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/>
          <p:cNvSpPr txBox="1"/>
          <p:nvPr/>
        </p:nvSpPr>
        <p:spPr>
          <a:xfrm>
            <a:off x="5430981" y="5890533"/>
            <a:ext cx="6579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400" b="1" dirty="0"/>
              <a:t>Texto guía – </a:t>
            </a:r>
            <a:r>
              <a:rPr lang="es-CL" sz="2400" b="1" dirty="0" err="1"/>
              <a:t>Cap</a:t>
            </a:r>
            <a:r>
              <a:rPr lang="es-CL" sz="2400" b="1" dirty="0"/>
              <a:t> 3</a:t>
            </a:r>
            <a:r>
              <a:rPr lang="es-CL" sz="2400" dirty="0"/>
              <a:t>: Wiegers, K &amp; Hokanson, C; 2023</a:t>
            </a:r>
            <a:endParaRPr lang="en-US" sz="2400" dirty="0"/>
          </a:p>
        </p:txBody>
      </p:sp>
      <p:sp>
        <p:nvSpPr>
          <p:cNvPr id="7" name="Título 1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553998"/>
          </a:xfrm>
        </p:spPr>
        <p:txBody>
          <a:bodyPr/>
          <a:lstStyle/>
          <a:p>
            <a:r>
              <a:rPr lang="es-CL" dirty="0"/>
              <a:t>7) Identificar eventos y respuestas.</a:t>
            </a:r>
            <a:endParaRPr lang="en-US" dirty="0"/>
          </a:p>
        </p:txBody>
      </p:sp>
      <p:graphicFrame>
        <p:nvGraphicFramePr>
          <p:cNvPr id="8" name="Tabla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4720236"/>
              </p:ext>
            </p:extLst>
          </p:nvPr>
        </p:nvGraphicFramePr>
        <p:xfrm>
          <a:off x="321733" y="1684293"/>
          <a:ext cx="11689126" cy="3779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1366">
                  <a:extLst>
                    <a:ext uri="{9D8B030D-6E8A-4147-A177-3AD203B41FA5}">
                      <a16:colId xmlns:a16="http://schemas.microsoft.com/office/drawing/2014/main" val="920567427"/>
                    </a:ext>
                  </a:extLst>
                </a:gridCol>
                <a:gridCol w="8917760">
                  <a:extLst>
                    <a:ext uri="{9D8B030D-6E8A-4147-A177-3AD203B41FA5}">
                      <a16:colId xmlns:a16="http://schemas.microsoft.com/office/drawing/2014/main" val="1740963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CL" sz="2800" dirty="0"/>
                        <a:t>Tipo de evento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sz="2800" dirty="0"/>
                        <a:t>Descripción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74287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L" sz="2800" dirty="0"/>
                        <a:t>De negocios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sz="2800" dirty="0"/>
                        <a:t>Alguien</a:t>
                      </a:r>
                      <a:r>
                        <a:rPr lang="es-CL" sz="2800" baseline="0" dirty="0"/>
                        <a:t> fuera del dominio de negocios requiere un servicio. La respuesta al evento de negocios implica iniciar una interacción con un sistema, a través de un caso de uso.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88234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L" sz="2800" dirty="0"/>
                        <a:t>Señal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sz="2800" dirty="0"/>
                        <a:t>Un sistema recibe una</a:t>
                      </a:r>
                      <a:r>
                        <a:rPr lang="es-CL" sz="2800" baseline="0" dirty="0"/>
                        <a:t> entrada desde fuera, usualmente desde otro sistema.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9104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L" sz="2800" dirty="0"/>
                        <a:t>Temporal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sz="2800" dirty="0"/>
                        <a:t>Se</a:t>
                      </a:r>
                      <a:r>
                        <a:rPr lang="es-CL" sz="2800" baseline="0" dirty="0"/>
                        <a:t> gatilla alguna condición temporal dentro del sistema, que implica realizar alguna acción.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25425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5719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/>
          <p:cNvSpPr txBox="1"/>
          <p:nvPr/>
        </p:nvSpPr>
        <p:spPr>
          <a:xfrm>
            <a:off x="5430981" y="5890533"/>
            <a:ext cx="6579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400" b="1" dirty="0"/>
              <a:t>Texto guía – </a:t>
            </a:r>
            <a:r>
              <a:rPr lang="es-CL" sz="2400" b="1" dirty="0" err="1"/>
              <a:t>Cap</a:t>
            </a:r>
            <a:r>
              <a:rPr lang="es-CL" sz="2400" b="1" dirty="0"/>
              <a:t> 3</a:t>
            </a:r>
            <a:r>
              <a:rPr lang="es-CL" sz="2400" dirty="0"/>
              <a:t>: Wiegers, K &amp; Hokanson, C; 2023</a:t>
            </a:r>
            <a:endParaRPr lang="en-US" sz="2400" dirty="0"/>
          </a:p>
        </p:txBody>
      </p:sp>
      <p:sp>
        <p:nvSpPr>
          <p:cNvPr id="7" name="Título 1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553998"/>
          </a:xfrm>
        </p:spPr>
        <p:txBody>
          <a:bodyPr/>
          <a:lstStyle/>
          <a:p>
            <a:r>
              <a:rPr lang="es-CL" dirty="0"/>
              <a:t>7) Identificar eventos y respuestas. ¿Cómo?</a:t>
            </a:r>
            <a:endParaRPr lang="en-US" dirty="0"/>
          </a:p>
        </p:txBody>
      </p:sp>
      <p:graphicFrame>
        <p:nvGraphicFramePr>
          <p:cNvPr id="8" name="Tabla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2131848"/>
              </p:ext>
            </p:extLst>
          </p:nvPr>
        </p:nvGraphicFramePr>
        <p:xfrm>
          <a:off x="321733" y="1684293"/>
          <a:ext cx="11689126" cy="2072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1366">
                  <a:extLst>
                    <a:ext uri="{9D8B030D-6E8A-4147-A177-3AD203B41FA5}">
                      <a16:colId xmlns:a16="http://schemas.microsoft.com/office/drawing/2014/main" val="920567427"/>
                    </a:ext>
                  </a:extLst>
                </a:gridCol>
                <a:gridCol w="4458880">
                  <a:extLst>
                    <a:ext uri="{9D8B030D-6E8A-4147-A177-3AD203B41FA5}">
                      <a16:colId xmlns:a16="http://schemas.microsoft.com/office/drawing/2014/main" val="174096315"/>
                    </a:ext>
                  </a:extLst>
                </a:gridCol>
                <a:gridCol w="4458880">
                  <a:extLst>
                    <a:ext uri="{9D8B030D-6E8A-4147-A177-3AD203B41FA5}">
                      <a16:colId xmlns:a16="http://schemas.microsoft.com/office/drawing/2014/main" val="15168666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CL" sz="2800" dirty="0"/>
                        <a:t>Evento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sz="2800" dirty="0"/>
                        <a:t>Estado del sistema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sz="2800" dirty="0"/>
                        <a:t>Respuesta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74287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88234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9104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2542574"/>
                  </a:ext>
                </a:extLst>
              </a:tr>
            </a:tbl>
          </a:graphicData>
        </a:graphic>
      </p:graphicFrame>
      <p:sp>
        <p:nvSpPr>
          <p:cNvPr id="2" name="CuadroTexto 1"/>
          <p:cNvSpPr txBox="1"/>
          <p:nvPr/>
        </p:nvSpPr>
        <p:spPr>
          <a:xfrm>
            <a:off x="2168160" y="4327350"/>
            <a:ext cx="785567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L" sz="2400" dirty="0"/>
              <a:t>¿Qué problema tiene especificar los eventos de esta manera?</a:t>
            </a:r>
          </a:p>
          <a:p>
            <a:pPr algn="ctr"/>
            <a:endParaRPr lang="es-CL" sz="2400" dirty="0"/>
          </a:p>
          <a:p>
            <a:pPr algn="ctr"/>
            <a:r>
              <a:rPr lang="es-CL" sz="2400" dirty="0"/>
              <a:t>¿Qué pasa si son decenas o cientos de eventos?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1867700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553998"/>
          </a:xfrm>
        </p:spPr>
        <p:txBody>
          <a:bodyPr/>
          <a:lstStyle/>
          <a:p>
            <a:r>
              <a:rPr lang="es-CL" dirty="0"/>
              <a:t>7) Identificar eventos y respuestas. ¿Cómo?</a:t>
            </a:r>
            <a:endParaRPr lang="en-US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8246" y="1043111"/>
            <a:ext cx="5645939" cy="5069822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5430981" y="5890533"/>
            <a:ext cx="6579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400" b="1" dirty="0"/>
              <a:t>Texto guía – </a:t>
            </a:r>
            <a:r>
              <a:rPr lang="es-CL" sz="2400" b="1" dirty="0" err="1"/>
              <a:t>Cap</a:t>
            </a:r>
            <a:r>
              <a:rPr lang="es-CL" sz="2400" b="1" dirty="0"/>
              <a:t> 3</a:t>
            </a:r>
            <a:r>
              <a:rPr lang="es-CL" sz="2400" dirty="0"/>
              <a:t>: Wiegers, K &amp; Hokanson, C; 2023</a:t>
            </a:r>
            <a:endParaRPr lang="en-US" sz="2400" dirty="0"/>
          </a:p>
        </p:txBody>
      </p:sp>
      <p:sp>
        <p:nvSpPr>
          <p:cNvPr id="9" name="CuadroTexto 8"/>
          <p:cNvSpPr txBox="1"/>
          <p:nvPr/>
        </p:nvSpPr>
        <p:spPr>
          <a:xfrm>
            <a:off x="7304185" y="1666329"/>
            <a:ext cx="458231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L" sz="2400" dirty="0"/>
              <a:t>Un diagrama nos ayudará a tener una visión más completa. </a:t>
            </a:r>
          </a:p>
          <a:p>
            <a:pPr algn="just"/>
            <a:endParaRPr lang="es-CL" sz="2400" dirty="0"/>
          </a:p>
          <a:p>
            <a:pPr algn="just"/>
            <a:r>
              <a:rPr lang="es-CL" sz="2400" dirty="0"/>
              <a:t>Los eventos nos indican cómo transitamos desde un estado a otro. </a:t>
            </a:r>
          </a:p>
          <a:p>
            <a:pPr algn="just"/>
            <a:endParaRPr lang="es-CL" sz="2400" dirty="0"/>
          </a:p>
          <a:p>
            <a:pPr algn="just"/>
            <a:r>
              <a:rPr lang="es-CL" sz="2400" dirty="0"/>
              <a:t>La tabla sirve como complemento (permite más detalles).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5376148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553998"/>
          </a:xfrm>
        </p:spPr>
        <p:txBody>
          <a:bodyPr/>
          <a:lstStyle/>
          <a:p>
            <a:r>
              <a:rPr lang="es-CL" dirty="0"/>
              <a:t>7) Identificar eventos y respuestas. ¿Cómo?</a:t>
            </a:r>
            <a:endParaRPr lang="en-US" dirty="0"/>
          </a:p>
        </p:txBody>
      </p:sp>
      <p:sp>
        <p:nvSpPr>
          <p:cNvPr id="5" name="CuadroTexto 4"/>
          <p:cNvSpPr txBox="1"/>
          <p:nvPr/>
        </p:nvSpPr>
        <p:spPr>
          <a:xfrm>
            <a:off x="5430981" y="5890533"/>
            <a:ext cx="6579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400" b="1" dirty="0"/>
              <a:t>Texto guía – </a:t>
            </a:r>
            <a:r>
              <a:rPr lang="es-CL" sz="2400" b="1" dirty="0" err="1"/>
              <a:t>Cap</a:t>
            </a:r>
            <a:r>
              <a:rPr lang="es-CL" sz="2400" b="1" dirty="0"/>
              <a:t> 3</a:t>
            </a:r>
            <a:r>
              <a:rPr lang="es-CL" sz="2400" dirty="0"/>
              <a:t>: Wiegers, K &amp; Hokanson, C; 2023</a:t>
            </a:r>
            <a:endParaRPr lang="en-US" sz="2400" dirty="0"/>
          </a:p>
        </p:txBody>
      </p:sp>
      <p:sp>
        <p:nvSpPr>
          <p:cNvPr id="9" name="CuadroTexto 8"/>
          <p:cNvSpPr txBox="1"/>
          <p:nvPr/>
        </p:nvSpPr>
        <p:spPr>
          <a:xfrm>
            <a:off x="1168401" y="1666329"/>
            <a:ext cx="10718104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L" sz="2800" b="1" dirty="0"/>
              <a:t>Veamos un ejemplo: </a:t>
            </a:r>
          </a:p>
          <a:p>
            <a:pPr algn="just"/>
            <a:endParaRPr lang="es-CL" sz="2400" dirty="0"/>
          </a:p>
          <a:p>
            <a:pPr algn="just"/>
            <a:r>
              <a:rPr lang="es-CL" sz="2400" dirty="0"/>
              <a:t>"Una máquina expendedora de bebidas permite a los usuarios seleccionar un producto, insertar monedas y recibir el producto deseado. La máquina debe manejar los siguientes estados: esperando selección, esperando monedas, procesando transacción, y entrega de producto. Si el usuario inserta una cantidad incorrecta de dinero, la máquina debe devolver las monedas y regresar al estado de espera de monedas. Si la selección no está disponible, debe regresar al estado de espera de selección."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7568500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 err="1"/>
              <a:t>Elicitación</a:t>
            </a:r>
            <a:endParaRPr lang="en-US" dirty="0"/>
          </a:p>
        </p:txBody>
      </p:sp>
      <p:sp>
        <p:nvSpPr>
          <p:cNvPr id="3" name="CuadroTexto 2"/>
          <p:cNvSpPr txBox="1"/>
          <p:nvPr/>
        </p:nvSpPr>
        <p:spPr>
          <a:xfrm>
            <a:off x="523543" y="1874012"/>
            <a:ext cx="10764293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800" dirty="0"/>
              <a:t>6. Entender qué necesitan hacer los usuarios con la solución.</a:t>
            </a:r>
          </a:p>
          <a:p>
            <a:endParaRPr lang="es-CL" sz="2800" dirty="0"/>
          </a:p>
          <a:p>
            <a:r>
              <a:rPr lang="es-CL" sz="2800" dirty="0"/>
              <a:t>7. Identificar eventos y respuestas.</a:t>
            </a:r>
          </a:p>
          <a:p>
            <a:endParaRPr lang="es-CL" sz="2800" dirty="0"/>
          </a:p>
          <a:p>
            <a:r>
              <a:rPr lang="es-CL" sz="2800" dirty="0"/>
              <a:t>8. Evaluar conceptos y relaciones de datos.</a:t>
            </a:r>
          </a:p>
          <a:p>
            <a:endParaRPr lang="es-CL" sz="2800" dirty="0"/>
          </a:p>
          <a:p>
            <a:r>
              <a:rPr lang="es-CL" sz="2800" dirty="0"/>
              <a:t>9. Identificar y evaluar atributos de calidad. </a:t>
            </a:r>
          </a:p>
          <a:p>
            <a:endParaRPr lang="es-CL" sz="2800" dirty="0"/>
          </a:p>
        </p:txBody>
      </p:sp>
      <p:sp>
        <p:nvSpPr>
          <p:cNvPr id="5" name="CuadroTexto 4"/>
          <p:cNvSpPr txBox="1"/>
          <p:nvPr/>
        </p:nvSpPr>
        <p:spPr>
          <a:xfrm>
            <a:off x="5430981" y="5890533"/>
            <a:ext cx="6579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400" b="1" dirty="0"/>
              <a:t>Texto guía – </a:t>
            </a:r>
            <a:r>
              <a:rPr lang="es-CL" sz="2400" b="1" dirty="0" err="1"/>
              <a:t>Cap</a:t>
            </a:r>
            <a:r>
              <a:rPr lang="es-CL" sz="2400" b="1" dirty="0"/>
              <a:t> 3</a:t>
            </a:r>
            <a:r>
              <a:rPr lang="es-CL" sz="2400" dirty="0"/>
              <a:t>: Wiegers, K &amp; Hokanson, C; 2023</a:t>
            </a:r>
            <a:endParaRPr lang="en-US" sz="2400" dirty="0"/>
          </a:p>
        </p:txBody>
      </p:sp>
      <p:sp>
        <p:nvSpPr>
          <p:cNvPr id="4" name="Rectángulo redondeado 3"/>
          <p:cNvSpPr/>
          <p:nvPr/>
        </p:nvSpPr>
        <p:spPr>
          <a:xfrm>
            <a:off x="523543" y="3499612"/>
            <a:ext cx="9162324" cy="632121"/>
          </a:xfrm>
          <a:prstGeom prst="roundRect">
            <a:avLst/>
          </a:prstGeom>
          <a:solidFill>
            <a:schemeClr val="accent1">
              <a:alpha val="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0765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553998"/>
          </a:xfrm>
        </p:spPr>
        <p:txBody>
          <a:bodyPr/>
          <a:lstStyle/>
          <a:p>
            <a:r>
              <a:rPr lang="es-CL" dirty="0"/>
              <a:t>8) Evaluar conceptos y relaciones de datos.</a:t>
            </a:r>
            <a:endParaRPr lang="en-US" dirty="0"/>
          </a:p>
        </p:txBody>
      </p:sp>
      <p:sp>
        <p:nvSpPr>
          <p:cNvPr id="3" name="CuadroTexto 2"/>
          <p:cNvSpPr txBox="1"/>
          <p:nvPr/>
        </p:nvSpPr>
        <p:spPr>
          <a:xfrm>
            <a:off x="220134" y="1273885"/>
            <a:ext cx="11599334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800" dirty="0"/>
              <a:t>Los sistemas se componen en general de </a:t>
            </a:r>
            <a:r>
              <a:rPr lang="es-CL" sz="2800" b="1" dirty="0"/>
              <a:t>datos</a:t>
            </a:r>
            <a:r>
              <a:rPr lang="es-CL" sz="2800" dirty="0"/>
              <a:t> y </a:t>
            </a:r>
            <a:r>
              <a:rPr lang="es-CL" sz="2800" b="1" dirty="0"/>
              <a:t>procesos</a:t>
            </a:r>
            <a:r>
              <a:rPr lang="es-CL" sz="2800" dirty="0"/>
              <a:t> (que manipulan datos). </a:t>
            </a:r>
          </a:p>
          <a:p>
            <a:r>
              <a:rPr lang="es-CL" sz="2800" dirty="0"/>
              <a:t>Durante el proceso de </a:t>
            </a:r>
            <a:r>
              <a:rPr lang="es-CL" sz="2800" dirty="0" err="1"/>
              <a:t>elicitación</a:t>
            </a:r>
            <a:r>
              <a:rPr lang="es-CL" sz="2800" dirty="0"/>
              <a:t>, debemos buscar respuestas a preguntas en relación a los datos, por ejemplo: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¿Qué datos se requieren? ¿Cuáles son las fuentes de esos datos?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¿Qué datos debieran persistir y cuáles no?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¿Qué </a:t>
            </a:r>
            <a:r>
              <a:rPr lang="es-CL" sz="2800" dirty="0" err="1"/>
              <a:t>stakeholders</a:t>
            </a:r>
            <a:r>
              <a:rPr lang="es-CL" sz="2800" dirty="0"/>
              <a:t> consumen qué datos?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¿Qué restricciones o reglas de negocios son aplicables a cada objeto de datos?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¿Qué información requiere ser ingresada o desplegada en la UI?</a:t>
            </a:r>
          </a:p>
        </p:txBody>
      </p:sp>
      <p:sp>
        <p:nvSpPr>
          <p:cNvPr id="5" name="CuadroTexto 4"/>
          <p:cNvSpPr txBox="1"/>
          <p:nvPr/>
        </p:nvSpPr>
        <p:spPr>
          <a:xfrm>
            <a:off x="5430981" y="5890533"/>
            <a:ext cx="6579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400" b="1" dirty="0"/>
              <a:t>Texto guía – </a:t>
            </a:r>
            <a:r>
              <a:rPr lang="es-CL" sz="2400" b="1" dirty="0" err="1"/>
              <a:t>Cap</a:t>
            </a:r>
            <a:r>
              <a:rPr lang="es-CL" sz="2400" b="1" dirty="0"/>
              <a:t> 3</a:t>
            </a:r>
            <a:r>
              <a:rPr lang="es-CL" sz="2400" dirty="0"/>
              <a:t>: Wiegers, K &amp; Hokanson, C; 2023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129141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553998"/>
          </a:xfrm>
        </p:spPr>
        <p:txBody>
          <a:bodyPr/>
          <a:lstStyle/>
          <a:p>
            <a:r>
              <a:rPr lang="es-CL" dirty="0"/>
              <a:t>8) Evaluar conceptos y relaciones de datos.</a:t>
            </a:r>
            <a:endParaRPr lang="en-US" dirty="0"/>
          </a:p>
        </p:txBody>
      </p:sp>
      <p:sp>
        <p:nvSpPr>
          <p:cNvPr id="3" name="CuadroTexto 2"/>
          <p:cNvSpPr txBox="1"/>
          <p:nvPr/>
        </p:nvSpPr>
        <p:spPr>
          <a:xfrm>
            <a:off x="118533" y="1289273"/>
            <a:ext cx="1189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800" dirty="0"/>
              <a:t>¿Cómo identificamos los objetos de datos?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Debemos partir por una lista. ¿Cómo la elaboramos?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Recopilamos los </a:t>
            </a:r>
            <a:r>
              <a:rPr lang="es-CL" sz="2800" b="1" dirty="0"/>
              <a:t>sustantivos</a:t>
            </a:r>
            <a:r>
              <a:rPr lang="es-CL" sz="2800" dirty="0"/>
              <a:t> que aparezcan en descripciones del problema.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Usualmente, las etiquetas de las </a:t>
            </a:r>
            <a:r>
              <a:rPr lang="es-CL" sz="2800" b="1" dirty="0"/>
              <a:t>líneas</a:t>
            </a:r>
            <a:r>
              <a:rPr lang="es-CL" sz="2800" dirty="0"/>
              <a:t> en el diagrama de ecosistema son objetos de datos.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Ponemos atención a los </a:t>
            </a:r>
            <a:r>
              <a:rPr lang="es-CL" sz="2800" b="1" dirty="0"/>
              <a:t>sustantivos</a:t>
            </a:r>
            <a:r>
              <a:rPr lang="es-CL" sz="2800" dirty="0"/>
              <a:t> que sean mencionados por los </a:t>
            </a:r>
            <a:r>
              <a:rPr lang="es-CL" sz="2800" b="1" dirty="0" err="1"/>
              <a:t>stakeholders</a:t>
            </a:r>
            <a:r>
              <a:rPr lang="es-CL" sz="2800" dirty="0"/>
              <a:t>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Reportes, gráficos y otras </a:t>
            </a:r>
            <a:r>
              <a:rPr lang="es-CL" sz="2800" b="1" dirty="0"/>
              <a:t>salidas</a:t>
            </a:r>
            <a:r>
              <a:rPr lang="es-CL" sz="2800" dirty="0"/>
              <a:t> del sistema, también nos dan luces en relación a las </a:t>
            </a:r>
            <a:r>
              <a:rPr lang="es-CL" sz="2800" b="1" dirty="0"/>
              <a:t>entradas</a:t>
            </a:r>
            <a:r>
              <a:rPr lang="es-CL" sz="2800" dirty="0"/>
              <a:t>.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Nombres de </a:t>
            </a:r>
            <a:r>
              <a:rPr lang="es-CL" sz="2800" b="1" dirty="0"/>
              <a:t>tablas en sistemas existentes</a:t>
            </a:r>
            <a:r>
              <a:rPr lang="es-CL" sz="2800" dirty="0"/>
              <a:t> que debamos usar.</a:t>
            </a:r>
          </a:p>
        </p:txBody>
      </p:sp>
      <p:sp>
        <p:nvSpPr>
          <p:cNvPr id="5" name="CuadroTexto 4"/>
          <p:cNvSpPr txBox="1"/>
          <p:nvPr/>
        </p:nvSpPr>
        <p:spPr>
          <a:xfrm>
            <a:off x="5430980" y="6121365"/>
            <a:ext cx="6579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400" b="1" dirty="0"/>
              <a:t>Texto guía – </a:t>
            </a:r>
            <a:r>
              <a:rPr lang="es-CL" sz="2400" b="1" dirty="0" err="1"/>
              <a:t>Cap</a:t>
            </a:r>
            <a:r>
              <a:rPr lang="es-CL" sz="2400" b="1" dirty="0"/>
              <a:t> 3</a:t>
            </a:r>
            <a:r>
              <a:rPr lang="es-CL" sz="2400" dirty="0"/>
              <a:t>: Wiegers, K &amp; Hokanson, C; 2023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9400998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553998"/>
          </a:xfrm>
        </p:spPr>
        <p:txBody>
          <a:bodyPr/>
          <a:lstStyle/>
          <a:p>
            <a:r>
              <a:rPr lang="es-CL" dirty="0"/>
              <a:t>8) Evaluar conceptos y relaciones de datos.</a:t>
            </a:r>
            <a:endParaRPr lang="en-US" dirty="0"/>
          </a:p>
        </p:txBody>
      </p:sp>
      <p:sp>
        <p:nvSpPr>
          <p:cNvPr id="3" name="CuadroTexto 2"/>
          <p:cNvSpPr txBox="1"/>
          <p:nvPr/>
        </p:nvSpPr>
        <p:spPr>
          <a:xfrm>
            <a:off x="118533" y="1289273"/>
            <a:ext cx="1189232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800" dirty="0"/>
              <a:t>¿Qué hacemos con ellos?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Diagrama Entidad-Relación.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Diccionario de datos. </a:t>
            </a:r>
          </a:p>
        </p:txBody>
      </p:sp>
      <p:sp>
        <p:nvSpPr>
          <p:cNvPr id="5" name="CuadroTexto 4"/>
          <p:cNvSpPr txBox="1"/>
          <p:nvPr/>
        </p:nvSpPr>
        <p:spPr>
          <a:xfrm>
            <a:off x="5430980" y="6121365"/>
            <a:ext cx="6579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400" b="1" dirty="0"/>
              <a:t>Texto guía – </a:t>
            </a:r>
            <a:r>
              <a:rPr lang="es-CL" sz="2400" b="1" dirty="0" err="1"/>
              <a:t>Cap</a:t>
            </a:r>
            <a:r>
              <a:rPr lang="es-CL" sz="2400" b="1" dirty="0"/>
              <a:t> 3</a:t>
            </a:r>
            <a:r>
              <a:rPr lang="es-CL" sz="2400" dirty="0"/>
              <a:t>: Wiegers, K &amp; Hokanson, C; 2023</a:t>
            </a:r>
            <a:endParaRPr lang="en-US" sz="2400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2228" y="1289273"/>
            <a:ext cx="6455545" cy="4705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8237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553998"/>
          </a:xfrm>
        </p:spPr>
        <p:txBody>
          <a:bodyPr/>
          <a:lstStyle/>
          <a:p>
            <a:r>
              <a:rPr lang="es-CL" dirty="0"/>
              <a:t>8) Evaluar conceptos y relaciones de datos.</a:t>
            </a:r>
            <a:endParaRPr lang="en-US" dirty="0"/>
          </a:p>
        </p:txBody>
      </p:sp>
      <p:sp>
        <p:nvSpPr>
          <p:cNvPr id="3" name="CuadroTexto 2"/>
          <p:cNvSpPr txBox="1"/>
          <p:nvPr/>
        </p:nvSpPr>
        <p:spPr>
          <a:xfrm>
            <a:off x="118533" y="1289273"/>
            <a:ext cx="11892325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800" dirty="0"/>
              <a:t>¿Qué hacemos con ellos?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Diagrama Entidad-Relación.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Diccionario de datos.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400" dirty="0"/>
              <a:t>Identificar objetos de datos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400" dirty="0"/>
              <a:t>Identificar atributos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400" dirty="0"/>
              <a:t>Tipos de datos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400" dirty="0"/>
              <a:t>Restricciones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400" dirty="0"/>
              <a:t>Descripción</a:t>
            </a:r>
          </a:p>
        </p:txBody>
      </p:sp>
      <p:sp>
        <p:nvSpPr>
          <p:cNvPr id="5" name="CuadroTexto 4"/>
          <p:cNvSpPr txBox="1"/>
          <p:nvPr/>
        </p:nvSpPr>
        <p:spPr>
          <a:xfrm>
            <a:off x="5430980" y="6121365"/>
            <a:ext cx="6579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400" b="1" dirty="0"/>
              <a:t>Texto guía – </a:t>
            </a:r>
            <a:r>
              <a:rPr lang="es-CL" sz="2400" b="1" dirty="0" err="1"/>
              <a:t>Cap</a:t>
            </a:r>
            <a:r>
              <a:rPr lang="es-CL" sz="2400" b="1" dirty="0"/>
              <a:t> 3</a:t>
            </a:r>
            <a:r>
              <a:rPr lang="es-CL" sz="2400" dirty="0"/>
              <a:t>: Wiegers, K &amp; Hokanson, C; 2023</a:t>
            </a:r>
            <a:endParaRPr lang="en-US" sz="2400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2228" y="1289273"/>
            <a:ext cx="6455545" cy="4705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9506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Ejemplo – Modelo Entidad-Relación</a:t>
            </a:r>
            <a:endParaRPr lang="en-US" dirty="0"/>
          </a:p>
        </p:txBody>
      </p:sp>
      <p:sp>
        <p:nvSpPr>
          <p:cNvPr id="3" name="CuadroTexto 2"/>
          <p:cNvSpPr txBox="1"/>
          <p:nvPr/>
        </p:nvSpPr>
        <p:spPr>
          <a:xfrm>
            <a:off x="637843" y="1289273"/>
            <a:ext cx="10764293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000" dirty="0"/>
              <a:t>Suponga que se requiere implementar un sistema para </a:t>
            </a:r>
            <a:r>
              <a:rPr lang="es-CL" sz="2000" i="1" dirty="0"/>
              <a:t>administrar los libros de una biblioteca</a:t>
            </a:r>
            <a:r>
              <a:rPr lang="es-CL" sz="2000" dirty="0"/>
              <a:t>. </a:t>
            </a:r>
            <a:endParaRPr lang="en-US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CL" sz="2000" dirty="0"/>
              <a:t>Cada libro pertenece a un género literario (poesías, cuentos, novelas, por ejemplo). </a:t>
            </a:r>
            <a:endParaRPr lang="en-US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CL" sz="2000" dirty="0"/>
              <a:t>Cada libro puede tener uno o varios autores. </a:t>
            </a:r>
            <a:endParaRPr lang="en-US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CL" sz="2000" dirty="0"/>
              <a:t>Cada autor tiene un nombre, una nacionalidad, un año de nacimiento y, según sea el caso, un año de muerte. </a:t>
            </a:r>
            <a:endParaRPr lang="en-US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CL" sz="2000" dirty="0"/>
              <a:t>Cada libro tiene un código ISBN que lo identifica, y un nombre. </a:t>
            </a:r>
            <a:endParaRPr lang="en-US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CL" sz="2000" dirty="0"/>
              <a:t>Un libro puede tener varias ediciones, cada una de las cuales tiene un año de publicación, una editorial y un idioma. </a:t>
            </a:r>
            <a:endParaRPr lang="en-US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CL" sz="2000" dirty="0"/>
              <a:t>Si un libro tiene varias ediciones, no es posible que algunas ediciones tengan autores distintos, respecto de otras. Todas comparten los mismos autores, ya que están asociados al libro. </a:t>
            </a:r>
            <a:endParaRPr lang="en-US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CL" sz="2000" dirty="0"/>
              <a:t>Cada libro está asociado a una o varias temáticas. Por ejemplo, una novela puede estar asociada a la temática policial, pero también a la temática “novela hispanoamericana”.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s-CL" sz="2000" dirty="0"/>
          </a:p>
          <a:p>
            <a:pPr lvl="0"/>
            <a:r>
              <a:rPr lang="es-CL" sz="2400" dirty="0"/>
              <a:t>Realice el diagrama Entidad-Relación, identificando sólo las entidades y sus relaciones. No es necesario que incluya los atributos en el diagrama. </a:t>
            </a:r>
            <a:endParaRPr lang="en-US" sz="2800" dirty="0"/>
          </a:p>
          <a:p>
            <a:endParaRPr lang="es-CL" sz="2400" dirty="0"/>
          </a:p>
        </p:txBody>
      </p:sp>
    </p:spTree>
    <p:extLst>
      <p:ext uri="{BB962C8B-B14F-4D97-AF65-F5344CB8AC3E}">
        <p14:creationId xmlns:p14="http://schemas.microsoft.com/office/powerpoint/2010/main" val="6778257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34089</TotalTime>
  <Words>1247</Words>
  <Application>Microsoft Office PowerPoint</Application>
  <PresentationFormat>Panorámica</PresentationFormat>
  <Paragraphs>149</Paragraphs>
  <Slides>15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Unidad 0 - Introducción</vt:lpstr>
      <vt:lpstr>Elicitación</vt:lpstr>
      <vt:lpstr>Diagrama de contexto (DFD Nivel 0)</vt:lpstr>
      <vt:lpstr>Arquitectura para monitoreo &amp; observación</vt:lpstr>
      <vt:lpstr>7) Identificar eventos y respuestas.</vt:lpstr>
      <vt:lpstr>7) Identificar eventos y respuestas.</vt:lpstr>
      <vt:lpstr>7) Identificar eventos y respuestas. ¿Cómo?</vt:lpstr>
      <vt:lpstr>7) Identificar eventos y respuestas. ¿Cómo?</vt:lpstr>
      <vt:lpstr>7) Identificar eventos y respuestas. ¿Cómo?</vt:lpstr>
      <vt:lpstr>Elicitación</vt:lpstr>
      <vt:lpstr>8) Evaluar conceptos y relaciones de datos.</vt:lpstr>
      <vt:lpstr>8) Evaluar conceptos y relaciones de datos.</vt:lpstr>
      <vt:lpstr>8) Evaluar conceptos y relaciones de datos.</vt:lpstr>
      <vt:lpstr>8) Evaluar conceptos y relaciones de datos.</vt:lpstr>
      <vt:lpstr>Ejemplo – Modelo Entidad-Relación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Unidad 0 - Introducción</dc:title>
  <dc:creator>Valeria Henriquez Norambuena</dc:creator>
  <cp:lastModifiedBy>Juan Pablo Salazar Fernández</cp:lastModifiedBy>
  <cp:revision>234</cp:revision>
  <cp:lastPrinted>2020-10-05T12:16:48Z</cp:lastPrinted>
  <dcterms:created xsi:type="dcterms:W3CDTF">2018-03-05T20:26:11Z</dcterms:created>
  <dcterms:modified xsi:type="dcterms:W3CDTF">2025-09-16T10:59:50Z</dcterms:modified>
</cp:coreProperties>
</file>
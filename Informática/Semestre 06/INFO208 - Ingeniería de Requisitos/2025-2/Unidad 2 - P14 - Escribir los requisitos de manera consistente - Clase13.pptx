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7" r:id="rId2"/>
    <p:sldId id="523" r:id="rId3"/>
    <p:sldId id="466" r:id="rId4"/>
    <p:sldId id="495" r:id="rId5"/>
    <p:sldId id="524" r:id="rId6"/>
    <p:sldId id="525" r:id="rId7"/>
    <p:sldId id="510" r:id="rId8"/>
    <p:sldId id="526" r:id="rId9"/>
    <p:sldId id="511" r:id="rId10"/>
    <p:sldId id="512" r:id="rId11"/>
    <p:sldId id="528" r:id="rId12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525" autoAdjust="0"/>
  </p:normalViewPr>
  <p:slideViewPr>
    <p:cSldViewPr snapToGrid="0">
      <p:cViewPr varScale="1">
        <p:scale>
          <a:sx n="94" d="100"/>
          <a:sy n="94" d="100"/>
        </p:scale>
        <p:origin x="11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07-10-2025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07-10-2025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87148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Tener presente que existen diferentes maneras de especificarlos (texto, diagramas, fórmulas matemáticas, entre otros.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6457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Esto</a:t>
            </a:r>
            <a:r>
              <a:rPr lang="en-US" b="1" dirty="0"/>
              <a:t> es </a:t>
            </a:r>
            <a:r>
              <a:rPr lang="en-US" b="1" dirty="0" err="1"/>
              <a:t>muy</a:t>
            </a:r>
            <a:r>
              <a:rPr lang="en-US" b="1" dirty="0"/>
              <a:t> </a:t>
            </a:r>
            <a:r>
              <a:rPr lang="en-US" b="1" dirty="0" err="1"/>
              <a:t>importante</a:t>
            </a:r>
            <a:r>
              <a:rPr lang="en-US" b="1" dirty="0"/>
              <a:t>!!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490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6314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7358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 </a:t>
            </a:r>
            <a:r>
              <a:rPr lang="en-US" dirty="0" err="1"/>
              <a:t>debiésemos</a:t>
            </a:r>
            <a:r>
              <a:rPr lang="en-US" dirty="0"/>
              <a:t> </a:t>
            </a:r>
            <a:r>
              <a:rPr lang="en-US" dirty="0" err="1"/>
              <a:t>borrar</a:t>
            </a:r>
            <a:r>
              <a:rPr lang="en-US" dirty="0"/>
              <a:t> o re-</a:t>
            </a:r>
            <a:r>
              <a:rPr lang="en-US" dirty="0" err="1"/>
              <a:t>etiquetar</a:t>
            </a:r>
            <a:r>
              <a:rPr lang="en-US" dirty="0"/>
              <a:t> </a:t>
            </a:r>
            <a:r>
              <a:rPr lang="en-US" dirty="0" err="1"/>
              <a:t>requisitos</a:t>
            </a:r>
            <a:r>
              <a:rPr lang="en-US" dirty="0"/>
              <a:t>, </a:t>
            </a:r>
            <a:r>
              <a:rPr lang="en-US" dirty="0" err="1"/>
              <a:t>perdemos</a:t>
            </a:r>
            <a:r>
              <a:rPr lang="en-US" dirty="0"/>
              <a:t> </a:t>
            </a:r>
            <a:r>
              <a:rPr lang="en-US" dirty="0" err="1"/>
              <a:t>trazabilidad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En </a:t>
            </a:r>
            <a:r>
              <a:rPr lang="en-US" dirty="0" err="1"/>
              <a:t>cada</a:t>
            </a:r>
            <a:r>
              <a:rPr lang="en-US" dirty="0"/>
              <a:t> Proyecto, </a:t>
            </a:r>
            <a:r>
              <a:rPr lang="en-US" dirty="0" err="1"/>
              <a:t>debiésemos</a:t>
            </a:r>
            <a:r>
              <a:rPr lang="en-US" dirty="0"/>
              <a:t> </a:t>
            </a:r>
            <a:r>
              <a:rPr lang="en-US" dirty="0" err="1"/>
              <a:t>preguntarnos</a:t>
            </a:r>
            <a:r>
              <a:rPr lang="en-US" dirty="0"/>
              <a:t> </a:t>
            </a:r>
            <a:r>
              <a:rPr lang="en-US" dirty="0" err="1"/>
              <a:t>cuáles</a:t>
            </a:r>
            <a:r>
              <a:rPr lang="en-US" dirty="0"/>
              <a:t> de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son </a:t>
            </a:r>
            <a:r>
              <a:rPr lang="en-US" dirty="0" err="1"/>
              <a:t>necesarios</a:t>
            </a:r>
            <a:r>
              <a:rPr lang="en-US" dirty="0"/>
              <a:t> y </a:t>
            </a:r>
            <a:r>
              <a:rPr lang="en-US" dirty="0" err="1"/>
              <a:t>cuáles</a:t>
            </a:r>
            <a:r>
              <a:rPr lang="en-US" dirty="0"/>
              <a:t> no.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8151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 </a:t>
            </a:r>
            <a:r>
              <a:rPr lang="en-US" dirty="0" err="1"/>
              <a:t>debiésemos</a:t>
            </a:r>
            <a:r>
              <a:rPr lang="en-US" dirty="0"/>
              <a:t> </a:t>
            </a:r>
            <a:r>
              <a:rPr lang="en-US" dirty="0" err="1"/>
              <a:t>borrar</a:t>
            </a:r>
            <a:r>
              <a:rPr lang="en-US" dirty="0"/>
              <a:t> o re-</a:t>
            </a:r>
            <a:r>
              <a:rPr lang="en-US" dirty="0" err="1"/>
              <a:t>etiquetar</a:t>
            </a:r>
            <a:r>
              <a:rPr lang="en-US" dirty="0"/>
              <a:t> </a:t>
            </a:r>
            <a:r>
              <a:rPr lang="en-US" dirty="0" err="1"/>
              <a:t>requisitos</a:t>
            </a:r>
            <a:r>
              <a:rPr lang="en-US" dirty="0"/>
              <a:t>, </a:t>
            </a:r>
            <a:r>
              <a:rPr lang="en-US" dirty="0" err="1"/>
              <a:t>perdemos</a:t>
            </a:r>
            <a:r>
              <a:rPr lang="en-US" dirty="0"/>
              <a:t> </a:t>
            </a:r>
            <a:r>
              <a:rPr lang="en-US" dirty="0" err="1"/>
              <a:t>trazabilidad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En </a:t>
            </a:r>
            <a:r>
              <a:rPr lang="en-US" dirty="0" err="1"/>
              <a:t>cada</a:t>
            </a:r>
            <a:r>
              <a:rPr lang="en-US" dirty="0"/>
              <a:t> Proyecto, </a:t>
            </a:r>
            <a:r>
              <a:rPr lang="en-US" dirty="0" err="1"/>
              <a:t>debiésemos</a:t>
            </a:r>
            <a:r>
              <a:rPr lang="en-US" dirty="0"/>
              <a:t> </a:t>
            </a:r>
            <a:r>
              <a:rPr lang="en-US" dirty="0" err="1"/>
              <a:t>preguntarnos</a:t>
            </a:r>
            <a:r>
              <a:rPr lang="en-US" dirty="0"/>
              <a:t> </a:t>
            </a:r>
            <a:r>
              <a:rPr lang="en-US" dirty="0" err="1"/>
              <a:t>cuáles</a:t>
            </a:r>
            <a:r>
              <a:rPr lang="en-US" dirty="0"/>
              <a:t> de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son </a:t>
            </a:r>
            <a:r>
              <a:rPr lang="en-US" dirty="0" err="1"/>
              <a:t>necesarios</a:t>
            </a:r>
            <a:r>
              <a:rPr lang="en-US" dirty="0"/>
              <a:t> y </a:t>
            </a:r>
            <a:r>
              <a:rPr lang="en-US" dirty="0" err="1"/>
              <a:t>cuáles</a:t>
            </a:r>
            <a:r>
              <a:rPr lang="en-US" dirty="0"/>
              <a:t> no.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1219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2129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7644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Tener presente que existen diferentes maneras de especificarlos (texto, diagramas, fórmulas matemáticas, entre otros.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4534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07-10-2025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- 2024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2. Especificación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Especificación de requisitos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¿Con qué detalle especificar los requisitos? Con el que sea necesario ;)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Tamaño del proyecto.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Duración del proyecto.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Criticidad del sistema.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Rotación de personal.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Nivel de formalidad y distancia en la relación entre quienes especifican y quienes implementan.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955724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especificación de requisitos</a:t>
            </a:r>
            <a:endParaRPr lang="en-US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P14: Escribir los requisitos de manera consistente.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P15: Organizar los requisitos de una manera estructurada.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P16: Identificar y documentar las reglas de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P17: Crear un glosario.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085708" y="2301713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7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P14: Escribir los requisitos de manera consistente.</a:t>
            </a:r>
            <a:endParaRPr lang="en-U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43435" y="1514903"/>
            <a:ext cx="117811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Buena práctica: Utilizar patrones (aunque sea aburrido!). Ejemplos: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&lt;clase de usuario&gt; será capaz de &lt;hacer algo&gt;.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sistema permitirá a &lt;clase de usuario&gt; &lt;hacer algo&gt;.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Escribir sentencias breves, que dejen claro qué entidad realiza qué acción.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Referirse siempre a clases de usuarios específicas.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Etiquetar cada requerimiento con un ID único.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Evitar combinar múltiples requisitos en una misma sentencia.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372182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P14: Escribir los requisitos de manera consistente.</a:t>
            </a:r>
            <a:endParaRPr lang="en-U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43435" y="1514903"/>
            <a:ext cx="117811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Buena práctica: Utilizar patrones (aunque sea aburrido!). Ejemplos: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&lt;clase de usuario&gt; será capaz de &lt;hacer algo&gt;.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sistema permitirá a &lt;clase de usuario&gt; &lt;hacer algo&gt;.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mejor escribir de manera monótona, en vez de generar confusión con variaciones pequeñas. Ejemplo: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“El usuario podrá ...”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“El usuario será capaz de …”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“El usuario deberá …”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17331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P14: Niveles de abstracción.</a:t>
            </a:r>
            <a:endParaRPr lang="en-U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410878" y="5903893"/>
            <a:ext cx="11153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una buena práctica jerarquizar los requisitos.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DF62AC-DB65-0CF0-AF23-F6EB14AB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764" y="1066881"/>
            <a:ext cx="8128469" cy="472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0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P14: Atributos de un requisito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ID. Etiqueta persistente, no reutilizable.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Autor(a).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Origen, fuente del requisito.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Por qué se incluyó. Justificación desde el negocio.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Prioridad.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Estado (borrador, aprobado, rechazado, implementado, verificado).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Criterios de aceptación. Cómo sabremos si fue correctamente implementado.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Versión (historia).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Estimación de tiempo / recursos.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Dependencias.</a:t>
            </a:r>
          </a:p>
        </p:txBody>
      </p:sp>
    </p:spTree>
    <p:extLst>
      <p:ext uri="{BB962C8B-B14F-4D97-AF65-F5344CB8AC3E}">
        <p14:creationId xmlns:p14="http://schemas.microsoft.com/office/powerpoint/2010/main" val="393808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P14: Atributos de un requisito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ID. Etiqueta persistente, no reutilizable.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Autor(a).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Origen, fuente del requisito.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Por qué se incluyó. Justificación desde el negocio.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Prioridad.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Estado (borrador, aprobado, rechazado, implementado, verificado).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Criterios de aceptación. Cómo sabremos si fue correctamente implementado.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Versión (historia).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Estimación de tiempo / recursos.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Dependencias.</a:t>
            </a:r>
          </a:p>
        </p:txBody>
      </p:sp>
    </p:spTree>
    <p:extLst>
      <p:ext uri="{BB962C8B-B14F-4D97-AF65-F5344CB8AC3E}">
        <p14:creationId xmlns:p14="http://schemas.microsoft.com/office/powerpoint/2010/main" val="3808766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P14: ¿Qué herramientas usar?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Utilizar sólo editores de texto puede ser mala idea.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Una planilla puede ser suficientemente buena para manejar requisitos.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Existen herramientas para gestión de requisitos.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115054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P14: Requisitos no funcionales.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una buena práctica ser precisos en su definición. Esto implica: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Colocarles un ID, una etiqueta.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Definir su propósito.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Definir una escala de medida.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Definir una métrica.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945597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especificación de requisitos</a:t>
            </a:r>
            <a:endParaRPr lang="en-US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P14: Escribir los requisitos de manera consistente.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P15: Organizar los requisitos de una manera estructurada.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P16: Identificar y documentar las reglas de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P17: Crear un glosario.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085708" y="2301713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24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31980</TotalTime>
  <Words>657</Words>
  <Application>Microsoft Office PowerPoint</Application>
  <PresentationFormat>Panorámica</PresentationFormat>
  <Paragraphs>97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Unidad 0 - Introducción</vt:lpstr>
      <vt:lpstr>Especificación de requisitos</vt:lpstr>
      <vt:lpstr>Prácticas asociadas a la especificación de requisitos</vt:lpstr>
      <vt:lpstr>P14: Escribir los requisitos de manera consistente.</vt:lpstr>
      <vt:lpstr>P14: Escribir los requisitos de manera consistente.</vt:lpstr>
      <vt:lpstr>P14: Niveles de abstracción.</vt:lpstr>
      <vt:lpstr>P14: Atributos de un requisito</vt:lpstr>
      <vt:lpstr>P14: Atributos de un requisito</vt:lpstr>
      <vt:lpstr>P14: ¿Qué herramientas usar?</vt:lpstr>
      <vt:lpstr>P14: Requisitos no funcionales.</vt:lpstr>
      <vt:lpstr>Prácticas asociadas a la especificación de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216</cp:revision>
  <cp:lastPrinted>2020-10-05T12:16:48Z</cp:lastPrinted>
  <dcterms:created xsi:type="dcterms:W3CDTF">2018-03-05T20:26:11Z</dcterms:created>
  <dcterms:modified xsi:type="dcterms:W3CDTF">2025-10-07T22:34:00Z</dcterms:modified>
</cp:coreProperties>
</file>
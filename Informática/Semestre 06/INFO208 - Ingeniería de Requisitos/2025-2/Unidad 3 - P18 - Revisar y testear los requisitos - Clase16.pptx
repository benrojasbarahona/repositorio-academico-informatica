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7" r:id="rId2"/>
    <p:sldId id="449" r:id="rId3"/>
    <p:sldId id="450" r:id="rId4"/>
    <p:sldId id="550" r:id="rId5"/>
    <p:sldId id="466" r:id="rId6"/>
    <p:sldId id="557" r:id="rId7"/>
    <p:sldId id="524" r:id="rId8"/>
    <p:sldId id="552" r:id="rId9"/>
    <p:sldId id="559" r:id="rId10"/>
    <p:sldId id="558" r:id="rId11"/>
    <p:sldId id="553" r:id="rId12"/>
    <p:sldId id="551" r:id="rId13"/>
    <p:sldId id="560" r:id="rId14"/>
    <p:sldId id="554" r:id="rId15"/>
    <p:sldId id="561" r:id="rId16"/>
    <p:sldId id="562" r:id="rId17"/>
    <p:sldId id="556" r:id="rId18"/>
    <p:sldId id="563" r:id="rId19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525" autoAdjust="0"/>
  </p:normalViewPr>
  <p:slideViewPr>
    <p:cSldViewPr snapToGrid="0">
      <p:cViewPr varScale="1">
        <p:scale>
          <a:sx n="94" d="100"/>
          <a:sy n="94" d="100"/>
        </p:scale>
        <p:origin x="6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2021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55455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9334E-1D4A-0BE9-76A9-D553F9DB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10951C6-FB6D-6A9E-27B0-CC6C7C607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D137136-EF7D-67CE-B33A-D88DB7470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Detenerme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ambos </a:t>
            </a:r>
            <a:r>
              <a:rPr lang="en-US" dirty="0" err="1"/>
              <a:t>conceptos</a:t>
            </a:r>
            <a:r>
              <a:rPr lang="en-US" dirty="0"/>
              <a:t>, 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dirty="0" err="1"/>
              <a:t>ejemplos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E9C5EE-B1A5-7D26-2F42-3400F0A5F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3241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barato</a:t>
            </a:r>
            <a:r>
              <a:rPr lang="en-US" dirty="0"/>
              <a:t> </a:t>
            </a:r>
            <a:r>
              <a:rPr lang="en-US" b="1" dirty="0" err="1"/>
              <a:t>validar</a:t>
            </a:r>
            <a:r>
              <a:rPr lang="en-US" b="1" dirty="0"/>
              <a:t> </a:t>
            </a:r>
            <a:r>
              <a:rPr lang="en-US" b="1" dirty="0" err="1"/>
              <a:t>tempranamente</a:t>
            </a:r>
            <a:r>
              <a:rPr lang="en-US" b="1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buen</a:t>
            </a:r>
            <a:r>
              <a:rPr lang="en-US" dirty="0"/>
              <a:t> </a:t>
            </a:r>
            <a:r>
              <a:rPr lang="en-US" dirty="0" err="1"/>
              <a:t>camino</a:t>
            </a:r>
            <a:r>
              <a:rPr lang="en-US" dirty="0"/>
              <a:t>. </a:t>
            </a:r>
          </a:p>
          <a:p>
            <a:pPr marL="171450" indent="-171450">
              <a:buFontTx/>
              <a:buChar char="-"/>
            </a:pPr>
            <a:r>
              <a:rPr lang="en-US" b="1" dirty="0"/>
              <a:t>Validar  </a:t>
            </a:r>
            <a:r>
              <a:rPr lang="en-US" b="1" dirty="0" err="1"/>
              <a:t>después</a:t>
            </a:r>
            <a:r>
              <a:rPr lang="en-US" b="1" dirty="0"/>
              <a:t> de </a:t>
            </a:r>
            <a:r>
              <a:rPr lang="en-US" b="1" dirty="0" err="1"/>
              <a:t>construir</a:t>
            </a:r>
            <a:r>
              <a:rPr lang="en-US" b="1" dirty="0"/>
              <a:t> </a:t>
            </a:r>
            <a:r>
              <a:rPr lang="en-US" dirty="0"/>
              <a:t>es </a:t>
            </a:r>
            <a:r>
              <a:rPr lang="en-US" dirty="0" err="1"/>
              <a:t>siempre</a:t>
            </a:r>
            <a:r>
              <a:rPr lang="en-US" dirty="0"/>
              <a:t> </a:t>
            </a:r>
            <a:r>
              <a:rPr lang="en-US" b="1" dirty="0" err="1"/>
              <a:t>más</a:t>
            </a:r>
            <a:r>
              <a:rPr lang="en-US" b="1" dirty="0"/>
              <a:t> </a:t>
            </a:r>
            <a:r>
              <a:rPr lang="en-US" b="1" dirty="0" err="1"/>
              <a:t>caro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particular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implica</a:t>
            </a:r>
            <a:r>
              <a:rPr lang="en-US" dirty="0"/>
              <a:t> </a:t>
            </a:r>
            <a:r>
              <a:rPr lang="en-US" dirty="0" err="1"/>
              <a:t>rehacer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.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6457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943E-906E-50CA-D79E-A6D1F0E7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490216-15D2-C1F9-C51B-746FBBC6B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1C2ECD-5C34-F2D4-46F7-51FD82373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55E50A-6E2F-8D8C-1DBE-23E1D90DF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4937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Un </a:t>
            </a:r>
            <a:r>
              <a:rPr lang="en-US" dirty="0" err="1"/>
              <a:t>cliente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aprobar</a:t>
            </a:r>
            <a:r>
              <a:rPr lang="en-US" dirty="0"/>
              <a:t> los </a:t>
            </a:r>
            <a:r>
              <a:rPr lang="en-US" dirty="0" err="1"/>
              <a:t>requisitos</a:t>
            </a:r>
            <a:r>
              <a:rPr lang="en-US" dirty="0"/>
              <a:t> sin </a:t>
            </a:r>
            <a:r>
              <a:rPr lang="en-US" dirty="0" err="1"/>
              <a:t>leerlos</a:t>
            </a:r>
            <a:r>
              <a:rPr lang="en-US" dirty="0"/>
              <a:t>, y </a:t>
            </a:r>
            <a:r>
              <a:rPr lang="en-US" dirty="0" err="1"/>
              <a:t>eso</a:t>
            </a:r>
            <a:r>
              <a:rPr lang="en-US" dirty="0"/>
              <a:t> no </a:t>
            </a:r>
            <a:r>
              <a:rPr lang="en-US" dirty="0" err="1"/>
              <a:t>significa</a:t>
            </a:r>
            <a:r>
              <a:rPr lang="en-US" dirty="0"/>
              <a:t> que </a:t>
            </a:r>
            <a:r>
              <a:rPr lang="en-US" dirty="0" err="1"/>
              <a:t>estén</a:t>
            </a:r>
            <a:r>
              <a:rPr lang="en-US" dirty="0"/>
              <a:t> </a:t>
            </a:r>
            <a:r>
              <a:rPr lang="en-US" dirty="0" err="1"/>
              <a:t>correctos</a:t>
            </a:r>
            <a:r>
              <a:rPr lang="en-US" dirty="0"/>
              <a:t>.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aprobarlos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“no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”, o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cree</a:t>
            </a:r>
            <a:r>
              <a:rPr lang="en-US" dirty="0"/>
              <a:t> que “</a:t>
            </a:r>
            <a:r>
              <a:rPr lang="en-US" dirty="0" err="1"/>
              <a:t>después</a:t>
            </a:r>
            <a:r>
              <a:rPr lang="en-US" dirty="0"/>
              <a:t> se </a:t>
            </a:r>
            <a:r>
              <a:rPr lang="en-US" dirty="0" err="1"/>
              <a:t>arreglará</a:t>
            </a:r>
            <a:r>
              <a:rPr lang="en-US" dirty="0"/>
              <a:t>”. </a:t>
            </a:r>
            <a:r>
              <a:rPr lang="en-US" dirty="0" err="1"/>
              <a:t>Contar</a:t>
            </a:r>
            <a:r>
              <a:rPr lang="en-US" dirty="0"/>
              <a:t> </a:t>
            </a:r>
            <a:r>
              <a:rPr lang="en-US" dirty="0" err="1"/>
              <a:t>ejemplos</a:t>
            </a:r>
            <a:r>
              <a:rPr lang="en-US" dirty="0"/>
              <a:t>.</a:t>
            </a:r>
          </a:p>
          <a:p>
            <a:pPr marL="228600" indent="-228600">
              <a:buAutoNum type="arabicParenR"/>
            </a:pPr>
            <a:r>
              <a:rPr lang="en-US" dirty="0"/>
              <a:t>Validar </a:t>
            </a:r>
            <a:r>
              <a:rPr lang="en-US" dirty="0" err="1"/>
              <a:t>activamente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requisitos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construir</a:t>
            </a:r>
            <a:r>
              <a:rPr lang="en-US" dirty="0"/>
              <a:t> </a:t>
            </a:r>
            <a:r>
              <a:rPr lang="en-US" dirty="0" err="1"/>
              <a:t>confianza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6314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E88B0-1098-8D28-BEF9-FC9A646C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96D44E-BBEB-C0AB-ACC6-43A3333BF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22C6BD-1132-6EEE-500A-197FBD545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BD7871-3E50-2D11-0063-86A8B870B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2951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89DD-AD57-1A13-6034-E66353404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3884EBD-E372-BD18-0B8D-CA35DCDED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84121A4-9AF6-B689-45B0-3D48599F4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CA7B70-5865-5829-21A1-8D7688D4D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7509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6E5CE-5A99-7547-FE81-E0C1EF84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836018-F3E1-383D-4745-1BD796538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6BEB98-0C9E-641D-44F3-CAECCDC9B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vacíos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las </a:t>
            </a:r>
            <a:r>
              <a:rPr lang="en-US" dirty="0" err="1"/>
              <a:t>especificación</a:t>
            </a:r>
            <a:r>
              <a:rPr lang="en-US" dirty="0"/>
              <a:t> </a:t>
            </a:r>
            <a:r>
              <a:rPr lang="en-US" dirty="0" err="1"/>
              <a:t>podrían</a:t>
            </a:r>
            <a:r>
              <a:rPr lang="en-US" dirty="0"/>
              <a:t> </a:t>
            </a:r>
            <a:r>
              <a:rPr lang="en-US" dirty="0" err="1"/>
              <a:t>encontrar</a:t>
            </a:r>
            <a:r>
              <a:rPr lang="en-US" dirty="0"/>
              <a:t> los </a:t>
            </a:r>
            <a:r>
              <a:rPr lang="en-US" dirty="0" err="1"/>
              <a:t>desarrolladores</a:t>
            </a:r>
            <a:r>
              <a:rPr lang="en-US" dirty="0"/>
              <a:t>?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Ciclo</a:t>
            </a:r>
            <a:r>
              <a:rPr lang="en-US" dirty="0"/>
              <a:t> de </a:t>
            </a:r>
            <a:r>
              <a:rPr lang="en-US" dirty="0" err="1"/>
              <a:t>vida</a:t>
            </a:r>
            <a:r>
              <a:rPr lang="en-US" dirty="0"/>
              <a:t> del </a:t>
            </a:r>
            <a:r>
              <a:rPr lang="en-US" dirty="0" err="1"/>
              <a:t>dato</a:t>
            </a:r>
            <a:r>
              <a:rPr lang="en-US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Requisitos</a:t>
            </a:r>
            <a:r>
              <a:rPr lang="en-US" dirty="0"/>
              <a:t> no </a:t>
            </a:r>
            <a:r>
              <a:rPr lang="en-US" dirty="0" err="1"/>
              <a:t>funcionales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8423EB-9B6F-68DE-00CA-C73E767287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711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8B4D4-DCBA-0931-7A2D-70DBFB33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137031-CCBB-39A0-349B-8D3FDA559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865B77-23A6-D70F-E0BF-2FA63B589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C7A50C-144F-CE87-39C1-70753FB27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7001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A5BB3-43E9-91A2-E8FC-CA6853C63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C058C9C-739B-CBE3-2925-2FCA4E915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09F2E0-B23F-C828-602E-B735C6F13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Test de </a:t>
            </a:r>
            <a:r>
              <a:rPr lang="en-US" dirty="0" err="1"/>
              <a:t>aceptación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dan luces para 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estamos</a:t>
            </a:r>
            <a:r>
              <a:rPr lang="en-US" dirty="0"/>
              <a:t> </a:t>
            </a:r>
            <a:r>
              <a:rPr lang="en-US" dirty="0" err="1"/>
              <a:t>construyendo</a:t>
            </a:r>
            <a:r>
              <a:rPr lang="en-US" dirty="0"/>
              <a:t> o no </a:t>
            </a:r>
            <a:r>
              <a:rPr lang="en-US" dirty="0" err="1"/>
              <a:t>el</a:t>
            </a:r>
            <a:r>
              <a:rPr lang="en-US" dirty="0"/>
              <a:t> software </a:t>
            </a:r>
            <a:r>
              <a:rPr lang="en-US" dirty="0" err="1"/>
              <a:t>correcto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que se </a:t>
            </a:r>
            <a:r>
              <a:rPr lang="en-US" dirty="0" err="1"/>
              <a:t>requiere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2BBA21-6705-8960-0D4F-40A9FD5B4E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7954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C3ADE-6261-748A-7C94-EBE2031E1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88C0B7C-B138-1C9A-FB21-8573D0E85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F5EA263-F999-0928-D4B8-6EC770F7F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Test de </a:t>
            </a:r>
            <a:r>
              <a:rPr lang="en-US" dirty="0" err="1"/>
              <a:t>aceptación</a:t>
            </a:r>
            <a:r>
              <a:rPr lang="en-US" dirty="0"/>
              <a:t>, </a:t>
            </a:r>
            <a:r>
              <a:rPr lang="en-US" dirty="0" err="1"/>
              <a:t>vincular</a:t>
            </a:r>
            <a:r>
              <a:rPr lang="en-US" dirty="0"/>
              <a:t> al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 (</a:t>
            </a:r>
            <a:r>
              <a:rPr lang="en-US" dirty="0" err="1"/>
              <a:t>mostrar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próximo</a:t>
            </a:r>
            <a:r>
              <a:rPr lang="en-US" dirty="0"/>
              <a:t> </a:t>
            </a:r>
            <a:r>
              <a:rPr lang="en-US" dirty="0" err="1"/>
              <a:t>año</a:t>
            </a:r>
            <a:r>
              <a:rPr lang="en-US" dirty="0"/>
              <a:t>)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AA59E5-9A57-C14B-93A4-A943FE321B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5465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DBD71-7507-FA7C-C7F9-1187BA4B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59A1A2-3B0D-A2ED-922C-622E94263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F70151B-7347-7613-8961-E98409097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E33C69-B43A-1E9F-865A-78AA315B8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1193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F16CA-CD13-2DD4-BE52-D1049B66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9DB2D92-43B9-982C-34CF-93C92F996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D855BD0-9AE3-C7FE-7B91-7A20CB1F5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 err="1"/>
              <a:t>Ejemplos</a:t>
            </a:r>
            <a:r>
              <a:rPr lang="en-US" dirty="0"/>
              <a:t> de </a:t>
            </a:r>
            <a:r>
              <a:rPr lang="en-US" dirty="0" err="1"/>
              <a:t>escenarios</a:t>
            </a:r>
            <a:r>
              <a:rPr lang="en-US" dirty="0"/>
              <a:t> (</a:t>
            </a:r>
            <a:r>
              <a:rPr lang="en-US" dirty="0" err="1"/>
              <a:t>prácticas</a:t>
            </a:r>
            <a:r>
              <a:rPr lang="en-US" dirty="0"/>
              <a:t>). </a:t>
            </a:r>
          </a:p>
          <a:p>
            <a:pPr marL="685800" lvl="1" indent="-228600">
              <a:buAutoNum type="arabicParenR"/>
            </a:pPr>
            <a:r>
              <a:rPr lang="en-US" dirty="0" err="1"/>
              <a:t>Estudiantes</a:t>
            </a:r>
            <a:r>
              <a:rPr lang="en-US" dirty="0"/>
              <a:t> que no </a:t>
            </a:r>
            <a:r>
              <a:rPr lang="en-US" dirty="0" err="1"/>
              <a:t>consiguen</a:t>
            </a:r>
            <a:r>
              <a:rPr lang="en-US" dirty="0"/>
              <a:t> </a:t>
            </a:r>
            <a:r>
              <a:rPr lang="en-US" dirty="0" err="1"/>
              <a:t>práctica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en-US" dirty="0" err="1"/>
              <a:t>Estudiantes</a:t>
            </a:r>
            <a:r>
              <a:rPr lang="en-US" dirty="0"/>
              <a:t> que </a:t>
            </a:r>
            <a:r>
              <a:rPr lang="en-US" dirty="0" err="1"/>
              <a:t>abandonan</a:t>
            </a:r>
            <a:r>
              <a:rPr lang="en-US" dirty="0"/>
              <a:t> la </a:t>
            </a:r>
            <a:r>
              <a:rPr lang="en-US" dirty="0" err="1"/>
              <a:t>práctica</a:t>
            </a:r>
            <a:endParaRPr lang="en-US" dirty="0"/>
          </a:p>
          <a:p>
            <a:pPr marL="685800" lvl="1" indent="-228600">
              <a:buAutoNum type="arabicParenR"/>
            </a:pPr>
            <a:r>
              <a:rPr lang="en-US" dirty="0" err="1"/>
              <a:t>Estudiantes</a:t>
            </a:r>
            <a:r>
              <a:rPr lang="en-US" dirty="0"/>
              <a:t> que </a:t>
            </a:r>
            <a:r>
              <a:rPr lang="en-US" dirty="0" err="1"/>
              <a:t>tienen</a:t>
            </a:r>
            <a:r>
              <a:rPr lang="en-US" dirty="0"/>
              <a:t> un </a:t>
            </a:r>
            <a:r>
              <a:rPr lang="en-US" dirty="0" err="1"/>
              <a:t>accidente</a:t>
            </a:r>
            <a:r>
              <a:rPr lang="en-US" dirty="0"/>
              <a:t> y no </a:t>
            </a:r>
            <a:r>
              <a:rPr lang="en-US" dirty="0" err="1"/>
              <a:t>tenían</a:t>
            </a:r>
            <a:r>
              <a:rPr lang="en-US" dirty="0"/>
              <a:t> </a:t>
            </a:r>
            <a:r>
              <a:rPr lang="en-US" dirty="0" err="1"/>
              <a:t>activado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Seguro, ¿</a:t>
            </a:r>
            <a:r>
              <a:rPr lang="en-US" dirty="0" err="1"/>
              <a:t>puede</a:t>
            </a:r>
            <a:r>
              <a:rPr lang="en-US" dirty="0"/>
              <a:t> dares ese </a:t>
            </a:r>
            <a:r>
              <a:rPr lang="en-US" dirty="0" err="1"/>
              <a:t>caso</a:t>
            </a:r>
            <a:r>
              <a:rPr lang="en-US" dirty="0"/>
              <a:t>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362529-6E26-24AD-C2FF-3F00F5837D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25320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A16FF-C388-CF54-168A-3CC2BB6D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31A8B2D-0793-9707-D174-C9C5C9945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826872-B8FE-2F95-6F33-EB4DE4240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tomamos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factura real, y la </a:t>
            </a:r>
            <a:r>
              <a:rPr lang="en-US" b="1" dirty="0" err="1"/>
              <a:t>contrastamos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. Nos </a:t>
            </a:r>
            <a:r>
              <a:rPr lang="en-US" dirty="0" err="1"/>
              <a:t>surgirán</a:t>
            </a:r>
            <a:r>
              <a:rPr lang="en-US" dirty="0"/>
              <a:t> una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preguntas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Detenerme</a:t>
            </a:r>
            <a:r>
              <a:rPr lang="en-US" dirty="0"/>
              <a:t> </a:t>
            </a:r>
            <a:r>
              <a:rPr lang="en-US" dirty="0" err="1"/>
              <a:t>aquí</a:t>
            </a:r>
            <a:r>
              <a:rPr lang="en-US" dirty="0"/>
              <a:t>, que </a:t>
            </a:r>
            <a:r>
              <a:rPr lang="en-US" dirty="0" err="1"/>
              <a:t>descubran</a:t>
            </a:r>
            <a:r>
              <a:rPr lang="en-US" dirty="0"/>
              <a:t> la </a:t>
            </a:r>
            <a:r>
              <a:rPr lang="en-US" dirty="0" err="1"/>
              <a:t>inconsistencia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8D3995-20CF-B32C-90F2-0B92C14E7C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907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AE342-32C0-EBAA-163D-B045D78FD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1FB6F65-51DC-6440-F636-D1FE33646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2A06ED-54CF-5B0C-36E6-422BD76E8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AB34D8-14D2-841D-51DC-971E9D2DC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48907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B75BD-F117-F212-E300-61EE3AD8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7108D0-C409-964D-6827-B382A107D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B34E71-9A8B-C3CA-792E-C0A978B54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77D86F-99FC-04C6-0474-F11628B107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193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11-11-2025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stingit.com.mx/blog/diferencia-entre-validar-y-verificar-istqb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- 2025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3. Gestión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19290"/>
            <a:ext cx="5740952" cy="513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3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Dominios de la ingeniería de requisitos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630" y="1096255"/>
            <a:ext cx="6592737" cy="2531849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13851" y="3810538"/>
            <a:ext cx="107642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Validar implica revisar nuestra especificación, pero también 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Revisar (</a:t>
            </a:r>
            <a:r>
              <a:rPr lang="es-CL" sz="2800" dirty="0" err="1"/>
              <a:t>re-evaluar</a:t>
            </a:r>
            <a:r>
              <a:rPr lang="es-CL" sz="2800" dirty="0"/>
              <a:t>) los resultados del análisis 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Revisar nuestra elicitación 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En definitiva, asegurarnos de que trabajaremos sobre los </a:t>
            </a:r>
            <a:r>
              <a:rPr lang="es-CL" sz="2800" b="1" dirty="0"/>
              <a:t>requisitos correctos</a:t>
            </a:r>
            <a:r>
              <a:rPr lang="es-CL" sz="2800" dirty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44814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5C2A-0F2E-EDE1-BE39-8BE46379C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97BA6-FD6E-8754-1D08-4F6D0E20E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n-US" sz="3200" dirty="0" err="1"/>
              <a:t>Verificación</a:t>
            </a:r>
            <a:r>
              <a:rPr lang="en-US" sz="3200" dirty="0"/>
              <a:t> y </a:t>
            </a:r>
            <a:r>
              <a:rPr lang="en-US" sz="3200" dirty="0" err="1"/>
              <a:t>Validación</a:t>
            </a:r>
            <a:r>
              <a:rPr lang="en-US" sz="3200" dirty="0"/>
              <a:t> de software.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C5D8E9E-59CB-EB51-FF9B-BEEC2A64ABAF}"/>
              </a:ext>
            </a:extLst>
          </p:cNvPr>
          <p:cNvSpPr txBox="1"/>
          <p:nvPr/>
        </p:nvSpPr>
        <p:spPr>
          <a:xfrm>
            <a:off x="143435" y="1514903"/>
            <a:ext cx="1178112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b="1" dirty="0"/>
              <a:t>Verificación: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Conjunto de actividades que permiten comprobar si un software cumple con las especificaciones técnicas y de diseño. </a:t>
            </a:r>
          </a:p>
          <a:p>
            <a:pPr lvl="1"/>
            <a:r>
              <a:rPr lang="es-CL" sz="2800" dirty="0"/>
              <a:t>	</a:t>
            </a:r>
            <a:r>
              <a:rPr lang="es-CL" sz="2800" b="1" dirty="0"/>
              <a:t>¿Estamos construyendo el software correctamente?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b="1" dirty="0"/>
              <a:t>Validación: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Conjunto de actividades que permite comprobar si se ha cumplido con las necesidades y expectativas de los usuarios finales. </a:t>
            </a:r>
          </a:p>
          <a:p>
            <a:pPr lvl="1"/>
            <a:r>
              <a:rPr lang="es-CL" sz="2800" b="1" dirty="0"/>
              <a:t>	¿Estamos construyendo el software correcto?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67365E6-B67D-C409-8AB6-6834CCB20718}"/>
              </a:ext>
            </a:extLst>
          </p:cNvPr>
          <p:cNvSpPr txBox="1"/>
          <p:nvPr/>
        </p:nvSpPr>
        <p:spPr>
          <a:xfrm>
            <a:off x="4436579" y="5886249"/>
            <a:ext cx="74879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hlinkClick r:id="rId3"/>
              </a:rPr>
              <a:t>https://www.testingit.com.mx/blog/diferencia-entre-validar-y-verificar-istqb</a:t>
            </a:r>
            <a:endParaRPr lang="es-CL" dirty="0"/>
          </a:p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545E9D1-DBD4-044B-36C1-C1C93CBD775A}"/>
              </a:ext>
            </a:extLst>
          </p:cNvPr>
          <p:cNvSpPr txBox="1"/>
          <p:nvPr/>
        </p:nvSpPr>
        <p:spPr>
          <a:xfrm>
            <a:off x="951898" y="5343097"/>
            <a:ext cx="10288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/>
              <a:t>La </a:t>
            </a:r>
            <a:r>
              <a:rPr lang="es-CL" sz="2800" b="1" dirty="0"/>
              <a:t>validación</a:t>
            </a:r>
            <a:r>
              <a:rPr lang="es-CL" sz="2800" dirty="0"/>
              <a:t> es una parte </a:t>
            </a:r>
            <a:r>
              <a:rPr lang="es-CL" sz="2800" b="1" dirty="0"/>
              <a:t>importante</a:t>
            </a:r>
            <a:r>
              <a:rPr lang="es-CL" sz="2800" dirty="0"/>
              <a:t> de la </a:t>
            </a:r>
            <a:r>
              <a:rPr lang="es-CL" sz="2800" b="1" dirty="0"/>
              <a:t>ingeniería de requisitos</a:t>
            </a:r>
            <a:r>
              <a:rPr lang="es-CL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87934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984885"/>
          </a:xfrm>
        </p:spPr>
        <p:txBody>
          <a:bodyPr/>
          <a:lstStyle/>
          <a:p>
            <a:r>
              <a:rPr lang="es-CL" sz="3200" dirty="0"/>
              <a:t>Esfuerzo asociado a validación</a:t>
            </a:r>
            <a:br>
              <a:rPr lang="es-CL" sz="3200" dirty="0"/>
            </a:br>
            <a:endParaRPr lang="en-US" sz="3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274141A-9B4E-CF9A-3193-6CA9E4CCE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177" y="1087398"/>
            <a:ext cx="8049645" cy="468320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427D6C6-1363-FE89-5FAC-46D4401E9399}"/>
              </a:ext>
            </a:extLst>
          </p:cNvPr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077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023FD-9B69-2C76-42F9-68FFC3A88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780F9-134D-1795-D270-FD42D7FFD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 asociada a la validación de requisitos</a:t>
            </a:r>
            <a:endParaRPr lang="en-US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1E4A938-185C-FFE8-FA48-EF204EFE65CD}"/>
              </a:ext>
            </a:extLst>
          </p:cNvPr>
          <p:cNvSpPr txBox="1"/>
          <p:nvPr/>
        </p:nvSpPr>
        <p:spPr>
          <a:xfrm>
            <a:off x="1151129" y="2301713"/>
            <a:ext cx="9889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P18: Revisar y testear los requisitos.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0314BF34-B087-6114-A41D-8D7EF8680DBC}"/>
              </a:ext>
            </a:extLst>
          </p:cNvPr>
          <p:cNvSpPr/>
          <p:nvPr/>
        </p:nvSpPr>
        <p:spPr>
          <a:xfrm>
            <a:off x="1118418" y="2301713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34E5C79-46CB-5AF6-8623-03C30F930C4D}"/>
              </a:ext>
            </a:extLst>
          </p:cNvPr>
          <p:cNvSpPr txBox="1"/>
          <p:nvPr/>
        </p:nvSpPr>
        <p:spPr>
          <a:xfrm>
            <a:off x="1118418" y="3978428"/>
            <a:ext cx="99551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dirty="0"/>
              <a:t>¿Con qué objetivo?</a:t>
            </a:r>
          </a:p>
          <a:p>
            <a:pPr algn="ctr"/>
            <a:endParaRPr lang="es-CL" sz="2800" dirty="0"/>
          </a:p>
          <a:p>
            <a:pPr algn="ctr"/>
            <a:r>
              <a:rPr lang="es-CL" sz="2800" b="1" dirty="0"/>
              <a:t>Reducir el riesgo de realizar trabajo innecesario</a:t>
            </a:r>
            <a:r>
              <a:rPr lang="es-CL" sz="2800" dirty="0"/>
              <a:t>.</a:t>
            </a:r>
            <a:r>
              <a:rPr lang="es-CL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85054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P18: Revisar y testear los requisitos.</a:t>
            </a:r>
            <a:endParaRPr lang="en-US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43435" y="1514903"/>
            <a:ext cx="1178112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una tarea colaborativa. ¿Por qué?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Los clientes/usuarios y otros </a:t>
            </a:r>
            <a:r>
              <a:rPr lang="es-CL" sz="2800" dirty="0" err="1"/>
              <a:t>stakeholders</a:t>
            </a:r>
            <a:r>
              <a:rPr lang="es-CL" sz="2800" dirty="0"/>
              <a:t> son los únicos que pueden decirnos si los requisitos están correctos.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Un error común es conformarse con la “aprobación del cliente” para validar los requisitos.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¿Por qué es un error?</a:t>
            </a:r>
          </a:p>
        </p:txBody>
      </p:sp>
    </p:spTree>
    <p:extLst>
      <p:ext uri="{BB962C8B-B14F-4D97-AF65-F5344CB8AC3E}">
        <p14:creationId xmlns:p14="http://schemas.microsoft.com/office/powerpoint/2010/main" val="3173317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EEF6D-DC12-2AA1-4BD7-07791CAB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BA81E-F8C7-08F0-1AFE-871445D7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P18: Revisar los requisitos. Técnicas.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2B9412D-B642-FB30-F3FA-7B9A0541AA0D}"/>
              </a:ext>
            </a:extLst>
          </p:cNvPr>
          <p:cNvSpPr txBox="1"/>
          <p:nvPr/>
        </p:nvSpPr>
        <p:spPr>
          <a:xfrm>
            <a:off x="143435" y="1514903"/>
            <a:ext cx="1178112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Revisión por pares. </a:t>
            </a:r>
            <a:r>
              <a:rPr lang="es-CL" sz="2800" dirty="0"/>
              <a:t>Un analista revisa los requisitos formulados por otro analista. Es útil, pero </a:t>
            </a:r>
            <a:r>
              <a:rPr lang="es-CL" sz="2800" b="1" dirty="0"/>
              <a:t>insuficiente</a:t>
            </a:r>
            <a:r>
              <a:rPr lang="es-CL" sz="2800" dirty="0"/>
              <a:t>, ya que el otro analista </a:t>
            </a:r>
            <a:r>
              <a:rPr lang="es-CL" sz="2800" b="1" dirty="0"/>
              <a:t>no puede saber si está cubierta la necesidad de negocios. </a:t>
            </a:r>
          </a:p>
          <a:p>
            <a:pPr lvl="1"/>
            <a:endParaRPr lang="es-CL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¿Quiénes pueden ayudarnos a revisarlos?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Representantes de diferentes clases de </a:t>
            </a:r>
            <a:r>
              <a:rPr lang="es-CL" sz="2800" b="1" dirty="0"/>
              <a:t>usuarios</a:t>
            </a:r>
            <a:r>
              <a:rPr lang="es-CL" sz="2800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b="1" dirty="0"/>
              <a:t>Expertos en el dominio </a:t>
            </a:r>
            <a:r>
              <a:rPr lang="es-CL" sz="2800" dirty="0"/>
              <a:t>del problema.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Quien vaya a usar nuestra especificación. Por ejemplo, </a:t>
            </a:r>
            <a:r>
              <a:rPr lang="es-CL" sz="2800" b="1" dirty="0"/>
              <a:t>desarrolladores, arquitectos de software, diseñadores de UX</a:t>
            </a:r>
            <a:r>
              <a:rPr lang="es-CL" sz="2800" dirty="0"/>
              <a:t>.</a:t>
            </a:r>
          </a:p>
          <a:p>
            <a:pPr lvl="1"/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876515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6FE01-CDAC-B0CE-26C7-FC78D8527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CEB4C-8FCF-97E8-AA0F-8CDCE079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P18: Revisar los requisitos. Técnicas.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5C5B52-C10D-8C3E-C0F5-DC0F68465048}"/>
              </a:ext>
            </a:extLst>
          </p:cNvPr>
          <p:cNvSpPr txBox="1"/>
          <p:nvPr/>
        </p:nvSpPr>
        <p:spPr>
          <a:xfrm>
            <a:off x="0" y="1317680"/>
            <a:ext cx="117811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Revisión por pares. </a:t>
            </a:r>
            <a:r>
              <a:rPr lang="es-CL" sz="2800" dirty="0"/>
              <a:t>Un analista revisa los requisitos formulados por otro analista.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Ejemplo: Sistema para registro de prácticas profesionales ICI.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Dos analistas trabajan en formular los requisitos para un sistema.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Ambos asisten a las reuniones con los usuarios.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Se dividen la tarea: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Un analista especifica requisitos para las funcionalidades del estudiante.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Otro analista especifica requisitos para las funcionalidades del Director de Escuela.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Ambos analistas revisan la especificación de manera cruzada. </a:t>
            </a:r>
          </a:p>
        </p:txBody>
      </p:sp>
    </p:spTree>
    <p:extLst>
      <p:ext uri="{BB962C8B-B14F-4D97-AF65-F5344CB8AC3E}">
        <p14:creationId xmlns:p14="http://schemas.microsoft.com/office/powerpoint/2010/main" val="720821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9A827-F69B-EAD2-C41C-C4CEE7E0F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BD042B-4D37-FA93-9091-B6F0208C3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P18: Revisar los requisitos. Técnicas.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C0C14A-D46C-3AB8-02FC-1AF2241E71E7}"/>
              </a:ext>
            </a:extLst>
          </p:cNvPr>
          <p:cNvSpPr txBox="1"/>
          <p:nvPr/>
        </p:nvSpPr>
        <p:spPr>
          <a:xfrm>
            <a:off x="143435" y="1514903"/>
            <a:ext cx="117811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¿Quiénes pueden ayudarnos a revisarlos?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Representantes de diferentes clases de </a:t>
            </a:r>
            <a:r>
              <a:rPr lang="es-CL" sz="2800" b="1" dirty="0"/>
              <a:t>usuarios</a:t>
            </a:r>
            <a:r>
              <a:rPr lang="es-CL" sz="2800" dirty="0"/>
              <a:t>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Pedimos al Director de Escuela y a estudiantes de último año que revisen los requisitos.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b="1" dirty="0"/>
              <a:t>Expertos en el dominio </a:t>
            </a:r>
            <a:r>
              <a:rPr lang="es-CL" sz="2800" dirty="0"/>
              <a:t>del problema.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Pedimos a otros directores de escuela de la UACh, o a encargados de prácticas de otras universidades, que nos ayuden a revisarlos.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Quien vaya a usar nuestra especificación. Por ejemplo, </a:t>
            </a:r>
            <a:r>
              <a:rPr lang="es-CL" sz="2800" b="1" dirty="0"/>
              <a:t>desarrolladores, arquitectos de software, diseñadores de UX</a:t>
            </a:r>
            <a:r>
              <a:rPr lang="es-CL" sz="2800" dirty="0"/>
              <a:t>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Pedimos al equipo que desarrollará el </a:t>
            </a:r>
            <a:r>
              <a:rPr lang="es-CL" sz="2800" dirty="0" err="1"/>
              <a:t>sw</a:t>
            </a:r>
            <a:r>
              <a:rPr lang="es-CL" sz="2800" dirty="0"/>
              <a:t>. que revise la especificación.</a:t>
            </a:r>
          </a:p>
          <a:p>
            <a:pPr lvl="1"/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61822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E9D2C-87E9-D4AD-31E0-F1004DC1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66915-B694-F031-3773-7C5E9D96A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P18: Inspección de requisitos. Algunas preguntas.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10B2A1-C06B-23B3-DF6A-D065DA46D74D}"/>
              </a:ext>
            </a:extLst>
          </p:cNvPr>
          <p:cNvSpPr txBox="1"/>
          <p:nvPr/>
        </p:nvSpPr>
        <p:spPr>
          <a:xfrm>
            <a:off x="205437" y="1317680"/>
            <a:ext cx="117811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Completitud.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¿Se han definido todas las interfaces?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¿Se hacen cargo los requisitos de todas las necesidades planteadas por los usuarios?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Corrección.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¿Hay requisitos duplicados o que entren en conflicto entre sí?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¿Están escritos de manera correcta, no ambigua?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Atributos de calidad.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¿Se han especificado con precisión aspectos de usabilidad, rendimiento y seguridad?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Organización y trazabilidad.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¿Podemos identificar el origen de cada requisito funcional?</a:t>
            </a:r>
          </a:p>
        </p:txBody>
      </p:sp>
    </p:spTree>
    <p:extLst>
      <p:ext uri="{BB962C8B-B14F-4D97-AF65-F5344CB8AC3E}">
        <p14:creationId xmlns:p14="http://schemas.microsoft.com/office/powerpoint/2010/main" val="398049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90C3A-7445-32B1-3296-208FA088F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21E736-14DF-CC93-98E8-08EFC4A2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P18: Validación de requisitos. Criterios de aceptación.</a:t>
            </a:r>
            <a:br>
              <a:rPr lang="es-CL" sz="3200" dirty="0"/>
            </a:b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BA9C47C-C2B0-E5C3-8580-EF6E603CACF1}"/>
              </a:ext>
            </a:extLst>
          </p:cNvPr>
          <p:cNvSpPr txBox="1"/>
          <p:nvPr/>
        </p:nvSpPr>
        <p:spPr>
          <a:xfrm>
            <a:off x="0" y="1335609"/>
            <a:ext cx="117811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Al validar requisitos, es una  buena práctica especificar cómo sabremos si una solución es aceptable.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Podemos usar este patrón para construir </a:t>
            </a:r>
            <a:r>
              <a:rPr lang="es-CL" sz="2800" b="1" dirty="0"/>
              <a:t>test de aceptación</a:t>
            </a:r>
            <a:r>
              <a:rPr lang="es-CL" sz="2800" dirty="0"/>
              <a:t>, asociados a un requisito o a una historia de usuario: </a:t>
            </a:r>
          </a:p>
          <a:p>
            <a:pPr lvl="2"/>
            <a:r>
              <a:rPr lang="es-CL" sz="2800" b="1" dirty="0"/>
              <a:t>Dadas</a:t>
            </a:r>
            <a:r>
              <a:rPr lang="es-CL" sz="2800" dirty="0"/>
              <a:t> &lt;precondiciones específicas&gt;</a:t>
            </a:r>
          </a:p>
          <a:p>
            <a:pPr lvl="2"/>
            <a:r>
              <a:rPr lang="es-CL" sz="2800" b="1" dirty="0"/>
              <a:t>Cuando</a:t>
            </a:r>
            <a:r>
              <a:rPr lang="es-CL" sz="2800" dirty="0"/>
              <a:t> &lt;ocurra acción o evento&gt;</a:t>
            </a:r>
          </a:p>
          <a:p>
            <a:pPr lvl="2"/>
            <a:r>
              <a:rPr lang="es-CL" sz="2800" b="1" dirty="0"/>
              <a:t>Entonces</a:t>
            </a:r>
            <a:r>
              <a:rPr lang="es-CL" sz="2800" dirty="0"/>
              <a:t> &lt;esto es lo que debiera ocurrir&gt;</a:t>
            </a:r>
          </a:p>
          <a:p>
            <a:pPr lvl="2"/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 err="1"/>
              <a:t>Ejm</a:t>
            </a:r>
            <a:r>
              <a:rPr lang="es-CL" sz="2800" b="1" dirty="0"/>
              <a:t> (Sistema de ventas):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400" b="1" dirty="0"/>
              <a:t>Dado que </a:t>
            </a:r>
            <a:r>
              <a:rPr lang="es-CL" sz="2400" dirty="0"/>
              <a:t>estoy conectado y he realizado ventas.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400" b="1" dirty="0"/>
              <a:t>Cuando</a:t>
            </a:r>
            <a:r>
              <a:rPr lang="es-CL" sz="2400" dirty="0"/>
              <a:t> selecciono el gráfico de ventas diarias.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400" b="1" dirty="0"/>
              <a:t>Entonces</a:t>
            </a:r>
            <a:r>
              <a:rPr lang="es-CL" sz="2400" dirty="0"/>
              <a:t> se despliega el gráfico que muestra el total de ventas por medio de pago. </a:t>
            </a:r>
          </a:p>
        </p:txBody>
      </p:sp>
    </p:spTree>
    <p:extLst>
      <p:ext uri="{BB962C8B-B14F-4D97-AF65-F5344CB8AC3E}">
        <p14:creationId xmlns:p14="http://schemas.microsoft.com/office/powerpoint/2010/main" val="564975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5CA7-8C04-2011-C97E-F89C2BEB2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638BDB-A9E9-0B5E-71C6-225992D0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P18: Validación de requisitos. Criterios de aceptación.</a:t>
            </a:r>
            <a:br>
              <a:rPr lang="es-CL" sz="3200" dirty="0"/>
            </a:b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067C681-913D-339E-7874-6117FA0D669C}"/>
              </a:ext>
            </a:extLst>
          </p:cNvPr>
          <p:cNvSpPr txBox="1"/>
          <p:nvPr/>
        </p:nvSpPr>
        <p:spPr>
          <a:xfrm>
            <a:off x="0" y="1335609"/>
            <a:ext cx="1178112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Ejemplo de </a:t>
            </a:r>
            <a:r>
              <a:rPr lang="es-CL" sz="2800" b="1" dirty="0"/>
              <a:t>requisito funcional</a:t>
            </a:r>
            <a:r>
              <a:rPr lang="es-CL" sz="2800" dirty="0"/>
              <a:t>: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La secretaria de escuela </a:t>
            </a:r>
            <a:r>
              <a:rPr lang="es-CL" sz="2800" b="1" dirty="0"/>
              <a:t>será capaz de </a:t>
            </a:r>
            <a:r>
              <a:rPr lang="es-CL" sz="2800" dirty="0"/>
              <a:t>publicar ofertas de práctica.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Patrón para construir test de aceptación:</a:t>
            </a:r>
          </a:p>
          <a:p>
            <a:pPr lvl="2"/>
            <a:r>
              <a:rPr lang="es-CL" sz="2800" b="1" dirty="0"/>
              <a:t>Dadas</a:t>
            </a:r>
            <a:r>
              <a:rPr lang="es-CL" sz="2800" dirty="0"/>
              <a:t> &lt;precondiciones específicas&gt;</a:t>
            </a:r>
          </a:p>
          <a:p>
            <a:pPr lvl="2"/>
            <a:r>
              <a:rPr lang="es-CL" sz="2800" b="1" dirty="0"/>
              <a:t>Cuando</a:t>
            </a:r>
            <a:r>
              <a:rPr lang="es-CL" sz="2800" dirty="0"/>
              <a:t> &lt;ocurra acción o evento&gt;</a:t>
            </a:r>
          </a:p>
          <a:p>
            <a:pPr lvl="2"/>
            <a:r>
              <a:rPr lang="es-CL" sz="2800" b="1" dirty="0"/>
              <a:t>Entonces</a:t>
            </a:r>
            <a:r>
              <a:rPr lang="es-CL" sz="2800" dirty="0"/>
              <a:t> &lt;esto es lo que debiera ocurrir&gt;</a:t>
            </a:r>
          </a:p>
          <a:p>
            <a:pPr lvl="2"/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Propongan test de aceptación para ese requisito. 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3412274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9633A-2914-1324-B8AA-8BF919330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40C13-E834-ED5C-2150-01C370178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4885"/>
          </a:xfrm>
        </p:spPr>
        <p:txBody>
          <a:bodyPr/>
          <a:lstStyle/>
          <a:p>
            <a:r>
              <a:rPr lang="es-CL" sz="3200" dirty="0"/>
              <a:t>P18: Validación de requisitos. Criterios de aceptación.</a:t>
            </a:r>
            <a:br>
              <a:rPr lang="es-CL" sz="3200" dirty="0"/>
            </a:br>
            <a:endParaRPr lang="en-U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B101976-A80E-B133-89F7-24F17F795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176591"/>
            <a:ext cx="8875504" cy="476310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C6B21FF-278D-7A48-2C26-502218BBA454}"/>
              </a:ext>
            </a:extLst>
          </p:cNvPr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1445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B8F19-A2FF-3A4B-ADEC-7C6CA87F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4109F-0A58-C0E6-22D4-3257F38E6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P18: Validación de modelos de análisis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8FA720E-BE4A-8848-F430-1EAF655A58A2}"/>
              </a:ext>
            </a:extLst>
          </p:cNvPr>
          <p:cNvSpPr txBox="1"/>
          <p:nvPr/>
        </p:nvSpPr>
        <p:spPr>
          <a:xfrm>
            <a:off x="0" y="1335609"/>
            <a:ext cx="117811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Cuando tenemos modelos de análisis, podemos realizar la validación generando escenarios que recorren diferentes caminos.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modelos de análisis?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400" dirty="0"/>
              <a:t>Modelos de procesos.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400" dirty="0"/>
              <a:t>Modelos de datos.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400" dirty="0"/>
              <a:t>Mockups.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400" dirty="0"/>
              <a:t>Algoritmos.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400" dirty="0"/>
              <a:t>Etc.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¿Cuál es el propósito?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Encontrar errores </a:t>
            </a:r>
            <a:r>
              <a:rPr lang="es-CL" sz="2800" b="1" dirty="0"/>
              <a:t>antes</a:t>
            </a:r>
            <a:r>
              <a:rPr lang="es-CL" sz="2800" dirty="0"/>
              <a:t> de codificar.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Completar el </a:t>
            </a:r>
            <a:r>
              <a:rPr lang="es-CL" sz="2800" b="1" dirty="0"/>
              <a:t>alcance</a:t>
            </a:r>
            <a:r>
              <a:rPr lang="es-CL" sz="2800" dirty="0"/>
              <a:t> de cada funcionalidad.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4179070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B182B-9AB9-8786-1697-061317F16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38954-9925-E287-B37B-059D52BB7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P18: </a:t>
            </a:r>
            <a:r>
              <a:rPr lang="es-CL" sz="3200" dirty="0" err="1"/>
              <a:t>Ejm</a:t>
            </a:r>
            <a:r>
              <a:rPr lang="es-CL" sz="3200" dirty="0"/>
              <a:t>: Modelo E-R – Sistema de Ventas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AA70883-4C42-2456-383C-62B8E5AAFF18}"/>
              </a:ext>
            </a:extLst>
          </p:cNvPr>
          <p:cNvSpPr txBox="1"/>
          <p:nvPr/>
        </p:nvSpPr>
        <p:spPr>
          <a:xfrm>
            <a:off x="6095999" y="5995755"/>
            <a:ext cx="5695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s-CL" sz="2800" dirty="0"/>
              <a:t>¿Debo hacer cambios al modelo?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3EBE0E-6E33-6742-6422-554559871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06" y="1540403"/>
            <a:ext cx="5695676" cy="471696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6E10A39-8F8A-032F-12D2-63CEDED58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897" y="1070518"/>
            <a:ext cx="4847139" cy="471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9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1FFA-DAE0-CAAE-E04E-F2F12B28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1BF30-9F34-4390-F217-70C428574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P18: Cómo testear requisitos eficientemente.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D347C73-E424-7867-4135-BBF21DDE36B2}"/>
              </a:ext>
            </a:extLst>
          </p:cNvPr>
          <p:cNvSpPr txBox="1"/>
          <p:nvPr/>
        </p:nvSpPr>
        <p:spPr>
          <a:xfrm>
            <a:off x="0" y="1335609"/>
            <a:ext cx="1178112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 err="1"/>
              <a:t>Equivalence</a:t>
            </a:r>
            <a:r>
              <a:rPr lang="es-CL" sz="2800" b="1" dirty="0"/>
              <a:t> </a:t>
            </a:r>
            <a:r>
              <a:rPr lang="es-CL" sz="2800" b="1" dirty="0" err="1"/>
              <a:t>partitioning</a:t>
            </a:r>
            <a:r>
              <a:rPr lang="es-CL" sz="2800" b="1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La recomendación es dividir las condiciones de validación en categorías, de tal modo que, para todos los valores de una categoría, el sistema se comporte igual.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 err="1"/>
              <a:t>Ejm</a:t>
            </a:r>
            <a:r>
              <a:rPr lang="es-CL" sz="2800" dirty="0"/>
              <a:t>: Si un sistema emitirá 3 tipos de documentos, hago pruebas para cada uno. </a:t>
            </a:r>
          </a:p>
          <a:p>
            <a:pPr lvl="2"/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 err="1"/>
              <a:t>Boundary</a:t>
            </a:r>
            <a:r>
              <a:rPr lang="es-CL" sz="2800" b="1" dirty="0"/>
              <a:t> </a:t>
            </a:r>
            <a:r>
              <a:rPr lang="es-CL" sz="2800" b="1" dirty="0" err="1"/>
              <a:t>value</a:t>
            </a:r>
            <a:r>
              <a:rPr lang="es-CL" sz="2800" b="1" dirty="0"/>
              <a:t> </a:t>
            </a:r>
            <a:r>
              <a:rPr lang="es-CL" sz="2800" b="1" dirty="0" err="1"/>
              <a:t>analysis</a:t>
            </a:r>
            <a:r>
              <a:rPr lang="es-CL" sz="2800" b="1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La recomendación es concentrar los </a:t>
            </a:r>
            <a:r>
              <a:rPr lang="es-CL" sz="2800" dirty="0" err="1"/>
              <a:t>tests</a:t>
            </a:r>
            <a:r>
              <a:rPr lang="es-CL" sz="2800" dirty="0"/>
              <a:t> en los límites de una categoría.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 err="1"/>
              <a:t>Ejm</a:t>
            </a:r>
            <a:r>
              <a:rPr lang="es-CL" sz="2800" dirty="0"/>
              <a:t>: Si un valor puede ir de 1 a 100, testeo para 0,1,2,99,100,101.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057337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51DE5-D3A7-6269-9C44-371FC1DA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A6B527-5883-9E92-BDF3-CA20D02FD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P18: Revisar y testear los requisitos.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6DDDE2-FA8E-0083-E80A-F37CB054FCD8}"/>
              </a:ext>
            </a:extLst>
          </p:cNvPr>
          <p:cNvSpPr txBox="1"/>
          <p:nvPr/>
        </p:nvSpPr>
        <p:spPr>
          <a:xfrm>
            <a:off x="143435" y="1514903"/>
            <a:ext cx="117811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b="1" dirty="0"/>
              <a:t>Validación: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Conjunto de actividades que permite comprobar si se ha cumplido con las </a:t>
            </a:r>
            <a:r>
              <a:rPr lang="es-CL" sz="2800" b="1" dirty="0"/>
              <a:t>necesidades</a:t>
            </a:r>
            <a:r>
              <a:rPr lang="es-CL" sz="2800" dirty="0"/>
              <a:t> y </a:t>
            </a:r>
            <a:r>
              <a:rPr lang="es-CL" sz="2800" b="1" dirty="0"/>
              <a:t>expectativas</a:t>
            </a:r>
            <a:r>
              <a:rPr lang="es-CL" sz="2800" dirty="0"/>
              <a:t> de los usuarios finales</a:t>
            </a:r>
            <a:r>
              <a:rPr lang="es-CL" sz="2800"/>
              <a:t>. </a:t>
            </a:r>
          </a:p>
          <a:p>
            <a:pPr lvl="1"/>
            <a:endParaRPr lang="es-CL" sz="2800" dirty="0"/>
          </a:p>
          <a:p>
            <a:pPr lvl="1"/>
            <a:r>
              <a:rPr lang="es-CL" sz="2800" b="1" dirty="0"/>
              <a:t>	¿Estamos construyendo el software correcto?</a:t>
            </a:r>
          </a:p>
        </p:txBody>
      </p:sp>
    </p:spTree>
    <p:extLst>
      <p:ext uri="{BB962C8B-B14F-4D97-AF65-F5344CB8AC3E}">
        <p14:creationId xmlns:p14="http://schemas.microsoft.com/office/powerpoint/2010/main" val="1615179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36909</TotalTime>
  <Words>1256</Words>
  <Application>Microsoft Office PowerPoint</Application>
  <PresentationFormat>Panorámica</PresentationFormat>
  <Paragraphs>152</Paragraphs>
  <Slides>18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Unidad 0 - Introducción</vt:lpstr>
      <vt:lpstr>Tipos de requisitos</vt:lpstr>
      <vt:lpstr>Dominios de la ingeniería de requisitos</vt:lpstr>
      <vt:lpstr>Verificación y Validación de software.</vt:lpstr>
      <vt:lpstr>Esfuerzo asociado a validación </vt:lpstr>
      <vt:lpstr>Práctica asociada a la validación de requisitos</vt:lpstr>
      <vt:lpstr>P18: Revisar y testear los requisitos.</vt:lpstr>
      <vt:lpstr>P18: Revisar los requisitos. Técnicas.</vt:lpstr>
      <vt:lpstr>P18: Revisar los requisitos. Técnicas.</vt:lpstr>
      <vt:lpstr>P18: Revisar los requisitos. Técnicas.</vt:lpstr>
      <vt:lpstr>P18: Inspección de requisitos. Algunas preguntas.</vt:lpstr>
      <vt:lpstr>P18: Validación de requisitos. Criterios de aceptación. </vt:lpstr>
      <vt:lpstr>P18: Validación de requisitos. Criterios de aceptación. </vt:lpstr>
      <vt:lpstr>P18: Validación de requisitos. Criterios de aceptación. </vt:lpstr>
      <vt:lpstr>P18: Validación de modelos de análisis</vt:lpstr>
      <vt:lpstr>P18: Ejm: Modelo E-R – Sistema de Ventas</vt:lpstr>
      <vt:lpstr>P18: Cómo testear requisitos eficientemente.</vt:lpstr>
      <vt:lpstr>P18: Revisar y testear los requisitos.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234</cp:revision>
  <cp:lastPrinted>2020-10-05T12:16:48Z</cp:lastPrinted>
  <dcterms:created xsi:type="dcterms:W3CDTF">2018-03-05T20:26:11Z</dcterms:created>
  <dcterms:modified xsi:type="dcterms:W3CDTF">2025-11-13T11:12:27Z</dcterms:modified>
</cp:coreProperties>
</file>
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57" r:id="rId2"/>
    <p:sldId id="527" r:id="rId3"/>
    <p:sldId id="528" r:id="rId4"/>
    <p:sldId id="453" r:id="rId5"/>
    <p:sldId id="525" r:id="rId6"/>
    <p:sldId id="503" r:id="rId7"/>
    <p:sldId id="505" r:id="rId8"/>
    <p:sldId id="483" r:id="rId9"/>
    <p:sldId id="529" r:id="rId10"/>
    <p:sldId id="504" r:id="rId11"/>
    <p:sldId id="526" r:id="rId12"/>
    <p:sldId id="507" r:id="rId13"/>
    <p:sldId id="509" r:id="rId14"/>
    <p:sldId id="508" r:id="rId15"/>
    <p:sldId id="510" r:id="rId16"/>
    <p:sldId id="511" r:id="rId17"/>
    <p:sldId id="512" r:id="rId18"/>
    <p:sldId id="513" r:id="rId19"/>
    <p:sldId id="518" r:id="rId20"/>
    <p:sldId id="519" r:id="rId21"/>
    <p:sldId id="516" r:id="rId22"/>
    <p:sldId id="514" r:id="rId23"/>
  </p:sldIdLst>
  <p:sldSz cx="12192000" cy="6858000"/>
  <p:notesSz cx="7102475" cy="9388475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an Pablo Salazar Fernández" initials="JPS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29" autoAdjust="0"/>
    <p:restoredTop sz="83212" autoAdjust="0"/>
  </p:normalViewPr>
  <p:slideViewPr>
    <p:cSldViewPr snapToGrid="0">
      <p:cViewPr varScale="1">
        <p:scale>
          <a:sx n="94" d="100"/>
          <a:sy n="94" d="100"/>
        </p:scale>
        <p:origin x="3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04393C-B33A-4787-8989-CBD5713F3EB0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CA9C0E11-DBCE-4BA2-8D62-982BB76ED07C}">
      <dgm:prSet phldrT="[Texto]"/>
      <dgm:spPr/>
      <dgm:t>
        <a:bodyPr/>
        <a:lstStyle/>
        <a:p>
          <a:r>
            <a:rPr lang="es-ES" dirty="0"/>
            <a:t>Describir “</a:t>
          </a:r>
          <a:r>
            <a:rPr lang="es-ES" dirty="0" err="1"/>
            <a:t>Happy</a:t>
          </a:r>
          <a:r>
            <a:rPr lang="es-ES" dirty="0"/>
            <a:t> </a:t>
          </a:r>
          <a:r>
            <a:rPr lang="es-ES" dirty="0" err="1"/>
            <a:t>path</a:t>
          </a:r>
          <a:r>
            <a:rPr lang="es-ES" dirty="0"/>
            <a:t>”</a:t>
          </a:r>
        </a:p>
      </dgm:t>
    </dgm:pt>
    <dgm:pt modelId="{D1446177-6936-436A-87FA-0EB195E81B90}" type="parTrans" cxnId="{89C5284E-320D-402F-B98D-EFB07B19A2E1}">
      <dgm:prSet/>
      <dgm:spPr/>
      <dgm:t>
        <a:bodyPr/>
        <a:lstStyle/>
        <a:p>
          <a:endParaRPr lang="es-ES"/>
        </a:p>
      </dgm:t>
    </dgm:pt>
    <dgm:pt modelId="{82BEDB34-E7D4-4509-B487-D7D64B67C5CA}" type="sibTrans" cxnId="{89C5284E-320D-402F-B98D-EFB07B19A2E1}">
      <dgm:prSet/>
      <dgm:spPr/>
      <dgm:t>
        <a:bodyPr/>
        <a:lstStyle/>
        <a:p>
          <a:endParaRPr lang="es-ES"/>
        </a:p>
      </dgm:t>
    </dgm:pt>
    <dgm:pt modelId="{8DD7F947-8EE0-453A-B522-B3BF50A357B5}">
      <dgm:prSet phldrT="[Texto]"/>
      <dgm:spPr/>
      <dgm:t>
        <a:bodyPr/>
        <a:lstStyle/>
        <a:p>
          <a:r>
            <a:rPr lang="es-ES" dirty="0"/>
            <a:t>Describir Flujos alternativos</a:t>
          </a:r>
        </a:p>
      </dgm:t>
    </dgm:pt>
    <dgm:pt modelId="{E325E991-D080-4866-B227-DAB4C5CA2673}" type="parTrans" cxnId="{99904F51-A0B2-488C-B617-ACBD77EE19E8}">
      <dgm:prSet/>
      <dgm:spPr/>
      <dgm:t>
        <a:bodyPr/>
        <a:lstStyle/>
        <a:p>
          <a:endParaRPr lang="es-ES"/>
        </a:p>
      </dgm:t>
    </dgm:pt>
    <dgm:pt modelId="{78538104-2F86-4939-B648-3C6695002D6B}" type="sibTrans" cxnId="{99904F51-A0B2-488C-B617-ACBD77EE19E8}">
      <dgm:prSet/>
      <dgm:spPr/>
      <dgm:t>
        <a:bodyPr/>
        <a:lstStyle/>
        <a:p>
          <a:endParaRPr lang="es-ES"/>
        </a:p>
      </dgm:t>
    </dgm:pt>
    <dgm:pt modelId="{C42BE200-504A-4EEE-89EC-783ED5FFA534}">
      <dgm:prSet phldrT="[Texto]"/>
      <dgm:spPr/>
      <dgm:t>
        <a:bodyPr/>
        <a:lstStyle/>
        <a:p>
          <a:r>
            <a:rPr lang="es-ES" dirty="0"/>
            <a:t>Identificar excepciones</a:t>
          </a:r>
        </a:p>
      </dgm:t>
    </dgm:pt>
    <dgm:pt modelId="{0AC95F19-4CBB-4617-BA0F-34A3D071AF2D}" type="parTrans" cxnId="{5C6BABCA-6E14-4D30-B14F-495836B8C73A}">
      <dgm:prSet/>
      <dgm:spPr/>
      <dgm:t>
        <a:bodyPr/>
        <a:lstStyle/>
        <a:p>
          <a:endParaRPr lang="es-ES"/>
        </a:p>
      </dgm:t>
    </dgm:pt>
    <dgm:pt modelId="{4D060F3C-3863-4718-911A-598C00D8A6CB}" type="sibTrans" cxnId="{5C6BABCA-6E14-4D30-B14F-495836B8C73A}">
      <dgm:prSet/>
      <dgm:spPr/>
      <dgm:t>
        <a:bodyPr/>
        <a:lstStyle/>
        <a:p>
          <a:endParaRPr lang="es-ES"/>
        </a:p>
      </dgm:t>
    </dgm:pt>
    <dgm:pt modelId="{28DADBCE-931A-4664-877C-D751863DD04C}" type="pres">
      <dgm:prSet presAssocID="{ED04393C-B33A-4787-8989-CBD5713F3EB0}" presName="CompostProcess" presStyleCnt="0">
        <dgm:presLayoutVars>
          <dgm:dir/>
          <dgm:resizeHandles val="exact"/>
        </dgm:presLayoutVars>
      </dgm:prSet>
      <dgm:spPr/>
    </dgm:pt>
    <dgm:pt modelId="{83866041-C4CA-42E0-90CF-462C1A5D4BD9}" type="pres">
      <dgm:prSet presAssocID="{ED04393C-B33A-4787-8989-CBD5713F3EB0}" presName="arrow" presStyleLbl="bgShp" presStyleIdx="0" presStyleCnt="1"/>
      <dgm:spPr/>
    </dgm:pt>
    <dgm:pt modelId="{FEFDE845-B802-42F1-BBB6-2FCFBC7D0F06}" type="pres">
      <dgm:prSet presAssocID="{ED04393C-B33A-4787-8989-CBD5713F3EB0}" presName="linearProcess" presStyleCnt="0"/>
      <dgm:spPr/>
    </dgm:pt>
    <dgm:pt modelId="{B836D151-AD33-4801-8808-3085F61819A1}" type="pres">
      <dgm:prSet presAssocID="{CA9C0E11-DBCE-4BA2-8D62-982BB76ED07C}" presName="textNode" presStyleLbl="node1" presStyleIdx="0" presStyleCnt="3">
        <dgm:presLayoutVars>
          <dgm:bulletEnabled val="1"/>
        </dgm:presLayoutVars>
      </dgm:prSet>
      <dgm:spPr/>
    </dgm:pt>
    <dgm:pt modelId="{25530AFA-323B-405B-A430-355F9DF9800F}" type="pres">
      <dgm:prSet presAssocID="{82BEDB34-E7D4-4509-B487-D7D64B67C5CA}" presName="sibTrans" presStyleCnt="0"/>
      <dgm:spPr/>
    </dgm:pt>
    <dgm:pt modelId="{FCE56158-B69A-4908-8C51-9A07505D56DA}" type="pres">
      <dgm:prSet presAssocID="{8DD7F947-8EE0-453A-B522-B3BF50A357B5}" presName="textNode" presStyleLbl="node1" presStyleIdx="1" presStyleCnt="3">
        <dgm:presLayoutVars>
          <dgm:bulletEnabled val="1"/>
        </dgm:presLayoutVars>
      </dgm:prSet>
      <dgm:spPr/>
    </dgm:pt>
    <dgm:pt modelId="{62EA16CD-1F96-4504-9CB9-57F91AE822CC}" type="pres">
      <dgm:prSet presAssocID="{78538104-2F86-4939-B648-3C6695002D6B}" presName="sibTrans" presStyleCnt="0"/>
      <dgm:spPr/>
    </dgm:pt>
    <dgm:pt modelId="{D8210F48-BC29-4D32-B410-749EDE8649F0}" type="pres">
      <dgm:prSet presAssocID="{C42BE200-504A-4EEE-89EC-783ED5FFA534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9246192B-D7D9-48B7-9616-FDF617C23348}" type="presOf" srcId="{CA9C0E11-DBCE-4BA2-8D62-982BB76ED07C}" destId="{B836D151-AD33-4801-8808-3085F61819A1}" srcOrd="0" destOrd="0" presId="urn:microsoft.com/office/officeart/2005/8/layout/hProcess9"/>
    <dgm:cxn modelId="{53330B2E-4147-46CF-988E-92F92B457066}" type="presOf" srcId="{C42BE200-504A-4EEE-89EC-783ED5FFA534}" destId="{D8210F48-BC29-4D32-B410-749EDE8649F0}" srcOrd="0" destOrd="0" presId="urn:microsoft.com/office/officeart/2005/8/layout/hProcess9"/>
    <dgm:cxn modelId="{89C5284E-320D-402F-B98D-EFB07B19A2E1}" srcId="{ED04393C-B33A-4787-8989-CBD5713F3EB0}" destId="{CA9C0E11-DBCE-4BA2-8D62-982BB76ED07C}" srcOrd="0" destOrd="0" parTransId="{D1446177-6936-436A-87FA-0EB195E81B90}" sibTransId="{82BEDB34-E7D4-4509-B487-D7D64B67C5CA}"/>
    <dgm:cxn modelId="{99904F51-A0B2-488C-B617-ACBD77EE19E8}" srcId="{ED04393C-B33A-4787-8989-CBD5713F3EB0}" destId="{8DD7F947-8EE0-453A-B522-B3BF50A357B5}" srcOrd="1" destOrd="0" parTransId="{E325E991-D080-4866-B227-DAB4C5CA2673}" sibTransId="{78538104-2F86-4939-B648-3C6695002D6B}"/>
    <dgm:cxn modelId="{48FE5673-11BD-41C9-962C-A8DD0AE75ABF}" type="presOf" srcId="{ED04393C-B33A-4787-8989-CBD5713F3EB0}" destId="{28DADBCE-931A-4664-877C-D751863DD04C}" srcOrd="0" destOrd="0" presId="urn:microsoft.com/office/officeart/2005/8/layout/hProcess9"/>
    <dgm:cxn modelId="{5C6BABCA-6E14-4D30-B14F-495836B8C73A}" srcId="{ED04393C-B33A-4787-8989-CBD5713F3EB0}" destId="{C42BE200-504A-4EEE-89EC-783ED5FFA534}" srcOrd="2" destOrd="0" parTransId="{0AC95F19-4CBB-4617-BA0F-34A3D071AF2D}" sibTransId="{4D060F3C-3863-4718-911A-598C00D8A6CB}"/>
    <dgm:cxn modelId="{28E680E8-43DB-4B3E-8513-3ACD351974CF}" type="presOf" srcId="{8DD7F947-8EE0-453A-B522-B3BF50A357B5}" destId="{FCE56158-B69A-4908-8C51-9A07505D56DA}" srcOrd="0" destOrd="0" presId="urn:microsoft.com/office/officeart/2005/8/layout/hProcess9"/>
    <dgm:cxn modelId="{A2D40FB2-790C-4939-87AD-29B0DF2B4288}" type="presParOf" srcId="{28DADBCE-931A-4664-877C-D751863DD04C}" destId="{83866041-C4CA-42E0-90CF-462C1A5D4BD9}" srcOrd="0" destOrd="0" presId="urn:microsoft.com/office/officeart/2005/8/layout/hProcess9"/>
    <dgm:cxn modelId="{3DC222E0-47B3-4262-8636-7421F7BC93CB}" type="presParOf" srcId="{28DADBCE-931A-4664-877C-D751863DD04C}" destId="{FEFDE845-B802-42F1-BBB6-2FCFBC7D0F06}" srcOrd="1" destOrd="0" presId="urn:microsoft.com/office/officeart/2005/8/layout/hProcess9"/>
    <dgm:cxn modelId="{D1A46143-6604-4C8E-BF42-CDB2595B0336}" type="presParOf" srcId="{FEFDE845-B802-42F1-BBB6-2FCFBC7D0F06}" destId="{B836D151-AD33-4801-8808-3085F61819A1}" srcOrd="0" destOrd="0" presId="urn:microsoft.com/office/officeart/2005/8/layout/hProcess9"/>
    <dgm:cxn modelId="{A4D7136E-CF4F-443A-AEF8-78F1C4545B41}" type="presParOf" srcId="{FEFDE845-B802-42F1-BBB6-2FCFBC7D0F06}" destId="{25530AFA-323B-405B-A430-355F9DF9800F}" srcOrd="1" destOrd="0" presId="urn:microsoft.com/office/officeart/2005/8/layout/hProcess9"/>
    <dgm:cxn modelId="{FFAFA8D8-1302-4043-BF19-650B31EDA4B7}" type="presParOf" srcId="{FEFDE845-B802-42F1-BBB6-2FCFBC7D0F06}" destId="{FCE56158-B69A-4908-8C51-9A07505D56DA}" srcOrd="2" destOrd="0" presId="urn:microsoft.com/office/officeart/2005/8/layout/hProcess9"/>
    <dgm:cxn modelId="{4B376E79-3EC2-43B5-9F38-A0633ACB4E93}" type="presParOf" srcId="{FEFDE845-B802-42F1-BBB6-2FCFBC7D0F06}" destId="{62EA16CD-1F96-4504-9CB9-57F91AE822CC}" srcOrd="3" destOrd="0" presId="urn:microsoft.com/office/officeart/2005/8/layout/hProcess9"/>
    <dgm:cxn modelId="{A0CF4AE4-8A3B-4862-8AFA-88353442B98D}" type="presParOf" srcId="{FEFDE845-B802-42F1-BBB6-2FCFBC7D0F06}" destId="{D8210F48-BC29-4D32-B410-749EDE8649F0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866041-C4CA-42E0-90CF-462C1A5D4BD9}">
      <dsp:nvSpPr>
        <dsp:cNvPr id="0" name=""/>
        <dsp:cNvSpPr/>
      </dsp:nvSpPr>
      <dsp:spPr>
        <a:xfrm>
          <a:off x="609599" y="0"/>
          <a:ext cx="6908800" cy="3310214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36D151-AD33-4801-8808-3085F61819A1}">
      <dsp:nvSpPr>
        <dsp:cNvPr id="0" name=""/>
        <dsp:cNvSpPr/>
      </dsp:nvSpPr>
      <dsp:spPr>
        <a:xfrm>
          <a:off x="8731" y="993064"/>
          <a:ext cx="2616200" cy="13240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 dirty="0"/>
            <a:t>Describir “</a:t>
          </a:r>
          <a:r>
            <a:rPr lang="es-ES" sz="2800" kern="1200" dirty="0" err="1"/>
            <a:t>Happy</a:t>
          </a:r>
          <a:r>
            <a:rPr lang="es-ES" sz="2800" kern="1200" dirty="0"/>
            <a:t> </a:t>
          </a:r>
          <a:r>
            <a:rPr lang="es-ES" sz="2800" kern="1200" dirty="0" err="1"/>
            <a:t>path</a:t>
          </a:r>
          <a:r>
            <a:rPr lang="es-ES" sz="2800" kern="1200" dirty="0"/>
            <a:t>”</a:t>
          </a:r>
        </a:p>
      </dsp:txBody>
      <dsp:txXfrm>
        <a:off x="73368" y="1057701"/>
        <a:ext cx="2486926" cy="1194811"/>
      </dsp:txXfrm>
    </dsp:sp>
    <dsp:sp modelId="{FCE56158-B69A-4908-8C51-9A07505D56DA}">
      <dsp:nvSpPr>
        <dsp:cNvPr id="0" name=""/>
        <dsp:cNvSpPr/>
      </dsp:nvSpPr>
      <dsp:spPr>
        <a:xfrm>
          <a:off x="2755899" y="993064"/>
          <a:ext cx="2616200" cy="13240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 dirty="0"/>
            <a:t>Describir Flujos alternativos</a:t>
          </a:r>
        </a:p>
      </dsp:txBody>
      <dsp:txXfrm>
        <a:off x="2820536" y="1057701"/>
        <a:ext cx="2486926" cy="1194811"/>
      </dsp:txXfrm>
    </dsp:sp>
    <dsp:sp modelId="{D8210F48-BC29-4D32-B410-749EDE8649F0}">
      <dsp:nvSpPr>
        <dsp:cNvPr id="0" name=""/>
        <dsp:cNvSpPr/>
      </dsp:nvSpPr>
      <dsp:spPr>
        <a:xfrm>
          <a:off x="5503068" y="993064"/>
          <a:ext cx="2616200" cy="13240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800" kern="1200" dirty="0"/>
            <a:t>Identificar excepciones</a:t>
          </a:r>
        </a:p>
      </dsp:txBody>
      <dsp:txXfrm>
        <a:off x="5567705" y="1057701"/>
        <a:ext cx="2486926" cy="11948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10-09-2025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10-09-2025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25" tIns="46813" rIns="93625" bIns="46813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248" y="4518205"/>
            <a:ext cx="5681980" cy="3696712"/>
          </a:xfrm>
          <a:prstGeom prst="rect">
            <a:avLst/>
          </a:prstGeom>
        </p:spPr>
        <p:txBody>
          <a:bodyPr vert="horz" lIns="93625" tIns="46813" rIns="93625" bIns="46813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88525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70784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 err="1"/>
              <a:t>Elicitación</a:t>
            </a:r>
            <a:r>
              <a:rPr lang="es-CL" dirty="0"/>
              <a:t> implica</a:t>
            </a:r>
            <a:r>
              <a:rPr lang="es-CL" baseline="0" dirty="0"/>
              <a:t> encontrar requisitos latentes, explorar, incluso inventar.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88525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Si creemos que podemos hacer “recolección de requisitos”, estamos asumiendo que el usuario</a:t>
            </a:r>
            <a:r>
              <a:rPr lang="es-CL" baseline="0" dirty="0"/>
              <a:t> conoce exactamente los límites entre el sistema y el entorno. Eso </a:t>
            </a:r>
            <a:r>
              <a:rPr lang="es-CL" baseline="0"/>
              <a:t>raramente ocurre.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033A33-8F7E-45C3-BE77-68DACE576558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42146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96193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113031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018864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75121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9585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30532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Si nos enfocamos</a:t>
            </a:r>
            <a:r>
              <a:rPr lang="es-CL" baseline="0" dirty="0"/>
              <a:t> en las características, sin entender el propósito, tendremos una visión incompleta, fragmentada.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636720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258355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39494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66999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Temas</a:t>
            </a:r>
            <a:r>
              <a:rPr lang="es-CL" baseline="0" dirty="0"/>
              <a:t> y épicas los podemos ver como una manera de organizar las historias de usuario. Un tema puede ser un requisito muy general, amplio. Una épica normalmente corresponde a una tarea que realizará un usuario, por ejemplo un proceso. Una historia de usuario es algo más acotado.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90352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99379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97650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89999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016457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Clave: </a:t>
            </a:r>
            <a:r>
              <a:rPr lang="en-US" dirty="0" err="1"/>
              <a:t>qué</a:t>
            </a:r>
            <a:r>
              <a:rPr lang="en-US" dirty="0"/>
              <a:t> es lo que </a:t>
            </a:r>
            <a:r>
              <a:rPr lang="en-US" dirty="0" err="1"/>
              <a:t>necesita</a:t>
            </a:r>
            <a:r>
              <a:rPr lang="en-US" dirty="0"/>
              <a:t> </a:t>
            </a:r>
            <a:r>
              <a:rPr lang="en-US" dirty="0" err="1"/>
              <a:t>hacer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usuario</a:t>
            </a:r>
            <a:r>
              <a:rPr lang="en-US" dirty="0"/>
              <a:t> con </a:t>
            </a:r>
            <a:r>
              <a:rPr lang="en-US" dirty="0" err="1"/>
              <a:t>el</a:t>
            </a:r>
            <a:r>
              <a:rPr lang="en-US" dirty="0"/>
              <a:t> Sistema, sus </a:t>
            </a:r>
            <a:r>
              <a:rPr lang="en-US" dirty="0" err="1"/>
              <a:t>prioridades</a:t>
            </a:r>
            <a:r>
              <a:rPr lang="en-US" dirty="0"/>
              <a:t>. ¿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aceptar</a:t>
            </a:r>
            <a:r>
              <a:rPr lang="en-US" dirty="0"/>
              <a:t> un poco de </a:t>
            </a:r>
            <a:r>
              <a:rPr lang="en-US" dirty="0" err="1"/>
              <a:t>lentitud</a:t>
            </a:r>
            <a:r>
              <a:rPr lang="en-US" dirty="0"/>
              <a:t>, con </a:t>
            </a:r>
            <a:r>
              <a:rPr lang="en-US" dirty="0" err="1"/>
              <a:t>tal</a:t>
            </a:r>
            <a:r>
              <a:rPr lang="en-US" dirty="0"/>
              <a:t> de no </a:t>
            </a:r>
            <a:r>
              <a:rPr lang="en-US" dirty="0" err="1"/>
              <a:t>perder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870392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22998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10-09-2025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9/10/2025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586634"/>
            <a:ext cx="9144000" cy="923329"/>
          </a:xfrm>
        </p:spPr>
        <p:txBody>
          <a:bodyPr/>
          <a:lstStyle/>
          <a:p>
            <a:r>
              <a:rPr lang="es-CL" dirty="0"/>
              <a:t>Unidad 0 - Introducción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461000"/>
            <a:ext cx="9144000" cy="738664"/>
          </a:xfrm>
        </p:spPr>
        <p:txBody>
          <a:bodyPr/>
          <a:lstStyle/>
          <a:p>
            <a:r>
              <a:rPr lang="es-CL" dirty="0"/>
              <a:t>INFO 208 – Ingeniería de Requisitos - 2025</a:t>
            </a:r>
          </a:p>
          <a:p>
            <a:r>
              <a:rPr lang="es-CL" dirty="0"/>
              <a:t>Juan Pablo Salazar F.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2678966"/>
            <a:ext cx="12192000" cy="8309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5400" kern="0" dirty="0">
                <a:solidFill>
                  <a:prstClr val="black"/>
                </a:solidFill>
              </a:rPr>
              <a:t>Unidad 1. Identificación de Necesidades</a:t>
            </a: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Prácticas esenciales en Ing.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523543" y="1874012"/>
            <a:ext cx="107642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CL" sz="2800" dirty="0"/>
              <a:t>Entender el problema antes de converger hacia una solución.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2"/>
            </a:pPr>
            <a:r>
              <a:rPr lang="es-CL" sz="2800" dirty="0"/>
              <a:t>Identificar objetivos de negocio.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3"/>
            </a:pPr>
            <a:r>
              <a:rPr lang="es-CL" sz="2800" dirty="0"/>
              <a:t>Definir el alcance de la solución.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4"/>
            </a:pPr>
            <a:r>
              <a:rPr lang="es-CL" sz="2800" dirty="0"/>
              <a:t>Identificar y caracterizar a las partes involucradas.</a:t>
            </a:r>
          </a:p>
          <a:p>
            <a:endParaRPr lang="es-CL" sz="2800" dirty="0"/>
          </a:p>
          <a:p>
            <a:pPr marL="514350" indent="-514350">
              <a:buFont typeface="+mj-lt"/>
              <a:buAutoNum type="arabicPeriod" startAt="5"/>
            </a:pPr>
            <a:r>
              <a:rPr lang="es-CL" sz="2800" dirty="0"/>
              <a:t>Identificar a quienes toman las decisiones.</a:t>
            </a:r>
            <a:endParaRPr lang="en-US" sz="2800" dirty="0"/>
          </a:p>
        </p:txBody>
      </p:sp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2</a:t>
            </a:r>
            <a:r>
              <a:rPr lang="es-CL" sz="2400" dirty="0"/>
              <a:t>: </a:t>
            </a:r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71476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Tipos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7808521" y="5891133"/>
            <a:ext cx="4179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47" y="1219290"/>
            <a:ext cx="5740952" cy="5133507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2268395" y="1092546"/>
            <a:ext cx="2260328" cy="1575703"/>
          </a:xfrm>
          <a:prstGeom prst="roundRect">
            <a:avLst/>
          </a:prstGeom>
          <a:solidFill>
            <a:srgbClr val="FF0000">
              <a:alpha val="1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681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Elicitación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1869828" y="1095078"/>
            <a:ext cx="8452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800" dirty="0"/>
              <a:t>Diferencia entre </a:t>
            </a:r>
            <a:r>
              <a:rPr lang="es-CL" sz="2800" dirty="0" err="1"/>
              <a:t>elicitación</a:t>
            </a:r>
            <a:r>
              <a:rPr lang="es-CL" sz="2800" dirty="0"/>
              <a:t> y recolección de requisitos. 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3</a:t>
            </a:r>
            <a:r>
              <a:rPr lang="es-CL" sz="2400" dirty="0"/>
              <a:t>: Wiegers, K &amp; Hokanson, C; 2023</a:t>
            </a:r>
            <a:endParaRPr lang="en-US" sz="24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580" y="1806355"/>
            <a:ext cx="7495705" cy="385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80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¿Cuáles son los límites de un sistema?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97" y="1800852"/>
            <a:ext cx="6604437" cy="417387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7705344" y="1264404"/>
            <a:ext cx="42062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Definir qué dejamos dentro y qué dejamos fuera, no es tarea fácil.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Si no lo definimos de manera explícita, podemos perder mucho tiempo (y recursos). Podemos poner en riesgo el éxito del proyecto.</a:t>
            </a:r>
          </a:p>
        </p:txBody>
      </p:sp>
    </p:spTree>
    <p:extLst>
      <p:ext uri="{BB962C8B-B14F-4D97-AF65-F5344CB8AC3E}">
        <p14:creationId xmlns:p14="http://schemas.microsoft.com/office/powerpoint/2010/main" val="701831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 err="1"/>
              <a:t>Elicitación</a:t>
            </a:r>
            <a:r>
              <a:rPr lang="es-CL" dirty="0"/>
              <a:t> – </a:t>
            </a:r>
            <a:r>
              <a:rPr lang="es-CL" sz="3200" dirty="0"/>
              <a:t>sin participación de </a:t>
            </a:r>
            <a:r>
              <a:rPr lang="es-CL" sz="3200" dirty="0" err="1"/>
              <a:t>stakeholders</a:t>
            </a:r>
            <a:r>
              <a:rPr lang="es-CL" sz="3200" dirty="0"/>
              <a:t>.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523543" y="1874012"/>
            <a:ext cx="107642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600" dirty="0"/>
              <a:t>Minería y análisis de datos.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600" dirty="0"/>
              <a:t>Análisis de documentos.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600" dirty="0"/>
              <a:t>Análisis de procesos.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600" dirty="0"/>
              <a:t>Análisis de la solución actual</a:t>
            </a:r>
            <a:r>
              <a:rPr lang="es-CL" sz="2800" dirty="0"/>
              <a:t>.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3</a:t>
            </a:r>
            <a:r>
              <a:rPr lang="es-CL" sz="2400" dirty="0"/>
              <a:t>: Wiegers, K &amp; Hokanson, C; 2023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80068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 err="1"/>
              <a:t>Elicitación</a:t>
            </a:r>
            <a:r>
              <a:rPr lang="es-CL" dirty="0"/>
              <a:t> – </a:t>
            </a:r>
            <a:r>
              <a:rPr lang="es-CL" sz="3200" dirty="0"/>
              <a:t>con participación de </a:t>
            </a:r>
            <a:r>
              <a:rPr lang="es-CL" sz="3200" dirty="0" err="1"/>
              <a:t>stakeholders</a:t>
            </a:r>
            <a:r>
              <a:rPr lang="es-CL" sz="3200" dirty="0"/>
              <a:t>.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540476" y="1273885"/>
            <a:ext cx="1076429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600" dirty="0" err="1"/>
              <a:t>Brainstorming</a:t>
            </a:r>
            <a:r>
              <a:rPr lang="es-CL" sz="36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600" dirty="0"/>
              <a:t>Foros de discusión.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600" dirty="0"/>
              <a:t>Grupos focales.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600" dirty="0"/>
              <a:t>Entrevistas.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600" dirty="0"/>
              <a:t>Mapas mentales.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600" dirty="0"/>
              <a:t>Observación en el trabajo.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600" dirty="0"/>
              <a:t>Modelamiento de procesos.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600" dirty="0"/>
              <a:t>Prototipos.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600" dirty="0"/>
              <a:t>Encuestas.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3</a:t>
            </a:r>
            <a:r>
              <a:rPr lang="es-CL" sz="2400" dirty="0"/>
              <a:t>: Wiegers, K &amp; Hokanson, C; 2023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12914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3</a:t>
            </a:r>
            <a:r>
              <a:rPr lang="es-CL" sz="2400" dirty="0"/>
              <a:t>: Wiegers, K &amp; Hokanson, C; 2023</a:t>
            </a:r>
            <a:endParaRPr lang="en-US" sz="2400" dirty="0"/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675180" y="184207"/>
            <a:ext cx="887550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kern="0" dirty="0"/>
              <a:t>Entender qué necesitan hacer los usuarios.</a:t>
            </a:r>
            <a:endParaRPr lang="en-US" kern="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503" y="2456999"/>
            <a:ext cx="11164858" cy="171473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1663D4E-C94D-467E-A2C2-B3C9E3F74B37}"/>
              </a:ext>
            </a:extLst>
          </p:cNvPr>
          <p:cNvSpPr txBox="1"/>
          <p:nvPr/>
        </p:nvSpPr>
        <p:spPr>
          <a:xfrm>
            <a:off x="6695440" y="2560320"/>
            <a:ext cx="114808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dirty="0"/>
              <a:t>75759944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157645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3</a:t>
            </a:r>
            <a:r>
              <a:rPr lang="es-CL" sz="2400" dirty="0"/>
              <a:t>: Wiegers, K &amp; Hokanson, C; 2023</a:t>
            </a:r>
            <a:endParaRPr lang="en-US" sz="2400" dirty="0"/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675180" y="184207"/>
            <a:ext cx="887550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kern="0" dirty="0"/>
              <a:t>Entender qué necesitan hacer los usuarios.</a:t>
            </a:r>
            <a:endParaRPr lang="en-US" kern="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2071327-D4A3-418A-A0E9-E23454635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180" y="1032046"/>
            <a:ext cx="9610114" cy="482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47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Elicitación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523543" y="1874012"/>
            <a:ext cx="1076429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/>
              <a:t>6. Entender qué necesitan hacer los usuarios con la solución.</a:t>
            </a:r>
          </a:p>
          <a:p>
            <a:endParaRPr lang="es-CL" sz="2800" dirty="0"/>
          </a:p>
          <a:p>
            <a:r>
              <a:rPr lang="es-CL" sz="2800" dirty="0"/>
              <a:t>7. Identificar eventos y respuestas.</a:t>
            </a:r>
          </a:p>
          <a:p>
            <a:endParaRPr lang="es-CL" sz="2800" dirty="0"/>
          </a:p>
          <a:p>
            <a:r>
              <a:rPr lang="es-CL" sz="2800" dirty="0"/>
              <a:t>8. Evaluar conceptos y relaciones de datos.</a:t>
            </a:r>
          </a:p>
          <a:p>
            <a:endParaRPr lang="es-CL" sz="2800" dirty="0"/>
          </a:p>
          <a:p>
            <a:r>
              <a:rPr lang="es-CL" sz="2800" dirty="0"/>
              <a:t>9. Identificar y evaluar atributos de calidad. </a:t>
            </a:r>
          </a:p>
          <a:p>
            <a:endParaRPr lang="es-CL" sz="2800" dirty="0"/>
          </a:p>
        </p:txBody>
      </p:sp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3</a:t>
            </a:r>
            <a:r>
              <a:rPr lang="es-CL" sz="2400" dirty="0"/>
              <a:t>: Wiegers, K &amp; Hokanson, C; 2023</a:t>
            </a:r>
            <a:endParaRPr lang="en-US" sz="2400" dirty="0"/>
          </a:p>
        </p:txBody>
      </p:sp>
      <p:sp>
        <p:nvSpPr>
          <p:cNvPr id="4" name="Rectángulo redondeado 3"/>
          <p:cNvSpPr/>
          <p:nvPr/>
        </p:nvSpPr>
        <p:spPr>
          <a:xfrm>
            <a:off x="523543" y="1874012"/>
            <a:ext cx="9162324" cy="632121"/>
          </a:xfrm>
          <a:prstGeom prst="roundRect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redondeado 3">
            <a:extLst>
              <a:ext uri="{FF2B5EF4-FFF2-40B4-BE49-F238E27FC236}">
                <a16:creationId xmlns:a16="http://schemas.microsoft.com/office/drawing/2014/main" id="{5F5A8579-D379-414D-86EB-6053D53EA71B}"/>
              </a:ext>
            </a:extLst>
          </p:cNvPr>
          <p:cNvSpPr/>
          <p:nvPr/>
        </p:nvSpPr>
        <p:spPr>
          <a:xfrm>
            <a:off x="523543" y="4351868"/>
            <a:ext cx="9162324" cy="632121"/>
          </a:xfrm>
          <a:prstGeom prst="roundRect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48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Elicitación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523543" y="1874012"/>
            <a:ext cx="1076429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/>
              <a:t>6. Entender qué necesitan hacer los usuarios con la solución.</a:t>
            </a:r>
          </a:p>
          <a:p>
            <a:endParaRPr lang="es-CL" sz="2800" dirty="0"/>
          </a:p>
          <a:p>
            <a:r>
              <a:rPr lang="es-CL" sz="2800" dirty="0"/>
              <a:t>7. Identificar eventos y respuestas.</a:t>
            </a:r>
          </a:p>
          <a:p>
            <a:endParaRPr lang="es-CL" sz="2800" dirty="0"/>
          </a:p>
          <a:p>
            <a:r>
              <a:rPr lang="es-CL" sz="2800" dirty="0"/>
              <a:t>8. Evaluar conceptos y relaciones de datos.</a:t>
            </a:r>
          </a:p>
          <a:p>
            <a:endParaRPr lang="es-CL" sz="2800" dirty="0"/>
          </a:p>
          <a:p>
            <a:r>
              <a:rPr lang="es-CL" sz="2800" dirty="0"/>
              <a:t>9. Identificar y evaluar atributos de calidad. </a:t>
            </a:r>
          </a:p>
          <a:p>
            <a:endParaRPr lang="es-CL" sz="2800" dirty="0"/>
          </a:p>
        </p:txBody>
      </p:sp>
      <p:sp>
        <p:nvSpPr>
          <p:cNvPr id="5" name="CuadroTexto 4"/>
          <p:cNvSpPr txBox="1"/>
          <p:nvPr/>
        </p:nvSpPr>
        <p:spPr>
          <a:xfrm>
            <a:off x="5430981" y="5890533"/>
            <a:ext cx="6579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/>
              <a:t>Texto guía – </a:t>
            </a:r>
            <a:r>
              <a:rPr lang="es-CL" sz="2400" b="1" dirty="0" err="1"/>
              <a:t>Cap</a:t>
            </a:r>
            <a:r>
              <a:rPr lang="es-CL" sz="2400" b="1" dirty="0"/>
              <a:t> 3</a:t>
            </a:r>
            <a:r>
              <a:rPr lang="es-CL" sz="2400" dirty="0"/>
              <a:t>: Wiegers, K &amp; Hokanson, C; 2023</a:t>
            </a:r>
            <a:endParaRPr lang="en-US" sz="2400" dirty="0"/>
          </a:p>
        </p:txBody>
      </p:sp>
      <p:sp>
        <p:nvSpPr>
          <p:cNvPr id="4" name="Rectángulo redondeado 3"/>
          <p:cNvSpPr/>
          <p:nvPr/>
        </p:nvSpPr>
        <p:spPr>
          <a:xfrm>
            <a:off x="523543" y="1874012"/>
            <a:ext cx="9162324" cy="632121"/>
          </a:xfrm>
          <a:prstGeom prst="roundRect">
            <a:avLst/>
          </a:prstGeom>
          <a:solidFill>
            <a:schemeClr val="accent1">
              <a:alpha val="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07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6) Entender qué necesitan </a:t>
            </a:r>
            <a:r>
              <a:rPr lang="es-CL" b="1" dirty="0"/>
              <a:t>hacer</a:t>
            </a:r>
            <a:r>
              <a:rPr lang="es-CL" dirty="0"/>
              <a:t> los usuarios.</a:t>
            </a:r>
            <a:endParaRPr lang="en-U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520" y="1137918"/>
            <a:ext cx="7148957" cy="513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370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Tipos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7808521" y="5891133"/>
            <a:ext cx="4179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47" y="1219290"/>
            <a:ext cx="5740952" cy="5133507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2955139" y="1939490"/>
            <a:ext cx="2260328" cy="2073710"/>
          </a:xfrm>
          <a:prstGeom prst="roundRect">
            <a:avLst/>
          </a:prstGeom>
          <a:solidFill>
            <a:srgbClr val="FF0000">
              <a:alpha val="1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80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6) Entender qué necesitan </a:t>
            </a:r>
            <a:r>
              <a:rPr lang="es-CL" b="1" dirty="0"/>
              <a:t>hacer</a:t>
            </a:r>
            <a:r>
              <a:rPr lang="es-CL" dirty="0"/>
              <a:t> los usuarios.</a:t>
            </a:r>
            <a:endParaRPr lang="en-US" dirty="0"/>
          </a:p>
        </p:txBody>
      </p:sp>
      <p:sp>
        <p:nvSpPr>
          <p:cNvPr id="4" name="CuadroTexto 3"/>
          <p:cNvSpPr txBox="1"/>
          <p:nvPr/>
        </p:nvSpPr>
        <p:spPr>
          <a:xfrm>
            <a:off x="523543" y="1874012"/>
            <a:ext cx="1076429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/>
              <a:t>¿Qué buscamos? Describir cómo será la interacción de los usuarios con el sistema.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Casos de uso.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Historias de usuario.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Escenarios.</a:t>
            </a:r>
          </a:p>
          <a:p>
            <a:endParaRPr lang="es-CL" sz="2800" dirty="0"/>
          </a:p>
          <a:p>
            <a:r>
              <a:rPr lang="es-CL" sz="2800" dirty="0"/>
              <a:t>Los usuarios no usarán el sistema para “ver” una característica determinada, sino para “hacer” algo.</a:t>
            </a:r>
          </a:p>
        </p:txBody>
      </p:sp>
    </p:spTree>
    <p:extLst>
      <p:ext uri="{BB962C8B-B14F-4D97-AF65-F5344CB8AC3E}">
        <p14:creationId xmlns:p14="http://schemas.microsoft.com/office/powerpoint/2010/main" val="190338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6) Entender qué necesitan </a:t>
            </a:r>
            <a:r>
              <a:rPr lang="es-CL" b="1" dirty="0"/>
              <a:t>hacer</a:t>
            </a:r>
            <a:r>
              <a:rPr lang="es-CL" dirty="0"/>
              <a:t> los usuarios.</a:t>
            </a:r>
            <a:endParaRPr lang="en-US" dirty="0"/>
          </a:p>
        </p:txBody>
      </p:sp>
      <p:sp>
        <p:nvSpPr>
          <p:cNvPr id="4" name="CuadroTexto 3"/>
          <p:cNvSpPr txBox="1"/>
          <p:nvPr/>
        </p:nvSpPr>
        <p:spPr>
          <a:xfrm>
            <a:off x="523543" y="1874012"/>
            <a:ext cx="107642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/>
              <a:t>Describir lo que quieren hacer los usuarios con el sistema conlleva un proceso iterativo de refinamiento.</a:t>
            </a:r>
          </a:p>
        </p:txBody>
      </p:sp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3203569728"/>
              </p:ext>
            </p:extLst>
          </p:nvPr>
        </p:nvGraphicFramePr>
        <p:xfrm>
          <a:off x="1841689" y="2828119"/>
          <a:ext cx="8128000" cy="33102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001162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6) Entender qué necesitan </a:t>
            </a:r>
            <a:r>
              <a:rPr lang="es-CL" b="1" dirty="0"/>
              <a:t>hacer</a:t>
            </a:r>
            <a:r>
              <a:rPr lang="es-CL" dirty="0"/>
              <a:t> los usuarios.</a:t>
            </a:r>
            <a:endParaRPr lang="en-U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656" y="1113144"/>
            <a:ext cx="9153073" cy="4936327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1658247" y="6049471"/>
            <a:ext cx="95098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https://www.scrummanager.com/blog/2023/01/como-se-crea-una-historia-de-usuario/</a:t>
            </a:r>
          </a:p>
        </p:txBody>
      </p:sp>
    </p:spTree>
    <p:extLst>
      <p:ext uri="{BB962C8B-B14F-4D97-AF65-F5344CB8AC3E}">
        <p14:creationId xmlns:p14="http://schemas.microsoft.com/office/powerpoint/2010/main" val="3359777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6) Entender qué necesitan </a:t>
            </a:r>
            <a:r>
              <a:rPr lang="es-CL" b="1" dirty="0"/>
              <a:t>hacer</a:t>
            </a:r>
            <a:r>
              <a:rPr lang="es-CL" dirty="0"/>
              <a:t> los usuarios.</a:t>
            </a:r>
            <a:endParaRPr lang="en-US" dirty="0"/>
          </a:p>
        </p:txBody>
      </p:sp>
      <p:sp>
        <p:nvSpPr>
          <p:cNvPr id="4" name="CuadroTexto 3"/>
          <p:cNvSpPr txBox="1"/>
          <p:nvPr/>
        </p:nvSpPr>
        <p:spPr>
          <a:xfrm>
            <a:off x="523543" y="1874012"/>
            <a:ext cx="1076429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Historias de usuario:</a:t>
            </a:r>
          </a:p>
          <a:p>
            <a:endParaRPr lang="es-CL" sz="2800" dirty="0"/>
          </a:p>
          <a:p>
            <a:r>
              <a:rPr lang="es-CL" sz="2800" dirty="0"/>
              <a:t>Como </a:t>
            </a:r>
          </a:p>
          <a:p>
            <a:r>
              <a:rPr lang="es-CL" sz="2800" dirty="0"/>
              <a:t>	&lt;tipo de usuario&gt; , </a:t>
            </a:r>
          </a:p>
          <a:p>
            <a:r>
              <a:rPr lang="es-CL" sz="2800" dirty="0"/>
              <a:t>Yo quiero </a:t>
            </a:r>
          </a:p>
          <a:p>
            <a:r>
              <a:rPr lang="es-CL" sz="2800" dirty="0"/>
              <a:t>	&lt;realizar alguna tarea&gt; </a:t>
            </a:r>
          </a:p>
          <a:p>
            <a:r>
              <a:rPr lang="es-CL" sz="2800" dirty="0"/>
              <a:t>de manera que pueda </a:t>
            </a:r>
          </a:p>
          <a:p>
            <a:r>
              <a:rPr lang="es-CL" sz="2800" dirty="0"/>
              <a:t>	&lt;alcanzar un objetivo&gt;</a:t>
            </a:r>
          </a:p>
        </p:txBody>
      </p:sp>
    </p:spTree>
    <p:extLst>
      <p:ext uri="{BB962C8B-B14F-4D97-AF65-F5344CB8AC3E}">
        <p14:creationId xmlns:p14="http://schemas.microsoft.com/office/powerpoint/2010/main" val="661650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dirty="0"/>
              <a:t>6) </a:t>
            </a:r>
            <a:r>
              <a:rPr lang="es-CL" sz="2800" dirty="0"/>
              <a:t>Entender qué necesitan </a:t>
            </a:r>
            <a:r>
              <a:rPr lang="es-CL" sz="2800" b="1" dirty="0"/>
              <a:t>hacer</a:t>
            </a:r>
            <a:r>
              <a:rPr lang="es-CL" sz="2800" dirty="0"/>
              <a:t> los usuarios. </a:t>
            </a:r>
            <a:r>
              <a:rPr lang="es-CL" sz="2800" b="1" dirty="0"/>
              <a:t>Casos de uso.</a:t>
            </a:r>
            <a:endParaRPr lang="en-US" sz="2800" b="1" dirty="0"/>
          </a:p>
        </p:txBody>
      </p:sp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9446"/>
              </p:ext>
            </p:extLst>
          </p:nvPr>
        </p:nvGraphicFramePr>
        <p:xfrm>
          <a:off x="1490133" y="1163319"/>
          <a:ext cx="8669866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0800">
                  <a:extLst>
                    <a:ext uri="{9D8B030D-6E8A-4147-A177-3AD203B41FA5}">
                      <a16:colId xmlns:a16="http://schemas.microsoft.com/office/drawing/2014/main" val="1746800715"/>
                    </a:ext>
                  </a:extLst>
                </a:gridCol>
                <a:gridCol w="4809066">
                  <a:extLst>
                    <a:ext uri="{9D8B030D-6E8A-4147-A177-3AD203B41FA5}">
                      <a16:colId xmlns:a16="http://schemas.microsoft.com/office/drawing/2014/main" val="3685991413"/>
                    </a:ext>
                  </a:extLst>
                </a:gridCol>
              </a:tblGrid>
              <a:tr h="349673">
                <a:tc>
                  <a:txBody>
                    <a:bodyPr/>
                    <a:lstStyle/>
                    <a:p>
                      <a:r>
                        <a:rPr lang="es-CL" sz="2400" dirty="0"/>
                        <a:t>Atributo</a:t>
                      </a:r>
                      <a:r>
                        <a:rPr lang="es-CL" sz="2400" baseline="0" dirty="0"/>
                        <a:t> del Caso de Uso</a:t>
                      </a:r>
                      <a:endParaRPr lang="es-CL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400" dirty="0"/>
                        <a:t>Descripción</a:t>
                      </a:r>
                      <a:r>
                        <a:rPr lang="es-CL" sz="2400" baseline="0" dirty="0"/>
                        <a:t> del atributo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301403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/>
                        <a:t>ID y Nombre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871206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/>
                        <a:t>Actor Principal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321130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/>
                        <a:t>Actores Secundarios</a:t>
                      </a:r>
                      <a:r>
                        <a:rPr lang="es-CL" baseline="0" dirty="0"/>
                        <a:t> (opcional)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450181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/>
                        <a:t>Descripción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835942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/>
                        <a:t>Disparador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177383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/>
                        <a:t>Precondiciones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283203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 err="1"/>
                        <a:t>Postcondiciones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931165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/>
                        <a:t>Flujo normal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311847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/>
                        <a:t>Flujos</a:t>
                      </a:r>
                      <a:r>
                        <a:rPr lang="es-CL" baseline="0" dirty="0"/>
                        <a:t> alternativos (opcional)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558415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/>
                        <a:t>Excepciones</a:t>
                      </a:r>
                      <a:r>
                        <a:rPr lang="es-CL" baseline="0" dirty="0"/>
                        <a:t> (opcional)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654220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/>
                        <a:t>Prioridad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166510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/>
                        <a:t>Reglas de negocio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995680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/>
                        <a:t>Supuestos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697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3340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Ejercicio clase pasada</a:t>
            </a:r>
            <a:endParaRPr lang="en-US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598" y="3420024"/>
            <a:ext cx="2851074" cy="301968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8214" y="1197973"/>
            <a:ext cx="2425842" cy="1856512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542" y="1538924"/>
            <a:ext cx="8419926" cy="453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652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/>
              <a:t>Diagrama de contexto (DFD Nivel 0)</a:t>
            </a:r>
            <a:endParaRPr lang="en-US" b="1" dirty="0"/>
          </a:p>
        </p:txBody>
      </p:sp>
      <p:sp>
        <p:nvSpPr>
          <p:cNvPr id="6" name="CuadroTexto 5"/>
          <p:cNvSpPr txBox="1"/>
          <p:nvPr/>
        </p:nvSpPr>
        <p:spPr>
          <a:xfrm>
            <a:off x="7744255" y="1091157"/>
            <a:ext cx="42062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Se conoce también como </a:t>
            </a:r>
            <a:r>
              <a:rPr lang="es-CL" sz="2800" b="1" dirty="0"/>
              <a:t>DFD de Nivel 0</a:t>
            </a:r>
            <a:r>
              <a:rPr lang="es-CL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r>
              <a:rPr lang="es-CL" sz="2800" dirty="0"/>
              <a:t>Básicamente, contiene: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El sistema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Los sistemas con los cuales interactúa.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Los flujos de datos.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r>
              <a:rPr lang="es-CL" sz="2800" b="1" dirty="0"/>
              <a:t>No incluye: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Interacciones entre sistemas.</a:t>
            </a:r>
          </a:p>
        </p:txBody>
      </p:sp>
      <p:sp>
        <p:nvSpPr>
          <p:cNvPr id="3" name="Elipse 2"/>
          <p:cNvSpPr/>
          <p:nvPr/>
        </p:nvSpPr>
        <p:spPr>
          <a:xfrm>
            <a:off x="2827033" y="3394856"/>
            <a:ext cx="1541767" cy="1113713"/>
          </a:xfrm>
          <a:prstGeom prst="ellipse">
            <a:avLst/>
          </a:prstGeom>
          <a:solidFill>
            <a:schemeClr val="accent1">
              <a:alpha val="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600" dirty="0">
                <a:solidFill>
                  <a:schemeClr val="tx1"/>
                </a:solidFill>
              </a:rPr>
              <a:t>Sistema monitoreo </a:t>
            </a:r>
            <a:r>
              <a:rPr lang="es-CL" dirty="0">
                <a:solidFill>
                  <a:schemeClr val="tx1"/>
                </a:solidFill>
              </a:rPr>
              <a:t>MP-I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2980267" y="1574800"/>
            <a:ext cx="1388533" cy="897467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Sitio web SINCA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8" name="Conector recto de flecha 7"/>
          <p:cNvCxnSpPr>
            <a:stCxn id="4" idx="2"/>
            <a:endCxn id="3" idx="0"/>
          </p:cNvCxnSpPr>
          <p:nvPr/>
        </p:nvCxnSpPr>
        <p:spPr>
          <a:xfrm flipH="1">
            <a:off x="3597917" y="2472267"/>
            <a:ext cx="76617" cy="922589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/>
          <p:cNvSpPr txBox="1"/>
          <p:nvPr/>
        </p:nvSpPr>
        <p:spPr>
          <a:xfrm>
            <a:off x="3863661" y="2610396"/>
            <a:ext cx="1845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Contaminantes estaciones</a:t>
            </a:r>
            <a:endParaRPr lang="en-US" sz="1600" dirty="0"/>
          </a:p>
        </p:txBody>
      </p:sp>
      <p:sp>
        <p:nvSpPr>
          <p:cNvPr id="10" name="Rectángulo 9"/>
          <p:cNvSpPr/>
          <p:nvPr/>
        </p:nvSpPr>
        <p:spPr>
          <a:xfrm>
            <a:off x="269714" y="3502978"/>
            <a:ext cx="1388533" cy="897467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Sitio web </a:t>
            </a:r>
            <a:r>
              <a:rPr lang="es-CL" dirty="0" err="1">
                <a:solidFill>
                  <a:schemeClr val="tx1"/>
                </a:solidFill>
              </a:rPr>
              <a:t>Meteochile</a:t>
            </a:r>
            <a:r>
              <a:rPr lang="es-CL"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Conector recto de flecha 10"/>
          <p:cNvCxnSpPr>
            <a:stCxn id="10" idx="3"/>
            <a:endCxn id="3" idx="2"/>
          </p:cNvCxnSpPr>
          <p:nvPr/>
        </p:nvCxnSpPr>
        <p:spPr>
          <a:xfrm>
            <a:off x="1658247" y="3951712"/>
            <a:ext cx="1168786" cy="1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/>
          <p:cNvSpPr txBox="1"/>
          <p:nvPr/>
        </p:nvSpPr>
        <p:spPr>
          <a:xfrm>
            <a:off x="1563056" y="3040827"/>
            <a:ext cx="16554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Datos meteorológicos</a:t>
            </a:r>
            <a:endParaRPr lang="en-US" sz="1600" dirty="0"/>
          </a:p>
        </p:txBody>
      </p:sp>
      <p:sp>
        <p:nvSpPr>
          <p:cNvPr id="15" name="Rectángulo 14"/>
          <p:cNvSpPr/>
          <p:nvPr/>
        </p:nvSpPr>
        <p:spPr>
          <a:xfrm>
            <a:off x="5867818" y="3502978"/>
            <a:ext cx="1388533" cy="897467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Usuarios MMA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Conector recto de flecha 15"/>
          <p:cNvCxnSpPr>
            <a:stCxn id="3" idx="6"/>
            <a:endCxn id="15" idx="1"/>
          </p:cNvCxnSpPr>
          <p:nvPr/>
        </p:nvCxnSpPr>
        <p:spPr>
          <a:xfrm flipV="1">
            <a:off x="4368800" y="3951712"/>
            <a:ext cx="1499018" cy="1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4195442" y="3964819"/>
            <a:ext cx="1845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Reportes</a:t>
            </a:r>
          </a:p>
          <a:p>
            <a:pPr algn="ctr"/>
            <a:r>
              <a:rPr lang="es-CL" sz="1600" dirty="0"/>
              <a:t>Modelos</a:t>
            </a:r>
          </a:p>
        </p:txBody>
      </p:sp>
      <p:sp>
        <p:nvSpPr>
          <p:cNvPr id="20" name="Rectángulo 19"/>
          <p:cNvSpPr/>
          <p:nvPr/>
        </p:nvSpPr>
        <p:spPr>
          <a:xfrm>
            <a:off x="2730278" y="5478872"/>
            <a:ext cx="1388533" cy="897467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Hogares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1" name="Conector recto de flecha 20"/>
          <p:cNvCxnSpPr>
            <a:stCxn id="20" idx="0"/>
            <a:endCxn id="3" idx="4"/>
          </p:cNvCxnSpPr>
          <p:nvPr/>
        </p:nvCxnSpPr>
        <p:spPr>
          <a:xfrm flipV="1">
            <a:off x="3424545" y="4508569"/>
            <a:ext cx="173372" cy="970303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/>
          <p:cNvSpPr txBox="1"/>
          <p:nvPr/>
        </p:nvSpPr>
        <p:spPr>
          <a:xfrm>
            <a:off x="1726770" y="4657299"/>
            <a:ext cx="1845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Contaminantes </a:t>
            </a:r>
            <a:r>
              <a:rPr lang="es-CL" sz="1600" dirty="0" err="1"/>
              <a:t>intradomiciliarios</a:t>
            </a:r>
            <a:endParaRPr lang="en-US" sz="1600" dirty="0"/>
          </a:p>
        </p:txBody>
      </p:sp>
      <p:cxnSp>
        <p:nvCxnSpPr>
          <p:cNvPr id="25" name="Conector recto de flecha 24"/>
          <p:cNvCxnSpPr/>
          <p:nvPr/>
        </p:nvCxnSpPr>
        <p:spPr>
          <a:xfrm>
            <a:off x="3863661" y="4562700"/>
            <a:ext cx="0" cy="828105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/>
          <p:cNvSpPr txBox="1"/>
          <p:nvPr/>
        </p:nvSpPr>
        <p:spPr>
          <a:xfrm>
            <a:off x="3761631" y="4689687"/>
            <a:ext cx="18457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Despliegue</a:t>
            </a:r>
          </a:p>
          <a:p>
            <a:pPr algn="ctr"/>
            <a:r>
              <a:rPr lang="es-CL" sz="1600" dirty="0"/>
              <a:t>Contaminantes </a:t>
            </a:r>
            <a:r>
              <a:rPr lang="es-CL" sz="1600" dirty="0" err="1"/>
              <a:t>intradomiciliarios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6104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6181936" y="1366218"/>
            <a:ext cx="583992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b="1" dirty="0" err="1"/>
              <a:t>Ejm</a:t>
            </a:r>
            <a:r>
              <a:rPr lang="es-CL" sz="2400" b="1" dirty="0"/>
              <a:t>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Nos damos cuenta de que utilizar </a:t>
            </a:r>
            <a:r>
              <a:rPr lang="es-CL" sz="2400" dirty="0" err="1"/>
              <a:t>Influx</a:t>
            </a:r>
            <a:r>
              <a:rPr lang="es-CL" sz="2400" dirty="0"/>
              <a:t> DB en su versión Cloud genera – a veces - problemas de </a:t>
            </a:r>
            <a:r>
              <a:rPr lang="es-CL" sz="2400" b="1" dirty="0"/>
              <a:t>tiempo de respuesta </a:t>
            </a:r>
            <a:r>
              <a:rPr lang="es-CL" sz="2400" dirty="0"/>
              <a:t>en los reportes de </a:t>
            </a:r>
            <a:r>
              <a:rPr lang="es-CL" sz="2400" dirty="0" err="1"/>
              <a:t>Grafana</a:t>
            </a:r>
            <a:r>
              <a:rPr lang="es-CL" sz="24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2400" dirty="0"/>
              <a:t>Pero, por otro lado, </a:t>
            </a:r>
            <a:r>
              <a:rPr lang="es-CL" sz="2400" dirty="0" err="1"/>
              <a:t>Influx</a:t>
            </a:r>
            <a:r>
              <a:rPr lang="es-CL" sz="2400" dirty="0"/>
              <a:t> DB Cloud tiene un </a:t>
            </a:r>
            <a:r>
              <a:rPr lang="es-CL" sz="2400" b="1" dirty="0"/>
              <a:t>excelente </a:t>
            </a:r>
            <a:r>
              <a:rPr lang="es-CL" sz="2400" b="1" dirty="0" err="1"/>
              <a:t>uptime</a:t>
            </a:r>
            <a:r>
              <a:rPr lang="es-CL" sz="2400" dirty="0"/>
              <a:t>, superior al 99.5%, por lo que casi nunca perdemos información de los sensores.  </a:t>
            </a:r>
          </a:p>
          <a:p>
            <a:r>
              <a:rPr lang="es-CL" sz="2400" dirty="0"/>
              <a:t>Implementar </a:t>
            </a:r>
            <a:r>
              <a:rPr lang="es-CL" sz="2400" dirty="0" err="1"/>
              <a:t>Influx</a:t>
            </a:r>
            <a:r>
              <a:rPr lang="es-CL" sz="2400" dirty="0"/>
              <a:t> DB en un servidor local, podría mejorar las consultas, pero bajaría el </a:t>
            </a:r>
            <a:r>
              <a:rPr lang="es-CL" sz="2400" dirty="0" err="1"/>
              <a:t>uptime</a:t>
            </a:r>
            <a:r>
              <a:rPr lang="es-CL" sz="2400" dirty="0"/>
              <a:t>.</a:t>
            </a:r>
          </a:p>
          <a:p>
            <a:endParaRPr lang="es-CL" sz="2400" dirty="0"/>
          </a:p>
          <a:p>
            <a:pPr algn="ctr"/>
            <a:r>
              <a:rPr lang="es-CL" sz="2400" b="1" dirty="0"/>
              <a:t>¿Cómo decidir? </a:t>
            </a:r>
            <a:endParaRPr lang="en-US" sz="2400" b="1" dirty="0"/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675180" y="184207"/>
            <a:ext cx="8875504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kern="0" dirty="0"/>
              <a:t>Tipos de decisiones relativas a requerimientos.</a:t>
            </a:r>
            <a:endParaRPr lang="en-US" kern="0" dirty="0"/>
          </a:p>
        </p:txBody>
      </p:sp>
      <p:sp>
        <p:nvSpPr>
          <p:cNvPr id="9" name="Rectángulo 8"/>
          <p:cNvSpPr/>
          <p:nvPr/>
        </p:nvSpPr>
        <p:spPr>
          <a:xfrm>
            <a:off x="2879751" y="1574801"/>
            <a:ext cx="1335226" cy="552800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Sitio web SINCA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" name="Conector recto de flecha 9"/>
          <p:cNvCxnSpPr>
            <a:stCxn id="12" idx="2"/>
            <a:endCxn id="15" idx="0"/>
          </p:cNvCxnSpPr>
          <p:nvPr/>
        </p:nvCxnSpPr>
        <p:spPr>
          <a:xfrm>
            <a:off x="1099790" y="2127600"/>
            <a:ext cx="1096151" cy="913548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/>
          <p:cNvSpPr txBox="1"/>
          <p:nvPr/>
        </p:nvSpPr>
        <p:spPr>
          <a:xfrm>
            <a:off x="2848477" y="2418542"/>
            <a:ext cx="1774874" cy="515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Contaminantes estaciones</a:t>
            </a:r>
            <a:endParaRPr lang="en-US" sz="1600" dirty="0"/>
          </a:p>
        </p:txBody>
      </p:sp>
      <p:sp>
        <p:nvSpPr>
          <p:cNvPr id="12" name="Rectángulo 11"/>
          <p:cNvSpPr/>
          <p:nvPr/>
        </p:nvSpPr>
        <p:spPr>
          <a:xfrm>
            <a:off x="432177" y="1574800"/>
            <a:ext cx="1335226" cy="552800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Sitio web </a:t>
            </a:r>
            <a:r>
              <a:rPr lang="es-CL" dirty="0" err="1">
                <a:solidFill>
                  <a:schemeClr val="tx1"/>
                </a:solidFill>
              </a:rPr>
              <a:t>Meteochile</a:t>
            </a:r>
            <a:r>
              <a:rPr lang="es-CL"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3" name="Conector recto de flecha 12"/>
          <p:cNvCxnSpPr>
            <a:stCxn id="17" idx="0"/>
            <a:endCxn id="15" idx="2"/>
          </p:cNvCxnSpPr>
          <p:nvPr/>
        </p:nvCxnSpPr>
        <p:spPr>
          <a:xfrm flipV="1">
            <a:off x="1029657" y="3671982"/>
            <a:ext cx="1166284" cy="277175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/>
          <p:cNvSpPr txBox="1"/>
          <p:nvPr/>
        </p:nvSpPr>
        <p:spPr>
          <a:xfrm>
            <a:off x="362044" y="2358620"/>
            <a:ext cx="1591887" cy="515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Datos meteorológicos</a:t>
            </a:r>
            <a:endParaRPr lang="en-US" sz="1600" dirty="0"/>
          </a:p>
        </p:txBody>
      </p:sp>
      <p:sp>
        <p:nvSpPr>
          <p:cNvPr id="15" name="Rectángulo 14"/>
          <p:cNvSpPr/>
          <p:nvPr/>
        </p:nvSpPr>
        <p:spPr>
          <a:xfrm>
            <a:off x="1528328" y="3041148"/>
            <a:ext cx="1335226" cy="630834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BD </a:t>
            </a:r>
            <a:r>
              <a:rPr lang="es-CL" dirty="0" err="1">
                <a:solidFill>
                  <a:schemeClr val="tx1"/>
                </a:solidFill>
              </a:rPr>
              <a:t>InfluxDB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Conector recto de flecha 15"/>
          <p:cNvCxnSpPr>
            <a:stCxn id="9" idx="2"/>
            <a:endCxn id="15" idx="0"/>
          </p:cNvCxnSpPr>
          <p:nvPr/>
        </p:nvCxnSpPr>
        <p:spPr>
          <a:xfrm flipH="1">
            <a:off x="2195941" y="2127601"/>
            <a:ext cx="1351423" cy="913547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ángulo 16"/>
          <p:cNvSpPr/>
          <p:nvPr/>
        </p:nvSpPr>
        <p:spPr>
          <a:xfrm>
            <a:off x="362044" y="3949156"/>
            <a:ext cx="1335226" cy="630834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Equipo </a:t>
            </a:r>
            <a:r>
              <a:rPr lang="es-CL" dirty="0" err="1">
                <a:solidFill>
                  <a:schemeClr val="tx1"/>
                </a:solidFill>
              </a:rPr>
              <a:t>Arduino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1487205" y="3727646"/>
            <a:ext cx="1774874" cy="515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Registro contaminantes</a:t>
            </a:r>
          </a:p>
        </p:txBody>
      </p:sp>
      <p:sp>
        <p:nvSpPr>
          <p:cNvPr id="19" name="Rectángulo 18"/>
          <p:cNvSpPr/>
          <p:nvPr/>
        </p:nvSpPr>
        <p:spPr>
          <a:xfrm>
            <a:off x="4540641" y="3041147"/>
            <a:ext cx="1335226" cy="630834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err="1">
                <a:solidFill>
                  <a:schemeClr val="tx1"/>
                </a:solidFill>
              </a:rPr>
              <a:t>Grafana</a:t>
            </a:r>
            <a:r>
              <a:rPr lang="es-CL" dirty="0">
                <a:solidFill>
                  <a:schemeClr val="tx1"/>
                </a:solidFill>
              </a:rPr>
              <a:t> Cloud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" name="Conector recto de flecha 19"/>
          <p:cNvCxnSpPr>
            <a:stCxn id="15" idx="3"/>
            <a:endCxn id="19" idx="1"/>
          </p:cNvCxnSpPr>
          <p:nvPr/>
        </p:nvCxnSpPr>
        <p:spPr>
          <a:xfrm flipV="1">
            <a:off x="2863554" y="3356564"/>
            <a:ext cx="1677088" cy="1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/>
          <p:cNvSpPr txBox="1"/>
          <p:nvPr/>
        </p:nvSpPr>
        <p:spPr>
          <a:xfrm>
            <a:off x="2899347" y="3380669"/>
            <a:ext cx="1774874" cy="515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Registro de variables</a:t>
            </a:r>
          </a:p>
        </p:txBody>
      </p:sp>
      <p:sp>
        <p:nvSpPr>
          <p:cNvPr id="22" name="Rectángulo 21"/>
          <p:cNvSpPr/>
          <p:nvPr/>
        </p:nvSpPr>
        <p:spPr>
          <a:xfrm>
            <a:off x="409121" y="5259699"/>
            <a:ext cx="1335226" cy="630834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Sensores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3" name="Conector recto de flecha 22"/>
          <p:cNvCxnSpPr>
            <a:stCxn id="22" idx="0"/>
            <a:endCxn id="17" idx="2"/>
          </p:cNvCxnSpPr>
          <p:nvPr/>
        </p:nvCxnSpPr>
        <p:spPr>
          <a:xfrm flipH="1" flipV="1">
            <a:off x="1029657" y="4579991"/>
            <a:ext cx="47077" cy="679708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/>
          <p:cNvSpPr/>
          <p:nvPr/>
        </p:nvSpPr>
        <p:spPr>
          <a:xfrm>
            <a:off x="1987302" y="5259699"/>
            <a:ext cx="1335226" cy="630834"/>
          </a:xfrm>
          <a:prstGeom prst="rect">
            <a:avLst/>
          </a:prstGeom>
          <a:solidFill>
            <a:schemeClr val="accent1">
              <a:alpha val="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solidFill>
                  <a:schemeClr val="tx1"/>
                </a:solidFill>
              </a:rPr>
              <a:t>Visor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5" name="Conector recto de flecha 24"/>
          <p:cNvCxnSpPr>
            <a:endCxn id="24" idx="0"/>
          </p:cNvCxnSpPr>
          <p:nvPr/>
        </p:nvCxnSpPr>
        <p:spPr>
          <a:xfrm>
            <a:off x="1274584" y="4637453"/>
            <a:ext cx="1380331" cy="622246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uadroTexto 25"/>
          <p:cNvSpPr txBox="1"/>
          <p:nvPr/>
        </p:nvSpPr>
        <p:spPr>
          <a:xfrm>
            <a:off x="2168116" y="4637453"/>
            <a:ext cx="1215288" cy="515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dirty="0"/>
              <a:t>Variables ambientales</a:t>
            </a:r>
          </a:p>
        </p:txBody>
      </p:sp>
    </p:spTree>
    <p:extLst>
      <p:ext uri="{BB962C8B-B14F-4D97-AF65-F5344CB8AC3E}">
        <p14:creationId xmlns:p14="http://schemas.microsoft.com/office/powerpoint/2010/main" val="4207748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r>
              <a:rPr lang="es-CL" b="1" dirty="0"/>
              <a:t>Casos de uso. Ejemplo. </a:t>
            </a:r>
            <a:endParaRPr lang="en-US" b="1" dirty="0"/>
          </a:p>
        </p:txBody>
      </p:sp>
      <p:graphicFrame>
        <p:nvGraphicFramePr>
          <p:cNvPr id="8" name="Tab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989120"/>
              </p:ext>
            </p:extLst>
          </p:nvPr>
        </p:nvGraphicFramePr>
        <p:xfrm>
          <a:off x="1531696" y="607184"/>
          <a:ext cx="10480194" cy="624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2812">
                  <a:extLst>
                    <a:ext uri="{9D8B030D-6E8A-4147-A177-3AD203B41FA5}">
                      <a16:colId xmlns:a16="http://schemas.microsoft.com/office/drawing/2014/main" val="1746800715"/>
                    </a:ext>
                  </a:extLst>
                </a:gridCol>
                <a:gridCol w="7107382">
                  <a:extLst>
                    <a:ext uri="{9D8B030D-6E8A-4147-A177-3AD203B41FA5}">
                      <a16:colId xmlns:a16="http://schemas.microsoft.com/office/drawing/2014/main" val="3685991413"/>
                    </a:ext>
                  </a:extLst>
                </a:gridCol>
              </a:tblGrid>
              <a:tr h="349673">
                <a:tc>
                  <a:txBody>
                    <a:bodyPr/>
                    <a:lstStyle/>
                    <a:p>
                      <a:r>
                        <a:rPr lang="es-CL" sz="2000" dirty="0"/>
                        <a:t>Atributo</a:t>
                      </a:r>
                      <a:r>
                        <a:rPr lang="es-CL" sz="2000" baseline="0" dirty="0"/>
                        <a:t> del Caso de Uso</a:t>
                      </a:r>
                      <a:endParaRPr lang="es-CL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2000" dirty="0"/>
                        <a:t>Descripción</a:t>
                      </a:r>
                      <a:r>
                        <a:rPr lang="es-CL" sz="2000" baseline="0" dirty="0"/>
                        <a:t> del atributo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301403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/>
                        <a:t>ID y Nombre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600" dirty="0"/>
                        <a:t>5. Desplegar reporte de MP2.5 intradomiciliario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871206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/>
                        <a:t>Actor Principal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600" dirty="0"/>
                        <a:t>Analista MMA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321130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/>
                        <a:t>Actores Secundarios</a:t>
                      </a:r>
                      <a:r>
                        <a:rPr lang="es-CL" baseline="0" dirty="0"/>
                        <a:t> (opcional)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600" dirty="0"/>
                        <a:t>Encargado monitoreo ambiental GORE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450181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/>
                        <a:t>Descripción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600" dirty="0"/>
                        <a:t>El usuario establece filtros y genera un gráfico que le permite analizar la evolución</a:t>
                      </a:r>
                      <a:r>
                        <a:rPr lang="es-CL" sz="1600" baseline="0" dirty="0"/>
                        <a:t> de la variable MP2.5 en el tiempo.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835942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/>
                        <a:t>Disparador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600" dirty="0"/>
                        <a:t>El analista recibe una solicitud de análisis de información. 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177383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/>
                        <a:t>Precondiciones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600" dirty="0"/>
                        <a:t>El usuario debe estar autenticado en el sistema</a:t>
                      </a:r>
                      <a:r>
                        <a:rPr lang="es-CL" sz="1600" baseline="0" dirty="0"/>
                        <a:t> y tener los privilegios para ver el reporte. Los datos están disponibles en </a:t>
                      </a:r>
                      <a:r>
                        <a:rPr lang="es-CL" sz="1600" baseline="0" dirty="0" err="1"/>
                        <a:t>Influx</a:t>
                      </a:r>
                      <a:r>
                        <a:rPr lang="es-CL" sz="1600" baseline="0" dirty="0"/>
                        <a:t> DB.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4283203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 err="1"/>
                        <a:t>Postcondiciones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600" dirty="0"/>
                        <a:t>El gráfico</a:t>
                      </a:r>
                      <a:r>
                        <a:rPr lang="es-CL" sz="1600" baseline="0" dirty="0"/>
                        <a:t> queda disponible para ser exportado como imagen. 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931165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/>
                        <a:t>Flujo normal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600" dirty="0"/>
                        <a:t>El usuario selecciona</a:t>
                      </a:r>
                      <a:r>
                        <a:rPr lang="es-CL" sz="1600" baseline="0" dirty="0"/>
                        <a:t> la comuna, el sector o una estación de monitoreo en particular, la ventana de tiempo y el nivel de granularidad de visualización (día, hora, minuto), y el sistema le muestra un gráfico de líneas. 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311847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/>
                        <a:t>Flujos</a:t>
                      </a:r>
                      <a:r>
                        <a:rPr lang="es-CL" baseline="0" dirty="0"/>
                        <a:t> alternativos (opcional)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600" dirty="0"/>
                        <a:t>El</a:t>
                      </a:r>
                      <a:r>
                        <a:rPr lang="es-CL" sz="1600" baseline="0" dirty="0"/>
                        <a:t> usuario puede querer comparar más de un sector, comuna o ventana de tiempo en el mismo gráfico. 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558415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/>
                        <a:t>Excepciones</a:t>
                      </a:r>
                      <a:r>
                        <a:rPr lang="es-CL" baseline="0" dirty="0"/>
                        <a:t> (opcional)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654220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/>
                        <a:t>Prioridad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600" dirty="0"/>
                        <a:t>1. Alta.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166510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/>
                        <a:t>Reglas de negocio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995680"/>
                  </a:ext>
                </a:extLst>
              </a:tr>
              <a:tr h="349673">
                <a:tc>
                  <a:txBody>
                    <a:bodyPr/>
                    <a:lstStyle/>
                    <a:p>
                      <a:r>
                        <a:rPr lang="es-CL" dirty="0"/>
                        <a:t>Supuestos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697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4425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32844</TotalTime>
  <Words>1173</Words>
  <Application>Microsoft Office PowerPoint</Application>
  <PresentationFormat>Panorámica</PresentationFormat>
  <Paragraphs>200</Paragraphs>
  <Slides>22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Unidad 0 - Introducción</vt:lpstr>
      <vt:lpstr>Prácticas esenciales en Ing. de Requisitos</vt:lpstr>
      <vt:lpstr>Tipos de requisitos</vt:lpstr>
      <vt:lpstr>Elicitación</vt:lpstr>
      <vt:lpstr>¿Cuáles son los límites de un sistema?</vt:lpstr>
      <vt:lpstr>Elicitación – sin participación de stakeholders.</vt:lpstr>
      <vt:lpstr>Elicitación – con participación de stakeholders.</vt:lpstr>
      <vt:lpstr>Presentación de PowerPoint</vt:lpstr>
      <vt:lpstr>Presentación de PowerPoint</vt:lpstr>
      <vt:lpstr>Elicitación</vt:lpstr>
      <vt:lpstr>Elicitación</vt:lpstr>
      <vt:lpstr>6) Entender qué necesitan hacer los usuarios.</vt:lpstr>
      <vt:lpstr>Tipos de requisitos</vt:lpstr>
      <vt:lpstr>6) Entender qué necesitan hacer los usuarios.</vt:lpstr>
      <vt:lpstr>6) Entender qué necesitan hacer los usuarios.</vt:lpstr>
      <vt:lpstr>6) Entender qué necesitan hacer los usuarios.</vt:lpstr>
      <vt:lpstr>6) Entender qué necesitan hacer los usuarios.</vt:lpstr>
      <vt:lpstr>6) Entender qué necesitan hacer los usuarios. Casos de uso.</vt:lpstr>
      <vt:lpstr>Ejercicio clase pasada</vt:lpstr>
      <vt:lpstr>Diagrama de contexto (DFD Nivel 0)</vt:lpstr>
      <vt:lpstr>Presentación de PowerPoint</vt:lpstr>
      <vt:lpstr>Casos de uso. Ejemplo.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Pablo Salazar Fernández</cp:lastModifiedBy>
  <cp:revision>229</cp:revision>
  <cp:lastPrinted>2020-10-05T12:16:48Z</cp:lastPrinted>
  <dcterms:created xsi:type="dcterms:W3CDTF">2018-03-05T20:26:11Z</dcterms:created>
  <dcterms:modified xsi:type="dcterms:W3CDTF">2025-09-10T15:49:57Z</dcterms:modified>
</cp:coreProperties>
</file>
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57" r:id="rId2"/>
    <p:sldId id="451" r:id="rId3"/>
    <p:sldId id="464" r:id="rId4"/>
    <p:sldId id="466" r:id="rId5"/>
    <p:sldId id="467" r:id="rId6"/>
    <p:sldId id="469" r:id="rId7"/>
    <p:sldId id="470" r:id="rId8"/>
    <p:sldId id="468" r:id="rId9"/>
    <p:sldId id="471" r:id="rId10"/>
    <p:sldId id="474" r:id="rId11"/>
    <p:sldId id="475" r:id="rId12"/>
    <p:sldId id="476" r:id="rId13"/>
    <p:sldId id="477" r:id="rId14"/>
    <p:sldId id="478" r:id="rId15"/>
    <p:sldId id="487" r:id="rId16"/>
    <p:sldId id="479" r:id="rId17"/>
    <p:sldId id="480" r:id="rId18"/>
    <p:sldId id="481" r:id="rId19"/>
    <p:sldId id="482" r:id="rId20"/>
    <p:sldId id="484" r:id="rId21"/>
    <p:sldId id="485" r:id="rId22"/>
    <p:sldId id="486" r:id="rId23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67153" autoAdjust="0"/>
  </p:normalViewPr>
  <p:slideViewPr>
    <p:cSldViewPr snapToGrid="0">
      <p:cViewPr varScale="1">
        <p:scale>
          <a:sx n="75" d="100"/>
          <a:sy n="75" d="100"/>
        </p:scale>
        <p:origin x="6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22-09-2025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22-09-2025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3877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42852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El</a:t>
            </a:r>
            <a:r>
              <a:rPr lang="es-CL" baseline="0" dirty="0"/>
              <a:t> análisis de requisitos es un proceso iterativo e incremental.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6457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Autor que ha escrito libros de desarrollo ágil, tales</a:t>
            </a:r>
            <a:r>
              <a:rPr lang="es-CL" baseline="0" dirty="0"/>
              <a:t> como </a:t>
            </a:r>
            <a:r>
              <a:rPr lang="es-CL" baseline="0" dirty="0" err="1"/>
              <a:t>User</a:t>
            </a:r>
            <a:r>
              <a:rPr lang="es-CL" baseline="0" dirty="0"/>
              <a:t> </a:t>
            </a:r>
            <a:r>
              <a:rPr lang="es-CL" baseline="0" dirty="0" err="1"/>
              <a:t>Story</a:t>
            </a:r>
            <a:r>
              <a:rPr lang="es-CL" baseline="0" dirty="0"/>
              <a:t> </a:t>
            </a:r>
            <a:r>
              <a:rPr lang="es-CL" baseline="0" dirty="0" err="1"/>
              <a:t>Mapping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44449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Camino que se construyó</a:t>
            </a:r>
            <a:r>
              <a:rPr lang="es-CL" baseline="0" dirty="0"/>
              <a:t> &amp; camino que utilizan las personas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5709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Steven</a:t>
            </a:r>
            <a:r>
              <a:rPr lang="es-CL" baseline="0" dirty="0"/>
              <a:t> Thomas es otro autor en el área de desarrollo ágil.</a:t>
            </a:r>
          </a:p>
          <a:p>
            <a:endParaRPr lang="es-CL" baseline="0" dirty="0"/>
          </a:p>
          <a:p>
            <a:r>
              <a:rPr lang="es-CL" baseline="0" dirty="0"/>
              <a:t>El análisis de requisitos es un proceso iterativo e incremental. La comprensión que vamos adquiriendo no es uniforme. 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2965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Este</a:t>
            </a:r>
            <a:r>
              <a:rPr lang="es-CL" baseline="0" dirty="0"/>
              <a:t> es un buen </a:t>
            </a:r>
            <a:r>
              <a:rPr lang="es-CL" baseline="0" dirty="0" err="1"/>
              <a:t>checklist</a:t>
            </a:r>
            <a:r>
              <a:rPr lang="es-CL" baseline="0" dirty="0"/>
              <a:t> para aplicar a cada uno de los requisitos que identificamos en un proyecto.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154491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 anterior nos ayudará a priorizar</a:t>
            </a:r>
            <a:r>
              <a:rPr lang="es-CL" baseline="0" dirty="0"/>
              <a:t> los requisitos, a decidir si permanecen o no, etc. </a:t>
            </a:r>
          </a:p>
          <a:p>
            <a:endParaRPr lang="es-CL" baseline="0" dirty="0"/>
          </a:p>
          <a:p>
            <a:r>
              <a:rPr lang="es-CL" baseline="0" dirty="0"/>
              <a:t>Veamos un ejemplo: en SIVEDUC no se permite que el profesor inscriba a estudiantes que aún no tienen aprobada la asignatura. ¿Quién lo pidió? ¿Quién tiene la autoridad para decidir eso? ¿Debiera ser una decisión que quede definida en un reglamento?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7134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 anterior nos ayudará a priorizar</a:t>
            </a:r>
            <a:r>
              <a:rPr lang="es-CL" baseline="0" dirty="0"/>
              <a:t> los requisitos, a decidir si permanecen o no, etc. </a:t>
            </a:r>
          </a:p>
          <a:p>
            <a:endParaRPr lang="es-CL" baseline="0" dirty="0"/>
          </a:p>
          <a:p>
            <a:r>
              <a:rPr lang="es-CL" baseline="0" dirty="0"/>
              <a:t>Por ejemplo, puede ser que el “</a:t>
            </a:r>
            <a:r>
              <a:rPr lang="es-CL" baseline="0" dirty="0" err="1"/>
              <a:t>happy</a:t>
            </a:r>
            <a:r>
              <a:rPr lang="es-CL" baseline="0" dirty="0"/>
              <a:t> </a:t>
            </a:r>
            <a:r>
              <a:rPr lang="es-CL" baseline="0" dirty="0" err="1"/>
              <a:t>path</a:t>
            </a:r>
            <a:r>
              <a:rPr lang="es-CL" baseline="0" dirty="0"/>
              <a:t>” tenga mayor prioridad que un caso excepcional, y por lo tanto este se desarrollará en una iteración diferente. </a:t>
            </a:r>
          </a:p>
          <a:p>
            <a:r>
              <a:rPr lang="es-CL" baseline="0" dirty="0" err="1"/>
              <a:t>Ejm</a:t>
            </a:r>
            <a:r>
              <a:rPr lang="es-CL" baseline="0" dirty="0"/>
              <a:t>: pyme que no incluye inicialmente “por sistema” el despacho de productos a otras ciudades.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14908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Podemos revisar las características</a:t>
            </a:r>
            <a:r>
              <a:rPr lang="es-CL" baseline="0" dirty="0"/>
              <a:t> de cada funcionalidad, a varios niveles de detalle. </a:t>
            </a:r>
          </a:p>
          <a:p>
            <a:endParaRPr lang="es-CL" baseline="0" dirty="0"/>
          </a:p>
          <a:p>
            <a:r>
              <a:rPr lang="es-CL" baseline="0" dirty="0"/>
              <a:t>Detengámonos un poco en este ejemplo, veamos qué funcionalidades son parte del “mínimo viable” y cuáles no.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3727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Ejemplo</a:t>
            </a:r>
            <a:r>
              <a:rPr lang="en-US" dirty="0"/>
              <a:t> de </a:t>
            </a:r>
            <a:r>
              <a:rPr lang="en-US" dirty="0" err="1"/>
              <a:t>requisito</a:t>
            </a:r>
            <a:r>
              <a:rPr lang="en-US" dirty="0"/>
              <a:t> </a:t>
            </a:r>
            <a:r>
              <a:rPr lang="en-US" dirty="0" err="1"/>
              <a:t>ambiguo</a:t>
            </a:r>
            <a:r>
              <a:rPr lang="en-US" dirty="0"/>
              <a:t>? </a:t>
            </a:r>
          </a:p>
          <a:p>
            <a:r>
              <a:rPr lang="en-US" dirty="0"/>
              <a:t>El Sistema debe </a:t>
            </a:r>
            <a:r>
              <a:rPr lang="en-US" dirty="0" err="1"/>
              <a:t>permitir</a:t>
            </a:r>
            <a:r>
              <a:rPr lang="en-US" dirty="0"/>
              <a:t> </a:t>
            </a:r>
            <a:r>
              <a:rPr lang="en-US" dirty="0" err="1"/>
              <a:t>aplicar</a:t>
            </a:r>
            <a:r>
              <a:rPr lang="en-US" dirty="0"/>
              <a:t> </a:t>
            </a:r>
            <a:r>
              <a:rPr lang="en-US" dirty="0" err="1"/>
              <a:t>descuentos</a:t>
            </a:r>
            <a:r>
              <a:rPr lang="en-US" dirty="0"/>
              <a:t> a los </a:t>
            </a:r>
            <a:r>
              <a:rPr lang="en-US" dirty="0" err="1"/>
              <a:t>clientes</a:t>
            </a:r>
            <a:r>
              <a:rPr lang="en-US" dirty="0"/>
              <a:t>. ¿</a:t>
            </a:r>
            <a:r>
              <a:rPr lang="en-US" dirty="0" err="1"/>
              <a:t>Existen</a:t>
            </a:r>
            <a:r>
              <a:rPr lang="en-US" dirty="0"/>
              <a:t> formulas? ¿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predefinidos</a:t>
            </a:r>
            <a:r>
              <a:rPr lang="en-US" dirty="0"/>
              <a:t>? ¿</a:t>
            </a:r>
            <a:r>
              <a:rPr lang="en-US" dirty="0" err="1"/>
              <a:t>Límites</a:t>
            </a:r>
            <a:r>
              <a:rPr lang="en-US" dirty="0"/>
              <a:t> por </a:t>
            </a:r>
            <a:r>
              <a:rPr lang="en-US" dirty="0" err="1"/>
              <a:t>rol</a:t>
            </a:r>
            <a:r>
              <a:rPr lang="en-US" dirty="0"/>
              <a:t>? Etc.</a:t>
            </a:r>
          </a:p>
          <a:p>
            <a:endParaRPr lang="en-US" dirty="0"/>
          </a:p>
          <a:p>
            <a:r>
              <a:rPr lang="en-US" dirty="0"/>
              <a:t>Invest es un </a:t>
            </a:r>
            <a:r>
              <a:rPr lang="en-US" dirty="0" err="1"/>
              <a:t>acrónimo</a:t>
            </a:r>
            <a:r>
              <a:rPr lang="en-US" dirty="0"/>
              <a:t> </a:t>
            </a:r>
            <a:r>
              <a:rPr lang="en-US" dirty="0" err="1"/>
              <a:t>difundido</a:t>
            </a:r>
            <a:r>
              <a:rPr lang="en-US" dirty="0"/>
              <a:t> por Michael Cohn,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context del Desarrollo </a:t>
            </a:r>
            <a:r>
              <a:rPr lang="en-US" dirty="0" err="1"/>
              <a:t>ágil</a:t>
            </a:r>
            <a:r>
              <a:rPr lang="en-US" dirty="0"/>
              <a:t>. Por lo tanto, se </a:t>
            </a:r>
            <a:r>
              <a:rPr lang="en-US" dirty="0" err="1"/>
              <a:t>refiere</a:t>
            </a:r>
            <a:r>
              <a:rPr lang="en-US" dirty="0"/>
              <a:t> a </a:t>
            </a:r>
            <a:r>
              <a:rPr lang="en-US" dirty="0" err="1"/>
              <a:t>historias</a:t>
            </a:r>
            <a:r>
              <a:rPr lang="en-US" dirty="0"/>
              <a:t> de </a:t>
            </a:r>
            <a:r>
              <a:rPr lang="en-US" dirty="0" err="1"/>
              <a:t>usuario</a:t>
            </a:r>
            <a:r>
              <a:rPr lang="en-US" dirty="0"/>
              <a:t>. </a:t>
            </a:r>
          </a:p>
          <a:p>
            <a:r>
              <a:rPr lang="en-US" dirty="0" err="1"/>
              <a:t>Sirve</a:t>
            </a:r>
            <a:r>
              <a:rPr lang="en-US" dirty="0"/>
              <a:t> para decider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historia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lista</a:t>
            </a:r>
            <a:r>
              <a:rPr lang="en-US" dirty="0"/>
              <a:t> para </a:t>
            </a:r>
            <a:r>
              <a:rPr lang="en-US" dirty="0" err="1"/>
              <a:t>entrar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sprint.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875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anterior, uno </a:t>
            </a:r>
            <a:r>
              <a:rPr lang="en-US" dirty="0" err="1"/>
              <a:t>debiera</a:t>
            </a:r>
            <a:r>
              <a:rPr lang="en-US" dirty="0"/>
              <a:t> </a:t>
            </a:r>
            <a:r>
              <a:rPr lang="en-US" dirty="0" err="1"/>
              <a:t>definir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reporte</a:t>
            </a:r>
            <a:r>
              <a:rPr lang="en-US" dirty="0"/>
              <a:t> o </a:t>
            </a:r>
            <a:r>
              <a:rPr lang="en-US" dirty="0" err="1"/>
              <a:t>gráfico</a:t>
            </a:r>
            <a:r>
              <a:rPr lang="en-US" dirty="0"/>
              <a:t>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precisa</a:t>
            </a:r>
            <a:r>
              <a:rPr lang="en-US" dirty="0"/>
              <a:t>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7283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cliente</a:t>
            </a:r>
            <a:r>
              <a:rPr lang="en-US" dirty="0"/>
              <a:t>: ¿por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implementando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?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2574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cliente</a:t>
            </a:r>
            <a:r>
              <a:rPr lang="en-US" dirty="0"/>
              <a:t>: ¿por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estamos</a:t>
            </a:r>
            <a:r>
              <a:rPr lang="en-US" dirty="0"/>
              <a:t> </a:t>
            </a:r>
            <a:r>
              <a:rPr lang="en-US" dirty="0" err="1"/>
              <a:t>implementando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?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60679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 anterior nos ayudará a priorizar</a:t>
            </a:r>
            <a:r>
              <a:rPr lang="es-CL" baseline="0" dirty="0"/>
              <a:t> los requisitos, a decidir si permanecen o no, etc.</a:t>
            </a:r>
          </a:p>
          <a:p>
            <a:endParaRPr lang="es-CL" baseline="0" dirty="0"/>
          </a:p>
          <a:p>
            <a:r>
              <a:rPr lang="es-CL" baseline="0" dirty="0"/>
              <a:t>¿Qué hacemos si tenemos restricciones que no sabemos de dónde vienen?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97927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Este</a:t>
            </a:r>
            <a:r>
              <a:rPr lang="es-CL" baseline="0" dirty="0"/>
              <a:t> es un buen </a:t>
            </a:r>
            <a:r>
              <a:rPr lang="es-CL" baseline="0" dirty="0" err="1"/>
              <a:t>checklist</a:t>
            </a:r>
            <a:r>
              <a:rPr lang="es-CL" baseline="0" dirty="0"/>
              <a:t> para aplicar a cada uno de los requisitos que identificamos en un proyecto.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6410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Un ejemplo</a:t>
            </a:r>
            <a:r>
              <a:rPr lang="es-CL" baseline="0" dirty="0"/>
              <a:t> de esto son los traspasos a Excel de los informes, o la posibilidad de eliminar o dejar no vigentes los datos que ingresamos. </a:t>
            </a:r>
          </a:p>
          <a:p>
            <a:r>
              <a:rPr lang="es-CL" baseline="0" dirty="0"/>
              <a:t>En procesos que involucran varias etapas, la posibilidad de detener el proceso, anular la transacción. </a:t>
            </a:r>
          </a:p>
          <a:p>
            <a:r>
              <a:rPr lang="es-CL" baseline="0" dirty="0"/>
              <a:t>También puede ocurrir con normas legales que se suponen conocidas (ILA, ventas exentas de IVA, valor de horas extra, licencias médicas, entre otros).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9539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 anterior nos ayudará a priorizar</a:t>
            </a:r>
            <a:r>
              <a:rPr lang="es-CL" baseline="0" dirty="0"/>
              <a:t> los requisitos, a decidir si permanecen o no, etc.</a:t>
            </a:r>
          </a:p>
          <a:p>
            <a:endParaRPr lang="es-CL" baseline="0" dirty="0"/>
          </a:p>
          <a:p>
            <a:endParaRPr lang="es-CL" baseline="0" dirty="0"/>
          </a:p>
          <a:p>
            <a:r>
              <a:rPr lang="es-CL" baseline="0" dirty="0"/>
              <a:t>El análisis de inconsistencias debe hacerse en general con clientes/usuarios.</a:t>
            </a:r>
            <a:endParaRPr lang="en-US" dirty="0"/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1304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 anterior nos ayudará a priorizar</a:t>
            </a:r>
            <a:r>
              <a:rPr lang="es-CL" baseline="0" dirty="0"/>
              <a:t> los requisitos, a decidir si permanecen o no, etc.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34820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Lo anterior nos ayudará a priorizar</a:t>
            </a:r>
            <a:r>
              <a:rPr lang="es-CL" baseline="0" dirty="0"/>
              <a:t> los requisitos, a decidir si permanecen o no, etc.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32548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9543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22-09-2025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9/22/2025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2. Análisis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significa analizar los requisitos?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55357" y="1623289"/>
            <a:ext cx="734092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3200" dirty="0"/>
              <a:t>Clasificarlos,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3200" dirty="0"/>
              <a:t>Ordenarlos,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3200" dirty="0"/>
              <a:t>Priorizarlos,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3200" dirty="0"/>
              <a:t>Visualizarlos,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3200" dirty="0"/>
              <a:t>Revisarlos desde diferentes perspectivas,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3200" dirty="0"/>
              <a:t>Buscar conflictos entre requisitos,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L" sz="3200" dirty="0"/>
              <a:t>Identificar requisitos faltantes.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277" y="1623289"/>
            <a:ext cx="3810164" cy="270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9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¿Qué significa analizar los requisitos?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670105" y="2522940"/>
            <a:ext cx="112170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i="1" dirty="0"/>
              <a:t>“Asegurarse de que se </a:t>
            </a:r>
            <a:r>
              <a:rPr lang="es-CL" sz="2800" b="1" i="1" dirty="0"/>
              <a:t>entienden</a:t>
            </a:r>
            <a:r>
              <a:rPr lang="es-CL" sz="2800" i="1" dirty="0"/>
              <a:t> las necesidades de los </a:t>
            </a:r>
            <a:r>
              <a:rPr lang="es-CL" sz="2800" i="1" dirty="0" err="1"/>
              <a:t>stakeholders</a:t>
            </a:r>
            <a:r>
              <a:rPr lang="es-CL" sz="2800" i="1" dirty="0"/>
              <a:t> y que </a:t>
            </a:r>
            <a:r>
              <a:rPr lang="es-CL" sz="2800" b="1" i="1" dirty="0"/>
              <a:t>es posible definir, acordar, construir y testear una solución </a:t>
            </a:r>
            <a:r>
              <a:rPr lang="es-CL" sz="2800" i="1" dirty="0"/>
              <a:t>satisfactoria”</a:t>
            </a:r>
          </a:p>
          <a:p>
            <a:pPr algn="r"/>
            <a:r>
              <a:rPr lang="es-CL" sz="2800" dirty="0"/>
              <a:t>Wiegers &amp; </a:t>
            </a:r>
            <a:r>
              <a:rPr lang="es-CL" sz="2800" dirty="0" err="1"/>
              <a:t>Hokakson</a:t>
            </a:r>
            <a:r>
              <a:rPr lang="es-CL" sz="2800" dirty="0"/>
              <a:t>, 2023 </a:t>
            </a:r>
          </a:p>
        </p:txBody>
      </p:sp>
    </p:spTree>
    <p:extLst>
      <p:ext uri="{BB962C8B-B14F-4D97-AF65-F5344CB8AC3E}">
        <p14:creationId xmlns:p14="http://schemas.microsoft.com/office/powerpoint/2010/main" val="2197493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943897" y="2182761"/>
            <a:ext cx="9955161" cy="693174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70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51" y="1828704"/>
            <a:ext cx="10384895" cy="3586150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326063" y="5997891"/>
            <a:ext cx="11539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http://agilismoatwork.blogspot.com/2013/06/desarrollo-iterativo-versus-incremental.html</a:t>
            </a:r>
          </a:p>
        </p:txBody>
      </p:sp>
    </p:spTree>
    <p:extLst>
      <p:ext uri="{BB962C8B-B14F-4D97-AF65-F5344CB8AC3E}">
        <p14:creationId xmlns:p14="http://schemas.microsoft.com/office/powerpoint/2010/main" val="371522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814" y="1989299"/>
            <a:ext cx="10402370" cy="3624692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326063" y="5997891"/>
            <a:ext cx="11539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http://agilismoatwork.blogspot.com/2013/06/desarrollo-iterativo-versus-incremental.html</a:t>
            </a:r>
          </a:p>
        </p:txBody>
      </p:sp>
    </p:spTree>
    <p:extLst>
      <p:ext uri="{BB962C8B-B14F-4D97-AF65-F5344CB8AC3E}">
        <p14:creationId xmlns:p14="http://schemas.microsoft.com/office/powerpoint/2010/main" val="326509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requisitos.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164" y="1149873"/>
            <a:ext cx="8537669" cy="4754388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326063" y="5997891"/>
            <a:ext cx="115398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http://agilismoatwork.blogspot.com/2013/06/desarrollo-iterativo-versus-incremental.html</a:t>
            </a:r>
          </a:p>
        </p:txBody>
      </p:sp>
    </p:spTree>
    <p:extLst>
      <p:ext uri="{BB962C8B-B14F-4D97-AF65-F5344CB8AC3E}">
        <p14:creationId xmlns:p14="http://schemas.microsoft.com/office/powerpoint/2010/main" val="860833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8862" y="1283363"/>
            <a:ext cx="7154273" cy="4248743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7561947" y="5978592"/>
            <a:ext cx="3497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L" dirty="0"/>
              <a:t>Wiegers &amp; Hokanson, 2023 (Cap.4) </a:t>
            </a:r>
          </a:p>
        </p:txBody>
      </p:sp>
    </p:spTree>
    <p:extLst>
      <p:ext uri="{BB962C8B-B14F-4D97-AF65-F5344CB8AC3E}">
        <p14:creationId xmlns:p14="http://schemas.microsoft.com/office/powerpoint/2010/main" val="2822828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70646" y="2004001"/>
            <a:ext cx="98897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Origen del requisito: </a:t>
            </a:r>
          </a:p>
          <a:p>
            <a:r>
              <a:rPr lang="es-CL" sz="2800" dirty="0"/>
              <a:t>Debemos ser capaces de identificar: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 err="1"/>
              <a:t>Stakeholder</a:t>
            </a:r>
            <a:r>
              <a:rPr lang="es-CL" sz="2800" dirty="0"/>
              <a:t>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Caso de uso,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Atributo de calidad,</a:t>
            </a:r>
          </a:p>
          <a:p>
            <a:endParaRPr lang="es-CL" sz="2800" dirty="0"/>
          </a:p>
          <a:p>
            <a:r>
              <a:rPr lang="es-CL" sz="2800" dirty="0"/>
              <a:t>Debemos ser capaces de argumentar: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Por qué cada requisito está presente.</a:t>
            </a:r>
          </a:p>
        </p:txBody>
      </p:sp>
    </p:spTree>
    <p:extLst>
      <p:ext uri="{BB962C8B-B14F-4D97-AF65-F5344CB8AC3E}">
        <p14:creationId xmlns:p14="http://schemas.microsoft.com/office/powerpoint/2010/main" val="2959821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644011" y="2046531"/>
            <a:ext cx="988974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Descomposición y derivación: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ser capaces de descomponer/ detallar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Una buena práctica puede ser la construcción de árboles de características.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La descomposición de características ayuda a definir el alcance de cada versión/entregable. </a:t>
            </a:r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109073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045" y="1185927"/>
            <a:ext cx="6641907" cy="513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6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410095" y="1685024"/>
            <a:ext cx="42257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Evaluación de calidad: </a:t>
            </a:r>
            <a:r>
              <a:rPr lang="es-CL" sz="2800" dirty="0"/>
              <a:t>Los requisitos deben ser: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Completos,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Correctos,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Factibles,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Necesarios,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Priorizados,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No ambiguos,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Verificables. </a:t>
            </a:r>
          </a:p>
          <a:p>
            <a:endParaRPr lang="es-CL" sz="2800" dirty="0"/>
          </a:p>
        </p:txBody>
      </p:sp>
      <p:sp>
        <p:nvSpPr>
          <p:cNvPr id="4" name="CuadroTexto 3"/>
          <p:cNvSpPr txBox="1"/>
          <p:nvPr/>
        </p:nvSpPr>
        <p:spPr>
          <a:xfrm>
            <a:off x="5677786" y="1685024"/>
            <a:ext cx="563880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INVEST (</a:t>
            </a:r>
            <a:r>
              <a:rPr lang="es-CL" sz="2800" b="1" dirty="0" err="1"/>
              <a:t>Cohn</a:t>
            </a:r>
            <a:r>
              <a:rPr lang="es-CL" sz="2800" b="1" dirty="0"/>
              <a:t>, 2004): </a:t>
            </a:r>
            <a:r>
              <a:rPr lang="es-CL" sz="2800" dirty="0"/>
              <a:t>Los requisitos deben ser: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I</a:t>
            </a:r>
            <a:r>
              <a:rPr lang="es-CL" sz="2800" dirty="0"/>
              <a:t>ndependientes entre sí,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N</a:t>
            </a:r>
            <a:r>
              <a:rPr lang="es-CL" sz="2800" dirty="0"/>
              <a:t>egociables con </a:t>
            </a:r>
            <a:r>
              <a:rPr lang="es-CL" sz="2800" dirty="0" err="1"/>
              <a:t>stakeholders</a:t>
            </a:r>
            <a:r>
              <a:rPr lang="es-CL" sz="2800" dirty="0"/>
              <a:t>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i="1" dirty="0"/>
              <a:t>V</a:t>
            </a:r>
            <a:r>
              <a:rPr lang="es-CL" sz="2800" dirty="0"/>
              <a:t>aliosos para los clientes,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Posibles de </a:t>
            </a:r>
            <a:r>
              <a:rPr lang="es-CL" sz="2800" b="1" dirty="0"/>
              <a:t>e</a:t>
            </a:r>
            <a:r>
              <a:rPr lang="es-CL" sz="2800" dirty="0"/>
              <a:t>stimar (el esfuerzo de implementación),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Pequeños (</a:t>
            </a:r>
            <a:r>
              <a:rPr lang="es-CL" sz="2800" b="1" dirty="0" err="1"/>
              <a:t>s</a:t>
            </a:r>
            <a:r>
              <a:rPr lang="es-CL" sz="2800" dirty="0" err="1"/>
              <a:t>mall</a:t>
            </a:r>
            <a:r>
              <a:rPr lang="es-CL" sz="2800" dirty="0"/>
              <a:t>),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 err="1"/>
              <a:t>T</a:t>
            </a:r>
            <a:r>
              <a:rPr lang="es-CL" sz="2800" dirty="0" err="1"/>
              <a:t>esteables</a:t>
            </a:r>
            <a:r>
              <a:rPr lang="es-CL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3536894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37954" y="1685024"/>
            <a:ext cx="1067863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INVEST (</a:t>
            </a:r>
            <a:r>
              <a:rPr lang="es-CL" sz="2800" b="1" dirty="0" err="1"/>
              <a:t>Cohn</a:t>
            </a:r>
            <a:r>
              <a:rPr lang="es-CL" sz="2800" b="1" dirty="0"/>
              <a:t>, 2004): </a:t>
            </a:r>
            <a:r>
              <a:rPr lang="es-CL" sz="2800" dirty="0"/>
              <a:t>Ejemplo de requisito: </a:t>
            </a:r>
          </a:p>
          <a:p>
            <a:endParaRPr lang="es-CL" sz="2800" dirty="0"/>
          </a:p>
          <a:p>
            <a:r>
              <a:rPr lang="es-CL" sz="2800" i="1" dirty="0"/>
              <a:t>"El sistema debe generar reportes diarios, semanales y mensuales con datos financieros detallados y gráficos interactivos, y debe integrarse con el sistema de contabilidad existente.“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No declara el </a:t>
            </a:r>
            <a:r>
              <a:rPr lang="es-CL" sz="2800" b="1" dirty="0"/>
              <a:t>valor</a:t>
            </a:r>
            <a:r>
              <a:rPr lang="es-CL" sz="2800" dirty="0"/>
              <a:t> para el cliente.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No permite </a:t>
            </a:r>
            <a:r>
              <a:rPr lang="es-CL" sz="2800" b="1" dirty="0"/>
              <a:t>estimar</a:t>
            </a:r>
            <a:r>
              <a:rPr lang="es-CL" sz="2800" dirty="0"/>
              <a:t> el esfuerzo de implementarlo.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No es suficientemente </a:t>
            </a:r>
            <a:r>
              <a:rPr lang="es-CL" sz="2800" b="1" dirty="0"/>
              <a:t>pequeño</a:t>
            </a:r>
            <a:r>
              <a:rPr lang="es-CL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015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637954" y="1685024"/>
            <a:ext cx="1067863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INVEST (</a:t>
            </a:r>
            <a:r>
              <a:rPr lang="es-CL" sz="2800" b="1" dirty="0" err="1"/>
              <a:t>Cohn</a:t>
            </a:r>
            <a:r>
              <a:rPr lang="es-CL" sz="2800" b="1" dirty="0"/>
              <a:t>, 2004): </a:t>
            </a:r>
            <a:r>
              <a:rPr lang="es-CL" sz="2800" dirty="0"/>
              <a:t>Ejemplo de requisito: </a:t>
            </a:r>
          </a:p>
          <a:p>
            <a:endParaRPr lang="es-CL" sz="2800" dirty="0"/>
          </a:p>
          <a:p>
            <a:r>
              <a:rPr lang="es-CL" sz="2800" dirty="0"/>
              <a:t>"La aplicación debe permitir a los usuarios registrarse y, tras completar el formulario, enviar un correo de confirmación y generar un código de descuento para su primera compra, el cual debe ser válido durante 30 días.“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El requisito no es </a:t>
            </a:r>
            <a:r>
              <a:rPr lang="es-CL" sz="2800" b="1" dirty="0"/>
              <a:t>independiente</a:t>
            </a:r>
            <a:r>
              <a:rPr lang="es-CL" sz="2800" dirty="0"/>
              <a:t>, ya que combina varias funcionalidades.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No queda claro el </a:t>
            </a:r>
            <a:r>
              <a:rPr lang="es-CL" sz="2800" b="1" dirty="0"/>
              <a:t>valor</a:t>
            </a:r>
            <a:r>
              <a:rPr lang="es-CL" sz="2800" dirty="0"/>
              <a:t> central para el cliente,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Al combinar varias funcionalidades, se complica su </a:t>
            </a:r>
            <a:r>
              <a:rPr lang="es-CL" sz="2800" b="1" dirty="0"/>
              <a:t>estimación</a:t>
            </a:r>
            <a:r>
              <a:rPr lang="es-CL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1665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756682" y="1304024"/>
            <a:ext cx="1067863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INVEST (</a:t>
            </a:r>
            <a:r>
              <a:rPr lang="es-CL" sz="2800" b="1" dirty="0" err="1"/>
              <a:t>Cohn</a:t>
            </a:r>
            <a:r>
              <a:rPr lang="es-CL" sz="2800" b="1" dirty="0"/>
              <a:t>, 2004): </a:t>
            </a:r>
            <a:r>
              <a:rPr lang="es-CL" sz="2800" dirty="0"/>
              <a:t>Ejemplo de requisito: </a:t>
            </a:r>
          </a:p>
          <a:p>
            <a:endParaRPr lang="es-CL" sz="2800" dirty="0"/>
          </a:p>
          <a:p>
            <a:r>
              <a:rPr lang="es-CL" sz="2800" dirty="0"/>
              <a:t>"La aplicación debe permitir a los usuarios registrarse y, tras completar el formulario, enviar un correo de confirmación y generar un código de descuento para su primera compra, el cual debe ser válido durante 30 días.“</a:t>
            </a:r>
          </a:p>
          <a:p>
            <a:endParaRPr lang="es-CL" sz="2800" dirty="0"/>
          </a:p>
          <a:p>
            <a:r>
              <a:rPr lang="es-CL" sz="2800" b="1" dirty="0" err="1"/>
              <a:t>Prompts</a:t>
            </a:r>
            <a:r>
              <a:rPr lang="es-CL" sz="2800" b="1" dirty="0"/>
              <a:t> para </a:t>
            </a:r>
            <a:r>
              <a:rPr lang="es-CL" sz="2800" b="1" dirty="0" err="1"/>
              <a:t>ChatGPT</a:t>
            </a:r>
            <a:r>
              <a:rPr lang="es-CL" sz="2800" b="1" dirty="0"/>
              <a:t>: </a:t>
            </a:r>
          </a:p>
          <a:p>
            <a:pPr marL="514350" indent="-514350">
              <a:buAutoNum type="arabicParenR"/>
            </a:pPr>
            <a:r>
              <a:rPr lang="es-CL" sz="2800" dirty="0"/>
              <a:t>Analiza este requisito de acuerdo a cada criterio de INVEST (</a:t>
            </a:r>
            <a:r>
              <a:rPr lang="es-CL" sz="2800" dirty="0" err="1"/>
              <a:t>Cohn</a:t>
            </a:r>
            <a:r>
              <a:rPr lang="es-CL" sz="2800" dirty="0"/>
              <a:t>, 2004). </a:t>
            </a:r>
          </a:p>
          <a:p>
            <a:pPr marL="514350" indent="-514350">
              <a:buAutoNum type="arabicParenR"/>
            </a:pPr>
            <a:r>
              <a:rPr lang="es-CL" sz="2800" dirty="0"/>
              <a:t>Haz una propuesta de requisito que cumpla cada criterio INVEST. Justifica la propuesta mediante una tabla.</a:t>
            </a:r>
          </a:p>
        </p:txBody>
      </p:sp>
    </p:spTree>
    <p:extLst>
      <p:ext uri="{BB962C8B-B14F-4D97-AF65-F5344CB8AC3E}">
        <p14:creationId xmlns:p14="http://schemas.microsoft.com/office/powerpoint/2010/main" val="3590326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requisitos individuales.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644011" y="2046531"/>
            <a:ext cx="98897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Restricciones: </a:t>
            </a:r>
            <a:r>
              <a:rPr lang="es-CL" sz="2800" dirty="0"/>
              <a:t>Reglas que restringen las opciones de diseño y/o implementación de una solución. Ejemplos: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Compatibilidad con otros sistemas,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Uso de estándares,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Limitaciones de presupuesto, tiempo, personal, habilidades.</a:t>
            </a:r>
          </a:p>
          <a:p>
            <a:endParaRPr lang="es-CL" sz="2800" dirty="0"/>
          </a:p>
          <a:p>
            <a:r>
              <a:rPr lang="es-CL" sz="2800" dirty="0"/>
              <a:t>Una adecuada trazabilidad evita que tengamos restricciones que no vienen de algún requisito. </a:t>
            </a:r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2509547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conjuntos de requisitos.</a:t>
            </a:r>
          </a:p>
        </p:txBody>
      </p:sp>
      <p:sp>
        <p:nvSpPr>
          <p:cNvPr id="5" name="Rectángulo 4"/>
          <p:cNvSpPr/>
          <p:nvPr/>
        </p:nvSpPr>
        <p:spPr>
          <a:xfrm>
            <a:off x="7561947" y="5978592"/>
            <a:ext cx="3497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L" dirty="0"/>
              <a:t>Wiegers &amp; Hokanson, 2023 (Cap.4)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922" y="1055698"/>
            <a:ext cx="8110153" cy="492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744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conjuntos de requisitos.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644011" y="2046531"/>
            <a:ext cx="108816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Identificación de Gaps (brechas):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Usualmente, es complejo y requiere experiencia en el dominio de problema.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frecuente que los </a:t>
            </a:r>
            <a:r>
              <a:rPr lang="es-CL" sz="2800" dirty="0" err="1"/>
              <a:t>stakeholders</a:t>
            </a:r>
            <a:r>
              <a:rPr lang="es-CL" sz="2800" dirty="0"/>
              <a:t> asuman que ciertas funcionalidades serán implementadas, </a:t>
            </a:r>
            <a:r>
              <a:rPr lang="es-CL" sz="2800" b="1" dirty="0"/>
              <a:t>sin decirlo </a:t>
            </a:r>
            <a:r>
              <a:rPr lang="es-CL" sz="2800" dirty="0"/>
              <a:t>explícitamente.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útil volver a mirar los objetivos de negocio y analizar la completitud desde ahí.</a:t>
            </a:r>
          </a:p>
          <a:p>
            <a:endParaRPr lang="es-CL" sz="2800" dirty="0"/>
          </a:p>
        </p:txBody>
      </p:sp>
    </p:spTree>
    <p:extLst>
      <p:ext uri="{BB962C8B-B14F-4D97-AF65-F5344CB8AC3E}">
        <p14:creationId xmlns:p14="http://schemas.microsoft.com/office/powerpoint/2010/main" val="747967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conjuntos de requisitos.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655158" y="1408578"/>
            <a:ext cx="1088168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Conflictos e inconsistencias: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Puede haber inconsistencias a distintos niveles jerárquicos (padre/hijo).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Puede haber inconsistencias entre requisitos del mismo nivel jerárquico.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 err="1"/>
              <a:t>Ejm</a:t>
            </a:r>
            <a:r>
              <a:rPr lang="es-CL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i="1" dirty="0"/>
              <a:t>"El sistema </a:t>
            </a:r>
            <a:r>
              <a:rPr lang="es-CL" sz="2800" b="1" i="1" dirty="0"/>
              <a:t>debe aplicar automáticamente </a:t>
            </a:r>
            <a:r>
              <a:rPr lang="es-CL" sz="2800" i="1" dirty="0"/>
              <a:t>un descuento del 10% en todos los productos durante las ofertas de temporada.“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i="1" dirty="0"/>
              <a:t>"El sistema </a:t>
            </a:r>
            <a:r>
              <a:rPr lang="es-CL" sz="2800" b="1" i="1" dirty="0"/>
              <a:t>no debe permitir descuentos adicionales </a:t>
            </a:r>
            <a:r>
              <a:rPr lang="es-CL" sz="2800" i="1" dirty="0"/>
              <a:t>en productos que ya estén en promoción o tengan un precio reducido."</a:t>
            </a:r>
          </a:p>
        </p:txBody>
      </p:sp>
    </p:spTree>
    <p:extLst>
      <p:ext uri="{BB962C8B-B14F-4D97-AF65-F5344CB8AC3E}">
        <p14:creationId xmlns:p14="http://schemas.microsoft.com/office/powerpoint/2010/main" val="2866321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conjuntos de requisitos.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655158" y="1408578"/>
            <a:ext cx="1088168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Múltiples representaciones: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útil usar diagramas que muestren la información de más de una manera.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Los clientes/usuarios pueden poner más atención a algunas maneras de representar la información.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 err="1"/>
              <a:t>Ejm</a:t>
            </a:r>
            <a:r>
              <a:rPr lang="es-CL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i="1" dirty="0"/>
              <a:t>Modelo Entidad-Relación.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i="1" dirty="0" err="1"/>
              <a:t>Mockups</a:t>
            </a:r>
            <a:r>
              <a:rPr lang="es-CL" sz="28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8587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P10: Analizar conjuntos de requisitos.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655158" y="1408578"/>
            <a:ext cx="1088168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Dependencias: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Es útil identificar requisitos que sólo pueden implementarse si otros requisitos ya fueron cubiertos.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r>
              <a:rPr lang="es-CL" sz="2800" dirty="0" err="1"/>
              <a:t>Ejm</a:t>
            </a:r>
            <a:r>
              <a:rPr lang="es-CL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i="1" dirty="0"/>
              <a:t>Informes que requieren estructuras de datos e información histórica.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i="1" dirty="0"/>
              <a:t>Informes que requieren múltiples fuentes de datos.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i="1" dirty="0"/>
              <a:t>Cursos alternativos que requieren que el caso base esté implementado.</a:t>
            </a:r>
          </a:p>
        </p:txBody>
      </p:sp>
    </p:spTree>
    <p:extLst>
      <p:ext uri="{BB962C8B-B14F-4D97-AF65-F5344CB8AC3E}">
        <p14:creationId xmlns:p14="http://schemas.microsoft.com/office/powerpoint/2010/main" val="34603150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Prácticas asociadas al análisis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1151129" y="2301713"/>
            <a:ext cx="988974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P10: Analizar requisitos individuales y conjuntos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P11: Crear modelos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P12: Crear y evaluar prototipos.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P13: Priorizar los requisitos. </a:t>
            </a:r>
          </a:p>
        </p:txBody>
      </p:sp>
      <p:sp>
        <p:nvSpPr>
          <p:cNvPr id="4" name="Rectángulo redondeado 3"/>
          <p:cNvSpPr/>
          <p:nvPr/>
        </p:nvSpPr>
        <p:spPr>
          <a:xfrm>
            <a:off x="943897" y="2182761"/>
            <a:ext cx="9955161" cy="693174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0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29672</TotalTime>
  <Words>1553</Words>
  <Application>Microsoft Office PowerPoint</Application>
  <PresentationFormat>Panorámica</PresentationFormat>
  <Paragraphs>185</Paragraphs>
  <Slides>22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Unidad 0 - Introducción</vt:lpstr>
      <vt:lpstr>¿Qué significa analizar los requisitos?</vt:lpstr>
      <vt:lpstr>¿Qué significa analizar los requisitos?</vt:lpstr>
      <vt:lpstr>Prácticas asociadas al análisis de requisitos</vt:lpstr>
      <vt:lpstr>P10: Analizar requisitos.</vt:lpstr>
      <vt:lpstr>P10: Analizar requisitos.</vt:lpstr>
      <vt:lpstr>P10: Analizar requisitos.</vt:lpstr>
      <vt:lpstr>P10: Analizar requisitos individuales.</vt:lpstr>
      <vt:lpstr>P10: Analizar requisitos individuales.</vt:lpstr>
      <vt:lpstr>P10: Analizar requisitos individuales.</vt:lpstr>
      <vt:lpstr>P10: Analizar requisitos individuales.</vt:lpstr>
      <vt:lpstr>P10: Analizar requisitos individuales.</vt:lpstr>
      <vt:lpstr>P10: Analizar requisitos individuales.</vt:lpstr>
      <vt:lpstr>P10: Analizar requisitos individuales.</vt:lpstr>
      <vt:lpstr>P10: Analizar requisitos individuales.</vt:lpstr>
      <vt:lpstr>P10: Analizar requisitos individuales.</vt:lpstr>
      <vt:lpstr>P10: Analizar conjuntos de requisitos.</vt:lpstr>
      <vt:lpstr>P10: Analizar conjuntos de requisitos.</vt:lpstr>
      <vt:lpstr>P10: Analizar conjuntos de requisitos.</vt:lpstr>
      <vt:lpstr>P10: Analizar conjuntos de requisitos.</vt:lpstr>
      <vt:lpstr>P10: Analizar conjuntos de requisitos.</vt:lpstr>
      <vt:lpstr>Prácticas asociadas al análisis de requisitos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192</cp:revision>
  <cp:lastPrinted>2020-10-05T12:16:48Z</cp:lastPrinted>
  <dcterms:created xsi:type="dcterms:W3CDTF">2018-03-05T20:26:11Z</dcterms:created>
  <dcterms:modified xsi:type="dcterms:W3CDTF">2025-09-22T12:23:21Z</dcterms:modified>
</cp:coreProperties>
</file>
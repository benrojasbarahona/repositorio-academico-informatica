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7" r:id="rId2"/>
    <p:sldId id="464" r:id="rId3"/>
    <p:sldId id="470" r:id="rId4"/>
    <p:sldId id="466" r:id="rId5"/>
    <p:sldId id="487" r:id="rId6"/>
    <p:sldId id="475" r:id="rId7"/>
    <p:sldId id="488" r:id="rId8"/>
    <p:sldId id="489" r:id="rId9"/>
    <p:sldId id="490" r:id="rId10"/>
    <p:sldId id="491" r:id="rId11"/>
    <p:sldId id="494" r:id="rId12"/>
    <p:sldId id="493" r:id="rId13"/>
    <p:sldId id="486" r:id="rId14"/>
  </p:sldIdLst>
  <p:sldSz cx="12192000" cy="6858000"/>
  <p:notesSz cx="7102475" cy="9388475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an Pablo Salazar Fernández" initials="JPS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8467" autoAdjust="0"/>
  </p:normalViewPr>
  <p:slideViewPr>
    <p:cSldViewPr snapToGrid="0">
      <p:cViewPr varScale="1">
        <p:scale>
          <a:sx n="88" d="100"/>
          <a:sy n="88" d="100"/>
        </p:scale>
        <p:origin x="8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421F1719-9756-4A84-82A5-4DD33F36571E}" type="datetimeFigureOut">
              <a:rPr lang="es-CL" smtClean="0"/>
              <a:t>28-09-2025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AA1FAC36-D20F-4D20-A1F7-B93EBCBA800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5022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BCCA8EBD-F228-4310-98D3-0AA28F568233}" type="datetimeFigureOut">
              <a:rPr lang="es-CL" smtClean="0"/>
              <a:t>28-09-2025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25" tIns="46813" rIns="93625" bIns="46813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10248" y="4518205"/>
            <a:ext cx="5681980" cy="3696712"/>
          </a:xfrm>
          <a:prstGeom prst="rect">
            <a:avLst/>
          </a:prstGeom>
        </p:spPr>
        <p:txBody>
          <a:bodyPr vert="horz" lIns="93625" tIns="46813" rIns="93625" bIns="46813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BF801272-3DC3-4F9E-9400-55ED7D4F32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43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Camino que se construyó</a:t>
            </a:r>
            <a:r>
              <a:rPr lang="es-CL" baseline="0" dirty="0"/>
              <a:t> &amp; camino que utilizan las personas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64285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Steven</a:t>
            </a:r>
            <a:r>
              <a:rPr lang="es-CL" baseline="0" dirty="0"/>
              <a:t> Thomas es otro autor en el área de desarrollo ágil.</a:t>
            </a:r>
          </a:p>
          <a:p>
            <a:endParaRPr lang="es-CL" baseline="0" dirty="0"/>
          </a:p>
          <a:p>
            <a:r>
              <a:rPr lang="es-CL" baseline="0" dirty="0"/>
              <a:t>El análisis de requisitos es un proceso iterativo e incremental. La comprensión que vamos adquiriendo no es uniforme.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82965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El</a:t>
            </a:r>
            <a:r>
              <a:rPr lang="es-CL" baseline="0" dirty="0"/>
              <a:t> análisis de requisitos es un proceso iterativo e incremental.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6457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El</a:t>
            </a:r>
            <a:r>
              <a:rPr lang="es-CL" baseline="0" dirty="0"/>
              <a:t> análisis de requisitos es un proceso iterativo e incremental.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46631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¿Qué</a:t>
            </a:r>
            <a:r>
              <a:rPr lang="es-CL" baseline="0" dirty="0"/>
              <a:t> modelos podemos utilizar? Varios de los que ya hemos visto.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63727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El</a:t>
            </a:r>
            <a:r>
              <a:rPr lang="es-CL" baseline="0" dirty="0"/>
              <a:t> análisis de requisitos es un proceso iterativo e incremental.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7260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Preguntar por</a:t>
            </a:r>
            <a:r>
              <a:rPr lang="es-CL" baseline="0" dirty="0"/>
              <a:t> número mágico de Miller (7+-2). ¿Quién puede retener el número más largo en la sala?</a:t>
            </a:r>
          </a:p>
          <a:p>
            <a:r>
              <a:rPr lang="es-CL" baseline="0" dirty="0"/>
              <a:t>George Miller, psicólogo, 1956.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70665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Preguntar por</a:t>
            </a:r>
            <a:r>
              <a:rPr lang="es-CL" baseline="0" dirty="0"/>
              <a:t> número mágico de Miller (7+-2). ¿Quién puede retener el número más largo en la sala?</a:t>
            </a:r>
          </a:p>
          <a:p>
            <a:r>
              <a:rPr lang="es-CL" baseline="0" dirty="0"/>
              <a:t>George Miller, psicólogo, 1956.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9613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s-CL" dirty="0"/>
              <a:t>Estructura vs comportamiento.</a:t>
            </a:r>
            <a:r>
              <a:rPr lang="es-CL" baseline="0" dirty="0"/>
              <a:t> Debemos entender ambos.</a:t>
            </a:r>
          </a:p>
          <a:p>
            <a:pPr marL="228600" indent="-228600">
              <a:buAutoNum type="arabicParenR"/>
            </a:pPr>
            <a:r>
              <a:rPr lang="es-CL" baseline="0" dirty="0"/>
              <a:t>Requisitos más complejos requieren más detalle.</a:t>
            </a:r>
          </a:p>
          <a:p>
            <a:pPr marL="228600" indent="-228600">
              <a:buAutoNum type="arabicParenR"/>
            </a:pPr>
            <a:r>
              <a:rPr lang="es-CL" baseline="0" dirty="0"/>
              <a:t>Un modelo estará incorrecto si no representa el problema.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755788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s-CL" dirty="0"/>
              <a:t>Estructura vs comportamiento.</a:t>
            </a:r>
            <a:r>
              <a:rPr lang="es-CL" baseline="0" dirty="0"/>
              <a:t> Debemos entender ambos.</a:t>
            </a:r>
          </a:p>
          <a:p>
            <a:pPr marL="228600" indent="-228600">
              <a:buAutoNum type="arabicParenR"/>
            </a:pPr>
            <a:r>
              <a:rPr lang="es-CL" baseline="0" dirty="0"/>
              <a:t>Requisitos más complejos requieren más detalle.</a:t>
            </a:r>
          </a:p>
          <a:p>
            <a:pPr marL="228600" indent="-228600">
              <a:buAutoNum type="arabicParenR"/>
            </a:pPr>
            <a:r>
              <a:rPr lang="es-CL" baseline="0" dirty="0"/>
              <a:t>Un modelo estará incorrecto si no representa el problema.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414333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s-CL" dirty="0"/>
              <a:t>Estructura vs comportamiento.</a:t>
            </a:r>
            <a:r>
              <a:rPr lang="es-CL" baseline="0" dirty="0"/>
              <a:t> Debemos entender ambos.</a:t>
            </a:r>
          </a:p>
          <a:p>
            <a:pPr marL="228600" indent="-228600">
              <a:buAutoNum type="arabicParenR"/>
            </a:pPr>
            <a:r>
              <a:rPr lang="es-CL" baseline="0" dirty="0"/>
              <a:t>Requisitos más complejos requieren más detalle.</a:t>
            </a:r>
          </a:p>
          <a:p>
            <a:pPr marL="228600" indent="-228600">
              <a:buAutoNum type="arabicParenR"/>
            </a:pPr>
            <a:r>
              <a:rPr lang="es-CL" baseline="0" dirty="0"/>
              <a:t>Un modelo estará incorrecto si no representa el problema. </a:t>
            </a:r>
          </a:p>
          <a:p>
            <a:pPr marL="228600" indent="-228600">
              <a:buAutoNum type="arabicParenR"/>
            </a:pPr>
            <a:endParaRPr lang="es-CL" baseline="0" dirty="0"/>
          </a:p>
          <a:p>
            <a:pPr marL="0" indent="0">
              <a:buNone/>
            </a:pPr>
            <a:r>
              <a:rPr lang="es-CL" baseline="0" dirty="0"/>
              <a:t>Explicar el modelo, pedir a los estudiantes que hagan preguntas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138689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9543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5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5952613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19061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599" y="6191013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19061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4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1" y="613410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134101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13410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77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357119" y="1316735"/>
            <a:ext cx="7284720" cy="5179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451103" y="1570736"/>
            <a:ext cx="11098784" cy="1944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184912" y="1944623"/>
            <a:ext cx="11988800" cy="1981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03200" y="2544064"/>
            <a:ext cx="11738864" cy="3194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29616" y="4519168"/>
            <a:ext cx="11812016" cy="18166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1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63303"/>
            <a:ext cx="9144000" cy="18466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77941"/>
            <a:ext cx="2804160" cy="276999"/>
          </a:xfrm>
        </p:spPr>
        <p:txBody>
          <a:bodyPr/>
          <a:lstStyle/>
          <a:p>
            <a:fld id="{A9667479-CA72-4F5A-B46B-B4A3B031F1A0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28-09-2025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45281" y="6377941"/>
            <a:ext cx="3901439" cy="276999"/>
          </a:xfrm>
        </p:spPr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78240" y="6377941"/>
            <a:ext cx="2804160" cy="276999"/>
          </a:xfrm>
        </p:spPr>
        <p:txBody>
          <a:bodyPr/>
          <a:lstStyle/>
          <a:p>
            <a:fld id="{55F34035-2F18-467C-941C-89571A5FBF17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47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7"/>
            <a:ext cx="103661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1"/>
            <a:ext cx="39014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586634"/>
            <a:ext cx="9144000" cy="923329"/>
          </a:xfrm>
        </p:spPr>
        <p:txBody>
          <a:bodyPr/>
          <a:lstStyle/>
          <a:p>
            <a:r>
              <a:rPr lang="es-CL" dirty="0"/>
              <a:t>Unidad 0 - Introducción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5461000"/>
            <a:ext cx="9144000" cy="738664"/>
          </a:xfrm>
        </p:spPr>
        <p:txBody>
          <a:bodyPr/>
          <a:lstStyle/>
          <a:p>
            <a:r>
              <a:rPr lang="es-CL" dirty="0"/>
              <a:t>INFO 208 – Ingeniería de Requisitos - 2025</a:t>
            </a:r>
          </a:p>
          <a:p>
            <a:r>
              <a:rPr lang="es-CL" dirty="0"/>
              <a:t>Juan Pablo Salazar F.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6945" y="2678966"/>
            <a:ext cx="12192000" cy="8309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ctr">
              <a:defRPr sz="45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sz="5400" kern="0" dirty="0">
                <a:solidFill>
                  <a:prstClr val="black"/>
                </a:solidFill>
              </a:rPr>
              <a:t>Unidad 2. Análisis de requisitos</a:t>
            </a:r>
          </a:p>
        </p:txBody>
      </p:sp>
    </p:spTree>
    <p:extLst>
      <p:ext uri="{BB962C8B-B14F-4D97-AF65-F5344CB8AC3E}">
        <p14:creationId xmlns:p14="http://schemas.microsoft.com/office/powerpoint/2010/main" val="29268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significa analizar los requisitos?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670105" y="2522940"/>
            <a:ext cx="112170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i="1" dirty="0"/>
              <a:t>“Asegurarse de que se </a:t>
            </a:r>
            <a:r>
              <a:rPr lang="es-CL" sz="2800" b="1" i="1" dirty="0"/>
              <a:t>entienden</a:t>
            </a:r>
            <a:r>
              <a:rPr lang="es-CL" sz="2800" i="1" dirty="0"/>
              <a:t> las necesidades de los </a:t>
            </a:r>
            <a:r>
              <a:rPr lang="es-CL" sz="2800" i="1" dirty="0" err="1"/>
              <a:t>stakeholders</a:t>
            </a:r>
            <a:r>
              <a:rPr lang="es-CL" sz="2800" i="1" dirty="0"/>
              <a:t> y que </a:t>
            </a:r>
            <a:r>
              <a:rPr lang="es-CL" sz="2800" b="1" i="1" dirty="0"/>
              <a:t>es posible definir, acordar, construir y testear una solución </a:t>
            </a:r>
            <a:r>
              <a:rPr lang="es-CL" sz="2800" i="1" dirty="0"/>
              <a:t>satisfactoria”</a:t>
            </a:r>
          </a:p>
          <a:p>
            <a:pPr algn="r"/>
            <a:r>
              <a:rPr lang="es-CL" sz="2800" dirty="0"/>
              <a:t>Wiegers &amp; </a:t>
            </a:r>
            <a:r>
              <a:rPr lang="es-CL" sz="2800" dirty="0" err="1"/>
              <a:t>Hokakson</a:t>
            </a:r>
            <a:r>
              <a:rPr lang="es-CL" sz="2800" dirty="0"/>
              <a:t>, 2023 </a:t>
            </a:r>
          </a:p>
        </p:txBody>
      </p:sp>
    </p:spTree>
    <p:extLst>
      <p:ext uri="{BB962C8B-B14F-4D97-AF65-F5344CB8AC3E}">
        <p14:creationId xmlns:p14="http://schemas.microsoft.com/office/powerpoint/2010/main" val="2197493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P10: Analizar requisitos.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164" y="1149873"/>
            <a:ext cx="8537669" cy="4754388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326063" y="5997891"/>
            <a:ext cx="115398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http://agilismoatwork.blogspot.com/2013/06/desarrollo-iterativo-versus-incremental.html</a:t>
            </a:r>
          </a:p>
        </p:txBody>
      </p:sp>
    </p:spTree>
    <p:extLst>
      <p:ext uri="{BB962C8B-B14F-4D97-AF65-F5344CB8AC3E}">
        <p14:creationId xmlns:p14="http://schemas.microsoft.com/office/powerpoint/2010/main" val="860833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Prácticas asociadas al análisis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1151129" y="2301713"/>
            <a:ext cx="98897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P10: Analizar requisitos individuales y conjuntos de requisitos.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P11: Crear modelos de requisitos.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P12: Crear y evaluar prototipos.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P13: Priorizar los requisitos. </a:t>
            </a:r>
          </a:p>
        </p:txBody>
      </p:sp>
      <p:sp>
        <p:nvSpPr>
          <p:cNvPr id="4" name="Rectángulo redondeado 3"/>
          <p:cNvSpPr/>
          <p:nvPr/>
        </p:nvSpPr>
        <p:spPr>
          <a:xfrm>
            <a:off x="1085708" y="2700670"/>
            <a:ext cx="9955161" cy="577860"/>
          </a:xfrm>
          <a:prstGeom prst="roundRect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70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P11: Crear modelos de requisitos.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644011" y="1663759"/>
            <a:ext cx="98897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Es una buena idea desarrollar </a:t>
            </a:r>
            <a:r>
              <a:rPr lang="es-CL" sz="2800" b="1" dirty="0"/>
              <a:t>modelos visuales </a:t>
            </a:r>
            <a:r>
              <a:rPr lang="es-CL" sz="2800" dirty="0"/>
              <a:t>para representar los </a:t>
            </a:r>
            <a:r>
              <a:rPr lang="es-CL" sz="2800" b="1" dirty="0"/>
              <a:t>requisitos</a:t>
            </a:r>
            <a:r>
              <a:rPr lang="es-CL" sz="2800" dirty="0"/>
              <a:t>. </a:t>
            </a:r>
          </a:p>
          <a:p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Un conjunto de modelos visuales nos permitirá: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Darnos cuenta cómo se relaciona cada requisito con el todo.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Iterar rápidamente entre diferentes perspectivas.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Actualizar los requisitos si estos cambian.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Encontrar errores u omisiones.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54700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P11: Crear modelos de requisitos.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460" y="1207193"/>
            <a:ext cx="6333510" cy="489688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967" y="1584446"/>
            <a:ext cx="5143066" cy="414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361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P11: ¿Cómo se ve una lista de requisitos?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167" y="1015462"/>
            <a:ext cx="5561119" cy="494403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821" y="1542368"/>
            <a:ext cx="5242432" cy="4235831"/>
          </a:xfrm>
          <a:prstGeom prst="rect">
            <a:avLst/>
          </a:prstGeom>
          <a:ln>
            <a:solidFill>
              <a:schemeClr val="accent1"/>
            </a:solidFill>
          </a:ln>
          <a:effectLst>
            <a:softEdge rad="25400"/>
          </a:effectLst>
        </p:spPr>
      </p:pic>
      <p:sp>
        <p:nvSpPr>
          <p:cNvPr id="6" name="Flecha derecha 5"/>
          <p:cNvSpPr/>
          <p:nvPr/>
        </p:nvSpPr>
        <p:spPr>
          <a:xfrm>
            <a:off x="5763438" y="3314673"/>
            <a:ext cx="321288" cy="3456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/>
          <p:cNvSpPr/>
          <p:nvPr/>
        </p:nvSpPr>
        <p:spPr>
          <a:xfrm>
            <a:off x="267439" y="5959496"/>
            <a:ext cx="116571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https://www.studocu.com/co/document/universidad-catolica-de-colombia/ingenieria-de-software/ejemplo-formato-ieee-830/5670142</a:t>
            </a:r>
          </a:p>
        </p:txBody>
      </p:sp>
    </p:spTree>
    <p:extLst>
      <p:ext uri="{BB962C8B-B14F-4D97-AF65-F5344CB8AC3E}">
        <p14:creationId xmlns:p14="http://schemas.microsoft.com/office/powerpoint/2010/main" val="890303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P11: ¿Cómo nos ayudan los modelos?</a:t>
            </a:r>
            <a:endParaRPr lang="en-US" dirty="0"/>
          </a:p>
        </p:txBody>
      </p:sp>
      <p:sp>
        <p:nvSpPr>
          <p:cNvPr id="7" name="Rectángulo 6"/>
          <p:cNvSpPr/>
          <p:nvPr/>
        </p:nvSpPr>
        <p:spPr>
          <a:xfrm>
            <a:off x="267439" y="5959496"/>
            <a:ext cx="116571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https://www.studocu.com/co/document/universidad-catolica-de-colombia/ingenieria-de-software/ejemplo-formato-ieee-830/5670142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247" y="1271658"/>
            <a:ext cx="4731378" cy="4687838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6719776" y="1514903"/>
            <a:ext cx="520478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b="1" dirty="0"/>
              <a:t>Las listas largas son difíciles de digerir y evaluar </a:t>
            </a:r>
            <a:r>
              <a:rPr lang="es-CL" sz="2800" dirty="0"/>
              <a:t>(imagine un sistema con cientos de requisitos).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Las </a:t>
            </a:r>
            <a:r>
              <a:rPr lang="es-CL" sz="2800" b="1" dirty="0"/>
              <a:t>personas absorben información de diferentes maneras</a:t>
            </a:r>
            <a:r>
              <a:rPr lang="es-CL" sz="2800" dirty="0"/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Distintos </a:t>
            </a:r>
            <a:r>
              <a:rPr lang="es-CL" sz="2800" dirty="0" err="1"/>
              <a:t>stakeholders</a:t>
            </a:r>
            <a:r>
              <a:rPr lang="es-CL" sz="2800" dirty="0"/>
              <a:t> requieren </a:t>
            </a:r>
            <a:r>
              <a:rPr lang="es-CL" sz="2800" b="1" dirty="0"/>
              <a:t>diferente nivel de detalle</a:t>
            </a:r>
            <a:r>
              <a:rPr lang="es-CL" sz="2800" dirty="0"/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2969098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P11: ¿Qué modelos podemos utilizar?</a:t>
            </a:r>
            <a:endParaRPr lang="en-US" dirty="0"/>
          </a:p>
        </p:txBody>
      </p:sp>
      <p:sp>
        <p:nvSpPr>
          <p:cNvPr id="8" name="CuadroTexto 7"/>
          <p:cNvSpPr txBox="1"/>
          <p:nvPr/>
        </p:nvSpPr>
        <p:spPr>
          <a:xfrm>
            <a:off x="986118" y="1514903"/>
            <a:ext cx="1093843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b="1" dirty="0"/>
              <a:t>Diagrama de Ishikawa.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b="1" dirty="0"/>
              <a:t>BPMN </a:t>
            </a:r>
            <a:r>
              <a:rPr lang="es-CL" sz="2800" dirty="0"/>
              <a:t>(Business Process </a:t>
            </a:r>
            <a:r>
              <a:rPr lang="es-CL" sz="2800" dirty="0" err="1"/>
              <a:t>Model</a:t>
            </a:r>
            <a:r>
              <a:rPr lang="es-CL" sz="2800" dirty="0"/>
              <a:t> and </a:t>
            </a:r>
            <a:r>
              <a:rPr lang="es-CL" sz="2800" dirty="0" err="1"/>
              <a:t>Notation</a:t>
            </a:r>
            <a:r>
              <a:rPr lang="es-CL" sz="2800" dirty="0"/>
              <a:t>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b="1" dirty="0"/>
              <a:t>Análisis estructurado</a:t>
            </a:r>
            <a:r>
              <a:rPr lang="es-CL" sz="2800" dirty="0"/>
              <a:t>.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Diagramas de Contexto, de Ecosistema y de Flujo de Datos.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Modelo Entidad-Relación.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b="1" dirty="0"/>
              <a:t>UML</a:t>
            </a:r>
            <a:r>
              <a:rPr lang="es-CL" sz="2800" dirty="0"/>
              <a:t> (</a:t>
            </a:r>
            <a:r>
              <a:rPr lang="es-CL" sz="2800" dirty="0" err="1"/>
              <a:t>Unified</a:t>
            </a:r>
            <a:r>
              <a:rPr lang="es-CL" sz="2800" dirty="0"/>
              <a:t> </a:t>
            </a:r>
            <a:r>
              <a:rPr lang="es-CL" sz="2800" dirty="0" err="1"/>
              <a:t>Modeling</a:t>
            </a:r>
            <a:r>
              <a:rPr lang="es-CL" sz="2800" dirty="0"/>
              <a:t> </a:t>
            </a:r>
            <a:r>
              <a:rPr lang="es-CL" sz="2800" dirty="0" err="1"/>
              <a:t>Language</a:t>
            </a:r>
            <a:r>
              <a:rPr lang="es-CL" sz="2800" dirty="0"/>
              <a:t>). Algunos ejemplos: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Casos de Uso.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Diagramas de Secuencia.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Diagramas de Clases.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Diagrama de Actividades.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316599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P11: Claves en análisis.</a:t>
            </a:r>
            <a:endParaRPr lang="en-US" dirty="0"/>
          </a:p>
        </p:txBody>
      </p:sp>
      <p:sp>
        <p:nvSpPr>
          <p:cNvPr id="8" name="CuadroTexto 7"/>
          <p:cNvSpPr txBox="1"/>
          <p:nvPr/>
        </p:nvSpPr>
        <p:spPr>
          <a:xfrm>
            <a:off x="986118" y="1514903"/>
            <a:ext cx="1093843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Escoger diagramas que nos permitan modelar aspectos de la </a:t>
            </a:r>
            <a:r>
              <a:rPr lang="es-CL" sz="2800" b="1" dirty="0"/>
              <a:t>estructura</a:t>
            </a:r>
            <a:r>
              <a:rPr lang="es-CL" sz="2800" dirty="0"/>
              <a:t> y del </a:t>
            </a:r>
            <a:r>
              <a:rPr lang="es-CL" sz="2800" b="1" dirty="0"/>
              <a:t>comportamiento</a:t>
            </a:r>
            <a:r>
              <a:rPr lang="es-CL" sz="2800" dirty="0"/>
              <a:t> del sistema. </a:t>
            </a:r>
          </a:p>
          <a:p>
            <a:pPr lvl="1"/>
            <a:endParaRPr lang="es-CL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Utilizar diagramas con mayor o menor nivel de detalle, dependiendo de la </a:t>
            </a:r>
            <a:r>
              <a:rPr lang="es-CL" sz="2800" b="1" dirty="0"/>
              <a:t>complejidad</a:t>
            </a:r>
            <a:r>
              <a:rPr lang="es-CL" sz="2800" dirty="0"/>
              <a:t> de/los requerimientos.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Si somos respetuosos de la sintaxis, </a:t>
            </a:r>
            <a:r>
              <a:rPr lang="es-CL" sz="2800" b="1" dirty="0"/>
              <a:t>no hay diagramas “buenos” o “malos”</a:t>
            </a:r>
            <a:r>
              <a:rPr lang="es-CL" sz="2800" dirty="0"/>
              <a:t>, sino aquellos que representan o no los requisitos.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Si </a:t>
            </a:r>
            <a:r>
              <a:rPr lang="es-CL" sz="2800" b="1" dirty="0"/>
              <a:t>utilizamos varios diagramas </a:t>
            </a:r>
            <a:r>
              <a:rPr lang="es-CL" sz="2800" dirty="0"/>
              <a:t>que “conversan entre sí”, será más fácil que logremos una especificación más completa. </a:t>
            </a:r>
          </a:p>
        </p:txBody>
      </p:sp>
    </p:spTree>
    <p:extLst>
      <p:ext uri="{BB962C8B-B14F-4D97-AF65-F5344CB8AC3E}">
        <p14:creationId xmlns:p14="http://schemas.microsoft.com/office/powerpoint/2010/main" val="2749826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P11: Ejemplo – Gestión de Prácticas</a:t>
            </a:r>
            <a:endParaRPr lang="en-US" dirty="0"/>
          </a:p>
        </p:txBody>
      </p:sp>
      <p:sp>
        <p:nvSpPr>
          <p:cNvPr id="8" name="CuadroTexto 7"/>
          <p:cNvSpPr txBox="1"/>
          <p:nvPr/>
        </p:nvSpPr>
        <p:spPr>
          <a:xfrm>
            <a:off x="268942" y="1514903"/>
            <a:ext cx="1165561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A continuación, veremos un diagrama con un levantamiento preliminar acerca del </a:t>
            </a:r>
            <a:r>
              <a:rPr lang="es-CL" sz="2800" b="1" dirty="0"/>
              <a:t>proceso de gestión de prácticas</a:t>
            </a:r>
            <a:r>
              <a:rPr lang="es-CL" sz="2800" dirty="0"/>
              <a:t> en la FCI-UACh.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En parte, cómo es.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En parte, cómo pudiese ser.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Se les invita a </a:t>
            </a:r>
            <a:r>
              <a:rPr lang="es-CL" sz="2800" b="1" dirty="0"/>
              <a:t>revisar el diagrama </a:t>
            </a:r>
            <a:r>
              <a:rPr lang="es-CL" sz="2800" dirty="0"/>
              <a:t>y a </a:t>
            </a:r>
            <a:r>
              <a:rPr lang="es-CL" sz="2800" b="1" dirty="0"/>
              <a:t>hacer preguntas </a:t>
            </a:r>
            <a:r>
              <a:rPr lang="es-CL" sz="2800" dirty="0"/>
              <a:t>respecto de: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Cuestiones que no están claras.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Cuestiones que se debiesen detallar/precisar.</a:t>
            </a:r>
          </a:p>
          <a:p>
            <a:pPr lvl="2" algn="ctr"/>
            <a:r>
              <a:rPr lang="es-CL" sz="2800" b="1" dirty="0"/>
              <a:t>(ingrese a menti.com, </a:t>
            </a:r>
            <a:r>
              <a:rPr lang="es-CL" sz="2800" b="1"/>
              <a:t>código 8289 5796)</a:t>
            </a:r>
            <a:endParaRPr lang="es-CL" sz="28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Veremos cómo incorporar algunas de esas preguntas al diagrama.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2797330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P11: Ejemplo – Diagrama de Proceso</a:t>
            </a:r>
            <a:endParaRPr lang="en-U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784" y="0"/>
            <a:ext cx="10688216" cy="6743437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4114805" y="6041322"/>
            <a:ext cx="54661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L" sz="2400" b="1" dirty="0"/>
              <a:t>ingrese a menti.com, código 8289 5796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94727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Prácticas asociadas al análisis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1151129" y="2301713"/>
            <a:ext cx="98897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P10: Analizar requisitos individuales y conjuntos de requisitos.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P11: Crear modelos de requisitos.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P12: Crear y evaluar prototipos.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P13: Priorizar los requisitos. </a:t>
            </a:r>
          </a:p>
        </p:txBody>
      </p:sp>
      <p:sp>
        <p:nvSpPr>
          <p:cNvPr id="4" name="Rectángulo redondeado 3"/>
          <p:cNvSpPr/>
          <p:nvPr/>
        </p:nvSpPr>
        <p:spPr>
          <a:xfrm>
            <a:off x="1085708" y="2785730"/>
            <a:ext cx="9955161" cy="423924"/>
          </a:xfrm>
          <a:prstGeom prst="roundRect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04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30358</TotalTime>
  <Words>805</Words>
  <Application>Microsoft Office PowerPoint</Application>
  <PresentationFormat>Panorámica</PresentationFormat>
  <Paragraphs>101</Paragraphs>
  <Slides>13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Unidad 0 - Introducción</vt:lpstr>
      <vt:lpstr>¿Qué significa analizar los requisitos?</vt:lpstr>
      <vt:lpstr>P10: Analizar requisitos.</vt:lpstr>
      <vt:lpstr>Prácticas asociadas al análisis de requisitos</vt:lpstr>
      <vt:lpstr>P11: Crear modelos de requisitos.</vt:lpstr>
      <vt:lpstr>P11: Crear modelos de requisitos.</vt:lpstr>
      <vt:lpstr>P11: ¿Cómo se ve una lista de requisitos?</vt:lpstr>
      <vt:lpstr>P11: ¿Cómo nos ayudan los modelos?</vt:lpstr>
      <vt:lpstr>P11: ¿Qué modelos podemos utilizar?</vt:lpstr>
      <vt:lpstr>P11: Claves en análisis.</vt:lpstr>
      <vt:lpstr>P11: Ejemplo – Gestión de Prácticas</vt:lpstr>
      <vt:lpstr>P11: Ejemplo – Diagrama de Proceso</vt:lpstr>
      <vt:lpstr>Prácticas asociadas al análisis de requisitos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0 - Introducción</dc:title>
  <dc:creator>Valeria Henriquez Norambuena</dc:creator>
  <cp:lastModifiedBy>Juan Pablo Salazar Fernández</cp:lastModifiedBy>
  <cp:revision>196</cp:revision>
  <cp:lastPrinted>2020-10-05T12:16:48Z</cp:lastPrinted>
  <dcterms:created xsi:type="dcterms:W3CDTF">2018-03-05T20:26:11Z</dcterms:created>
  <dcterms:modified xsi:type="dcterms:W3CDTF">2025-09-29T12:39:52Z</dcterms:modified>
</cp:coreProperties>
</file>
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7" r:id="rId2"/>
    <p:sldId id="449" r:id="rId3"/>
    <p:sldId id="564" r:id="rId4"/>
    <p:sldId id="557" r:id="rId5"/>
    <p:sldId id="565" r:id="rId6"/>
    <p:sldId id="524" r:id="rId7"/>
    <p:sldId id="575" r:id="rId8"/>
    <p:sldId id="566" r:id="rId9"/>
    <p:sldId id="567" r:id="rId10"/>
    <p:sldId id="568" r:id="rId11"/>
    <p:sldId id="570" r:id="rId12"/>
    <p:sldId id="571" r:id="rId13"/>
    <p:sldId id="572" r:id="rId14"/>
    <p:sldId id="573" r:id="rId15"/>
    <p:sldId id="574" r:id="rId16"/>
  </p:sldIdLst>
  <p:sldSz cx="12192000" cy="6858000"/>
  <p:notesSz cx="7102475" cy="9388475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an Pablo Salazar Fernández" initials="JPS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3525" autoAdjust="0"/>
  </p:normalViewPr>
  <p:slideViewPr>
    <p:cSldViewPr snapToGrid="0">
      <p:cViewPr varScale="1">
        <p:scale>
          <a:sx n="94" d="100"/>
          <a:sy n="94" d="100"/>
        </p:scale>
        <p:origin x="6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11-11-2025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40" cy="471055"/>
          </a:xfrm>
          <a:prstGeom prst="rect">
            <a:avLst/>
          </a:prstGeom>
        </p:spPr>
        <p:txBody>
          <a:bodyPr vert="horz" lIns="93625" tIns="46813" rIns="93625" bIns="46813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11-11-2025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25" tIns="46813" rIns="93625" bIns="46813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5"/>
            <a:ext cx="5681980" cy="3696712"/>
          </a:xfrm>
          <a:prstGeom prst="rect">
            <a:avLst/>
          </a:prstGeom>
        </p:spPr>
        <p:txBody>
          <a:bodyPr vert="horz" lIns="93625" tIns="46813" rIns="93625" bIns="46813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40" cy="471054"/>
          </a:xfrm>
          <a:prstGeom prst="rect">
            <a:avLst/>
          </a:prstGeom>
        </p:spPr>
        <p:txBody>
          <a:bodyPr vert="horz" lIns="93625" tIns="46813" rIns="93625" bIns="46813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02021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7794A-3749-9E5C-9E80-474CEBF1B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7D69E0E-16F7-3F6C-4F2B-23ACCBF47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D7A12B7-06F8-99C0-D4D5-201EEAFEDA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4FB83DD-DAA9-B13A-5D6A-62E1DF980C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093822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B943E-906E-50CA-D79E-A6D1F0E70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F490216-15D2-C1F9-C51B-746FBBC6BA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E1C2ECD-5C34-F2D4-46F7-51FD82373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C55E50A-6E2F-8D8C-1DBE-23E1D90DF1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04937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EB567-92D7-44F5-0741-0BA396F2D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1682287-B0DA-A23E-1260-F654223A70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4C25F2-3737-5BDF-68EF-CDE6F7CB0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1594C16-4775-3D01-700F-42ED4EAA62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9904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6314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1AF18-9925-E4BF-7455-0C22F835E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2709A54-CFF2-2489-B587-376522732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D077B4-B982-464A-8CC0-909E633E8C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Vemos</a:t>
            </a:r>
            <a:r>
              <a:rPr lang="en-US" dirty="0"/>
              <a:t> que SCRUM “conversa” bien con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enfoque</a:t>
            </a:r>
            <a:r>
              <a:rPr lang="en-US" dirty="0"/>
              <a:t> de gestion de </a:t>
            </a:r>
            <a:r>
              <a:rPr lang="en-US" dirty="0" err="1"/>
              <a:t>requisitos</a:t>
            </a:r>
            <a:r>
              <a:rPr lang="en-US" dirty="0"/>
              <a:t> y baselines.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9890559-5850-0024-D966-738C4657CD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37458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4C9F7-5F30-4090-039F-A34710D81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FB39198-1D9D-866F-052F-A4B3B65DB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6CEBFC4-BF5B-3644-425C-984B780C5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Time-bound: </a:t>
            </a:r>
            <a:r>
              <a:rPr lang="en-US" dirty="0" err="1"/>
              <a:t>facilita</a:t>
            </a:r>
            <a:r>
              <a:rPr lang="en-US" dirty="0"/>
              <a:t> la gestion y </a:t>
            </a:r>
            <a:r>
              <a:rPr lang="en-US" dirty="0" err="1"/>
              <a:t>coordinación</a:t>
            </a:r>
            <a:r>
              <a:rPr lang="en-US" dirty="0"/>
              <a:t>. </a:t>
            </a:r>
            <a:r>
              <a:rPr lang="en-US" dirty="0" err="1"/>
              <a:t>Ordena</a:t>
            </a:r>
            <a:r>
              <a:rPr lang="en-US" dirty="0"/>
              <a:t> </a:t>
            </a:r>
            <a:r>
              <a:rPr lang="en-US" dirty="0" err="1"/>
              <a:t>costos</a:t>
            </a:r>
            <a:r>
              <a:rPr lang="en-US" dirty="0"/>
              <a:t> y </a:t>
            </a:r>
            <a:r>
              <a:rPr lang="en-US" dirty="0" err="1"/>
              <a:t>pagos</a:t>
            </a:r>
            <a:r>
              <a:rPr lang="en-US" dirty="0"/>
              <a:t> a </a:t>
            </a:r>
            <a:r>
              <a:rPr lang="en-US" dirty="0" err="1"/>
              <a:t>terceros</a:t>
            </a:r>
            <a:r>
              <a:rPr lang="en-US" dirty="0"/>
              <a:t>. </a:t>
            </a:r>
            <a:r>
              <a:rPr lang="en-US" dirty="0" err="1"/>
              <a:t>Puede</a:t>
            </a:r>
            <a:r>
              <a:rPr lang="en-US" dirty="0"/>
              <a:t> ser </a:t>
            </a:r>
            <a:r>
              <a:rPr lang="en-US" dirty="0" err="1"/>
              <a:t>difícil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entregables</a:t>
            </a:r>
            <a:r>
              <a:rPr lang="en-US" dirty="0"/>
              <a:t> </a:t>
            </a:r>
            <a:r>
              <a:rPr lang="en-US" dirty="0" err="1"/>
              <a:t>significativos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Scope-bound: </a:t>
            </a:r>
            <a:r>
              <a:rPr lang="en-US" dirty="0" err="1"/>
              <a:t>facilita</a:t>
            </a:r>
            <a:r>
              <a:rPr lang="en-US" dirty="0"/>
              <a:t> la </a:t>
            </a:r>
            <a:r>
              <a:rPr lang="en-US" dirty="0" err="1"/>
              <a:t>definición</a:t>
            </a:r>
            <a:r>
              <a:rPr lang="en-US" dirty="0"/>
              <a:t> </a:t>
            </a:r>
            <a:r>
              <a:rPr lang="en-US" dirty="0" err="1"/>
              <a:t>lógica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incrementos</a:t>
            </a:r>
            <a:r>
              <a:rPr lang="en-US" dirty="0"/>
              <a:t>. Es usual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iteraciones</a:t>
            </a:r>
            <a:r>
              <a:rPr lang="en-US" dirty="0"/>
              <a:t> de </a:t>
            </a:r>
            <a:r>
              <a:rPr lang="en-US" dirty="0" err="1"/>
              <a:t>diferente</a:t>
            </a:r>
            <a:r>
              <a:rPr lang="en-US" dirty="0"/>
              <a:t> </a:t>
            </a:r>
            <a:r>
              <a:rPr lang="en-US" dirty="0" err="1"/>
              <a:t>duración</a:t>
            </a:r>
            <a:r>
              <a:rPr lang="en-US" dirty="0"/>
              <a:t>, </a:t>
            </a:r>
            <a:r>
              <a:rPr lang="en-US" dirty="0" err="1"/>
              <a:t>eso</a:t>
            </a:r>
            <a:r>
              <a:rPr lang="en-US" dirty="0"/>
              <a:t> es </a:t>
            </a:r>
            <a:r>
              <a:rPr lang="en-US" dirty="0" err="1"/>
              <a:t>difícil</a:t>
            </a:r>
            <a:r>
              <a:rPr lang="en-US" dirty="0"/>
              <a:t> de </a:t>
            </a:r>
            <a:r>
              <a:rPr lang="en-US" dirty="0" err="1"/>
              <a:t>justificar</a:t>
            </a:r>
            <a:r>
              <a:rPr lang="en-US" dirty="0"/>
              <a:t>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Es </a:t>
            </a:r>
            <a:r>
              <a:rPr lang="en-US" dirty="0" err="1"/>
              <a:t>importante</a:t>
            </a:r>
            <a:r>
              <a:rPr lang="en-US" dirty="0"/>
              <a:t> que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organización</a:t>
            </a:r>
            <a:r>
              <a:rPr lang="en-US" dirty="0"/>
              <a:t> </a:t>
            </a:r>
            <a:r>
              <a:rPr lang="en-US" dirty="0" err="1"/>
              <a:t>defina</a:t>
            </a:r>
            <a:r>
              <a:rPr lang="en-US" dirty="0"/>
              <a:t> con </a:t>
            </a:r>
            <a:r>
              <a:rPr lang="en-US" dirty="0" err="1"/>
              <a:t>claridad</a:t>
            </a:r>
            <a:r>
              <a:rPr lang="en-US" dirty="0"/>
              <a:t> </a:t>
            </a:r>
            <a:r>
              <a:rPr lang="en-US" dirty="0" err="1"/>
              <a:t>cuál</a:t>
            </a:r>
            <a:r>
              <a:rPr lang="en-US" dirty="0"/>
              <a:t> </a:t>
            </a:r>
            <a:r>
              <a:rPr lang="en-US" dirty="0" err="1"/>
              <a:t>enfoque</a:t>
            </a:r>
            <a:r>
              <a:rPr lang="en-US" dirty="0"/>
              <a:t> </a:t>
            </a:r>
            <a:r>
              <a:rPr lang="en-US" dirty="0" err="1"/>
              <a:t>escogerá</a:t>
            </a:r>
            <a:r>
              <a:rPr lang="en-US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2B035FC-A318-E704-D6A3-07B6CEEA34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8804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A6708-7EC5-7096-993D-CA3DA5F51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4349E7-9525-5EE0-23E5-21E5119989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B1FE9B1-AD98-C53A-3365-2CA8B9C98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AA679F-CEDE-15D5-6CA7-F001E9BF3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5157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D6950-BD1F-58B1-F120-B8DE10D80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59A6AA5-0C92-AED4-D71A-AACB93871F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6147C0E-CA48-9C11-8FE6-041FAF694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Veamos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 </a:t>
            </a:r>
            <a:r>
              <a:rPr lang="en-US" dirty="0" err="1"/>
              <a:t>esta</a:t>
            </a:r>
            <a:r>
              <a:rPr lang="en-US" dirty="0"/>
              <a:t> </a:t>
            </a:r>
            <a:r>
              <a:rPr lang="en-US" dirty="0" err="1"/>
              <a:t>definición</a:t>
            </a:r>
            <a:r>
              <a:rPr lang="en-US" dirty="0"/>
              <a:t> de 3 baselines.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Importante</a:t>
            </a:r>
            <a:r>
              <a:rPr lang="en-US" dirty="0"/>
              <a:t> </a:t>
            </a:r>
            <a:r>
              <a:rPr lang="en-US" dirty="0" err="1"/>
              <a:t>destacar</a:t>
            </a:r>
            <a:r>
              <a:rPr lang="en-US" dirty="0"/>
              <a:t> que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decisiones</a:t>
            </a:r>
            <a:r>
              <a:rPr lang="en-US" dirty="0"/>
              <a:t> se </a:t>
            </a:r>
            <a:r>
              <a:rPr lang="en-US" dirty="0" err="1"/>
              <a:t>toma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conjunto con </a:t>
            </a:r>
            <a:r>
              <a:rPr lang="en-US" dirty="0" err="1"/>
              <a:t>los</a:t>
            </a:r>
            <a:r>
              <a:rPr lang="en-US" dirty="0"/>
              <a:t> stakeholders.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9168B89-B0B3-6836-9074-451EA56AC8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606749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C0681-6672-4CBF-47A1-248B0C90D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B1FE9AC-6205-CA5C-7E01-2E459CAD4F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8A0375E-E020-178B-08E7-B6D73036B8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 err="1"/>
              <a:t>Priorizamos</a:t>
            </a:r>
            <a:r>
              <a:rPr lang="en-US" dirty="0"/>
              <a:t> </a:t>
            </a:r>
            <a:r>
              <a:rPr lang="en-US" dirty="0" err="1"/>
              <a:t>requisitos</a:t>
            </a:r>
            <a:r>
              <a:rPr lang="en-US" dirty="0"/>
              <a:t> con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usuarios</a:t>
            </a:r>
            <a:r>
              <a:rPr lang="en-US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Revisamos</a:t>
            </a:r>
            <a:r>
              <a:rPr lang="en-US" dirty="0"/>
              <a:t> </a:t>
            </a:r>
            <a:r>
              <a:rPr lang="en-US" dirty="0" err="1"/>
              <a:t>cuáles</a:t>
            </a:r>
            <a:r>
              <a:rPr lang="en-US" dirty="0"/>
              <a:t> </a:t>
            </a:r>
            <a:r>
              <a:rPr lang="en-US" dirty="0" err="1"/>
              <a:t>historias</a:t>
            </a:r>
            <a:r>
              <a:rPr lang="en-US" dirty="0"/>
              <a:t> de </a:t>
            </a:r>
            <a:r>
              <a:rPr lang="en-US" dirty="0" err="1"/>
              <a:t>usuario</a:t>
            </a:r>
            <a:r>
              <a:rPr lang="en-US" dirty="0"/>
              <a:t>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mayor </a:t>
            </a:r>
            <a:r>
              <a:rPr lang="en-US" dirty="0" err="1"/>
              <a:t>complejidad</a:t>
            </a:r>
            <a:r>
              <a:rPr lang="en-US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dirty="0" err="1"/>
              <a:t>Analizamos</a:t>
            </a:r>
            <a:r>
              <a:rPr lang="en-US" dirty="0"/>
              <a:t> </a:t>
            </a:r>
            <a:r>
              <a:rPr lang="en-US" dirty="0" err="1"/>
              <a:t>dependencias</a:t>
            </a:r>
            <a:r>
              <a:rPr lang="en-US" dirty="0"/>
              <a:t> entre </a:t>
            </a:r>
            <a:r>
              <a:rPr lang="en-US" dirty="0" err="1"/>
              <a:t>historias</a:t>
            </a:r>
            <a:r>
              <a:rPr lang="en-US" dirty="0"/>
              <a:t> de </a:t>
            </a:r>
            <a:r>
              <a:rPr lang="en-US" dirty="0" err="1"/>
              <a:t>usuario</a:t>
            </a:r>
            <a:r>
              <a:rPr lang="en-US" dirty="0"/>
              <a:t>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827E98C-777B-54F3-6B8B-B417A66238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25840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5CC6A-D663-88A7-4C7A-EABC77F3D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E5FEEB6-B684-62F2-7710-58A54DA53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8B1AB5B-9364-73C6-3486-5FF9AE65B6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Aprobación</a:t>
            </a:r>
            <a:r>
              <a:rPr lang="en-US" dirty="0"/>
              <a:t> </a:t>
            </a:r>
            <a:r>
              <a:rPr lang="en-US" dirty="0" err="1"/>
              <a:t>implícita</a:t>
            </a:r>
            <a:r>
              <a:rPr lang="en-US" dirty="0"/>
              <a:t>, </a:t>
            </a:r>
            <a:r>
              <a:rPr lang="en-US" dirty="0" err="1"/>
              <a:t>ocurre</a:t>
            </a:r>
            <a:r>
              <a:rPr lang="en-US" dirty="0"/>
              <a:t> por </a:t>
            </a:r>
            <a:r>
              <a:rPr lang="en-US" dirty="0" err="1"/>
              <a:t>omision</a:t>
            </a:r>
            <a:r>
              <a:rPr lang="en-US" dirty="0"/>
              <a:t> (</a:t>
            </a:r>
            <a:r>
              <a:rPr lang="en-US" dirty="0" err="1"/>
              <a:t>el</a:t>
            </a:r>
            <a:r>
              <a:rPr lang="en-US" dirty="0"/>
              <a:t> que calla, </a:t>
            </a:r>
            <a:r>
              <a:rPr lang="en-US" dirty="0" err="1"/>
              <a:t>otorga</a:t>
            </a:r>
            <a:r>
              <a:rPr lang="en-US" dirty="0"/>
              <a:t>).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03F4392-1012-DCB7-0F67-59353EFC4F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737033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399BF-9FE3-1389-E260-BF28B0522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06D174E-4E9C-EF65-587B-48125E523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7522706-BC56-3981-A543-495A19C5F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51A9C35-0648-C9FA-0E7B-902583E43F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90673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7754A-CA78-AF5C-1C4F-B2BFF251B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37CE749-95C2-DF3C-AC84-6018F70A3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B20983B-D58C-65FE-08EF-AA1252BCE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7D39F4-4F51-535B-310D-117C868BEB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846743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A67B8-9F9B-4202-75A7-13CCF382F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891E478-A9D5-DD74-746E-2451BBE60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295858-BBF5-C185-3714-2F0CEFD74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En </a:t>
            </a:r>
            <a:r>
              <a:rPr lang="en-US" dirty="0" err="1"/>
              <a:t>el</a:t>
            </a:r>
            <a:r>
              <a:rPr lang="en-US" dirty="0"/>
              <a:t> Segundo </a:t>
            </a:r>
            <a:r>
              <a:rPr lang="en-US" dirty="0" err="1"/>
              <a:t>caso</a:t>
            </a:r>
            <a:r>
              <a:rPr lang="en-US" dirty="0"/>
              <a:t>, </a:t>
            </a:r>
            <a:r>
              <a:rPr lang="en-US" dirty="0" err="1"/>
              <a:t>tenemos</a:t>
            </a:r>
            <a:r>
              <a:rPr lang="en-US" dirty="0"/>
              <a:t> </a:t>
            </a:r>
            <a:r>
              <a:rPr lang="en-US" dirty="0" err="1"/>
              <a:t>varias</a:t>
            </a:r>
            <a:r>
              <a:rPr lang="en-US" dirty="0"/>
              <a:t> </a:t>
            </a:r>
            <a:r>
              <a:rPr lang="en-US" dirty="0" err="1"/>
              <a:t>iteraciones</a:t>
            </a:r>
            <a:r>
              <a:rPr lang="en-US" dirty="0"/>
              <a:t> de Desarrollo para un </a:t>
            </a:r>
            <a:r>
              <a:rPr lang="en-US" dirty="0" err="1"/>
              <a:t>único</a:t>
            </a:r>
            <a:r>
              <a:rPr lang="en-US" dirty="0"/>
              <a:t> release.</a:t>
            </a:r>
          </a:p>
          <a:p>
            <a:pPr marL="0" indent="0">
              <a:buNone/>
            </a:pPr>
            <a:r>
              <a:rPr lang="en-US" dirty="0"/>
              <a:t>El Segundo </a:t>
            </a:r>
            <a:r>
              <a:rPr lang="en-US" dirty="0" err="1"/>
              <a:t>enfoque</a:t>
            </a:r>
            <a:r>
              <a:rPr lang="en-US" dirty="0"/>
              <a:t> es </a:t>
            </a:r>
            <a:r>
              <a:rPr lang="en-US" dirty="0" err="1"/>
              <a:t>útil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trabajamos</a:t>
            </a:r>
            <a:r>
              <a:rPr lang="en-US" dirty="0"/>
              <a:t> con </a:t>
            </a:r>
            <a:r>
              <a:rPr lang="en-US" dirty="0" err="1"/>
              <a:t>enfoque</a:t>
            </a:r>
            <a:r>
              <a:rPr lang="en-US" dirty="0"/>
              <a:t> time-bound, con release </a:t>
            </a:r>
            <a:r>
              <a:rPr lang="en-US" dirty="0" err="1"/>
              <a:t>extensos</a:t>
            </a:r>
            <a:r>
              <a:rPr lang="en-US" dirty="0"/>
              <a:t>.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696728-9629-8D09-AA98-E8B1FD7AA6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0857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11-11-2025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11/11/2025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2586634"/>
            <a:ext cx="9144000" cy="923329"/>
          </a:xfrm>
        </p:spPr>
        <p:txBody>
          <a:bodyPr/>
          <a:lstStyle/>
          <a:p>
            <a:r>
              <a:rPr lang="es-CL" dirty="0"/>
              <a:t>Unidad 0 - Introducción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461000"/>
            <a:ext cx="9144000" cy="738664"/>
          </a:xfrm>
        </p:spPr>
        <p:txBody>
          <a:bodyPr/>
          <a:lstStyle/>
          <a:p>
            <a:r>
              <a:rPr lang="es-CL" dirty="0"/>
              <a:t>INFO 208 – Ingeniería de Requisitos - 2025</a:t>
            </a:r>
          </a:p>
          <a:p>
            <a:r>
              <a:rPr lang="es-CL" dirty="0"/>
              <a:t>Juan Pablo Salazar F.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2678966"/>
            <a:ext cx="12192000" cy="8309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5400" kern="0" dirty="0">
                <a:solidFill>
                  <a:prstClr val="black"/>
                </a:solidFill>
              </a:rPr>
              <a:t>Unidad 3. Gestión de requisitos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Tipos de requisitos</a:t>
            </a:r>
            <a:endParaRPr lang="en-US" dirty="0"/>
          </a:p>
        </p:txBody>
      </p:sp>
      <p:sp>
        <p:nvSpPr>
          <p:cNvPr id="3" name="CuadroTexto 2"/>
          <p:cNvSpPr txBox="1"/>
          <p:nvPr/>
        </p:nvSpPr>
        <p:spPr>
          <a:xfrm>
            <a:off x="7808521" y="5891133"/>
            <a:ext cx="4179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400" dirty="0" err="1"/>
              <a:t>Wiegers</a:t>
            </a:r>
            <a:r>
              <a:rPr lang="es-CL" sz="2400" dirty="0"/>
              <a:t>, K &amp; </a:t>
            </a:r>
            <a:r>
              <a:rPr lang="es-CL" sz="2400" dirty="0" err="1"/>
              <a:t>Hokanson</a:t>
            </a:r>
            <a:r>
              <a:rPr lang="es-CL" sz="2400" dirty="0"/>
              <a:t>, C; 2023</a:t>
            </a:r>
            <a:endParaRPr lang="en-US" sz="2400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7" y="1219290"/>
            <a:ext cx="5740952" cy="5133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38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4BB3F-CF1B-4D36-7A4E-6CF8D9DEB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D10E5-C8DB-69A9-A84A-978B1EAC8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365" y="277507"/>
            <a:ext cx="9552728" cy="492443"/>
          </a:xfrm>
        </p:spPr>
        <p:txBody>
          <a:bodyPr/>
          <a:lstStyle/>
          <a:p>
            <a:r>
              <a:rPr lang="es-CL" sz="3200" dirty="0"/>
              <a:t>Prácticas asociadas a la gestión de requisitos</a:t>
            </a:r>
            <a:endParaRPr lang="en-US" sz="3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0B273F0-EE4D-D9C9-1234-F14589CDC062}"/>
              </a:ext>
            </a:extLst>
          </p:cNvPr>
          <p:cNvSpPr txBox="1"/>
          <p:nvPr/>
        </p:nvSpPr>
        <p:spPr>
          <a:xfrm>
            <a:off x="949110" y="1593936"/>
            <a:ext cx="98897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Debemos asumir que los requisitos son dinámicos. </a:t>
            </a:r>
            <a:r>
              <a:rPr lang="es-CL" sz="2800" b="1" dirty="0"/>
              <a:t>Cambian.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Algunos sufren cambios parciales.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Algunos cambian de prioridad.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Otros se tornan innecesarios.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Se agregan nuevos requisitos.</a:t>
            </a:r>
          </a:p>
          <a:p>
            <a:pPr lvl="1"/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Debemos hacernos cargo de esos cambios.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Manejando versiones de esos requisitos.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Llevando un control de cuáles ya han sido implementados.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Realizando análisis de impacto de esos cambios.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Gestionando la incorporación de nuevos requisitos.</a:t>
            </a:r>
          </a:p>
        </p:txBody>
      </p:sp>
    </p:spTree>
    <p:extLst>
      <p:ext uri="{BB962C8B-B14F-4D97-AF65-F5344CB8AC3E}">
        <p14:creationId xmlns:p14="http://schemas.microsoft.com/office/powerpoint/2010/main" val="372965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023FD-9B69-2C76-42F9-68FFC3A88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780F9-134D-1795-D270-FD42D7FFD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5365" y="277507"/>
            <a:ext cx="9552728" cy="492443"/>
          </a:xfrm>
        </p:spPr>
        <p:txBody>
          <a:bodyPr/>
          <a:lstStyle/>
          <a:p>
            <a:r>
              <a:rPr lang="es-CL" sz="3200" dirty="0"/>
              <a:t>Prácticas asociadas a la gestión de requisitos</a:t>
            </a:r>
            <a:endParaRPr lang="en-US" sz="3200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1E4A938-185C-FFE8-FA48-EF204EFE65CD}"/>
              </a:ext>
            </a:extLst>
          </p:cNvPr>
          <p:cNvSpPr txBox="1"/>
          <p:nvPr/>
        </p:nvSpPr>
        <p:spPr>
          <a:xfrm>
            <a:off x="1151128" y="2327583"/>
            <a:ext cx="98897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P19: Definir y gestionar listas de requisitos.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P20: Gestionar cambios a los requisitos.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0314BF34-B087-6114-A41D-8D7EF8680DBC}"/>
              </a:ext>
            </a:extLst>
          </p:cNvPr>
          <p:cNvSpPr/>
          <p:nvPr/>
        </p:nvSpPr>
        <p:spPr>
          <a:xfrm>
            <a:off x="1085707" y="2327583"/>
            <a:ext cx="9955161" cy="577860"/>
          </a:xfrm>
          <a:prstGeom prst="roundRect">
            <a:avLst/>
          </a:prstGeom>
          <a:solidFill>
            <a:schemeClr val="accent1">
              <a:alpha val="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5054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DBD26-118A-06F4-B2E4-D4DF4A2B9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67141D-61F0-BFEB-0C87-559BC21B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P19: Definir y gestionar listas de requisitos.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961A67E-E950-2CB6-10E2-9346F1056CE0}"/>
              </a:ext>
            </a:extLst>
          </p:cNvPr>
          <p:cNvSpPr txBox="1"/>
          <p:nvPr/>
        </p:nvSpPr>
        <p:spPr>
          <a:xfrm>
            <a:off x="143435" y="1514903"/>
            <a:ext cx="1178112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(</a:t>
            </a:r>
            <a:r>
              <a:rPr lang="es-CL" sz="2800" dirty="0" err="1"/>
              <a:t>Wiegers</a:t>
            </a:r>
            <a:r>
              <a:rPr lang="es-CL" sz="2800" dirty="0"/>
              <a:t> &amp; </a:t>
            </a:r>
            <a:r>
              <a:rPr lang="es-CL" sz="2800" dirty="0" err="1"/>
              <a:t>Hokanson</a:t>
            </a:r>
            <a:r>
              <a:rPr lang="es-CL" sz="2800" dirty="0"/>
              <a:t>, 2023) usan el término “</a:t>
            </a:r>
            <a:r>
              <a:rPr lang="es-CL" sz="2800" b="1" dirty="0" err="1"/>
              <a:t>baseline</a:t>
            </a:r>
            <a:r>
              <a:rPr lang="es-CL" sz="2800" dirty="0"/>
              <a:t>” para referirse a una</a:t>
            </a:r>
            <a:r>
              <a:rPr lang="es-CL" sz="2800" b="1" dirty="0"/>
              <a:t> lista de requisitos</a:t>
            </a:r>
            <a:r>
              <a:rPr lang="es-CL" sz="2800" dirty="0"/>
              <a:t>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Existe un </a:t>
            </a:r>
            <a:r>
              <a:rPr lang="es-CL" sz="2800" b="1" dirty="0"/>
              <a:t>acuerdo</a:t>
            </a:r>
            <a:r>
              <a:rPr lang="es-CL" sz="2800" dirty="0"/>
              <a:t> de desarrollarlos en una iteración específica del proyecto.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Es una “</a:t>
            </a:r>
            <a:r>
              <a:rPr lang="es-CL" sz="2800" b="1" dirty="0"/>
              <a:t>foto</a:t>
            </a:r>
            <a:r>
              <a:rPr lang="es-CL" sz="2800" dirty="0"/>
              <a:t>” en un instante de tiempo, que contiene requisitos </a:t>
            </a:r>
            <a:r>
              <a:rPr lang="es-CL" sz="2800" b="1" dirty="0"/>
              <a:t>correctos</a:t>
            </a:r>
            <a:r>
              <a:rPr lang="es-CL" sz="2800" dirty="0"/>
              <a:t>, </a:t>
            </a:r>
            <a:r>
              <a:rPr lang="es-CL" sz="2800" b="1" dirty="0"/>
              <a:t>completos</a:t>
            </a:r>
            <a:r>
              <a:rPr lang="es-CL" sz="2800" dirty="0"/>
              <a:t> y que contribuyen a lograr un </a:t>
            </a:r>
            <a:r>
              <a:rPr lang="es-CL" sz="2800" b="1" dirty="0"/>
              <a:t>objetivo de negocios</a:t>
            </a:r>
            <a:r>
              <a:rPr lang="es-CL" sz="2800" dirty="0"/>
              <a:t>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Cualquier </a:t>
            </a:r>
            <a:r>
              <a:rPr lang="es-CL" sz="2800" b="1" dirty="0"/>
              <a:t>cambio</a:t>
            </a:r>
            <a:r>
              <a:rPr lang="es-CL" sz="2800" dirty="0"/>
              <a:t> posterior debe ser </a:t>
            </a:r>
            <a:r>
              <a:rPr lang="es-CL" sz="2800" b="1" dirty="0"/>
              <a:t>gestionado</a:t>
            </a:r>
            <a:r>
              <a:rPr lang="es-CL" sz="2800" dirty="0"/>
              <a:t> a través de un proceso definido.</a:t>
            </a:r>
          </a:p>
        </p:txBody>
      </p:sp>
    </p:spTree>
    <p:extLst>
      <p:ext uri="{BB962C8B-B14F-4D97-AF65-F5344CB8AC3E}">
        <p14:creationId xmlns:p14="http://schemas.microsoft.com/office/powerpoint/2010/main" val="3472286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P19: Definir y gestionar listas de requisitos.</a:t>
            </a:r>
            <a:endParaRPr lang="en-US" sz="3200" dirty="0"/>
          </a:p>
        </p:txBody>
      </p:sp>
      <p:sp>
        <p:nvSpPr>
          <p:cNvPr id="8" name="CuadroTexto 7"/>
          <p:cNvSpPr txBox="1"/>
          <p:nvPr/>
        </p:nvSpPr>
        <p:spPr>
          <a:xfrm>
            <a:off x="143435" y="1514903"/>
            <a:ext cx="1178112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3200" b="1" dirty="0"/>
              <a:t>Beneficios</a:t>
            </a:r>
            <a:r>
              <a:rPr lang="es-CL" sz="3200" dirty="0"/>
              <a:t> de contar con ese “</a:t>
            </a:r>
            <a:r>
              <a:rPr lang="es-CL" sz="3200" b="1" dirty="0" err="1"/>
              <a:t>baseline</a:t>
            </a:r>
            <a:r>
              <a:rPr lang="es-CL" sz="3200" dirty="0"/>
              <a:t>”: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Los </a:t>
            </a:r>
            <a:r>
              <a:rPr lang="es-CL" sz="2800" b="1" dirty="0" err="1"/>
              <a:t>stakeholders</a:t>
            </a:r>
            <a:r>
              <a:rPr lang="es-CL" sz="2800" dirty="0"/>
              <a:t> entienden el </a:t>
            </a:r>
            <a:r>
              <a:rPr lang="es-CL" sz="2800" b="1" dirty="0"/>
              <a:t>alcance</a:t>
            </a:r>
            <a:r>
              <a:rPr lang="es-CL" sz="2800" dirty="0"/>
              <a:t> de la iteración del proyecto.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El equipo de desarrollo puede </a:t>
            </a:r>
            <a:r>
              <a:rPr lang="es-CL" sz="2800" b="1" dirty="0"/>
              <a:t>estimar</a:t>
            </a:r>
            <a:r>
              <a:rPr lang="es-CL" sz="2800" dirty="0"/>
              <a:t> tiempo y recursos.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El equipo de control de calidad tiene claro </a:t>
            </a:r>
            <a:r>
              <a:rPr lang="es-CL" sz="2800" b="1" dirty="0"/>
              <a:t>qué testear.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El equipo de desarrollo sabe a </a:t>
            </a:r>
            <a:r>
              <a:rPr lang="es-CL" sz="2800" b="1" dirty="0"/>
              <a:t>qué</a:t>
            </a:r>
            <a:r>
              <a:rPr lang="es-CL" sz="2800" dirty="0"/>
              <a:t> se </a:t>
            </a:r>
            <a:r>
              <a:rPr lang="es-CL" sz="2800" b="1" dirty="0"/>
              <a:t>compromete</a:t>
            </a:r>
            <a:r>
              <a:rPr lang="es-CL" sz="2800" dirty="0"/>
              <a:t>.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3200" dirty="0"/>
              <a:t>¿De qué </a:t>
            </a:r>
            <a:r>
              <a:rPr lang="es-CL" sz="3200" b="1" dirty="0"/>
              <a:t>tamaño</a:t>
            </a:r>
            <a:r>
              <a:rPr lang="es-CL" sz="3200" dirty="0"/>
              <a:t> es ese </a:t>
            </a:r>
            <a:r>
              <a:rPr lang="es-CL" sz="3200" b="1" dirty="0" err="1"/>
              <a:t>baseline</a:t>
            </a:r>
            <a:r>
              <a:rPr lang="es-CL" sz="3200" dirty="0"/>
              <a:t>? Depende de cómo se defina.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2 semanas de trabajo.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Un nuevo </a:t>
            </a:r>
            <a:r>
              <a:rPr lang="es-CL" sz="2800" dirty="0" err="1"/>
              <a:t>release</a:t>
            </a:r>
            <a:r>
              <a:rPr lang="es-CL" sz="2800" dirty="0"/>
              <a:t>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2800" dirty="0"/>
              <a:t>El proyecto completo.</a:t>
            </a:r>
          </a:p>
        </p:txBody>
      </p:sp>
    </p:spTree>
    <p:extLst>
      <p:ext uri="{BB962C8B-B14F-4D97-AF65-F5344CB8AC3E}">
        <p14:creationId xmlns:p14="http://schemas.microsoft.com/office/powerpoint/2010/main" val="3173317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395A1-A7D9-62D2-DA92-FF8C3318D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AF00A9-156D-9998-A5A0-E6A4BA092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P19: Definir y gestionar listas de requisitos.</a:t>
            </a:r>
            <a:endParaRPr lang="en-US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F044E5-8608-06FD-B7EF-6D404A910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154" y="1415177"/>
            <a:ext cx="9993690" cy="4807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270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92A6E-648E-6571-00A5-0C629192A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EB862E-9613-F611-1C4F-9EE10CF74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P19: Definir y gestionar listas de requisitos.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B78272C-2126-4693-A3A7-ADB5FE402274}"/>
              </a:ext>
            </a:extLst>
          </p:cNvPr>
          <p:cNvSpPr txBox="1"/>
          <p:nvPr/>
        </p:nvSpPr>
        <p:spPr>
          <a:xfrm>
            <a:off x="143435" y="1514903"/>
            <a:ext cx="1178112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3200" dirty="0"/>
              <a:t>Estrategias para definir el </a:t>
            </a:r>
            <a:r>
              <a:rPr lang="es-CL" sz="3200" dirty="0" err="1"/>
              <a:t>baseline</a:t>
            </a:r>
            <a:r>
              <a:rPr lang="es-CL" sz="3200" dirty="0"/>
              <a:t>: 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3200" b="1" dirty="0"/>
              <a:t>Time </a:t>
            </a:r>
            <a:r>
              <a:rPr lang="es-CL" sz="3200" b="1" dirty="0" err="1"/>
              <a:t>bound</a:t>
            </a:r>
            <a:r>
              <a:rPr lang="es-CL" sz="3200" dirty="0"/>
              <a:t>: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/>
              <a:t>Se define una </a:t>
            </a:r>
            <a:r>
              <a:rPr lang="es-CL" sz="2800" b="1" dirty="0"/>
              <a:t>ventana de tiempo </a:t>
            </a:r>
            <a:r>
              <a:rPr lang="es-CL" sz="2800" dirty="0"/>
              <a:t>(</a:t>
            </a:r>
            <a:r>
              <a:rPr lang="es-CL" sz="2800" dirty="0" err="1"/>
              <a:t>ejm</a:t>
            </a:r>
            <a:r>
              <a:rPr lang="es-CL" sz="2800" dirty="0"/>
              <a:t>: 1 mes), y se van priorizando requisitos, para definir cada incremento.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/>
              <a:t>Es necesario realizar algún ejercicio preciso de </a:t>
            </a:r>
            <a:r>
              <a:rPr lang="es-CL" sz="2800" b="1" dirty="0"/>
              <a:t>estimación</a:t>
            </a:r>
            <a:r>
              <a:rPr lang="es-CL" sz="2800" dirty="0"/>
              <a:t> del esfuerzo para implementar y testear cada requisito.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3200" b="1" dirty="0" err="1"/>
              <a:t>Scope</a:t>
            </a:r>
            <a:r>
              <a:rPr lang="es-CL" sz="3200" b="1" dirty="0"/>
              <a:t> </a:t>
            </a:r>
            <a:r>
              <a:rPr lang="es-CL" sz="3200" b="1" dirty="0" err="1"/>
              <a:t>bound</a:t>
            </a:r>
            <a:r>
              <a:rPr lang="es-CL" sz="3200" dirty="0"/>
              <a:t>: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s-CL" sz="2800" dirty="0"/>
              <a:t>Se define un conjunto de requisitos, historias de usuario o características que debe tener cada incremento. </a:t>
            </a:r>
          </a:p>
          <a:p>
            <a:pPr marL="1828800" lvl="3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lvl="1" algn="ctr"/>
            <a:r>
              <a:rPr lang="es-CL" sz="3200" dirty="0"/>
              <a:t>¿Qué </a:t>
            </a:r>
            <a:r>
              <a:rPr lang="es-CL" sz="3200" b="1" dirty="0"/>
              <a:t>ventajas</a:t>
            </a:r>
            <a:r>
              <a:rPr lang="es-CL" sz="3200" dirty="0"/>
              <a:t> y </a:t>
            </a:r>
            <a:r>
              <a:rPr lang="es-CL" sz="3200" b="1" dirty="0"/>
              <a:t>desventajas</a:t>
            </a:r>
            <a:r>
              <a:rPr lang="es-CL" sz="3200" dirty="0"/>
              <a:t> tiene cada enfoque?</a:t>
            </a:r>
          </a:p>
        </p:txBody>
      </p:sp>
    </p:spTree>
    <p:extLst>
      <p:ext uri="{BB962C8B-B14F-4D97-AF65-F5344CB8AC3E}">
        <p14:creationId xmlns:p14="http://schemas.microsoft.com/office/powerpoint/2010/main" val="2135275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7BB14-887B-A582-3FDD-2335E56FF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C43574-A611-801E-F0DF-53ABB5EA4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P19: Definir y gestionar listas de requisitos.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4EAC65E-509F-29CF-393D-A6B08B5172FB}"/>
              </a:ext>
            </a:extLst>
          </p:cNvPr>
          <p:cNvSpPr txBox="1"/>
          <p:nvPr/>
        </p:nvSpPr>
        <p:spPr>
          <a:xfrm>
            <a:off x="143435" y="1514903"/>
            <a:ext cx="1178112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3200" dirty="0"/>
              <a:t>¿Cómo definimos qué requisitos incluimos en cada incremento?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3200" dirty="0"/>
              <a:t>Es buena idea guiarnos por los </a:t>
            </a:r>
            <a:r>
              <a:rPr lang="es-CL" sz="3200" b="1" dirty="0"/>
              <a:t>modelos de requisitos</a:t>
            </a:r>
            <a:r>
              <a:rPr lang="es-CL" sz="3200" dirty="0"/>
              <a:t>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3200" dirty="0"/>
              <a:t>Diagramas de procesos.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3200" dirty="0"/>
              <a:t>Modelos E-R.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s-CL" sz="3200" dirty="0"/>
              <a:t>Diagramas de espina de pescado.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3200" dirty="0"/>
              <a:t>Organizar entregables en base a esos modelos, facilita la </a:t>
            </a:r>
            <a:r>
              <a:rPr lang="es-CL" sz="3200" b="1" dirty="0"/>
              <a:t>comunicación del valor</a:t>
            </a:r>
            <a:r>
              <a:rPr lang="es-CL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59664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7709E-4362-6DF2-F096-3318BE977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4F0021-5BD4-6D5B-96DC-F2DFD7927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P19: Definir y gestionar listas de requisitos. Ejemplo.</a:t>
            </a:r>
            <a:endParaRPr lang="en-US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3A578F4-4E8A-D554-8F3F-3FF654F65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0961" y="1152304"/>
            <a:ext cx="6746592" cy="535607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6C51841-28FE-40A3-9FDE-A22F015219BF}"/>
              </a:ext>
            </a:extLst>
          </p:cNvPr>
          <p:cNvSpPr txBox="1"/>
          <p:nvPr/>
        </p:nvSpPr>
        <p:spPr>
          <a:xfrm>
            <a:off x="179293" y="1631574"/>
            <a:ext cx="4482353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dirty="0"/>
              <a:t>3 </a:t>
            </a:r>
            <a:r>
              <a:rPr lang="es-CL" sz="2800" b="1" dirty="0" err="1"/>
              <a:t>baselines</a:t>
            </a:r>
            <a:r>
              <a:rPr lang="es-CL" sz="2800" dirty="0"/>
              <a:t>:</a:t>
            </a:r>
          </a:p>
          <a:p>
            <a:pPr marL="342900" indent="-342900">
              <a:buAutoNum type="arabicParenR"/>
            </a:pPr>
            <a:r>
              <a:rPr lang="es-CL" sz="2400" dirty="0"/>
              <a:t>Sistema básico.</a:t>
            </a:r>
          </a:p>
          <a:p>
            <a:pPr marL="342900" indent="-342900">
              <a:buAutoNum type="arabicParenR"/>
            </a:pPr>
            <a:r>
              <a:rPr lang="es-CL" sz="2400" dirty="0"/>
              <a:t>Pago online y mayor flexibilidad.</a:t>
            </a:r>
          </a:p>
          <a:p>
            <a:pPr marL="342900" indent="-342900">
              <a:buAutoNum type="arabicParenR"/>
            </a:pPr>
            <a:r>
              <a:rPr lang="es-CL" sz="2400" dirty="0"/>
              <a:t>Reportes y funcionalidades menos frecuentes. </a:t>
            </a:r>
          </a:p>
        </p:txBody>
      </p:sp>
    </p:spTree>
    <p:extLst>
      <p:ext uri="{BB962C8B-B14F-4D97-AF65-F5344CB8AC3E}">
        <p14:creationId xmlns:p14="http://schemas.microsoft.com/office/powerpoint/2010/main" val="28713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7F319-C57E-B7C0-7940-A5233A648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BF6101-E316-F0E6-854F-E82898B1D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923330"/>
          </a:xfrm>
        </p:spPr>
        <p:txBody>
          <a:bodyPr/>
          <a:lstStyle/>
          <a:p>
            <a:r>
              <a:rPr lang="es-CL" sz="3200" dirty="0"/>
              <a:t>P19: Definir y gestionar listas de requisitos. Ejemplo 2.</a:t>
            </a:r>
            <a:br>
              <a:rPr lang="es-CL" sz="3200" dirty="0"/>
            </a:br>
            <a:r>
              <a:rPr lang="es-CL" sz="2800" b="1" dirty="0"/>
              <a:t>Sistema de Gestión de Parques.</a:t>
            </a:r>
            <a:endParaRPr lang="en-US" sz="3200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4DD82F2-430D-00E3-BF1E-4219667CA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307" y="1366649"/>
            <a:ext cx="5316294" cy="499022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94B96FB-4A1F-064A-166D-C303053689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474" y="1028915"/>
            <a:ext cx="4472334" cy="549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672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45889-2256-49F7-A63E-D30689082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F7AAEC-AB8A-0A73-CD11-DEE8ADF0D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P19: Importancia de </a:t>
            </a:r>
            <a:r>
              <a:rPr lang="es-CL" sz="3200" b="1" dirty="0"/>
              <a:t>acordar</a:t>
            </a:r>
            <a:r>
              <a:rPr lang="es-CL" sz="3200" dirty="0"/>
              <a:t> los </a:t>
            </a:r>
            <a:r>
              <a:rPr lang="es-CL" sz="3200" dirty="0" err="1"/>
              <a:t>baselines</a:t>
            </a:r>
            <a:r>
              <a:rPr lang="es-CL" sz="3200" dirty="0"/>
              <a:t>. </a:t>
            </a:r>
            <a:endParaRPr lang="en-US" sz="3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581F255-29AE-B41F-E212-143931BE06DA}"/>
              </a:ext>
            </a:extLst>
          </p:cNvPr>
          <p:cNvSpPr txBox="1"/>
          <p:nvPr/>
        </p:nvSpPr>
        <p:spPr>
          <a:xfrm>
            <a:off x="143435" y="1514903"/>
            <a:ext cx="1178112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Se debe obtener </a:t>
            </a:r>
            <a:r>
              <a:rPr lang="es-CL" sz="2800" b="1" dirty="0"/>
              <a:t>aprobación explícita </a:t>
            </a:r>
            <a:r>
              <a:rPr lang="es-CL" sz="2800" dirty="0"/>
              <a:t>de los </a:t>
            </a:r>
            <a:r>
              <a:rPr lang="es-CL" sz="2800" dirty="0" err="1"/>
              <a:t>stakeholders</a:t>
            </a:r>
            <a:r>
              <a:rPr lang="es-CL" sz="2800" dirty="0"/>
              <a:t> relevantes.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¿Qué pasa si la aprobación es implícita?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dirty="0"/>
              <a:t>¿Por qué un </a:t>
            </a:r>
            <a:r>
              <a:rPr lang="es-CL" sz="2800" dirty="0" err="1"/>
              <a:t>stakeholder</a:t>
            </a:r>
            <a:r>
              <a:rPr lang="es-CL" sz="2800" dirty="0"/>
              <a:t> podría no querer aprobar un </a:t>
            </a:r>
            <a:r>
              <a:rPr lang="es-CL" sz="2800" dirty="0" err="1"/>
              <a:t>baseline</a:t>
            </a:r>
            <a:r>
              <a:rPr lang="es-CL" sz="2800" dirty="0"/>
              <a:t>? Por temor.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Usuarios, clientes: </a:t>
            </a:r>
            <a:r>
              <a:rPr lang="es-CL" sz="2800" dirty="0"/>
              <a:t>Temor a que después no sea posible cambiar algo.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b="1" dirty="0"/>
              <a:t>Desarrolladores: </a:t>
            </a:r>
            <a:r>
              <a:rPr lang="es-CL" sz="2800" dirty="0"/>
              <a:t>Temor al compromiso.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sz="2800" b="1" dirty="0"/>
              <a:t>¿Cómo nos hacemos cargo de esos temores?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Haciéndolos explícitos.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Gestionándolos. </a:t>
            </a:r>
          </a:p>
        </p:txBody>
      </p:sp>
    </p:spTree>
    <p:extLst>
      <p:ext uri="{BB962C8B-B14F-4D97-AF65-F5344CB8AC3E}">
        <p14:creationId xmlns:p14="http://schemas.microsoft.com/office/powerpoint/2010/main" val="3514122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D2FC4-5C35-DF76-3E83-E20510DD7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8D4C2-266A-F843-9A0E-CBD0B15D6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P19: Programación de </a:t>
            </a:r>
            <a:r>
              <a:rPr lang="es-CL" sz="3200" dirty="0" err="1"/>
              <a:t>baselines</a:t>
            </a:r>
            <a:r>
              <a:rPr lang="es-CL" sz="3200" dirty="0"/>
              <a:t> en el tiempo.</a:t>
            </a:r>
            <a:endParaRPr lang="en-US" sz="32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DAC6A56-2DBF-891F-6722-B2FA0562C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883" y="1092431"/>
            <a:ext cx="8544233" cy="530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392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C7818-22EB-E285-85B4-9B0A2413A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4D228-34EE-1B4A-0E3F-764DFAA6D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P19: Programación de </a:t>
            </a:r>
            <a:r>
              <a:rPr lang="es-CL" sz="3200" dirty="0" err="1"/>
              <a:t>baselines</a:t>
            </a:r>
            <a:r>
              <a:rPr lang="es-CL" sz="3200" dirty="0"/>
              <a:t> en el tiempo (2).</a:t>
            </a:r>
            <a:endParaRPr lang="en-US" sz="3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F3BEF30-61D1-D74D-DEF4-EDF3A301E1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892" y="1045580"/>
            <a:ext cx="8556216" cy="532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763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D3C03-836C-5780-0276-7C0B23161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9600D8-58B7-A2AD-58F1-3D27E9662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92443"/>
          </a:xfrm>
        </p:spPr>
        <p:txBody>
          <a:bodyPr/>
          <a:lstStyle/>
          <a:p>
            <a:r>
              <a:rPr lang="es-CL" sz="3200" dirty="0"/>
              <a:t>P19: Programación de </a:t>
            </a:r>
            <a:r>
              <a:rPr lang="es-CL" sz="3200" dirty="0" err="1"/>
              <a:t>baselines</a:t>
            </a:r>
            <a:r>
              <a:rPr lang="es-CL" sz="3200" dirty="0"/>
              <a:t> en el tiempo.</a:t>
            </a:r>
            <a:endParaRPr lang="en-US" sz="32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8998AD-3307-1C8B-5904-364D6DDE7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2013768"/>
            <a:ext cx="5984093" cy="372364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079053B-47E7-0C26-B2F4-F335AB9C3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6" y="2013768"/>
            <a:ext cx="5998539" cy="3723644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DE00B6A0-6675-3486-FD7C-72EF19910993}"/>
              </a:ext>
            </a:extLst>
          </p:cNvPr>
          <p:cNvSpPr txBox="1"/>
          <p:nvPr/>
        </p:nvSpPr>
        <p:spPr>
          <a:xfrm>
            <a:off x="3425748" y="1344706"/>
            <a:ext cx="53405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800" dirty="0"/>
              <a:t>¿Cuándo usar uno u otro enfoque? </a:t>
            </a:r>
          </a:p>
        </p:txBody>
      </p:sp>
    </p:spTree>
    <p:extLst>
      <p:ext uri="{BB962C8B-B14F-4D97-AF65-F5344CB8AC3E}">
        <p14:creationId xmlns:p14="http://schemas.microsoft.com/office/powerpoint/2010/main" val="4106066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34569</TotalTime>
  <Words>795</Words>
  <Application>Microsoft Office PowerPoint</Application>
  <PresentationFormat>Panorámica</PresentationFormat>
  <Paragraphs>103</Paragraphs>
  <Slides>15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Unidad 0 - Introducción</vt:lpstr>
      <vt:lpstr>Tipos de requisitos</vt:lpstr>
      <vt:lpstr>Prácticas asociadas a la gestión de requisitos</vt:lpstr>
      <vt:lpstr>Prácticas asociadas a la gestión de requisitos</vt:lpstr>
      <vt:lpstr>P19: Definir y gestionar listas de requisitos.</vt:lpstr>
      <vt:lpstr>P19: Definir y gestionar listas de requisitos.</vt:lpstr>
      <vt:lpstr>P19: Definir y gestionar listas de requisitos.</vt:lpstr>
      <vt:lpstr>P19: Definir y gestionar listas de requisitos.</vt:lpstr>
      <vt:lpstr>P19: Definir y gestionar listas de requisitos.</vt:lpstr>
      <vt:lpstr>P19: Definir y gestionar listas de requisitos. Ejemplo.</vt:lpstr>
      <vt:lpstr>P19: Definir y gestionar listas de requisitos. Ejemplo 2. Sistema de Gestión de Parques.</vt:lpstr>
      <vt:lpstr>P19: Importancia de acordar los baselines. </vt:lpstr>
      <vt:lpstr>P19: Programación de baselines en el tiempo.</vt:lpstr>
      <vt:lpstr>P19: Programación de baselines en el tiempo (2).</vt:lpstr>
      <vt:lpstr>P19: Programación de baselines en el tiempo.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230</cp:revision>
  <cp:lastPrinted>2020-10-05T12:16:48Z</cp:lastPrinted>
  <dcterms:created xsi:type="dcterms:W3CDTF">2018-03-05T20:26:11Z</dcterms:created>
  <dcterms:modified xsi:type="dcterms:W3CDTF">2025-11-11T18:02:09Z</dcterms:modified>
</cp:coreProperties>
</file>
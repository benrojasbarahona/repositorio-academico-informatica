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453" r:id="rId2"/>
    <p:sldId id="454" r:id="rId3"/>
    <p:sldId id="456" r:id="rId4"/>
    <p:sldId id="257" r:id="rId5"/>
    <p:sldId id="434" r:id="rId6"/>
    <p:sldId id="437" r:id="rId7"/>
    <p:sldId id="438" r:id="rId8"/>
    <p:sldId id="440" r:id="rId9"/>
    <p:sldId id="443" r:id="rId10"/>
    <p:sldId id="455" r:id="rId11"/>
    <p:sldId id="442" r:id="rId12"/>
    <p:sldId id="444" r:id="rId13"/>
    <p:sldId id="445" r:id="rId14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Pablo Salazar Fernández" initials="JPS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4818" autoAdjust="0"/>
  </p:normalViewPr>
  <p:slideViewPr>
    <p:cSldViewPr snapToGrid="0">
      <p:cViewPr varScale="1">
        <p:scale>
          <a:sx n="84" d="100"/>
          <a:sy n="84" d="100"/>
        </p:scale>
        <p:origin x="15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07-08-2025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07-08-2025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25" tIns="46813" rIns="93625" bIns="4681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2"/>
          </a:xfrm>
          <a:prstGeom prst="rect">
            <a:avLst/>
          </a:prstGeom>
        </p:spPr>
        <p:txBody>
          <a:bodyPr vert="horz" lIns="93625" tIns="46813" rIns="93625" bIns="4681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baseline="0" dirty="0"/>
          </a:p>
        </p:txBody>
      </p:sp>
    </p:spTree>
    <p:extLst>
      <p:ext uri="{BB962C8B-B14F-4D97-AF65-F5344CB8AC3E}">
        <p14:creationId xmlns:p14="http://schemas.microsoft.com/office/powerpoint/2010/main" val="2017882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¿Por qué pasa esto?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8461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Camino que se construyó</a:t>
            </a:r>
            <a:r>
              <a:rPr lang="es-CL" baseline="0" dirty="0"/>
              <a:t> &amp; camino que utilizan las personas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8277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4360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5949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00678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Comentar el caso de ampolletas,</a:t>
            </a:r>
            <a:r>
              <a:rPr lang="es-CL" baseline="0" dirty="0"/>
              <a:t> discos duros, pendrives, etc.</a:t>
            </a:r>
          </a:p>
          <a:p>
            <a:r>
              <a:rPr lang="es-CL" baseline="0" dirty="0"/>
              <a:t>Explicar el problema de la entropía en el software. Preguntar, ¿cómo evitamos que esos </a:t>
            </a:r>
            <a:r>
              <a:rPr lang="es-CL" baseline="0" dirty="0" err="1"/>
              <a:t>peaks</a:t>
            </a:r>
            <a:r>
              <a:rPr lang="es-CL" baseline="0" dirty="0"/>
              <a:t> de fallas sean absorbidos por el usuario?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08260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47477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9601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07-08-2025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37111" y="28162"/>
            <a:ext cx="8917778" cy="803466"/>
          </a:xfrm>
          <a:prstGeom prst="rect">
            <a:avLst/>
          </a:prstGeom>
        </p:spPr>
        <p:txBody>
          <a:bodyPr vert="horz" wrap="square" lIns="0" tIns="247056" rIns="0" bIns="0" rtlCol="0">
            <a:spAutoFit/>
          </a:bodyPr>
          <a:lstStyle/>
          <a:p>
            <a:pPr marL="16933"/>
            <a:r>
              <a:rPr lang="es-MX" spc="-7" dirty="0"/>
              <a:t>Presentación del profesor: Juan Pablo Salazar</a:t>
            </a:r>
            <a:endParaRPr spc="-7" dirty="0"/>
          </a:p>
        </p:txBody>
      </p:sp>
      <p:sp>
        <p:nvSpPr>
          <p:cNvPr id="7" name="object 5"/>
          <p:cNvSpPr txBox="1"/>
          <p:nvPr/>
        </p:nvSpPr>
        <p:spPr>
          <a:xfrm>
            <a:off x="476752" y="1740076"/>
            <a:ext cx="11197505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03562" marR="279393" indent="-229441">
              <a:lnSpc>
                <a:spcPts val="3600"/>
              </a:lnSpc>
              <a:buFont typeface="Arial"/>
              <a:buChar char="•"/>
              <a:tabLst>
                <a:tab pos="704409" algn="l"/>
              </a:tabLst>
            </a:pPr>
            <a:r>
              <a:rPr lang="es-MX" sz="2800" spc="-20" dirty="0">
                <a:solidFill>
                  <a:prstClr val="black"/>
                </a:solidFill>
                <a:cs typeface="Calibri"/>
              </a:rPr>
              <a:t>Formación académica:</a:t>
            </a:r>
          </a:p>
          <a:p>
            <a:pPr marL="1160762" marR="279393" lvl="1" indent="-229441">
              <a:lnSpc>
                <a:spcPts val="3600"/>
              </a:lnSpc>
              <a:buFont typeface="Arial"/>
              <a:buChar char="•"/>
              <a:tabLst>
                <a:tab pos="704409" algn="l"/>
              </a:tabLst>
            </a:pPr>
            <a:r>
              <a:rPr lang="es-MX" sz="2800" spc="-20" dirty="0">
                <a:solidFill>
                  <a:prstClr val="black"/>
                </a:solidFill>
                <a:cs typeface="Calibri"/>
              </a:rPr>
              <a:t>Ingeniero Civil en Informática (1996).</a:t>
            </a:r>
          </a:p>
          <a:p>
            <a:pPr marL="1160762" marR="279393" lvl="1" indent="-229441">
              <a:lnSpc>
                <a:spcPts val="3600"/>
              </a:lnSpc>
              <a:buFont typeface="Arial"/>
              <a:buChar char="•"/>
              <a:tabLst>
                <a:tab pos="704409" algn="l"/>
              </a:tabLst>
            </a:pPr>
            <a:r>
              <a:rPr lang="es-MX" sz="2800" spc="-20" dirty="0">
                <a:solidFill>
                  <a:prstClr val="black"/>
                </a:solidFill>
                <a:cs typeface="Calibri"/>
              </a:rPr>
              <a:t>Magíster en Administración de Empresas (2003).</a:t>
            </a:r>
          </a:p>
          <a:p>
            <a:pPr marL="1160762" marR="279393" lvl="1" indent="-229441">
              <a:lnSpc>
                <a:spcPts val="3600"/>
              </a:lnSpc>
              <a:buFont typeface="Arial"/>
              <a:buChar char="•"/>
              <a:tabLst>
                <a:tab pos="704409" algn="l"/>
              </a:tabLst>
            </a:pPr>
            <a:r>
              <a:rPr lang="es-MX" sz="2800" spc="-20" dirty="0">
                <a:solidFill>
                  <a:prstClr val="black"/>
                </a:solidFill>
                <a:cs typeface="Calibri"/>
              </a:rPr>
              <a:t>Dr. en Ciencias de la Ingeniería, Área Ciencia de la Computación.</a:t>
            </a:r>
            <a:endParaRPr sz="28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" name="object 5"/>
          <p:cNvSpPr txBox="1"/>
          <p:nvPr/>
        </p:nvSpPr>
        <p:spPr>
          <a:xfrm>
            <a:off x="476752" y="3725106"/>
            <a:ext cx="11197505" cy="23083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03562" marR="279393" indent="-229441">
              <a:lnSpc>
                <a:spcPts val="3600"/>
              </a:lnSpc>
              <a:buFont typeface="Arial"/>
              <a:buChar char="•"/>
              <a:tabLst>
                <a:tab pos="704409" algn="l"/>
              </a:tabLst>
            </a:pPr>
            <a:r>
              <a:rPr lang="es-MX" sz="2800" spc="-20" dirty="0">
                <a:solidFill>
                  <a:prstClr val="black"/>
                </a:solidFill>
                <a:cs typeface="Calibri"/>
              </a:rPr>
              <a:t>Experiencia profesional: </a:t>
            </a:r>
          </a:p>
          <a:p>
            <a:pPr marL="1160762" marR="279393" lvl="1" indent="-229441">
              <a:lnSpc>
                <a:spcPts val="3600"/>
              </a:lnSpc>
              <a:buFont typeface="Arial"/>
              <a:buChar char="•"/>
              <a:tabLst>
                <a:tab pos="704409" algn="l"/>
              </a:tabLst>
            </a:pPr>
            <a:r>
              <a:rPr lang="es-MX" sz="2800" spc="-20" dirty="0">
                <a:solidFill>
                  <a:prstClr val="black"/>
                </a:solidFill>
                <a:cs typeface="Calibri"/>
              </a:rPr>
              <a:t>Ingeniero de proyectos (1993 – 2005).</a:t>
            </a:r>
          </a:p>
          <a:p>
            <a:pPr marL="1160762" marR="279393" lvl="1" indent="-229441">
              <a:lnSpc>
                <a:spcPts val="3600"/>
              </a:lnSpc>
              <a:buFont typeface="Arial"/>
              <a:buChar char="•"/>
              <a:tabLst>
                <a:tab pos="704409" algn="l"/>
              </a:tabLst>
            </a:pPr>
            <a:r>
              <a:rPr lang="es-MX" sz="2800" spc="-20" dirty="0">
                <a:solidFill>
                  <a:prstClr val="black"/>
                </a:solidFill>
                <a:cs typeface="Calibri"/>
              </a:rPr>
              <a:t>Profesor del Instituto de Informática </a:t>
            </a:r>
            <a:r>
              <a:rPr lang="es-MX" sz="2800" spc="-20" dirty="0" err="1">
                <a:solidFill>
                  <a:prstClr val="black"/>
                </a:solidFill>
                <a:cs typeface="Calibri"/>
              </a:rPr>
              <a:t>UACh</a:t>
            </a:r>
            <a:r>
              <a:rPr lang="es-MX" sz="2800" spc="-20" dirty="0">
                <a:solidFill>
                  <a:prstClr val="black"/>
                </a:solidFill>
                <a:cs typeface="Calibri"/>
              </a:rPr>
              <a:t> (desde 1996).</a:t>
            </a:r>
          </a:p>
          <a:p>
            <a:pPr marL="1160762" marR="279393" lvl="1" indent="-229441">
              <a:lnSpc>
                <a:spcPts val="3600"/>
              </a:lnSpc>
              <a:buFont typeface="Arial"/>
              <a:buChar char="•"/>
              <a:tabLst>
                <a:tab pos="704409" algn="l"/>
              </a:tabLst>
            </a:pPr>
            <a:r>
              <a:rPr lang="es-MX" sz="2800" spc="-20" dirty="0">
                <a:solidFill>
                  <a:prstClr val="black"/>
                </a:solidFill>
                <a:cs typeface="Calibri"/>
              </a:rPr>
              <a:t>Director de Escuela de Ing. Civil en Informática (2006 – 2013).</a:t>
            </a:r>
          </a:p>
          <a:p>
            <a:pPr marL="1160762" marR="279393" lvl="1" indent="-229441">
              <a:lnSpc>
                <a:spcPts val="3600"/>
              </a:lnSpc>
              <a:buFont typeface="Arial"/>
              <a:buChar char="•"/>
              <a:tabLst>
                <a:tab pos="704409" algn="l"/>
              </a:tabLst>
            </a:pPr>
            <a:r>
              <a:rPr lang="es-MX" sz="2800" spc="-20" dirty="0">
                <a:solidFill>
                  <a:prstClr val="black"/>
                </a:solidFill>
                <a:cs typeface="Calibri"/>
              </a:rPr>
              <a:t>Director de Planificación Estratégica </a:t>
            </a:r>
            <a:r>
              <a:rPr lang="es-MX" sz="2800" spc="-20" dirty="0" err="1">
                <a:solidFill>
                  <a:prstClr val="black"/>
                </a:solidFill>
                <a:cs typeface="Calibri"/>
              </a:rPr>
              <a:t>UACh</a:t>
            </a:r>
            <a:r>
              <a:rPr lang="es-MX" sz="2800" spc="-20" dirty="0">
                <a:solidFill>
                  <a:prstClr val="black"/>
                </a:solidFill>
                <a:cs typeface="Calibri"/>
              </a:rPr>
              <a:t> (2013-2014).</a:t>
            </a:r>
            <a:endParaRPr sz="2800" dirty="0">
              <a:solidFill>
                <a:prstClr val="black"/>
              </a:solidFill>
              <a:cs typeface="Calibri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1236790"/>
            <a:ext cx="274320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80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67181" y="143303"/>
            <a:ext cx="8414173" cy="728133"/>
          </a:xfrm>
        </p:spPr>
        <p:txBody>
          <a:bodyPr/>
          <a:lstStyle/>
          <a:p>
            <a:r>
              <a:rPr lang="es-MX" spc="-7" dirty="0"/>
              <a:t>Presentación del profesor: Juan Pablo Salazar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74134" y="1845733"/>
            <a:ext cx="5300134" cy="4368799"/>
          </a:xfrm>
        </p:spPr>
        <p:txBody>
          <a:bodyPr>
            <a:normAutofit/>
          </a:bodyPr>
          <a:lstStyle/>
          <a:p>
            <a:pPr marL="474121" marR="279393" indent="0">
              <a:lnSpc>
                <a:spcPts val="3600"/>
              </a:lnSpc>
              <a:buNone/>
              <a:tabLst>
                <a:tab pos="704409" algn="l"/>
              </a:tabLst>
            </a:pPr>
            <a:r>
              <a:rPr lang="es-CL" sz="2800" dirty="0"/>
              <a:t>¿Qué experiencia tengo, en relación al desarrollo de software?</a:t>
            </a:r>
          </a:p>
          <a:p>
            <a:pPr marL="931321" marR="279393" indent="-457200">
              <a:lnSpc>
                <a:spcPts val="3600"/>
              </a:lnSpc>
              <a:buFont typeface="Arial" panose="020B0604020202020204" pitchFamily="34" charset="0"/>
              <a:buChar char="•"/>
              <a:tabLst>
                <a:tab pos="704409" algn="l"/>
              </a:tabLst>
            </a:pPr>
            <a:r>
              <a:rPr lang="es-CL" sz="2800" dirty="0"/>
              <a:t>Implantación, desarrollo de software, venta de proyectos, levantamiento de requisitos.</a:t>
            </a:r>
          </a:p>
          <a:p>
            <a:pPr marL="931321" marR="279393" indent="-457200">
              <a:lnSpc>
                <a:spcPts val="3600"/>
              </a:lnSpc>
              <a:buFont typeface="Arial" panose="020B0604020202020204" pitchFamily="34" charset="0"/>
              <a:buChar char="•"/>
              <a:tabLst>
                <a:tab pos="704409" algn="l"/>
              </a:tabLst>
            </a:pPr>
            <a:r>
              <a:rPr lang="es-CL" sz="2800" dirty="0"/>
              <a:t>Investigación. </a:t>
            </a:r>
          </a:p>
          <a:p>
            <a:pPr marL="931321" marR="279393" indent="-457200">
              <a:lnSpc>
                <a:spcPts val="3600"/>
              </a:lnSpc>
              <a:buFont typeface="Arial" panose="020B0604020202020204" pitchFamily="34" charset="0"/>
              <a:buChar char="•"/>
              <a:tabLst>
                <a:tab pos="704409" algn="l"/>
              </a:tabLst>
            </a:pPr>
            <a:r>
              <a:rPr lang="es-CL" sz="2800" dirty="0"/>
              <a:t>Consultoría</a:t>
            </a:r>
            <a:endParaRPr lang="en-US" sz="2800" dirty="0"/>
          </a:p>
        </p:txBody>
      </p:sp>
      <p:sp>
        <p:nvSpPr>
          <p:cNvPr id="4" name="Flecha derecha 3"/>
          <p:cNvSpPr/>
          <p:nvPr/>
        </p:nvSpPr>
        <p:spPr>
          <a:xfrm>
            <a:off x="5604933" y="3493347"/>
            <a:ext cx="863600" cy="7281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contenido 2"/>
          <p:cNvSpPr txBox="1">
            <a:spLocks/>
          </p:cNvSpPr>
          <p:nvPr/>
        </p:nvSpPr>
        <p:spPr>
          <a:xfrm>
            <a:off x="6824133" y="1891453"/>
            <a:ext cx="4944534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4121" marR="279393" indent="0">
              <a:lnSpc>
                <a:spcPts val="3600"/>
              </a:lnSpc>
              <a:buFont typeface="Calibri" panose="020F0502020204030204" pitchFamily="34" charset="0"/>
              <a:buNone/>
              <a:tabLst>
                <a:tab pos="704409" algn="l"/>
              </a:tabLst>
            </a:pPr>
            <a:r>
              <a:rPr lang="es-CL" sz="2800" dirty="0"/>
              <a:t>¿Qué tienen en común estos proyectos?</a:t>
            </a:r>
          </a:p>
          <a:p>
            <a:pPr marL="931321" marR="279393" indent="-457200">
              <a:lnSpc>
                <a:spcPts val="3600"/>
              </a:lnSpc>
              <a:buFont typeface="Arial" panose="020B0604020202020204" pitchFamily="34" charset="0"/>
              <a:buChar char="•"/>
              <a:tabLst>
                <a:tab pos="704409" algn="l"/>
              </a:tabLst>
            </a:pPr>
            <a:r>
              <a:rPr lang="es-CL" sz="2800" dirty="0"/>
              <a:t>Bases de datos.</a:t>
            </a:r>
          </a:p>
          <a:p>
            <a:pPr marL="931321" marR="279393" indent="-457200">
              <a:lnSpc>
                <a:spcPts val="3600"/>
              </a:lnSpc>
              <a:buFont typeface="Arial" panose="020B0604020202020204" pitchFamily="34" charset="0"/>
              <a:buChar char="•"/>
              <a:tabLst>
                <a:tab pos="704409" algn="l"/>
              </a:tabLst>
            </a:pPr>
            <a:r>
              <a:rPr lang="es-CL" sz="2800" dirty="0" err="1"/>
              <a:t>Interdisciplina</a:t>
            </a:r>
            <a:r>
              <a:rPr lang="es-CL" sz="2800" dirty="0"/>
              <a:t>. </a:t>
            </a:r>
          </a:p>
          <a:p>
            <a:pPr marL="474121" marR="279393" indent="0">
              <a:lnSpc>
                <a:spcPts val="3600"/>
              </a:lnSpc>
              <a:buNone/>
              <a:tabLst>
                <a:tab pos="704409" algn="l"/>
              </a:tabLst>
            </a:pPr>
            <a:r>
              <a:rPr lang="es-CL" sz="2800" dirty="0"/>
              <a:t>¿Qué tienen de diferentes?</a:t>
            </a:r>
          </a:p>
          <a:p>
            <a:pPr marL="931321" marR="279393" indent="-457200">
              <a:lnSpc>
                <a:spcPts val="3600"/>
              </a:lnSpc>
              <a:buFont typeface="Arial" panose="020B0604020202020204" pitchFamily="34" charset="0"/>
              <a:buChar char="•"/>
              <a:tabLst>
                <a:tab pos="704409" algn="l"/>
              </a:tabLst>
            </a:pPr>
            <a:r>
              <a:rPr lang="es-CL" sz="2800" dirty="0"/>
              <a:t>Dominios de aplicación</a:t>
            </a:r>
          </a:p>
          <a:p>
            <a:pPr marL="474121" marR="279393" indent="0">
              <a:lnSpc>
                <a:spcPts val="3600"/>
              </a:lnSpc>
              <a:buNone/>
              <a:tabLst>
                <a:tab pos="704409" algn="l"/>
              </a:tabLst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9011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69205" y="190929"/>
            <a:ext cx="8812105" cy="597741"/>
          </a:xfrm>
        </p:spPr>
        <p:txBody>
          <a:bodyPr/>
          <a:lstStyle/>
          <a:p>
            <a:r>
              <a:rPr lang="es-MX" spc="-7" dirty="0"/>
              <a:t>Programa del curso – Aspectos formales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74132" y="1563792"/>
            <a:ext cx="5943601" cy="2985347"/>
          </a:xfrm>
        </p:spPr>
        <p:txBody>
          <a:bodyPr>
            <a:normAutofit fontScale="92500"/>
          </a:bodyPr>
          <a:lstStyle/>
          <a:p>
            <a:pPr marL="474121" marR="279393" indent="0">
              <a:lnSpc>
                <a:spcPts val="3600"/>
              </a:lnSpc>
              <a:buNone/>
              <a:tabLst>
                <a:tab pos="704409" algn="l"/>
              </a:tabLst>
            </a:pPr>
            <a:r>
              <a:rPr lang="es-CL" sz="2800" b="1" dirty="0"/>
              <a:t>Unidades:</a:t>
            </a:r>
          </a:p>
          <a:p>
            <a:pPr marL="988471" marR="279393" indent="-514350">
              <a:lnSpc>
                <a:spcPts val="3600"/>
              </a:lnSpc>
              <a:buAutoNum type="arabicPeriod"/>
              <a:tabLst>
                <a:tab pos="704409" algn="l"/>
              </a:tabLst>
            </a:pPr>
            <a:r>
              <a:rPr lang="es-CL" sz="2800" dirty="0"/>
              <a:t>Comprensión de necesidades y elicitación. (5 semanas).</a:t>
            </a:r>
          </a:p>
          <a:p>
            <a:pPr marL="988471" marR="279393" indent="-514350">
              <a:lnSpc>
                <a:spcPts val="3600"/>
              </a:lnSpc>
              <a:buAutoNum type="arabicPeriod"/>
              <a:tabLst>
                <a:tab pos="704409" algn="l"/>
              </a:tabLst>
            </a:pPr>
            <a:r>
              <a:rPr lang="en-US" sz="2800" dirty="0" err="1"/>
              <a:t>Análisis</a:t>
            </a:r>
            <a:r>
              <a:rPr lang="en-US" sz="2800" dirty="0"/>
              <a:t> de </a:t>
            </a:r>
            <a:r>
              <a:rPr lang="en-US" sz="2800" dirty="0" err="1"/>
              <a:t>requisitos</a:t>
            </a:r>
            <a:r>
              <a:rPr lang="en-US" sz="2800" dirty="0"/>
              <a:t>. (6 </a:t>
            </a:r>
            <a:r>
              <a:rPr lang="en-US" sz="2800" dirty="0" err="1"/>
              <a:t>semanas</a:t>
            </a:r>
            <a:r>
              <a:rPr lang="en-US" sz="2800" dirty="0"/>
              <a:t>).</a:t>
            </a:r>
          </a:p>
          <a:p>
            <a:pPr marL="988471" marR="279393" indent="-514350">
              <a:lnSpc>
                <a:spcPts val="3600"/>
              </a:lnSpc>
              <a:buAutoNum type="arabicPeriod"/>
              <a:tabLst>
                <a:tab pos="704409" algn="l"/>
              </a:tabLst>
            </a:pPr>
            <a:r>
              <a:rPr lang="en-US" sz="2800" dirty="0" err="1"/>
              <a:t>Gestión</a:t>
            </a:r>
            <a:r>
              <a:rPr lang="en-US" sz="2800" dirty="0"/>
              <a:t> de </a:t>
            </a:r>
            <a:r>
              <a:rPr lang="en-US" sz="2800" dirty="0" err="1"/>
              <a:t>requisitos</a:t>
            </a:r>
            <a:r>
              <a:rPr lang="en-US" sz="2800" dirty="0"/>
              <a:t>. (5 </a:t>
            </a:r>
            <a:r>
              <a:rPr lang="en-US" sz="2800" dirty="0" err="1"/>
              <a:t>semanas</a:t>
            </a:r>
            <a:r>
              <a:rPr lang="en-US" sz="2800" dirty="0"/>
              <a:t>).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65BBF42A-DC57-4CD2-85BE-103B86C3DBA6}"/>
              </a:ext>
            </a:extLst>
          </p:cNvPr>
          <p:cNvSpPr txBox="1">
            <a:spLocks/>
          </p:cNvSpPr>
          <p:nvPr/>
        </p:nvSpPr>
        <p:spPr>
          <a:xfrm>
            <a:off x="6417734" y="1563793"/>
            <a:ext cx="5300134" cy="316611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09585">
              <a:defRPr>
                <a:latin typeface="+mn-lt"/>
                <a:ea typeface="+mn-ea"/>
                <a:cs typeface="+mn-cs"/>
              </a:defRPr>
            </a:lvl2pPr>
            <a:lvl3pPr marL="1219170">
              <a:defRPr>
                <a:latin typeface="+mn-lt"/>
                <a:ea typeface="+mn-ea"/>
                <a:cs typeface="+mn-cs"/>
              </a:defRPr>
            </a:lvl3pPr>
            <a:lvl4pPr marL="1828754">
              <a:defRPr>
                <a:latin typeface="+mn-lt"/>
                <a:ea typeface="+mn-ea"/>
                <a:cs typeface="+mn-cs"/>
              </a:defRPr>
            </a:lvl4pPr>
            <a:lvl5pPr marL="2438339">
              <a:defRPr>
                <a:latin typeface="+mn-lt"/>
                <a:ea typeface="+mn-ea"/>
                <a:cs typeface="+mn-cs"/>
              </a:defRPr>
            </a:lvl5pPr>
            <a:lvl6pPr marL="3047924">
              <a:defRPr>
                <a:latin typeface="+mn-lt"/>
                <a:ea typeface="+mn-ea"/>
                <a:cs typeface="+mn-cs"/>
              </a:defRPr>
            </a:lvl6pPr>
            <a:lvl7pPr marL="3657509">
              <a:defRPr>
                <a:latin typeface="+mn-lt"/>
                <a:ea typeface="+mn-ea"/>
                <a:cs typeface="+mn-cs"/>
              </a:defRPr>
            </a:lvl7pPr>
            <a:lvl8pPr marL="4267093">
              <a:defRPr>
                <a:latin typeface="+mn-lt"/>
                <a:ea typeface="+mn-ea"/>
                <a:cs typeface="+mn-cs"/>
              </a:defRPr>
            </a:lvl8pPr>
            <a:lvl9pPr marL="4876678">
              <a:defRPr>
                <a:latin typeface="+mn-lt"/>
                <a:ea typeface="+mn-ea"/>
                <a:cs typeface="+mn-cs"/>
              </a:defRPr>
            </a:lvl9pPr>
          </a:lstStyle>
          <a:p>
            <a:pPr marL="474121" marR="279393">
              <a:lnSpc>
                <a:spcPts val="3600"/>
              </a:lnSpc>
              <a:tabLst>
                <a:tab pos="704409" algn="l"/>
              </a:tabLst>
            </a:pPr>
            <a:r>
              <a:rPr lang="es-CL" sz="2600" b="1" kern="0" dirty="0"/>
              <a:t>Evaluaciones parciales:</a:t>
            </a:r>
          </a:p>
          <a:p>
            <a:pPr marL="931321" marR="279393" indent="-457200">
              <a:lnSpc>
                <a:spcPts val="3600"/>
              </a:lnSpc>
              <a:buFont typeface="Arial" panose="020B0604020202020204" pitchFamily="34" charset="0"/>
              <a:buChar char="•"/>
              <a:tabLst>
                <a:tab pos="704409" algn="l"/>
              </a:tabLst>
            </a:pPr>
            <a:r>
              <a:rPr lang="es-CL" sz="2600" kern="0" dirty="0"/>
              <a:t>Prueba 1 (30%). 04/</a:t>
            </a:r>
            <a:r>
              <a:rPr lang="es-CL" sz="2600" kern="0" dirty="0" err="1"/>
              <a:t>sep</a:t>
            </a:r>
            <a:endParaRPr lang="es-CL" sz="2600" kern="0" dirty="0"/>
          </a:p>
          <a:p>
            <a:pPr marL="931321" marR="279393" indent="-457200">
              <a:lnSpc>
                <a:spcPts val="3600"/>
              </a:lnSpc>
              <a:buFont typeface="Arial" panose="020B0604020202020204" pitchFamily="34" charset="0"/>
              <a:buChar char="•"/>
              <a:tabLst>
                <a:tab pos="704409" algn="l"/>
              </a:tabLst>
            </a:pPr>
            <a:r>
              <a:rPr lang="es-CL" sz="2600" kern="0" dirty="0"/>
              <a:t>Prueba 2 (30%). 28/oct</a:t>
            </a:r>
          </a:p>
          <a:p>
            <a:pPr marL="931321" marR="279393" indent="-457200">
              <a:lnSpc>
                <a:spcPts val="3600"/>
              </a:lnSpc>
              <a:buFont typeface="Arial" panose="020B0604020202020204" pitchFamily="34" charset="0"/>
              <a:buChar char="•"/>
              <a:tabLst>
                <a:tab pos="704409" algn="l"/>
              </a:tabLst>
            </a:pPr>
            <a:r>
              <a:rPr lang="es-CL" sz="2600" kern="0" dirty="0"/>
              <a:t>Prueba 3 (20%). 27/nov</a:t>
            </a:r>
          </a:p>
          <a:p>
            <a:pPr marL="931321" marR="279393" indent="-457200">
              <a:lnSpc>
                <a:spcPts val="3600"/>
              </a:lnSpc>
              <a:buFont typeface="Arial" panose="020B0604020202020204" pitchFamily="34" charset="0"/>
              <a:buChar char="•"/>
              <a:tabLst>
                <a:tab pos="704409" algn="l"/>
              </a:tabLst>
            </a:pPr>
            <a:r>
              <a:rPr lang="es-CL" sz="2600" kern="0" dirty="0"/>
              <a:t>Tareas (20%). </a:t>
            </a:r>
          </a:p>
          <a:p>
            <a:pPr marL="474121" marR="279393">
              <a:lnSpc>
                <a:spcPts val="3600"/>
              </a:lnSpc>
              <a:tabLst>
                <a:tab pos="704409" algn="l"/>
              </a:tabLst>
            </a:pPr>
            <a:r>
              <a:rPr lang="es-CL" sz="2600" b="1" kern="0" dirty="0"/>
              <a:t>Examen (30%). </a:t>
            </a:r>
            <a:r>
              <a:rPr lang="es-CL" sz="2600" kern="0" dirty="0"/>
              <a:t>11/dic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1BDB7CE-0E8D-41F4-A0DD-3CD09F2A6287}"/>
              </a:ext>
            </a:extLst>
          </p:cNvPr>
          <p:cNvSpPr txBox="1">
            <a:spLocks/>
          </p:cNvSpPr>
          <p:nvPr/>
        </p:nvSpPr>
        <p:spPr>
          <a:xfrm>
            <a:off x="795866" y="4729903"/>
            <a:ext cx="10348383" cy="1331807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wrap="square" lIns="0" tIns="0" rIns="0" bIns="0">
            <a:normAutofit/>
          </a:bodyPr>
          <a:lstStyle>
            <a:lvl1pPr marL="0"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09585">
              <a:defRPr>
                <a:latin typeface="+mn-lt"/>
                <a:ea typeface="+mn-ea"/>
                <a:cs typeface="+mn-cs"/>
              </a:defRPr>
            </a:lvl2pPr>
            <a:lvl3pPr marL="1219170">
              <a:defRPr>
                <a:latin typeface="+mn-lt"/>
                <a:ea typeface="+mn-ea"/>
                <a:cs typeface="+mn-cs"/>
              </a:defRPr>
            </a:lvl3pPr>
            <a:lvl4pPr marL="1828754">
              <a:defRPr>
                <a:latin typeface="+mn-lt"/>
                <a:ea typeface="+mn-ea"/>
                <a:cs typeface="+mn-cs"/>
              </a:defRPr>
            </a:lvl4pPr>
            <a:lvl5pPr marL="2438339">
              <a:defRPr>
                <a:latin typeface="+mn-lt"/>
                <a:ea typeface="+mn-ea"/>
                <a:cs typeface="+mn-cs"/>
              </a:defRPr>
            </a:lvl5pPr>
            <a:lvl6pPr marL="3047924">
              <a:defRPr>
                <a:latin typeface="+mn-lt"/>
                <a:ea typeface="+mn-ea"/>
                <a:cs typeface="+mn-cs"/>
              </a:defRPr>
            </a:lvl6pPr>
            <a:lvl7pPr marL="3657509">
              <a:defRPr>
                <a:latin typeface="+mn-lt"/>
                <a:ea typeface="+mn-ea"/>
                <a:cs typeface="+mn-cs"/>
              </a:defRPr>
            </a:lvl7pPr>
            <a:lvl8pPr marL="4267093">
              <a:defRPr>
                <a:latin typeface="+mn-lt"/>
                <a:ea typeface="+mn-ea"/>
                <a:cs typeface="+mn-cs"/>
              </a:defRPr>
            </a:lvl8pPr>
            <a:lvl9pPr marL="4876678">
              <a:defRPr>
                <a:latin typeface="+mn-lt"/>
                <a:ea typeface="+mn-ea"/>
                <a:cs typeface="+mn-cs"/>
              </a:defRPr>
            </a:lvl9pPr>
          </a:lstStyle>
          <a:p>
            <a:pPr marL="931321" marR="279393" indent="-457200">
              <a:lnSpc>
                <a:spcPts val="3600"/>
              </a:lnSpc>
              <a:buFont typeface="Arial" panose="020B0604020202020204" pitchFamily="34" charset="0"/>
              <a:buChar char="•"/>
              <a:tabLst>
                <a:tab pos="704409" algn="l"/>
              </a:tabLst>
            </a:pPr>
            <a:r>
              <a:rPr lang="es-ES" sz="2800" b="1" kern="0" dirty="0"/>
              <a:t>Uso de IA Generativa: </a:t>
            </a:r>
            <a:r>
              <a:rPr lang="es-ES" sz="2800" kern="0" dirty="0"/>
              <a:t>En las tareas, debe declararse su uso.</a:t>
            </a:r>
          </a:p>
          <a:p>
            <a:pPr marL="931321" marR="279393" indent="-457200">
              <a:lnSpc>
                <a:spcPts val="3600"/>
              </a:lnSpc>
              <a:buFont typeface="Arial" panose="020B0604020202020204" pitchFamily="34" charset="0"/>
              <a:buChar char="•"/>
              <a:tabLst>
                <a:tab pos="704409" algn="l"/>
              </a:tabLst>
            </a:pPr>
            <a:r>
              <a:rPr lang="es-ES" sz="2800" b="1" kern="0" dirty="0"/>
              <a:t>Eximición de examen: </a:t>
            </a:r>
            <a:r>
              <a:rPr lang="es-ES" sz="2800" kern="0" dirty="0"/>
              <a:t>Promedio &gt;=4.5 y Asistencia &gt;=70%.</a:t>
            </a:r>
          </a:p>
        </p:txBody>
      </p:sp>
    </p:spTree>
    <p:extLst>
      <p:ext uri="{BB962C8B-B14F-4D97-AF65-F5344CB8AC3E}">
        <p14:creationId xmlns:p14="http://schemas.microsoft.com/office/powerpoint/2010/main" val="1830356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61000"/>
            <a:ext cx="9144000" cy="738664"/>
          </a:xfrm>
        </p:spPr>
        <p:txBody>
          <a:bodyPr/>
          <a:lstStyle/>
          <a:p>
            <a:r>
              <a:rPr lang="es-CL" dirty="0"/>
              <a:t>INFO 208 – Ingeniería de Requisitos - 2025</a:t>
            </a:r>
          </a:p>
          <a:p>
            <a:r>
              <a:rPr lang="es-CL" dirty="0"/>
              <a:t>Juan Pablo Salazar F.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678966"/>
            <a:ext cx="12192000" cy="8309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5400" kern="0" dirty="0">
                <a:solidFill>
                  <a:prstClr val="black"/>
                </a:solidFill>
              </a:rPr>
              <a:t>Unidad 1. Identificación de Necesidades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Cómo es vista nuestra profesión … (1)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593" y="1068996"/>
            <a:ext cx="7160811" cy="532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665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Cómo es vista nuestra profesión … (2)</a:t>
            </a:r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272" y="1173192"/>
            <a:ext cx="6475454" cy="491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490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Cómo es vista nuestra profesión … (3)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7" y="1132722"/>
            <a:ext cx="9089701" cy="521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65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es el software?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38290" y="1963711"/>
            <a:ext cx="113189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/>
              <a:t>El </a:t>
            </a:r>
            <a:r>
              <a:rPr lang="es-CL" sz="2400" b="1" dirty="0"/>
              <a:t>software</a:t>
            </a:r>
            <a:r>
              <a:rPr lang="es-CL" sz="2400" dirty="0"/>
              <a:t> es: </a:t>
            </a:r>
          </a:p>
          <a:p>
            <a:pPr marL="342900" indent="-342900">
              <a:buAutoNum type="arabicParenBoth"/>
            </a:pPr>
            <a:r>
              <a:rPr lang="es-CL" sz="2400" b="1" dirty="0"/>
              <a:t>instrucciones</a:t>
            </a:r>
            <a:r>
              <a:rPr lang="es-CL" sz="2400" dirty="0"/>
              <a:t> (programas de computadora) que cuando se ejecutan proporcionan las características, la función y el desempeño deseados; </a:t>
            </a:r>
          </a:p>
          <a:p>
            <a:pPr marL="342900" indent="-342900">
              <a:buAutoNum type="arabicParenBoth"/>
            </a:pPr>
            <a:r>
              <a:rPr lang="es-CL" sz="2400" b="1" dirty="0"/>
              <a:t>estructuras de datos </a:t>
            </a:r>
            <a:r>
              <a:rPr lang="es-CL" sz="2400" dirty="0"/>
              <a:t>que permiten a los programas gestionar la información en forma adecuada; y </a:t>
            </a:r>
          </a:p>
          <a:p>
            <a:pPr marL="342900" indent="-342900">
              <a:buAutoNum type="arabicParenBoth"/>
            </a:pPr>
            <a:r>
              <a:rPr lang="es-CL" sz="2400" b="1" dirty="0"/>
              <a:t>información descriptiva </a:t>
            </a:r>
            <a:r>
              <a:rPr lang="es-CL" sz="2400" dirty="0"/>
              <a:t>tanto impresa como en formatos virtuales, que describe la operación y el uso de los programas.</a:t>
            </a:r>
          </a:p>
          <a:p>
            <a:endParaRPr lang="es-CL" sz="2400" dirty="0"/>
          </a:p>
          <a:p>
            <a:r>
              <a:rPr lang="es-CL" sz="2400" dirty="0"/>
              <a:t>R. </a:t>
            </a:r>
            <a:r>
              <a:rPr lang="es-CL" sz="2400" dirty="0" err="1"/>
              <a:t>Pressman</a:t>
            </a:r>
            <a:r>
              <a:rPr lang="es-CL" sz="2400" dirty="0"/>
              <a:t> &amp; B. </a:t>
            </a:r>
            <a:r>
              <a:rPr lang="es-CL" sz="2400" dirty="0" err="1"/>
              <a:t>Maxim</a:t>
            </a:r>
            <a:r>
              <a:rPr lang="es-CL" sz="2400" dirty="0"/>
              <a:t>, 2021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03567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razones pueden llevar a que un </a:t>
            </a:r>
            <a:r>
              <a:rPr lang="es-CL" dirty="0" err="1"/>
              <a:t>sw</a:t>
            </a:r>
            <a:r>
              <a:rPr lang="es-CL" dirty="0"/>
              <a:t> falle?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963" y="990599"/>
            <a:ext cx="6186071" cy="530108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61DBD8C-C7EE-4FD1-9EA2-7ECCC1121FD4}"/>
              </a:ext>
            </a:extLst>
          </p:cNvPr>
          <p:cNvSpPr txBox="1"/>
          <p:nvPr/>
        </p:nvSpPr>
        <p:spPr>
          <a:xfrm>
            <a:off x="4305300" y="4565184"/>
            <a:ext cx="15621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dirty="0"/>
              <a:t>3406 0542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45498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pPr algn="ctr"/>
            <a:r>
              <a:rPr lang="es-CL" sz="3200" dirty="0"/>
              <a:t>¿Qué razones pueden llevar a que un </a:t>
            </a:r>
            <a:r>
              <a:rPr lang="es-CL" sz="3200" dirty="0" err="1"/>
              <a:t>sw</a:t>
            </a:r>
            <a:r>
              <a:rPr lang="es-CL" sz="3200" dirty="0"/>
              <a:t> falle? (2024)</a:t>
            </a:r>
            <a:endParaRPr lang="en-US" sz="3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1191398-BE74-4D76-922A-D4A93278EA3F}"/>
              </a:ext>
            </a:extLst>
          </p:cNvPr>
          <p:cNvSpPr txBox="1"/>
          <p:nvPr/>
        </p:nvSpPr>
        <p:spPr>
          <a:xfrm>
            <a:off x="1165860" y="1798320"/>
            <a:ext cx="8584786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Falta de una visión única.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Mal entendimiento de las necesidades de los usuarios.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Mala organización y ejecución del proyecto.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Mala documentación.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Mala implementación.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Tecnologías obsoletas.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339191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distingue al hardware del software?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32" y="1879192"/>
            <a:ext cx="5137452" cy="370589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367" y="1879191"/>
            <a:ext cx="5309070" cy="3705893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097937" y="1479081"/>
            <a:ext cx="36046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/>
              <a:t>Curva de fallas para el hardware</a:t>
            </a:r>
            <a:endParaRPr lang="en-US" sz="2000" b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7257581" y="1479081"/>
            <a:ext cx="35244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/>
              <a:t>Curva de fallas para el software</a:t>
            </a:r>
            <a:endParaRPr lang="en-US" sz="2000" b="1" dirty="0"/>
          </a:p>
        </p:txBody>
      </p:sp>
      <p:sp>
        <p:nvSpPr>
          <p:cNvPr id="8" name="CuadroTexto 7"/>
          <p:cNvSpPr txBox="1"/>
          <p:nvPr/>
        </p:nvSpPr>
        <p:spPr>
          <a:xfrm>
            <a:off x="2981043" y="5754361"/>
            <a:ext cx="6229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El software no se desgasta, pero sí se deteriora.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58248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es la Ingeniería de Software?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310264" y="2230411"/>
            <a:ext cx="115714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i="1" dirty="0"/>
              <a:t>“Aplicación de una </a:t>
            </a:r>
            <a:r>
              <a:rPr lang="es-CL" sz="3200" b="1" i="1" dirty="0"/>
              <a:t>metodología</a:t>
            </a:r>
            <a:r>
              <a:rPr lang="es-CL" sz="3200" i="1" dirty="0"/>
              <a:t> </a:t>
            </a:r>
          </a:p>
          <a:p>
            <a:pPr algn="ctr"/>
            <a:r>
              <a:rPr lang="es-CL" sz="3200" i="1" dirty="0"/>
              <a:t>sistemática, disciplinada y cuantificable para el </a:t>
            </a:r>
          </a:p>
          <a:p>
            <a:pPr algn="ctr"/>
            <a:r>
              <a:rPr lang="es-CL" sz="3200" b="1" i="1" dirty="0"/>
              <a:t>desarrollo</a:t>
            </a:r>
            <a:r>
              <a:rPr lang="es-CL" sz="3200" i="1" dirty="0"/>
              <a:t>, la </a:t>
            </a:r>
            <a:r>
              <a:rPr lang="es-CL" sz="3200" b="1" i="1" dirty="0"/>
              <a:t>operación</a:t>
            </a:r>
            <a:r>
              <a:rPr lang="es-CL" sz="3200" i="1" dirty="0"/>
              <a:t> y el </a:t>
            </a:r>
            <a:r>
              <a:rPr lang="es-CL" sz="3200" b="1" i="1" dirty="0"/>
              <a:t>mantenimiento</a:t>
            </a:r>
            <a:r>
              <a:rPr lang="es-CL" sz="3200" i="1" dirty="0"/>
              <a:t> de software”</a:t>
            </a:r>
          </a:p>
          <a:p>
            <a:endParaRPr lang="es-CL" sz="2400" dirty="0"/>
          </a:p>
          <a:p>
            <a:pPr algn="r"/>
            <a:r>
              <a:rPr lang="es-CL" sz="2400" dirty="0"/>
              <a:t>IEEE, 2017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35947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es la Ingeniería de Software?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49" y="1681247"/>
            <a:ext cx="9715500" cy="286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59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28662</TotalTime>
  <Words>558</Words>
  <Application>Microsoft Office PowerPoint</Application>
  <PresentationFormat>Panorámica</PresentationFormat>
  <Paragraphs>79</Paragraphs>
  <Slides>13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Presentación del profesor: Juan Pablo Salazar</vt:lpstr>
      <vt:lpstr>Presentación del profesor: Juan Pablo Salazar</vt:lpstr>
      <vt:lpstr>Programa del curso – Aspectos formales</vt:lpstr>
      <vt:lpstr>Unidad 0 - Introducción</vt:lpstr>
      <vt:lpstr>Cómo es vista nuestra profesión … (1)</vt:lpstr>
      <vt:lpstr>Cómo es vista nuestra profesión … (2)</vt:lpstr>
      <vt:lpstr>Cómo es vista nuestra profesión … (3)</vt:lpstr>
      <vt:lpstr>¿Qué es el software?</vt:lpstr>
      <vt:lpstr>¿Qué razones pueden llevar a que un sw falle?</vt:lpstr>
      <vt:lpstr>¿Qué razones pueden llevar a que un sw falle? (2024)</vt:lpstr>
      <vt:lpstr>¿Qué distingue al hardware del software?</vt:lpstr>
      <vt:lpstr>¿Qué es la Ingeniería de Software?</vt:lpstr>
      <vt:lpstr>¿Qué es la Ingeniería de Software?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170</cp:revision>
  <cp:lastPrinted>2020-10-05T12:16:48Z</cp:lastPrinted>
  <dcterms:created xsi:type="dcterms:W3CDTF">2018-03-05T20:26:11Z</dcterms:created>
  <dcterms:modified xsi:type="dcterms:W3CDTF">2025-08-07T14:48:45Z</dcterms:modified>
</cp:coreProperties>
</file>
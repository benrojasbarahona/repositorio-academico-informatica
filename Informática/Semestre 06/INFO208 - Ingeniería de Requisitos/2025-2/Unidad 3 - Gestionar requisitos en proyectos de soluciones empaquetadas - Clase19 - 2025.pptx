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7" r:id="rId2"/>
    <p:sldId id="588" r:id="rId3"/>
    <p:sldId id="585" r:id="rId4"/>
    <p:sldId id="589" r:id="rId5"/>
    <p:sldId id="590" r:id="rId6"/>
    <p:sldId id="584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11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23-11-2025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23-11-2025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DEB5-FB1D-9333-DB6E-51C99F2C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ED6D1-C7EB-2912-B74F-C98E2551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C9A109-B51B-8DF6-5C31-7467A85CC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EE2E97-40AE-4B79-2D20-FF1B336BC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3105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D759-C07A-81AD-184A-F58F6ED3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C9206-BC90-824B-39E3-06171E8A8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F896E2-7454-8E47-6846-97A1636DD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FA19A-B41A-E1E3-FCA8-16C25A0D7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2350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E29A-CD8A-F9FE-DD8F-C0103928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DF6A5B-3C68-B45D-0813-325F77C1C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E6B92E-7631-33DE-3F0C-FD339E9D2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COTS: Es un término usual para referirse a software empaquetado.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17D854-9DC5-0838-9E57-A35DF455A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4726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0316-E61A-C629-365F-86A6FE29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999382-5660-057E-28A0-2A107C2C7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E341ED-8921-6E5D-002D-B5EA8DD93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Configurar no requiere programación. </a:t>
            </a:r>
          </a:p>
          <a:p>
            <a:r>
              <a:rPr lang="es-CL" dirty="0"/>
              <a:t>Integrar requiere construir interfaces.</a:t>
            </a:r>
          </a:p>
          <a:p>
            <a:r>
              <a:rPr lang="es-CL" dirty="0"/>
              <a:t>Construir extensiones implica construir software que desarrolla funcionalidades que el paquete no incluye.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D1F66-F7D0-2189-11C1-32EE78918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92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F7489-8E96-8F4B-D624-D3205D4A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12EA16-7BEA-0CFD-D0B6-EC2FEDA75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23A006-93C1-4979-FD32-0A147CE82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68D2DC-962D-811E-2201-1C7FF1520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933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CB7E-D89F-F63C-D79A-C8E894FD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977FE3-2506-7DCF-71C2-32EFEFAD7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CFC78F-5F4D-8A72-3BEB-64FBE824F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 err="1"/>
              <a:t>En</a:t>
            </a:r>
            <a:r>
              <a:rPr lang="en-US" b="0" dirty="0"/>
              <a:t> general, no </a:t>
            </a:r>
            <a:r>
              <a:rPr lang="en-US" b="0" dirty="0" err="1"/>
              <a:t>requiero</a:t>
            </a:r>
            <a:r>
              <a:rPr lang="en-US" b="0" dirty="0"/>
              <a:t> </a:t>
            </a:r>
            <a:r>
              <a:rPr lang="en-US" b="0" dirty="0" err="1"/>
              <a:t>diseñar</a:t>
            </a:r>
            <a:r>
              <a:rPr lang="en-US" b="0" dirty="0"/>
              <a:t> interfaces de </a:t>
            </a:r>
            <a:r>
              <a:rPr lang="en-US" b="0" dirty="0" err="1"/>
              <a:t>usuario</a:t>
            </a:r>
            <a:r>
              <a:rPr lang="en-US" b="0" dirty="0"/>
              <a:t> </a:t>
            </a:r>
            <a:r>
              <a:rPr lang="en-US" b="0" dirty="0" err="1"/>
              <a:t>debido</a:t>
            </a:r>
            <a:r>
              <a:rPr lang="en-US" b="0" dirty="0"/>
              <a:t> a que </a:t>
            </a:r>
            <a:r>
              <a:rPr lang="en-US" b="0" dirty="0" err="1"/>
              <a:t>el</a:t>
            </a:r>
            <a:r>
              <a:rPr lang="en-US" b="0" dirty="0"/>
              <a:t> </a:t>
            </a:r>
            <a:r>
              <a:rPr lang="en-US" b="0" dirty="0" err="1"/>
              <a:t>sistema</a:t>
            </a:r>
            <a:r>
              <a:rPr lang="en-US" b="0" dirty="0"/>
              <a:t> </a:t>
            </a:r>
            <a:r>
              <a:rPr lang="en-US" b="0" dirty="0" err="1"/>
              <a:t>ya</a:t>
            </a:r>
            <a:r>
              <a:rPr lang="en-US" b="0" dirty="0"/>
              <a:t> </a:t>
            </a:r>
            <a:r>
              <a:rPr lang="en-US" b="0" dirty="0" err="1"/>
              <a:t>trae</a:t>
            </a:r>
            <a:r>
              <a:rPr lang="en-US" b="0" dirty="0"/>
              <a:t> las </a:t>
            </a:r>
            <a:r>
              <a:rPr lang="en-US" b="0" dirty="0" err="1"/>
              <a:t>propias</a:t>
            </a:r>
            <a:r>
              <a:rPr lang="en-US" b="0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C04A0-1190-88BE-DCE1-239513036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1993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E0AA-C71C-BCD0-E4F7-C39B9AB2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9DBA6A-6FD5-3E03-B3E6-5F3B00757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4E30C4-F7D7-DBCB-FA05-5F0CC5384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9AECCF-FE63-6B0B-58FA-C4066F175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2495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3582-E12C-5442-D8A4-49AEFD12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5921AF-93B0-EED9-D6CC-25C31F2FC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79F6B6-C667-1487-467A-5ECCCE451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6CAE1A-58FC-3197-B1F7-D1CDCA4F6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8269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BD2B-250F-6DDF-5040-4191C32A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352A8C-F52B-B5B0-4D73-FB9D71A5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63718D-4EB4-760F-73DE-802F9F986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CDCD49-0C51-5443-CFE5-767CA81B6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3742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6D47-1460-EF07-97B7-D086B4FC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C02825-1083-731A-5CA7-C18428F98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9AFB72-3A74-063C-F17F-F30634782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4A56A3-C700-F45A-228B-BC1E79338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2590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994A5-6E69-6194-9365-EABA8422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842800-F8F2-7394-9163-675638EF4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E31E2C-6DCC-ABFC-3C0F-E37163CB6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D73602-D1AB-9BA0-BF24-4878333CA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2305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998B-16FA-68FA-FB58-6F418819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200EBD-F58E-2961-7626-F10F3E61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BDFC05-82FA-335B-9D08-D247657DA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67CB28-BFF4-E26F-DAEC-75958EB20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7412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B9E1-215E-8902-57DC-BE3CF1B0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9CF5BB-0239-D338-7F12-10EC4008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1C7AC8-7540-28F5-5548-B685CCC3A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C17137-92AB-987C-D77B-E4E8B6948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192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23-11-2025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</a:t>
            </a:r>
            <a:r>
              <a:rPr lang="es-CL"/>
              <a:t>- 2025</a:t>
            </a:r>
            <a:endParaRPr lang="es-CL" dirty="0"/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0" y="1386304"/>
            <a:ext cx="12192000" cy="249299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3. Gestión de requisitos</a:t>
            </a:r>
          </a:p>
          <a:p>
            <a:r>
              <a:rPr lang="es-CL" sz="5400" kern="0" dirty="0">
                <a:solidFill>
                  <a:prstClr val="black"/>
                </a:solidFill>
              </a:rPr>
              <a:t>en proyectos de</a:t>
            </a:r>
          </a:p>
          <a:p>
            <a:r>
              <a:rPr lang="es-CL" sz="5400" kern="0" dirty="0">
                <a:solidFill>
                  <a:prstClr val="black"/>
                </a:solidFill>
              </a:rPr>
              <a:t>soluciones empaquetadas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B0EFAE-B4ED-2323-7C6B-FA5160919FE2}"/>
              </a:ext>
            </a:extLst>
          </p:cNvPr>
          <p:cNvSpPr txBox="1"/>
          <p:nvPr/>
        </p:nvSpPr>
        <p:spPr>
          <a:xfrm>
            <a:off x="6490446" y="6347012"/>
            <a:ext cx="554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Wiegers</a:t>
            </a:r>
            <a:r>
              <a:rPr lang="es-CL" dirty="0"/>
              <a:t> &amp; Beatty (2013). Software </a:t>
            </a:r>
            <a:r>
              <a:rPr lang="es-CL" dirty="0" err="1"/>
              <a:t>Requirements</a:t>
            </a:r>
            <a:r>
              <a:rPr lang="es-CL" dirty="0"/>
              <a:t>. Cap.22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F21F-61EE-BE15-90F5-4EF678FF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450F0-0AC7-11EB-C8D0-64B1A706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Software empaquetado – </a:t>
            </a:r>
            <a:r>
              <a:rPr lang="es-CL" sz="3200" dirty="0" err="1"/>
              <a:t>Ejm</a:t>
            </a:r>
            <a:r>
              <a:rPr lang="es-CL" sz="3200" dirty="0"/>
              <a:t>. ERP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B05C49-3086-7FAC-BDE9-5F3F1803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566" y="1422001"/>
            <a:ext cx="9712867" cy="483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9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65F9-A079-138A-87BC-7B9CF5C9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C9243-9FB0-3631-99EB-BD473982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n-US" sz="3200" dirty="0" err="1"/>
              <a:t>Alternativas</a:t>
            </a:r>
            <a:r>
              <a:rPr lang="en-US" sz="3200" dirty="0"/>
              <a:t> software </a:t>
            </a:r>
            <a:r>
              <a:rPr lang="en-US" sz="3200" dirty="0" err="1"/>
              <a:t>empaquetado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15250D-81BF-564C-F87C-03E08B04D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629" y="1549838"/>
            <a:ext cx="8132742" cy="416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90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F0FE6-3FE4-769F-799E-4598A98D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19B21-33CE-9D30-93AB-4AADF09D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n-US" sz="3200" dirty="0"/>
              <a:t>COTS: Commercial off-the-shelf.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5434CA-E3E4-37BE-FB39-11EBE8B0F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269" y="1102057"/>
            <a:ext cx="8219461" cy="51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6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7F3B-02C2-691A-AD2C-9214D787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A9DE8-8616-51DB-DCF7-2F4C47E9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n-US" sz="3200" dirty="0"/>
              <a:t>COTS: Commercial off-the-shelf.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49FBE5-03AF-2029-8428-9EB872711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271" y="1478576"/>
            <a:ext cx="6203576" cy="39159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1F1A236-EB85-63D1-7D2D-6716B3380E6E}"/>
              </a:ext>
            </a:extLst>
          </p:cNvPr>
          <p:cNvSpPr txBox="1"/>
          <p:nvPr/>
        </p:nvSpPr>
        <p:spPr>
          <a:xfrm>
            <a:off x="143434" y="1514902"/>
            <a:ext cx="56298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Tareas requeridas para poner en operación un paquete de software.</a:t>
            </a:r>
            <a:endParaRPr lang="es-CL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Configurar ($)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Integrar</a:t>
            </a:r>
            <a:r>
              <a:rPr lang="es-CL" sz="2800" dirty="0"/>
              <a:t> con aplicaciones existentes</a:t>
            </a:r>
            <a:r>
              <a:rPr lang="es-CL" sz="2800" b="1" dirty="0"/>
              <a:t> ($$)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Construir </a:t>
            </a:r>
            <a:r>
              <a:rPr lang="es-CL" sz="2800" b="1" dirty="0"/>
              <a:t>extensiones ($$$)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43118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65F9-0F26-656A-0CB4-56EB079C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3577B-B9E8-29C3-B9D3-0B0FA525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¿Cómo seleccionar un software empaquetado?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5C3EE8-4F0F-7077-8997-ACF9C621C49D}"/>
              </a:ext>
            </a:extLst>
          </p:cNvPr>
          <p:cNvSpPr txBox="1"/>
          <p:nvPr/>
        </p:nvSpPr>
        <p:spPr>
          <a:xfrm>
            <a:off x="143434" y="1514902"/>
            <a:ext cx="112417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Un software empaquetado siempre </a:t>
            </a:r>
            <a:r>
              <a:rPr lang="es-CL" sz="2800" b="1" dirty="0"/>
              <a:t>impone restricciones</a:t>
            </a:r>
            <a:r>
              <a:rPr lang="es-CL" sz="2800" dirty="0"/>
              <a:t>.</a:t>
            </a:r>
          </a:p>
          <a:p>
            <a:r>
              <a:rPr lang="es-CL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Claves: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Conocer los </a:t>
            </a:r>
            <a:r>
              <a:rPr lang="es-CL" sz="2800" b="1" dirty="0"/>
              <a:t>datos</a:t>
            </a:r>
            <a:r>
              <a:rPr lang="es-CL" sz="2800" dirty="0"/>
              <a:t> y </a:t>
            </a:r>
            <a:r>
              <a:rPr lang="es-CL" sz="2800" b="1" dirty="0"/>
              <a:t>procesos</a:t>
            </a:r>
            <a:r>
              <a:rPr lang="es-CL" sz="2800" dirty="0"/>
              <a:t> de la organización.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Priorizar</a:t>
            </a:r>
            <a:r>
              <a:rPr lang="es-CL" sz="2800" dirty="0"/>
              <a:t> casos de uso / funcionalidades.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Especificar</a:t>
            </a:r>
            <a:r>
              <a:rPr lang="es-CL" sz="2800" dirty="0"/>
              <a:t> con algún detalle los datos y procesos que necesito manejar.</a:t>
            </a:r>
          </a:p>
        </p:txBody>
      </p:sp>
    </p:spTree>
    <p:extLst>
      <p:ext uri="{BB962C8B-B14F-4D97-AF65-F5344CB8AC3E}">
        <p14:creationId xmlns:p14="http://schemas.microsoft.com/office/powerpoint/2010/main" val="254477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A077-B78A-2BA9-6598-7266CCE5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29526-79FC-696F-DBBC-57753129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Desarrollar requerimientos de usuario.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74B207-7DE6-DE67-5E57-7560BEAC608D}"/>
              </a:ext>
            </a:extLst>
          </p:cNvPr>
          <p:cNvSpPr txBox="1"/>
          <p:nvPr/>
        </p:nvSpPr>
        <p:spPr>
          <a:xfrm>
            <a:off x="143434" y="1514902"/>
            <a:ext cx="112417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Necesito desarrollar requerimientos </a:t>
            </a:r>
            <a:r>
              <a:rPr lang="es-CL" sz="2800" dirty="0"/>
              <a:t>a cierto nivel de detalle, por </a:t>
            </a:r>
            <a:r>
              <a:rPr lang="es-CL" sz="2800" dirty="0" err="1"/>
              <a:t>ejm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Historias de usuario,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Diagramas de proceso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No debiera </a:t>
            </a:r>
            <a:r>
              <a:rPr lang="es-CL" sz="2800" dirty="0"/>
              <a:t>diseñar interfaces de usuario, como parte de mis requisitos. </a:t>
            </a:r>
            <a:r>
              <a:rPr lang="es-CL" sz="2800" b="1" dirty="0"/>
              <a:t>¿Por qué?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generar </a:t>
            </a:r>
            <a:r>
              <a:rPr lang="es-CL" sz="2800" b="1" dirty="0"/>
              <a:t>listas de características</a:t>
            </a:r>
            <a:r>
              <a:rPr lang="es-CL" sz="2800" dirty="0"/>
              <a:t>, por </a:t>
            </a:r>
            <a:r>
              <a:rPr lang="es-CL" sz="2800" dirty="0" err="1"/>
              <a:t>ejm</a:t>
            </a:r>
            <a:r>
              <a:rPr lang="es-CL" sz="2800" dirty="0"/>
              <a:t>. Diagramas de Ishikawa.</a:t>
            </a:r>
          </a:p>
        </p:txBody>
      </p:sp>
    </p:spTree>
    <p:extLst>
      <p:ext uri="{BB962C8B-B14F-4D97-AF65-F5344CB8AC3E}">
        <p14:creationId xmlns:p14="http://schemas.microsoft.com/office/powerpoint/2010/main" val="260190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B912-2BD2-23D1-126D-BE32DC90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567B3-1F7B-8A3F-D73A-F6C31041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Desarrollar requerimientos de usuario.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FDD3C0-C72F-8385-81FD-7E2CD0DB156F}"/>
              </a:ext>
            </a:extLst>
          </p:cNvPr>
          <p:cNvSpPr txBox="1"/>
          <p:nvPr/>
        </p:nvSpPr>
        <p:spPr>
          <a:xfrm>
            <a:off x="143434" y="1514902"/>
            <a:ext cx="46975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generar </a:t>
            </a:r>
            <a:r>
              <a:rPr lang="es-CL" sz="2800" b="1" dirty="0"/>
              <a:t>listas de características</a:t>
            </a:r>
            <a:r>
              <a:rPr lang="es-CL" sz="2800" dirty="0"/>
              <a:t>, por </a:t>
            </a:r>
            <a:r>
              <a:rPr lang="es-CL" sz="2800" dirty="0" err="1"/>
              <a:t>ejm</a:t>
            </a:r>
            <a:r>
              <a:rPr lang="es-CL" sz="2800" dirty="0"/>
              <a:t>. Diagramas de Ishikawa.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Nos permite identificar qué esperamos que el sistema haga.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34347B-C7EE-7BA6-CCD9-5A5D51E9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61" y="1152304"/>
            <a:ext cx="6746592" cy="535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3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777E-FD93-E274-6019-B4BE9566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B967-2C25-0E01-6CB0-06F31C65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Reglas de negocio en sistemas empaquetados.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8A48F4-F907-9E32-76B5-0344213D00C8}"/>
              </a:ext>
            </a:extLst>
          </p:cNvPr>
          <p:cNvSpPr txBox="1"/>
          <p:nvPr/>
        </p:nvSpPr>
        <p:spPr>
          <a:xfrm>
            <a:off x="143434" y="1514902"/>
            <a:ext cx="112417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distinguir 2 instantes.</a:t>
            </a:r>
          </a:p>
          <a:p>
            <a:endParaRPr lang="es-CL" sz="2800" dirty="0"/>
          </a:p>
          <a:p>
            <a:pPr marL="971550" lvl="1" indent="-514350">
              <a:buFont typeface="+mj-lt"/>
              <a:buAutoNum type="arabicPeriod"/>
            </a:pPr>
            <a:r>
              <a:rPr lang="es-CL" sz="2800" b="1" dirty="0"/>
              <a:t>Antes de la compra. 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Evaluar si el sistema soporta las principales reglas mediante parametrización.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Evaluar el costo de implementar aquellas que no son soportadas.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sz="2800" b="1" dirty="0"/>
              <a:t>Al implementar. 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Definir cada regla de negocio, de modo que podamos implementar el sistema. </a:t>
            </a:r>
          </a:p>
        </p:txBody>
      </p:sp>
    </p:spTree>
    <p:extLst>
      <p:ext uri="{BB962C8B-B14F-4D97-AF65-F5344CB8AC3E}">
        <p14:creationId xmlns:p14="http://schemas.microsoft.com/office/powerpoint/2010/main" val="259128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B484-4191-E80C-9B78-444B2F25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82B82-1130-A79D-F145-0AC9F4CA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Necesidades de manejo de datos.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E0A1AA-0A20-362D-03E1-EF062194760A}"/>
              </a:ext>
            </a:extLst>
          </p:cNvPr>
          <p:cNvSpPr txBox="1"/>
          <p:nvPr/>
        </p:nvSpPr>
        <p:spPr>
          <a:xfrm>
            <a:off x="143434" y="1514902"/>
            <a:ext cx="112417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</a:t>
            </a:r>
            <a:r>
              <a:rPr lang="es-CL" sz="2800" b="1" dirty="0"/>
              <a:t>definir un modelo E-R </a:t>
            </a:r>
            <a:r>
              <a:rPr lang="es-CL" sz="2800" dirty="0"/>
              <a:t>en función de nuestras </a:t>
            </a:r>
            <a:r>
              <a:rPr lang="es-CL" sz="2800" b="1" dirty="0"/>
              <a:t>necesidades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</a:t>
            </a:r>
            <a:r>
              <a:rPr lang="es-CL" sz="2800" b="1" dirty="0"/>
              <a:t>comparar</a:t>
            </a:r>
            <a:r>
              <a:rPr lang="es-CL" sz="2800" dirty="0"/>
              <a:t> el modelo de datos del paquete de software con nuestro modelo. Esto permite identificar </a:t>
            </a:r>
            <a:r>
              <a:rPr lang="es-CL" sz="2800" b="1" dirty="0"/>
              <a:t>brechas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Análisis de alcance (entidades y relaciones).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Análisis de atributos y restricciones.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olvidar ni minimizar importancia de las necesidades de </a:t>
            </a:r>
            <a:r>
              <a:rPr lang="es-CL" sz="2800" b="1" dirty="0"/>
              <a:t>reportes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Identificar fuentes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Modelar datos derivados.</a:t>
            </a:r>
          </a:p>
        </p:txBody>
      </p:sp>
    </p:spTree>
    <p:extLst>
      <p:ext uri="{BB962C8B-B14F-4D97-AF65-F5344CB8AC3E}">
        <p14:creationId xmlns:p14="http://schemas.microsoft.com/office/powerpoint/2010/main" val="2675505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BC1C-9EEE-DB09-8633-61225AC2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5F7BE-B934-391E-C37C-EACC2200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Atributos de calidad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0A3A92-4353-ACBC-BA04-6A8C99F3CEA2}"/>
              </a:ext>
            </a:extLst>
          </p:cNvPr>
          <p:cNvSpPr txBox="1"/>
          <p:nvPr/>
        </p:nvSpPr>
        <p:spPr>
          <a:xfrm>
            <a:off x="143434" y="1514902"/>
            <a:ext cx="1124174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Rendimiento.</a:t>
            </a:r>
            <a:r>
              <a:rPr lang="es-CL" sz="24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Manejo de transacciones, carga y extracción de datos.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Usabilidad.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¿Es aceptable la experiencia de usuario?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Modificabilidad.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Complejidad al implementar extensiones, funcionalidades que no vienen incluidas.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Interoperabilidad.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Facilidad de integración.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Integridad.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Riesgos de corrupción de datos o pérdida de información.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b="1" dirty="0"/>
              <a:t>Seguridad.</a:t>
            </a: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Control de acceso, definición de privilegios, roles. </a:t>
            </a:r>
          </a:p>
        </p:txBody>
      </p:sp>
    </p:spTree>
    <p:extLst>
      <p:ext uri="{BB962C8B-B14F-4D97-AF65-F5344CB8AC3E}">
        <p14:creationId xmlns:p14="http://schemas.microsoft.com/office/powerpoint/2010/main" val="357328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C6A9-1C6D-84BB-9253-9A7E9390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32318-C37F-212D-2F48-AC40D565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¿Cómo evaluar y escoger paquetes de software?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9793F4-33F6-B5C0-37B1-7B1476EE681E}"/>
              </a:ext>
            </a:extLst>
          </p:cNvPr>
          <p:cNvSpPr txBox="1"/>
          <p:nvPr/>
        </p:nvSpPr>
        <p:spPr>
          <a:xfrm>
            <a:off x="143434" y="1514902"/>
            <a:ext cx="112417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Uso de matrices de evaluación, con: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Criterios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Pesos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Ponderaciones.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criterios de evaluación usamos?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Una lista acotada de funcionalidades de alta prioridad.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Atributos de calidad.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Costo del producto, soporte, experiencia del proveedor, costo de desarrollo de extensiones.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205534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CF27-3241-1B79-C392-0BA23025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CCF89-C9CA-459A-8463-387FA277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¿Cómo implementamos una solución empaquetada?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74828C-F23A-4829-9878-F9ABFA1F18F1}"/>
              </a:ext>
            </a:extLst>
          </p:cNvPr>
          <p:cNvSpPr txBox="1"/>
          <p:nvPr/>
        </p:nvSpPr>
        <p:spPr>
          <a:xfrm>
            <a:off x="143434" y="1514902"/>
            <a:ext cx="112417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</a:t>
            </a:r>
            <a:r>
              <a:rPr lang="es-CL" sz="2800" b="1" dirty="0"/>
              <a:t>clasificar</a:t>
            </a:r>
            <a:r>
              <a:rPr lang="es-CL" sz="2800" dirty="0"/>
              <a:t> nuestros </a:t>
            </a:r>
            <a:r>
              <a:rPr lang="es-CL" sz="2800" b="1" dirty="0"/>
              <a:t>requisitos</a:t>
            </a:r>
            <a:r>
              <a:rPr lang="es-CL" sz="2800" dirty="0"/>
              <a:t> en las siguientes categorías: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sz="2800" dirty="0" err="1"/>
              <a:t>Out</a:t>
            </a:r>
            <a:r>
              <a:rPr lang="es-CL" sz="2800" dirty="0"/>
              <a:t>-</a:t>
            </a:r>
            <a:r>
              <a:rPr lang="es-CL" sz="2800" dirty="0" err="1"/>
              <a:t>of</a:t>
            </a:r>
            <a:r>
              <a:rPr lang="es-CL" sz="2800" dirty="0"/>
              <a:t>-</a:t>
            </a:r>
            <a:r>
              <a:rPr lang="es-CL" sz="2800" dirty="0" err="1"/>
              <a:t>the</a:t>
            </a:r>
            <a:r>
              <a:rPr lang="es-CL" sz="2800" dirty="0"/>
              <a:t>-box.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No es necesario hacer trabajo adicional.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sz="2800" dirty="0"/>
              <a:t>Configuración.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Requiere parametrización, no escribir código.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sz="2800" dirty="0"/>
              <a:t>Integración.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Requiere conectar el software a sistemas existentes. 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Distinguir entre síncronas y asíncronas.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L" sz="2800" dirty="0"/>
              <a:t>Extensión.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s-CL" sz="2800" dirty="0"/>
              <a:t>Requiere implementar funcionalidades adicionales (programar).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509943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287FB-15BE-2D1D-6901-4AD17CB0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90E97-E8CD-E73F-EDD2-2ECCAEC0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Desafíos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A5C320-9FD2-30C3-F725-6038BD5706D9}"/>
              </a:ext>
            </a:extLst>
          </p:cNvPr>
          <p:cNvSpPr txBox="1"/>
          <p:nvPr/>
        </p:nvSpPr>
        <p:spPr>
          <a:xfrm>
            <a:off x="143434" y="1514902"/>
            <a:ext cx="112417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Tener </a:t>
            </a:r>
            <a:r>
              <a:rPr lang="es-CL" sz="2800" b="1" dirty="0"/>
              <a:t>muchos candidatos</a:t>
            </a:r>
            <a:r>
              <a:rPr lang="es-CL" sz="2800" dirty="0"/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Esto hace difícil (y costosa) la evaluación.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Tener muchos criterios de evaluación.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conveniente </a:t>
            </a:r>
            <a:r>
              <a:rPr lang="es-CL" sz="2800" b="1" dirty="0"/>
              <a:t>priorizar</a:t>
            </a:r>
            <a:r>
              <a:rPr lang="es-CL" sz="2800" dirty="0"/>
              <a:t> y realizar varias iteraciones de evaluación.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Vendedor no creíble.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</a:t>
            </a:r>
            <a:r>
              <a:rPr lang="es-CL" sz="2800" b="1" dirty="0"/>
              <a:t>equipos de venta </a:t>
            </a:r>
            <a:r>
              <a:rPr lang="es-CL" sz="2800" dirty="0"/>
              <a:t>del proveedor no tienen las mismas capacidades que los equipos técnicos.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conveniente generar prototipos funcionales con </a:t>
            </a:r>
            <a:r>
              <a:rPr lang="es-CL" sz="2800" b="1" dirty="0"/>
              <a:t>personal técnico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Usuarios </a:t>
            </a:r>
            <a:r>
              <a:rPr lang="es-CL" sz="2800" b="1" dirty="0"/>
              <a:t>rechazan</a:t>
            </a:r>
            <a:r>
              <a:rPr lang="es-CL" sz="2800" dirty="0"/>
              <a:t> el sistema.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Incorporar a usuarios en etapas tempranas.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91885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36149</TotalTime>
  <Words>660</Words>
  <Application>Microsoft Office PowerPoint</Application>
  <PresentationFormat>Panorámica</PresentationFormat>
  <Paragraphs>114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Unidad 0 - Introducción</vt:lpstr>
      <vt:lpstr>Software empaquetado – Ejm. ERP</vt:lpstr>
      <vt:lpstr>Alternativas software empaquetado</vt:lpstr>
      <vt:lpstr>COTS: Commercial off-the-shelf.</vt:lpstr>
      <vt:lpstr>COTS: Commercial off-the-shelf.</vt:lpstr>
      <vt:lpstr>¿Cómo seleccionar un software empaquetado?</vt:lpstr>
      <vt:lpstr>Desarrollar requerimientos de usuario.</vt:lpstr>
      <vt:lpstr>Desarrollar requerimientos de usuario.</vt:lpstr>
      <vt:lpstr>Reglas de negocio en sistemas empaquetados.</vt:lpstr>
      <vt:lpstr>Necesidades de manejo de datos.</vt:lpstr>
      <vt:lpstr>Atributos de calidad</vt:lpstr>
      <vt:lpstr>¿Cómo evaluar y escoger paquetes de software?</vt:lpstr>
      <vt:lpstr>¿Cómo implementamos una solución empaquetada?</vt:lpstr>
      <vt:lpstr>Desafíos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239</cp:revision>
  <cp:lastPrinted>2020-10-05T12:16:48Z</cp:lastPrinted>
  <dcterms:created xsi:type="dcterms:W3CDTF">2018-03-05T20:26:11Z</dcterms:created>
  <dcterms:modified xsi:type="dcterms:W3CDTF">2025-11-24T00:26:07Z</dcterms:modified>
</cp:coreProperties>
</file>
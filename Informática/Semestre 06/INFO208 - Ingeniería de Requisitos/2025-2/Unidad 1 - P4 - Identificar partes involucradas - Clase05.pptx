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7" r:id="rId2"/>
    <p:sldId id="449" r:id="rId3"/>
    <p:sldId id="453" r:id="rId4"/>
    <p:sldId id="469" r:id="rId5"/>
    <p:sldId id="477" r:id="rId6"/>
    <p:sldId id="478" r:id="rId7"/>
    <p:sldId id="470" r:id="rId8"/>
    <p:sldId id="479" r:id="rId9"/>
    <p:sldId id="480" r:id="rId10"/>
    <p:sldId id="481" r:id="rId11"/>
    <p:sldId id="482" r:id="rId12"/>
    <p:sldId id="483" r:id="rId13"/>
    <p:sldId id="485" r:id="rId14"/>
    <p:sldId id="486" r:id="rId15"/>
    <p:sldId id="487" r:id="rId16"/>
    <p:sldId id="488" r:id="rId17"/>
    <p:sldId id="490" r:id="rId18"/>
    <p:sldId id="491" r:id="rId19"/>
    <p:sldId id="492" r:id="rId20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9" autoAdjust="0"/>
    <p:restoredTop sz="92336" autoAdjust="0"/>
  </p:normalViewPr>
  <p:slideViewPr>
    <p:cSldViewPr snapToGrid="0">
      <p:cViewPr varScale="1">
        <p:scale>
          <a:sx n="104" d="100"/>
          <a:sy n="104" d="100"/>
        </p:scale>
        <p:origin x="5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31-08-2025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31-08-2025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021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8525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</a:t>
            </a:r>
            <a:r>
              <a:rPr lang="es-CL" baseline="0" dirty="0"/>
              <a:t> idea, que es intuitivamente fácil de comprender, requiere mucho trabajo de especificación.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33A33-8F7E-45C3-BE77-68DACE576558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3590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 clave que la definición de flujos de información sea de “alto nivel”,</a:t>
            </a:r>
            <a:r>
              <a:rPr lang="es-CL" baseline="0" dirty="0"/>
              <a:t> conceptual, no de detalle. </a:t>
            </a:r>
          </a:p>
          <a:p>
            <a:r>
              <a:rPr lang="es-CL" baseline="0" dirty="0"/>
              <a:t>¿Cuántos subsistemas incluimos en este diagrama? En general, una regla no escrita es que deben ser entre 3 y 7. Más de 10 podría indicar exceso de detalle.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000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 clave que la definición de flujos de información sea de “alto nivel”,</a:t>
            </a:r>
            <a:r>
              <a:rPr lang="es-CL" baseline="0" dirty="0"/>
              <a:t> conceptual, no de detalle. </a:t>
            </a:r>
          </a:p>
          <a:p>
            <a:r>
              <a:rPr lang="es-CL" baseline="0" dirty="0"/>
              <a:t>¿Cuántos subsistemas incluimos en este diagrama? En general, una regla no escrita es que deben ser entre 3 y 7. Más de 10 podría indicar exceso de detalle.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7116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0062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0234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6441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1669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Queda</a:t>
            </a:r>
            <a:r>
              <a:rPr lang="es-CL" baseline="0" dirty="0"/>
              <a:t> claro que esta definición del “para” quién es el sistema, debiera ser más precisa. Así como está, no sirve para levantar requisitos. MMA es un ente abstracto.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2805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</a:t>
            </a:r>
            <a:r>
              <a:rPr lang="en-US" dirty="0" err="1"/>
              <a:t>ejemplos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que no se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involucrado</a:t>
            </a:r>
            <a:r>
              <a:rPr lang="en-US" dirty="0"/>
              <a:t>, </a:t>
            </a:r>
            <a:r>
              <a:rPr lang="en-US" dirty="0" err="1"/>
              <a:t>qué</a:t>
            </a:r>
            <a:r>
              <a:rPr lang="en-US" dirty="0"/>
              <a:t> ha </a:t>
            </a:r>
            <a:r>
              <a:rPr lang="en-US" dirty="0" err="1"/>
              <a:t>sucedido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1886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</a:t>
            </a:r>
            <a:r>
              <a:rPr lang="en-US" dirty="0" err="1"/>
              <a:t>ejemplos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pregunta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987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9082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5446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9306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76548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debemos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algún</a:t>
            </a:r>
            <a:r>
              <a:rPr lang="en-US" dirty="0"/>
              <a:t> </a:t>
            </a:r>
            <a:r>
              <a:rPr lang="en-US" dirty="0" err="1"/>
              <a:t>cuadrante</a:t>
            </a:r>
            <a:r>
              <a:rPr lang="en-US" dirty="0"/>
              <a:t> de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matriz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vacío</a:t>
            </a:r>
            <a:r>
              <a:rPr lang="en-US" dirty="0"/>
              <a:t>? </a:t>
            </a:r>
            <a:r>
              <a:rPr lang="en-US" dirty="0" err="1"/>
              <a:t>Depende</a:t>
            </a:r>
            <a:r>
              <a:rPr lang="en-US" dirty="0"/>
              <a:t> de </a:t>
            </a:r>
            <a:r>
              <a:rPr lang="en-US" dirty="0" err="1"/>
              <a:t>cuál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07428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9593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8/31/2025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8/31/2025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8/31/2025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8/31/2025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8/31/2025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31-08-2025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8/31/2025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dit.org/es/blog/plantillas-matriz-raci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- 2024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1. Identificación de Necesidades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2227006" y="1219290"/>
            <a:ext cx="2094271" cy="1332181"/>
          </a:xfrm>
          <a:prstGeom prst="roundRect">
            <a:avLst/>
          </a:prstGeom>
          <a:solidFill>
            <a:srgbClr val="FF0000">
              <a:alpha val="1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3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esenciales en Ing.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2800" dirty="0"/>
              <a:t>Entender el problema antes de converger hacia una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2"/>
            </a:pPr>
            <a:r>
              <a:rPr lang="es-CL" sz="2800" dirty="0"/>
              <a:t>Identificar objetivos de negocio.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3"/>
            </a:pPr>
            <a:r>
              <a:rPr lang="es-CL" sz="2800" dirty="0"/>
              <a:t>Definir el alcance de la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s-CL" sz="2800" dirty="0"/>
              <a:t>Identificar y caracterizar a las partes involucradas.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5"/>
            </a:pPr>
            <a:r>
              <a:rPr lang="es-CL" sz="2800" dirty="0"/>
              <a:t>Identificar a quienes toman las decisiones.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547543" y="3523772"/>
            <a:ext cx="5467354" cy="670797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0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¿Cuáles son los límites de un sistema?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97" y="1800852"/>
            <a:ext cx="6604437" cy="417387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705344" y="1264404"/>
            <a:ext cx="42062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Definir qué dejamos dentro y qué dejamos fuera, no es tarea fácil.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Si no lo definimos de manera explícita, podemos perder mucho tiempo (y recursos). Podemos poner en riesgo el éxito del proyecto.</a:t>
            </a:r>
          </a:p>
        </p:txBody>
      </p:sp>
    </p:spTree>
    <p:extLst>
      <p:ext uri="{BB962C8B-B14F-4D97-AF65-F5344CB8AC3E}">
        <p14:creationId xmlns:p14="http://schemas.microsoft.com/office/powerpoint/2010/main" val="2309816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Ejercicio clase pasada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598" y="3420024"/>
            <a:ext cx="2851074" cy="301968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214" y="1197973"/>
            <a:ext cx="2425842" cy="185651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42" y="1538924"/>
            <a:ext cx="8419926" cy="453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2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218553" y="1595337"/>
            <a:ext cx="9100545" cy="449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L" sz="3200" dirty="0"/>
              <a:t>Ejercicio (clase pasada):</a:t>
            </a:r>
          </a:p>
          <a:p>
            <a:pPr lvl="0"/>
            <a:endParaRPr lang="es-CL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CL" sz="2800" dirty="0"/>
              <a:t>Realice el</a:t>
            </a:r>
            <a:r>
              <a:rPr lang="es-CL" sz="2800" b="1" dirty="0"/>
              <a:t> diagrama de contexto </a:t>
            </a:r>
            <a:r>
              <a:rPr lang="es-CL" sz="2800" dirty="0"/>
              <a:t>de la solución, en su versión completa (incluyendo todos los requisitos).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CL" sz="2800" dirty="0"/>
              <a:t>Realice el </a:t>
            </a:r>
            <a:r>
              <a:rPr lang="es-CL" sz="2800" b="1" dirty="0"/>
              <a:t>diagrama de ecosistema </a:t>
            </a:r>
            <a:r>
              <a:rPr lang="es-CL" sz="2800" dirty="0"/>
              <a:t>de la solución, en su versión final, indicando cómo los diferentes sistemas debieran interconectarse.</a:t>
            </a:r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CL" sz="2800" dirty="0"/>
              <a:t>Suponiendo que el proyecto puede desarrollarse en 4 etapas, defina los </a:t>
            </a:r>
            <a:r>
              <a:rPr lang="es-CL" sz="2800" b="1" dirty="0"/>
              <a:t>objetivos para cada uno de esos </a:t>
            </a:r>
            <a:r>
              <a:rPr lang="es-CL" sz="2800" b="1" dirty="0" err="1"/>
              <a:t>releases</a:t>
            </a:r>
            <a:r>
              <a:rPr lang="es-CL" sz="2800" dirty="0"/>
              <a:t>.</a:t>
            </a:r>
            <a:endParaRPr lang="en-US" sz="28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214" y="2332583"/>
            <a:ext cx="2851074" cy="30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6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Diagrama de contexto (DFD Nivel 0)</a:t>
            </a:r>
            <a:endParaRPr lang="en-US" b="1" dirty="0"/>
          </a:p>
        </p:txBody>
      </p:sp>
      <p:sp>
        <p:nvSpPr>
          <p:cNvPr id="6" name="CuadroTexto 5"/>
          <p:cNvSpPr txBox="1"/>
          <p:nvPr/>
        </p:nvSpPr>
        <p:spPr>
          <a:xfrm>
            <a:off x="7744255" y="1091157"/>
            <a:ext cx="4206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Se conoce también como </a:t>
            </a:r>
            <a:r>
              <a:rPr lang="es-CL" sz="2800" b="1" dirty="0"/>
              <a:t>DFD de Nivel 0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dirty="0"/>
              <a:t>Básicamente, contiene: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El sistema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Los sistemas con los cuales interactúa.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Los flujos de datos.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b="1" dirty="0"/>
              <a:t>No incluye: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Interacciones entre sistemas.</a:t>
            </a:r>
          </a:p>
        </p:txBody>
      </p:sp>
      <p:sp>
        <p:nvSpPr>
          <p:cNvPr id="3" name="Elipse 2"/>
          <p:cNvSpPr/>
          <p:nvPr/>
        </p:nvSpPr>
        <p:spPr>
          <a:xfrm>
            <a:off x="2827033" y="3394856"/>
            <a:ext cx="1541767" cy="1113713"/>
          </a:xfrm>
          <a:prstGeom prst="ellipse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>
                <a:solidFill>
                  <a:schemeClr val="tx1"/>
                </a:solidFill>
              </a:rPr>
              <a:t>Sistema monitoreo </a:t>
            </a:r>
            <a:r>
              <a:rPr lang="es-CL" dirty="0">
                <a:solidFill>
                  <a:schemeClr val="tx1"/>
                </a:solidFill>
              </a:rPr>
              <a:t>MP-I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2980267" y="1574800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Sitio web SINCA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Conector recto de flecha 7"/>
          <p:cNvCxnSpPr>
            <a:stCxn id="4" idx="2"/>
            <a:endCxn id="3" idx="0"/>
          </p:cNvCxnSpPr>
          <p:nvPr/>
        </p:nvCxnSpPr>
        <p:spPr>
          <a:xfrm flipH="1">
            <a:off x="3597917" y="2472267"/>
            <a:ext cx="76617" cy="92258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63661" y="2610396"/>
            <a:ext cx="1845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Contaminantes estaciones</a:t>
            </a:r>
            <a:endParaRPr lang="en-US" sz="1600" dirty="0"/>
          </a:p>
        </p:txBody>
      </p:sp>
      <p:sp>
        <p:nvSpPr>
          <p:cNvPr id="10" name="Rectángulo 9"/>
          <p:cNvSpPr/>
          <p:nvPr/>
        </p:nvSpPr>
        <p:spPr>
          <a:xfrm>
            <a:off x="269714" y="3502978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Sitio web </a:t>
            </a:r>
            <a:r>
              <a:rPr lang="es-CL" dirty="0" err="1">
                <a:solidFill>
                  <a:schemeClr val="tx1"/>
                </a:solidFill>
              </a:rPr>
              <a:t>Meteochile</a:t>
            </a:r>
            <a:r>
              <a:rPr lang="es-CL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onector recto de flecha 10"/>
          <p:cNvCxnSpPr>
            <a:stCxn id="10" idx="3"/>
            <a:endCxn id="3" idx="2"/>
          </p:cNvCxnSpPr>
          <p:nvPr/>
        </p:nvCxnSpPr>
        <p:spPr>
          <a:xfrm>
            <a:off x="1658247" y="3951712"/>
            <a:ext cx="1168786" cy="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1563056" y="3040827"/>
            <a:ext cx="1655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Datos meteorológicos</a:t>
            </a:r>
            <a:endParaRPr lang="en-US" sz="1600" dirty="0"/>
          </a:p>
        </p:txBody>
      </p:sp>
      <p:sp>
        <p:nvSpPr>
          <p:cNvPr id="15" name="Rectángulo 14"/>
          <p:cNvSpPr/>
          <p:nvPr/>
        </p:nvSpPr>
        <p:spPr>
          <a:xfrm>
            <a:off x="5867818" y="3502978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Usuarios MMA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Conector recto de flecha 15"/>
          <p:cNvCxnSpPr>
            <a:stCxn id="3" idx="6"/>
            <a:endCxn id="15" idx="1"/>
          </p:cNvCxnSpPr>
          <p:nvPr/>
        </p:nvCxnSpPr>
        <p:spPr>
          <a:xfrm flipV="1">
            <a:off x="4368800" y="3951712"/>
            <a:ext cx="1499018" cy="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4195442" y="3964819"/>
            <a:ext cx="1845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Reportes</a:t>
            </a:r>
          </a:p>
          <a:p>
            <a:pPr algn="ctr"/>
            <a:r>
              <a:rPr lang="es-CL" sz="1600" dirty="0"/>
              <a:t>Modelos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2730278" y="5478872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Hogares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Conector recto de flecha 20"/>
          <p:cNvCxnSpPr>
            <a:stCxn id="20" idx="0"/>
            <a:endCxn id="3" idx="4"/>
          </p:cNvCxnSpPr>
          <p:nvPr/>
        </p:nvCxnSpPr>
        <p:spPr>
          <a:xfrm flipV="1">
            <a:off x="3424545" y="4508569"/>
            <a:ext cx="173372" cy="97030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1726770" y="4657299"/>
            <a:ext cx="1845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Contaminantes </a:t>
            </a:r>
            <a:r>
              <a:rPr lang="es-CL" sz="1600" dirty="0" err="1"/>
              <a:t>intradomiciliarios</a:t>
            </a:r>
            <a:endParaRPr lang="en-US" sz="1600" dirty="0"/>
          </a:p>
        </p:txBody>
      </p:sp>
      <p:cxnSp>
        <p:nvCxnSpPr>
          <p:cNvPr id="25" name="Conector recto de flecha 24"/>
          <p:cNvCxnSpPr/>
          <p:nvPr/>
        </p:nvCxnSpPr>
        <p:spPr>
          <a:xfrm>
            <a:off x="3863661" y="4562700"/>
            <a:ext cx="0" cy="82810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/>
          <p:cNvSpPr txBox="1"/>
          <p:nvPr/>
        </p:nvSpPr>
        <p:spPr>
          <a:xfrm>
            <a:off x="3761631" y="4689687"/>
            <a:ext cx="1845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Despliegue</a:t>
            </a:r>
          </a:p>
          <a:p>
            <a:pPr algn="ctr"/>
            <a:r>
              <a:rPr lang="es-CL" sz="1600" dirty="0"/>
              <a:t>Contaminantes </a:t>
            </a:r>
            <a:r>
              <a:rPr lang="es-CL" sz="1600" dirty="0" err="1"/>
              <a:t>intradomiciliarios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6049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adroTexto 56"/>
          <p:cNvSpPr txBox="1"/>
          <p:nvPr/>
        </p:nvSpPr>
        <p:spPr>
          <a:xfrm>
            <a:off x="-74043" y="5045960"/>
            <a:ext cx="1263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Variables ambientales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6" y="98213"/>
            <a:ext cx="9263753" cy="553998"/>
          </a:xfrm>
        </p:spPr>
        <p:txBody>
          <a:bodyPr/>
          <a:lstStyle/>
          <a:p>
            <a:r>
              <a:rPr lang="es-CL" b="1" dirty="0"/>
              <a:t>Diagrama de ecosistema de la solución y </a:t>
            </a:r>
            <a:r>
              <a:rPr lang="es-CL" b="1" dirty="0" err="1"/>
              <a:t>releases</a:t>
            </a:r>
            <a:r>
              <a:rPr lang="es-CL" b="1" dirty="0"/>
              <a:t>.</a:t>
            </a:r>
            <a:endParaRPr lang="en-US" b="1" dirty="0"/>
          </a:p>
        </p:txBody>
      </p:sp>
      <p:graphicFrame>
        <p:nvGraphicFramePr>
          <p:cNvPr id="51" name="Tabla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053799"/>
              </p:ext>
            </p:extLst>
          </p:nvPr>
        </p:nvGraphicFramePr>
        <p:xfrm>
          <a:off x="7128931" y="1465011"/>
          <a:ext cx="4634444" cy="4418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02">
                  <a:extLst>
                    <a:ext uri="{9D8B030D-6E8A-4147-A177-3AD203B41FA5}">
                      <a16:colId xmlns:a16="http://schemas.microsoft.com/office/drawing/2014/main" val="367906058"/>
                    </a:ext>
                  </a:extLst>
                </a:gridCol>
                <a:gridCol w="3669242">
                  <a:extLst>
                    <a:ext uri="{9D8B030D-6E8A-4147-A177-3AD203B41FA5}">
                      <a16:colId xmlns:a16="http://schemas.microsoft.com/office/drawing/2014/main" val="2714486921"/>
                    </a:ext>
                  </a:extLst>
                </a:gridCol>
              </a:tblGrid>
              <a:tr h="550056">
                <a:tc>
                  <a:txBody>
                    <a:bodyPr/>
                    <a:lstStyle/>
                    <a:p>
                      <a:r>
                        <a:rPr lang="es-CL" dirty="0" err="1"/>
                        <a:t>Release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Objetivo (hay</a:t>
                      </a:r>
                      <a:r>
                        <a:rPr lang="es-CL" baseline="0" dirty="0"/>
                        <a:t> más alternativas)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672186"/>
                  </a:ext>
                </a:extLst>
              </a:tr>
              <a:tr h="967128">
                <a:tc>
                  <a:txBody>
                    <a:bodyPr/>
                    <a:lstStyle/>
                    <a:p>
                      <a:r>
                        <a:rPr lang="es-C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Implementar equipos </a:t>
                      </a:r>
                      <a:r>
                        <a:rPr lang="es-CL" dirty="0" err="1"/>
                        <a:t>Arduino</a:t>
                      </a:r>
                      <a:r>
                        <a:rPr lang="es-CL" dirty="0"/>
                        <a:t> con visor</a:t>
                      </a:r>
                      <a:r>
                        <a:rPr lang="es-CL" baseline="0" dirty="0"/>
                        <a:t> y </a:t>
                      </a:r>
                      <a:r>
                        <a:rPr lang="es-CL" dirty="0"/>
                        <a:t>sensores,</a:t>
                      </a:r>
                      <a:r>
                        <a:rPr lang="es-CL" baseline="0" dirty="0"/>
                        <a:t> y levantar datos a BD </a:t>
                      </a:r>
                      <a:r>
                        <a:rPr lang="es-CL" baseline="0" dirty="0" err="1"/>
                        <a:t>Influx</a:t>
                      </a:r>
                      <a:r>
                        <a:rPr lang="es-CL" baseline="0" dirty="0"/>
                        <a:t> DB.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734827"/>
                  </a:ext>
                </a:extLst>
              </a:tr>
              <a:tr h="967128">
                <a:tc>
                  <a:txBody>
                    <a:bodyPr/>
                    <a:lstStyle/>
                    <a:p>
                      <a:r>
                        <a:rPr lang="es-CL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Implementar reportes de contaminantes</a:t>
                      </a:r>
                      <a:r>
                        <a:rPr lang="es-CL" baseline="0" dirty="0"/>
                        <a:t> </a:t>
                      </a:r>
                      <a:r>
                        <a:rPr lang="es-CL" baseline="0" dirty="0" err="1"/>
                        <a:t>intradomiciliarios</a:t>
                      </a:r>
                      <a:r>
                        <a:rPr lang="es-CL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438368"/>
                  </a:ext>
                </a:extLst>
              </a:tr>
              <a:tr h="967128">
                <a:tc>
                  <a:txBody>
                    <a:bodyPr/>
                    <a:lstStyle/>
                    <a:p>
                      <a:r>
                        <a:rPr lang="es-C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Cargar</a:t>
                      </a:r>
                      <a:r>
                        <a:rPr lang="es-CL" baseline="0" dirty="0"/>
                        <a:t> </a:t>
                      </a:r>
                      <a:r>
                        <a:rPr lang="es-CL" baseline="0" dirty="0" err="1"/>
                        <a:t>info</a:t>
                      </a:r>
                      <a:r>
                        <a:rPr lang="es-CL" baseline="0" dirty="0"/>
                        <a:t> SINCA y </a:t>
                      </a:r>
                      <a:r>
                        <a:rPr lang="es-CL" baseline="0" dirty="0" err="1"/>
                        <a:t>Meteochile</a:t>
                      </a:r>
                      <a:r>
                        <a:rPr lang="es-CL" baseline="0" dirty="0"/>
                        <a:t> a BD </a:t>
                      </a:r>
                      <a:r>
                        <a:rPr lang="es-CL" baseline="0" dirty="0" err="1"/>
                        <a:t>Influx</a:t>
                      </a:r>
                      <a:r>
                        <a:rPr lang="es-CL" baseline="0" dirty="0"/>
                        <a:t> DB. Integrar </a:t>
                      </a:r>
                      <a:r>
                        <a:rPr lang="es-CL" baseline="0" dirty="0" err="1"/>
                        <a:t>info</a:t>
                      </a:r>
                      <a:r>
                        <a:rPr lang="es-CL" baseline="0" dirty="0"/>
                        <a:t> a reportes en </a:t>
                      </a:r>
                      <a:r>
                        <a:rPr lang="es-CL" baseline="0" dirty="0" err="1"/>
                        <a:t>Grafana</a:t>
                      </a:r>
                      <a:r>
                        <a:rPr lang="es-CL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016712"/>
                  </a:ext>
                </a:extLst>
              </a:tr>
              <a:tr h="967128">
                <a:tc>
                  <a:txBody>
                    <a:bodyPr/>
                    <a:lstStyle/>
                    <a:p>
                      <a:r>
                        <a:rPr lang="es-CL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Implementar</a:t>
                      </a:r>
                      <a:r>
                        <a:rPr lang="es-CL" baseline="0" dirty="0"/>
                        <a:t> modelos matemáticos. </a:t>
                      </a:r>
                    </a:p>
                    <a:p>
                      <a:r>
                        <a:rPr lang="es-CL" dirty="0"/>
                        <a:t>Implementar monitoreo</a:t>
                      </a:r>
                      <a:r>
                        <a:rPr lang="es-CL" baseline="0" dirty="0"/>
                        <a:t> de fallas.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037084"/>
                  </a:ext>
                </a:extLst>
              </a:tr>
            </a:tbl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362044" y="1574800"/>
            <a:ext cx="5733955" cy="4891380"/>
            <a:chOff x="362044" y="1574800"/>
            <a:chExt cx="5733955" cy="4891380"/>
          </a:xfrm>
        </p:grpSpPr>
        <p:sp>
          <p:nvSpPr>
            <p:cNvPr id="4" name="Rectángulo 3"/>
            <p:cNvSpPr/>
            <p:nvPr/>
          </p:nvSpPr>
          <p:spPr>
            <a:xfrm>
              <a:off x="2980267" y="1574801"/>
              <a:ext cx="1388533" cy="626534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chemeClr val="tx1"/>
                  </a:solidFill>
                </a:rPr>
                <a:t>Sitio web SINCA 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Conector recto de flecha 7"/>
            <p:cNvCxnSpPr>
              <a:stCxn id="10" idx="2"/>
              <a:endCxn id="17" idx="0"/>
            </p:cNvCxnSpPr>
            <p:nvPr/>
          </p:nvCxnSpPr>
          <p:spPr>
            <a:xfrm>
              <a:off x="1129244" y="2201334"/>
              <a:ext cx="1139913" cy="103540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uadroTexto 8"/>
            <p:cNvSpPr txBox="1"/>
            <p:nvPr/>
          </p:nvSpPr>
          <p:spPr>
            <a:xfrm>
              <a:off x="2947744" y="2531083"/>
              <a:ext cx="18457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600" dirty="0"/>
                <a:t>Contaminantes estaciones</a:t>
              </a:r>
              <a:endParaRPr lang="en-US" sz="1600" dirty="0"/>
            </a:p>
          </p:txBody>
        </p:sp>
        <p:sp>
          <p:nvSpPr>
            <p:cNvPr id="10" name="Rectángulo 9"/>
            <p:cNvSpPr/>
            <p:nvPr/>
          </p:nvSpPr>
          <p:spPr>
            <a:xfrm>
              <a:off x="434977" y="1574800"/>
              <a:ext cx="1388533" cy="626534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chemeClr val="tx1"/>
                  </a:solidFill>
                </a:rPr>
                <a:t>Sitio web </a:t>
              </a:r>
              <a:r>
                <a:rPr lang="es-CL" dirty="0" err="1">
                  <a:solidFill>
                    <a:schemeClr val="tx1"/>
                  </a:solidFill>
                </a:rPr>
                <a:t>Meteochile</a:t>
              </a:r>
              <a:r>
                <a:rPr lang="es-CL" dirty="0">
                  <a:solidFill>
                    <a:schemeClr val="tx1"/>
                  </a:solidFill>
                </a:rPr>
                <a:t> 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Conector recto de flecha 10"/>
            <p:cNvCxnSpPr>
              <a:stCxn id="33" idx="0"/>
              <a:endCxn id="17" idx="2"/>
            </p:cNvCxnSpPr>
            <p:nvPr/>
          </p:nvCxnSpPr>
          <p:spPr>
            <a:xfrm flipV="1">
              <a:off x="1056311" y="3951711"/>
              <a:ext cx="1212846" cy="31414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3"/>
            <p:cNvSpPr txBox="1"/>
            <p:nvPr/>
          </p:nvSpPr>
          <p:spPr>
            <a:xfrm>
              <a:off x="362044" y="2463169"/>
              <a:ext cx="16554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600" dirty="0"/>
                <a:t>Datos meteorológicos</a:t>
              </a:r>
              <a:endParaRPr lang="en-US" sz="1600" dirty="0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1574890" y="3236734"/>
              <a:ext cx="1388533" cy="714977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chemeClr val="tx1"/>
                  </a:solidFill>
                </a:rPr>
                <a:t>BD </a:t>
              </a:r>
              <a:r>
                <a:rPr lang="es-CL" dirty="0" err="1">
                  <a:solidFill>
                    <a:schemeClr val="tx1"/>
                  </a:solidFill>
                </a:rPr>
                <a:t>InfluxDB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Conector recto de flecha 21"/>
            <p:cNvCxnSpPr>
              <a:stCxn id="4" idx="2"/>
              <a:endCxn id="17" idx="0"/>
            </p:cNvCxnSpPr>
            <p:nvPr/>
          </p:nvCxnSpPr>
          <p:spPr>
            <a:xfrm flipH="1">
              <a:off x="2269157" y="2201335"/>
              <a:ext cx="1405377" cy="103539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ángulo 32"/>
            <p:cNvSpPr/>
            <p:nvPr/>
          </p:nvSpPr>
          <p:spPr>
            <a:xfrm>
              <a:off x="362044" y="4265856"/>
              <a:ext cx="1388533" cy="714977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chemeClr val="tx1"/>
                  </a:solidFill>
                </a:rPr>
                <a:t>Equipo </a:t>
              </a:r>
              <a:r>
                <a:rPr lang="es-CL" dirty="0" err="1">
                  <a:solidFill>
                    <a:schemeClr val="tx1"/>
                  </a:solidFill>
                </a:rPr>
                <a:t>Arduino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1532126" y="4014800"/>
              <a:ext cx="18457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600" dirty="0"/>
                <a:t>Registro contaminantes</a:t>
              </a:r>
            </a:p>
          </p:txBody>
        </p:sp>
        <p:sp>
          <p:nvSpPr>
            <p:cNvPr id="39" name="Rectángulo 38"/>
            <p:cNvSpPr/>
            <p:nvPr/>
          </p:nvSpPr>
          <p:spPr>
            <a:xfrm>
              <a:off x="4707466" y="3236733"/>
              <a:ext cx="1388533" cy="714977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 err="1">
                  <a:solidFill>
                    <a:schemeClr val="tx1"/>
                  </a:solidFill>
                </a:rPr>
                <a:t>Grafana</a:t>
              </a:r>
              <a:r>
                <a:rPr lang="es-CL" dirty="0">
                  <a:solidFill>
                    <a:schemeClr val="tx1"/>
                  </a:solidFill>
                </a:rPr>
                <a:t> Cloud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Conector recto de flecha 39"/>
            <p:cNvCxnSpPr>
              <a:stCxn id="17" idx="3"/>
              <a:endCxn id="39" idx="1"/>
            </p:cNvCxnSpPr>
            <p:nvPr/>
          </p:nvCxnSpPr>
          <p:spPr>
            <a:xfrm flipV="1">
              <a:off x="2963423" y="3594222"/>
              <a:ext cx="1744043" cy="1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uadroTexto 49"/>
            <p:cNvSpPr txBox="1"/>
            <p:nvPr/>
          </p:nvSpPr>
          <p:spPr>
            <a:xfrm>
              <a:off x="3000645" y="3621542"/>
              <a:ext cx="18457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600" dirty="0"/>
                <a:t>Registro de variables</a:t>
              </a:r>
            </a:p>
          </p:txBody>
        </p:sp>
        <p:sp>
          <p:nvSpPr>
            <p:cNvPr id="52" name="Rectángulo 51"/>
            <p:cNvSpPr/>
            <p:nvPr/>
          </p:nvSpPr>
          <p:spPr>
            <a:xfrm>
              <a:off x="411000" y="5751203"/>
              <a:ext cx="1388533" cy="714977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chemeClr val="tx1"/>
                  </a:solidFill>
                </a:rPr>
                <a:t>Sensores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4" name="Conector recto de flecha 53"/>
            <p:cNvCxnSpPr>
              <a:stCxn id="52" idx="0"/>
              <a:endCxn id="33" idx="2"/>
            </p:cNvCxnSpPr>
            <p:nvPr/>
          </p:nvCxnSpPr>
          <p:spPr>
            <a:xfrm flipH="1" flipV="1">
              <a:off x="1056311" y="4980833"/>
              <a:ext cx="48956" cy="77037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ángulo 58"/>
            <p:cNvSpPr/>
            <p:nvPr/>
          </p:nvSpPr>
          <p:spPr>
            <a:xfrm>
              <a:off x="2052188" y="5751203"/>
              <a:ext cx="1388533" cy="714977"/>
            </a:xfrm>
            <a:prstGeom prst="rect">
              <a:avLst/>
            </a:prstGeom>
            <a:solidFill>
              <a:schemeClr val="accent1">
                <a:alpha val="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>
                  <a:solidFill>
                    <a:schemeClr val="tx1"/>
                  </a:solidFill>
                </a:rPr>
                <a:t>Visor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0" name="Conector recto de flecha 59"/>
            <p:cNvCxnSpPr>
              <a:endCxn id="59" idx="0"/>
            </p:cNvCxnSpPr>
            <p:nvPr/>
          </p:nvCxnSpPr>
          <p:spPr>
            <a:xfrm>
              <a:off x="1311016" y="5045960"/>
              <a:ext cx="1435439" cy="70524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CuadroTexto 63"/>
            <p:cNvSpPr txBox="1"/>
            <p:nvPr/>
          </p:nvSpPr>
          <p:spPr>
            <a:xfrm>
              <a:off x="2240221" y="5045960"/>
              <a:ext cx="12638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600" dirty="0"/>
                <a:t>Variables ambientales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5286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esenciales en Ing.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2800" dirty="0"/>
              <a:t>Entender el problema antes de converger hacia una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2"/>
            </a:pPr>
            <a:r>
              <a:rPr lang="es-CL" sz="2800" dirty="0"/>
              <a:t>Identificar objetivos de negocio.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3"/>
            </a:pPr>
            <a:r>
              <a:rPr lang="es-CL" sz="2800" dirty="0"/>
              <a:t>Definir el alcance de la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s-CL" sz="2800" dirty="0"/>
              <a:t>Identificar y caracterizar a las partes involucradas.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5"/>
            </a:pPr>
            <a:r>
              <a:rPr lang="es-CL" sz="2800" dirty="0"/>
              <a:t>Identificar a quienes toman las decisiones.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523542" y="4404305"/>
            <a:ext cx="8010857" cy="670797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88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4) Identificar y caracterizar partes involucradas.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283" y="1792677"/>
            <a:ext cx="10153431" cy="37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28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598" y="3420024"/>
            <a:ext cx="2851074" cy="301968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214" y="1197973"/>
            <a:ext cx="2425842" cy="185651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42" y="1538924"/>
            <a:ext cx="8419926" cy="4531135"/>
          </a:xfrm>
          <a:prstGeom prst="rect">
            <a:avLst/>
          </a:prstGeom>
        </p:spPr>
      </p:pic>
      <p:sp>
        <p:nvSpPr>
          <p:cNvPr id="9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4) Identificar y caracterizar partes involucradas.</a:t>
            </a:r>
            <a:endParaRPr lang="en-US" kern="0" dirty="0"/>
          </a:p>
        </p:txBody>
      </p:sp>
      <p:sp>
        <p:nvSpPr>
          <p:cNvPr id="4" name="Rectángulo redondeado 3"/>
          <p:cNvSpPr/>
          <p:nvPr/>
        </p:nvSpPr>
        <p:spPr>
          <a:xfrm>
            <a:off x="1896533" y="1981201"/>
            <a:ext cx="6748935" cy="410054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/>
          <p:cNvSpPr txBox="1"/>
          <p:nvPr/>
        </p:nvSpPr>
        <p:spPr>
          <a:xfrm>
            <a:off x="3071121" y="1128870"/>
            <a:ext cx="5574347" cy="46166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rgbClr val="FF0000"/>
                </a:solidFill>
              </a:rPr>
              <a:t>¿Quiénes, exactamente? (Roles, personas)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1" name="Conector recto de flecha 10"/>
          <p:cNvCxnSpPr>
            <a:stCxn id="5" idx="2"/>
            <a:endCxn id="4" idx="0"/>
          </p:cNvCxnSpPr>
          <p:nvPr/>
        </p:nvCxnSpPr>
        <p:spPr>
          <a:xfrm flipH="1">
            <a:off x="5271001" y="1590535"/>
            <a:ext cx="587294" cy="390666"/>
          </a:xfrm>
          <a:prstGeom prst="straightConnector1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00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06610" y="1620012"/>
            <a:ext cx="10764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Individuo o grupo que:	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Está activamente involucrado en el proyecto.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afectado por el proyecto.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Puede influir en la marcha del proyecto.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No identificarlos tempranamente nos puede llevar a obtener </a:t>
            </a:r>
            <a:r>
              <a:rPr lang="es-CL" sz="2800" b="1" dirty="0"/>
              <a:t>requisitos incompletos</a:t>
            </a:r>
            <a:r>
              <a:rPr lang="es-CL" sz="2800" dirty="0"/>
              <a:t>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 clave </a:t>
            </a:r>
            <a:r>
              <a:rPr lang="es-CL" sz="2800" b="1" dirty="0"/>
              <a:t>planificar actividades </a:t>
            </a:r>
            <a:r>
              <a:rPr lang="es-CL" sz="2800" dirty="0"/>
              <a:t>donde se comprometan y participen.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¿Quiénes son los </a:t>
            </a:r>
            <a:r>
              <a:rPr lang="es-CL" b="1" kern="0" dirty="0" err="1"/>
              <a:t>stakeholders</a:t>
            </a:r>
            <a:r>
              <a:rPr lang="es-CL" kern="0" dirty="0"/>
              <a:t>?.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157645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Preguntas para identificar a los </a:t>
            </a:r>
            <a:r>
              <a:rPr lang="es-CL" b="1" kern="0" dirty="0" err="1"/>
              <a:t>stakeholders</a:t>
            </a:r>
            <a:r>
              <a:rPr lang="es-CL" kern="0" dirty="0"/>
              <a:t>.</a:t>
            </a:r>
            <a:endParaRPr lang="en-US" kern="0" dirty="0"/>
          </a:p>
        </p:txBody>
      </p:sp>
      <p:sp>
        <p:nvSpPr>
          <p:cNvPr id="6" name="CuadroTexto 5"/>
          <p:cNvSpPr txBox="1"/>
          <p:nvPr/>
        </p:nvSpPr>
        <p:spPr>
          <a:xfrm>
            <a:off x="506610" y="1489328"/>
            <a:ext cx="1076429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¿Quién tiene influencia o control sobre el </a:t>
            </a:r>
            <a:r>
              <a:rPr lang="es-CL" sz="2800" b="1" dirty="0"/>
              <a:t>presupuesto</a:t>
            </a:r>
            <a:r>
              <a:rPr lang="es-CL" sz="2800" dirty="0"/>
              <a:t> o la </a:t>
            </a:r>
            <a:r>
              <a:rPr lang="es-CL" sz="2800" b="1" dirty="0"/>
              <a:t>planificación</a:t>
            </a:r>
            <a:r>
              <a:rPr lang="es-CL" sz="2800" dirty="0"/>
              <a:t> del proyecto?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¿Quiénes </a:t>
            </a:r>
            <a:r>
              <a:rPr lang="es-CL" sz="2800" b="1" dirty="0"/>
              <a:t>usarán</a:t>
            </a:r>
            <a:r>
              <a:rPr lang="es-CL" sz="2800" dirty="0"/>
              <a:t> el producto directamente? ¿Quiénes serán usuarios indirectos?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¿Quién es responsable de </a:t>
            </a:r>
            <a:r>
              <a:rPr lang="es-CL" sz="2800" b="1" dirty="0"/>
              <a:t>otros sistemas/proyectos </a:t>
            </a:r>
            <a:r>
              <a:rPr lang="es-CL" sz="2800" dirty="0"/>
              <a:t>que podrían verse afectados?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¿Quién se espera que </a:t>
            </a:r>
            <a:r>
              <a:rPr lang="es-CL" sz="2800" b="1" dirty="0"/>
              <a:t>provea información/datos </a:t>
            </a:r>
            <a:r>
              <a:rPr lang="es-CL" sz="2800" dirty="0"/>
              <a:t>para el proyecto/solución?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¿Quién conoce posibles </a:t>
            </a:r>
            <a:r>
              <a:rPr lang="es-CL" sz="2800" b="1" dirty="0"/>
              <a:t>restricciones</a:t>
            </a:r>
            <a:r>
              <a:rPr lang="es-CL" sz="2800" dirty="0"/>
              <a:t> relativas al proyecto, a productos, a procesos?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67925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Categorías de </a:t>
            </a:r>
            <a:r>
              <a:rPr lang="es-CL" b="1" kern="0" dirty="0" err="1"/>
              <a:t>stakeholders</a:t>
            </a:r>
            <a:r>
              <a:rPr lang="es-CL" kern="0" dirty="0"/>
              <a:t>.</a:t>
            </a:r>
            <a:endParaRPr lang="en-US" kern="0" dirty="0"/>
          </a:p>
        </p:txBody>
      </p:sp>
      <p:sp>
        <p:nvSpPr>
          <p:cNvPr id="6" name="CuadroTexto 5"/>
          <p:cNvSpPr txBox="1"/>
          <p:nvPr/>
        </p:nvSpPr>
        <p:spPr>
          <a:xfrm>
            <a:off x="506610" y="1489328"/>
            <a:ext cx="112620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Equipo de desarrollo.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Analistas, QA, </a:t>
            </a:r>
            <a:r>
              <a:rPr lang="es-CL" sz="2800" dirty="0" err="1"/>
              <a:t>Adm</a:t>
            </a:r>
            <a:r>
              <a:rPr lang="es-CL" sz="2800" dirty="0"/>
              <a:t>. de Bases de Datos, UX </a:t>
            </a:r>
            <a:r>
              <a:rPr lang="es-CL" sz="2800" dirty="0" err="1"/>
              <a:t>designer</a:t>
            </a:r>
            <a:r>
              <a:rPr lang="es-CL" sz="2800" dirty="0"/>
              <a:t>, Desarrolladores.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Personas/roles dentro de la organización.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Patrocinador del proyecto, Analista de procesos, abogados, Oficina de gestión de proyectos, encargados de ventas, marketing, operaciones.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Personas/roles fuera de organización.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Proveedores, Accionistas, Usuarios directos, Gobierno, Consultores, Auditores.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37813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b="1" kern="0" dirty="0" err="1"/>
              <a:t>Stakeholders</a:t>
            </a:r>
            <a:r>
              <a:rPr lang="es-CL" kern="0" dirty="0"/>
              <a:t>, </a:t>
            </a:r>
            <a:r>
              <a:rPr lang="es-CL" b="1" kern="0" dirty="0"/>
              <a:t>Clientes</a:t>
            </a:r>
            <a:r>
              <a:rPr lang="es-CL" kern="0" dirty="0"/>
              <a:t> y </a:t>
            </a:r>
            <a:r>
              <a:rPr lang="es-CL" b="1" kern="0" dirty="0"/>
              <a:t>Usuarios</a:t>
            </a:r>
            <a:r>
              <a:rPr lang="es-CL" kern="0" dirty="0"/>
              <a:t>.</a:t>
            </a:r>
            <a:endParaRPr lang="en-US" kern="0" dirty="0"/>
          </a:p>
        </p:txBody>
      </p:sp>
      <p:sp>
        <p:nvSpPr>
          <p:cNvPr id="6" name="CuadroTexto 5"/>
          <p:cNvSpPr txBox="1"/>
          <p:nvPr/>
        </p:nvSpPr>
        <p:spPr>
          <a:xfrm>
            <a:off x="506610" y="1509406"/>
            <a:ext cx="1150424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Sólo algunos </a:t>
            </a:r>
            <a:r>
              <a:rPr lang="es-CL" sz="2400" b="1" dirty="0" err="1"/>
              <a:t>stakeholders</a:t>
            </a:r>
            <a:r>
              <a:rPr lang="es-CL" sz="2400" dirty="0"/>
              <a:t> son clientes.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Sólo algunos </a:t>
            </a:r>
            <a:r>
              <a:rPr lang="es-CL" sz="2400" b="1" dirty="0"/>
              <a:t>clientes</a:t>
            </a:r>
            <a:r>
              <a:rPr lang="es-CL" sz="2400" dirty="0"/>
              <a:t> usarán el producto.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Los usuarios no son un grupo homogéneo, existen </a:t>
            </a:r>
            <a:r>
              <a:rPr lang="es-CL" sz="2400" b="1" dirty="0"/>
              <a:t>categorías de usuarios</a:t>
            </a:r>
            <a:r>
              <a:rPr lang="es-CL" sz="24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Realizan tareas distintas, pueden tener distinto nivel educativo, frecuencia de uso, privilegios de acceso, etc.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Es una buena práctica considerar a cada </a:t>
            </a:r>
            <a:r>
              <a:rPr lang="es-CL" sz="2400" b="1" dirty="0"/>
              <a:t>categoría de usuario </a:t>
            </a:r>
            <a:r>
              <a:rPr lang="es-CL" sz="2400" dirty="0"/>
              <a:t>como un </a:t>
            </a:r>
            <a:r>
              <a:rPr lang="es-CL" sz="2400" b="1" dirty="0" err="1"/>
              <a:t>stakeholder</a:t>
            </a:r>
            <a:r>
              <a:rPr lang="es-CL" sz="2400" b="1" dirty="0"/>
              <a:t> distinto</a:t>
            </a:r>
            <a:r>
              <a:rPr lang="es-CL" sz="24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Debemos identificar qué</a:t>
            </a:r>
            <a:r>
              <a:rPr lang="es-CL" sz="2400" b="1" dirty="0"/>
              <a:t> categorías de usuarios </a:t>
            </a:r>
            <a:r>
              <a:rPr lang="es-CL" sz="2400" dirty="0"/>
              <a:t>tienen mayor </a:t>
            </a:r>
            <a:r>
              <a:rPr lang="es-CL" sz="2400" b="1" dirty="0"/>
              <a:t>prioridad</a:t>
            </a:r>
            <a:r>
              <a:rPr lang="es-CL" sz="2400" dirty="0"/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5311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Cómo </a:t>
            </a:r>
            <a:r>
              <a:rPr lang="es-CL" b="1" kern="0" dirty="0"/>
              <a:t>caracterizar</a:t>
            </a:r>
            <a:r>
              <a:rPr lang="es-CL" kern="0" dirty="0"/>
              <a:t> a los </a:t>
            </a:r>
            <a:r>
              <a:rPr lang="es-CL" kern="0" dirty="0" err="1"/>
              <a:t>stakeholders</a:t>
            </a:r>
            <a:r>
              <a:rPr lang="es-CL" kern="0" dirty="0"/>
              <a:t>.</a:t>
            </a:r>
            <a:endParaRPr lang="en-US" kern="0" dirty="0"/>
          </a:p>
        </p:txBody>
      </p:sp>
      <p:sp>
        <p:nvSpPr>
          <p:cNvPr id="6" name="CuadroTexto 5"/>
          <p:cNvSpPr txBox="1"/>
          <p:nvPr/>
        </p:nvSpPr>
        <p:spPr>
          <a:xfrm>
            <a:off x="506610" y="1509406"/>
            <a:ext cx="115042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¿Quiénes son?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¿Dónde están? ¿Cómo me comunico con ellos?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rol juegan en relación al proyecto?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poder o influencia tienen?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¿Cuáles son sus intereses, preocupaciones, temores?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¿Cuáles son sus necesidades? ¿Qué esperan del proyecto?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información nos pueden entregar en relación al proyecto?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necesitan saber en relación al proyecto?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¿Si serán usuarios del sistema, cómo lo usarán?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2718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Cómo </a:t>
            </a:r>
            <a:r>
              <a:rPr lang="es-CL" b="1" kern="0" dirty="0"/>
              <a:t>caracterizar</a:t>
            </a:r>
            <a:r>
              <a:rPr lang="es-CL" kern="0" dirty="0"/>
              <a:t> a los </a:t>
            </a:r>
            <a:r>
              <a:rPr lang="es-CL" kern="0" dirty="0" err="1"/>
              <a:t>stakeholders</a:t>
            </a:r>
            <a:r>
              <a:rPr lang="es-CL" kern="0" dirty="0"/>
              <a:t>.</a:t>
            </a:r>
            <a:endParaRPr lang="en-US" kern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56" y="1643401"/>
            <a:ext cx="11399461" cy="399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66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430981" y="5890533"/>
            <a:ext cx="6066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hlinkClick r:id="rId3"/>
              </a:rPr>
              <a:t>https://edit.org/es/blog/plantillas-matriz-raci</a:t>
            </a:r>
            <a:endParaRPr lang="es-CL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Matriz RACI - </a:t>
            </a:r>
            <a:r>
              <a:rPr lang="es-CL" b="1" kern="0" dirty="0" err="1"/>
              <a:t>stakeholders</a:t>
            </a:r>
            <a:endParaRPr lang="en-US" b="1" kern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928" y="1061452"/>
            <a:ext cx="6824429" cy="482908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8788400" y="2044832"/>
            <a:ext cx="32173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Puede ser una </a:t>
            </a:r>
            <a:r>
              <a:rPr lang="es-CL" b="1" dirty="0"/>
              <a:t>buena práctica </a:t>
            </a:r>
            <a:r>
              <a:rPr lang="es-CL" dirty="0"/>
              <a:t>caracterizar a los </a:t>
            </a:r>
            <a:r>
              <a:rPr lang="es-CL" dirty="0" err="1"/>
              <a:t>stakeholders</a:t>
            </a:r>
            <a:r>
              <a:rPr lang="es-CL" dirty="0"/>
              <a:t> mediante estas categorías. </a:t>
            </a:r>
          </a:p>
          <a:p>
            <a:endParaRPr lang="es-CL" dirty="0"/>
          </a:p>
          <a:p>
            <a:r>
              <a:rPr lang="es-CL" dirty="0"/>
              <a:t>Para que funcione, se requiere algún </a:t>
            </a:r>
            <a:r>
              <a:rPr lang="es-CL" b="1" dirty="0"/>
              <a:t>nivel de desagregación </a:t>
            </a:r>
            <a:r>
              <a:rPr lang="es-CL" dirty="0"/>
              <a:t>(alguien puede ser responsable de alguna funcionalidad, pero requerir estar informado de otra).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70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Ejercicio:</a:t>
            </a:r>
            <a:endParaRPr lang="en-US" kern="0" dirty="0"/>
          </a:p>
        </p:txBody>
      </p:sp>
      <p:sp>
        <p:nvSpPr>
          <p:cNvPr id="6" name="CuadroTexto 5"/>
          <p:cNvSpPr txBox="1"/>
          <p:nvPr/>
        </p:nvSpPr>
        <p:spPr>
          <a:xfrm>
            <a:off x="506610" y="1509406"/>
            <a:ext cx="115042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En relación al Sistema de Monitoreo de Material Particulado Intradomiciliario:</a:t>
            </a:r>
          </a:p>
          <a:p>
            <a:pPr marL="457200" indent="-457200">
              <a:buAutoNum type="arabicParenR"/>
            </a:pPr>
            <a:r>
              <a:rPr lang="es-CL" sz="2800" dirty="0"/>
              <a:t>Identifique o proponga al menos </a:t>
            </a:r>
            <a:r>
              <a:rPr lang="es-CL" sz="2800" b="1" dirty="0"/>
              <a:t>3 </a:t>
            </a:r>
            <a:r>
              <a:rPr lang="es-CL" sz="2800" b="1" dirty="0" err="1"/>
              <a:t>stakeholders</a:t>
            </a:r>
            <a:r>
              <a:rPr lang="es-CL" sz="2800" dirty="0"/>
              <a:t>.</a:t>
            </a:r>
          </a:p>
          <a:p>
            <a:pPr marL="457200" indent="-457200">
              <a:buAutoNum type="arabicParenR"/>
            </a:pPr>
            <a:r>
              <a:rPr lang="es-CL" sz="2800" dirty="0"/>
              <a:t>Caracterice a cada </a:t>
            </a:r>
            <a:r>
              <a:rPr lang="es-CL" sz="2800" dirty="0" err="1"/>
              <a:t>stakeholder</a:t>
            </a:r>
            <a:r>
              <a:rPr lang="es-CL" sz="2800" dirty="0"/>
              <a:t> en relación a: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Roles o tareas.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Intereses o preocupaciones.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Nivel de influencia.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Nivel educativo, necesidades relativas al sistema.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Preocupaciones.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136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32196</TotalTime>
  <Words>1255</Words>
  <Application>Microsoft Office PowerPoint</Application>
  <PresentationFormat>Panorámica</PresentationFormat>
  <Paragraphs>181</Paragraphs>
  <Slides>19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Unidad 0 - Introducción</vt:lpstr>
      <vt:lpstr>Tipos de requisitos</vt:lpstr>
      <vt:lpstr>Prácticas esenciales en Ing. de Requisitos</vt:lpstr>
      <vt:lpstr>¿Cuáles son los límites de un sistema?</vt:lpstr>
      <vt:lpstr>Ejercicio clase pasada</vt:lpstr>
      <vt:lpstr>Presentación de PowerPoint</vt:lpstr>
      <vt:lpstr>Diagrama de contexto (DFD Nivel 0)</vt:lpstr>
      <vt:lpstr>Diagrama de ecosistema de la solución y releases.</vt:lpstr>
      <vt:lpstr>Prácticas esenciales en Ing. de Requisitos</vt:lpstr>
      <vt:lpstr>4) Identificar y caracterizar partes involucradas.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206</cp:revision>
  <cp:lastPrinted>2020-10-05T12:16:48Z</cp:lastPrinted>
  <dcterms:created xsi:type="dcterms:W3CDTF">2018-03-05T20:26:11Z</dcterms:created>
  <dcterms:modified xsi:type="dcterms:W3CDTF">2025-09-01T01:53:20Z</dcterms:modified>
</cp:coreProperties>
</file>
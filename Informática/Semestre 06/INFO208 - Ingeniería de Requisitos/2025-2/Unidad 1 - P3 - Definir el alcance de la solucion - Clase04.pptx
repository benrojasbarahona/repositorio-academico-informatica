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7" r:id="rId2"/>
    <p:sldId id="449" r:id="rId3"/>
    <p:sldId id="453" r:id="rId4"/>
    <p:sldId id="469" r:id="rId5"/>
    <p:sldId id="452" r:id="rId6"/>
    <p:sldId id="470" r:id="rId7"/>
    <p:sldId id="472" r:id="rId8"/>
    <p:sldId id="473" r:id="rId9"/>
    <p:sldId id="474" r:id="rId10"/>
    <p:sldId id="475" r:id="rId11"/>
    <p:sldId id="476" r:id="rId12"/>
    <p:sldId id="463" r:id="rId13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326" autoAdjust="0"/>
  </p:normalViewPr>
  <p:slideViewPr>
    <p:cSldViewPr snapToGrid="0">
      <p:cViewPr varScale="1">
        <p:scale>
          <a:sx n="49" d="100"/>
          <a:sy n="49" d="100"/>
        </p:scale>
        <p:origin x="14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20-08-2024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20-08-2024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Camino que se construyó</a:t>
            </a:r>
            <a:r>
              <a:rPr lang="es-CL" baseline="0" dirty="0" smtClean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Esta</a:t>
            </a:r>
            <a:r>
              <a:rPr lang="es-CL" baseline="0" dirty="0" smtClean="0"/>
              <a:t> idea, que es intuitivamente fácil de comprender, requiere mucho trabajo de especificación.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359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8446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0062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7542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 clave que la definición de flujos de información sea de “alto nivel”,</a:t>
            </a:r>
            <a:r>
              <a:rPr lang="es-CL" baseline="0" dirty="0" smtClean="0"/>
              <a:t> conceptual, no de detalle. </a:t>
            </a:r>
          </a:p>
          <a:p>
            <a:r>
              <a:rPr lang="es-CL" baseline="0" dirty="0" smtClean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5751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 clave que la definición de flujos de información sea de “alto nivel”,</a:t>
            </a:r>
            <a:r>
              <a:rPr lang="es-CL" baseline="0" dirty="0" smtClean="0"/>
              <a:t> conceptual, no de detalle. </a:t>
            </a:r>
          </a:p>
          <a:p>
            <a:r>
              <a:rPr lang="es-CL" baseline="0" dirty="0" smtClean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3693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 clave que la definición de flujos de información sea de “alto nivel”,</a:t>
            </a:r>
            <a:r>
              <a:rPr lang="es-CL" baseline="0" dirty="0" smtClean="0"/>
              <a:t> conceptual, no de detalle. </a:t>
            </a:r>
          </a:p>
          <a:p>
            <a:r>
              <a:rPr lang="es-CL" baseline="0" dirty="0" smtClean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5370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 clave que la definición de flujos de información sea de “alto nivel”,</a:t>
            </a:r>
            <a:r>
              <a:rPr lang="es-CL" baseline="0" dirty="0" smtClean="0"/>
              <a:t> conceptual, no de detalle. </a:t>
            </a:r>
          </a:p>
          <a:p>
            <a:r>
              <a:rPr lang="es-CL" baseline="0" dirty="0" smtClean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0309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Camino que se construyó</a:t>
            </a:r>
            <a:r>
              <a:rPr lang="es-CL" baseline="0" dirty="0" smtClean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726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20-08-2024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 smtClean="0"/>
              <a:t>Unidad 0 - Introducción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 smtClean="0"/>
              <a:t>INFO 208 – Ingeniería de Requisitos - 2024</a:t>
            </a:r>
          </a:p>
          <a:p>
            <a:r>
              <a:rPr lang="es-CL" dirty="0" smtClean="0"/>
              <a:t>Juan Pablo Salazar F.</a:t>
            </a:r>
            <a:endParaRPr lang="es-CL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</a:t>
            </a:r>
            <a:r>
              <a:rPr lang="es-CL" sz="5400" kern="0" dirty="0" smtClean="0">
                <a:solidFill>
                  <a:prstClr val="black"/>
                </a:solidFill>
              </a:rPr>
              <a:t>. Identificación de Necesidades</a:t>
            </a:r>
            <a:endParaRPr lang="es-CL" sz="54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 smtClean="0"/>
              <a:t>Wiegers</a:t>
            </a:r>
            <a:r>
              <a:rPr lang="es-CL" sz="2400" dirty="0" smtClean="0"/>
              <a:t>, K &amp; </a:t>
            </a:r>
            <a:r>
              <a:rPr lang="es-CL" sz="2400" dirty="0" err="1" smtClean="0"/>
              <a:t>Hokanson</a:t>
            </a:r>
            <a:r>
              <a:rPr lang="es-CL" sz="2400" dirty="0" smtClean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27006" y="1219290"/>
            <a:ext cx="2094271" cy="1332181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 smtClean="0"/>
              <a:t>Entender el problema antes de converger hacia una solución.</a:t>
            </a:r>
          </a:p>
          <a:p>
            <a:endParaRPr lang="es-CL" sz="2800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 smtClean="0"/>
              <a:t>Identificar objetivos de negocio.</a:t>
            </a:r>
          </a:p>
          <a:p>
            <a:endParaRPr lang="es-CL" sz="2800" dirty="0" smtClean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 smtClean="0"/>
              <a:t>Definir el alcance de la solución.</a:t>
            </a:r>
          </a:p>
          <a:p>
            <a:endParaRPr lang="es-CL" sz="2800" dirty="0" smtClean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 smtClean="0"/>
              <a:t>Identificar y caracterizar a las partes involucradas.</a:t>
            </a:r>
          </a:p>
          <a:p>
            <a:endParaRPr lang="es-CL" sz="2800" dirty="0" smtClean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 smtClean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 smtClean="0"/>
              <a:t>Texto guía – </a:t>
            </a:r>
            <a:r>
              <a:rPr lang="es-CL" sz="2400" b="1" dirty="0" err="1" smtClean="0"/>
              <a:t>Cap</a:t>
            </a:r>
            <a:r>
              <a:rPr lang="es-CL" sz="2400" b="1" dirty="0" smtClean="0"/>
              <a:t> 2</a:t>
            </a:r>
            <a:r>
              <a:rPr lang="es-CL" sz="2400" dirty="0" smtClean="0"/>
              <a:t>: </a:t>
            </a:r>
            <a:r>
              <a:rPr lang="es-CL" sz="2400" dirty="0" err="1" smtClean="0"/>
              <a:t>Wiegers</a:t>
            </a:r>
            <a:r>
              <a:rPr lang="es-CL" sz="2400" dirty="0" smtClean="0"/>
              <a:t>, K &amp; </a:t>
            </a:r>
            <a:r>
              <a:rPr lang="es-CL" sz="2400" dirty="0" err="1" smtClean="0"/>
              <a:t>Hokanson</a:t>
            </a:r>
            <a:r>
              <a:rPr lang="es-CL" sz="2400" dirty="0" smtClean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3523772"/>
            <a:ext cx="5467354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¿Cuáles son los límites de un sistema?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7" y="1800852"/>
            <a:ext cx="6604437" cy="417387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705344" y="1264404"/>
            <a:ext cx="42062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Definir qué dejamos dentro y qué dejamos fuera, no es tarea fácil.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Si no lo defini</a:t>
            </a:r>
            <a:r>
              <a:rPr lang="es-CL" sz="2800" dirty="0" smtClean="0"/>
              <a:t>mos de manera explícita, podemos perder mucho tiempo (y recursos). Podemos poner en riesgo el éxito del proyecto.</a:t>
            </a:r>
            <a:endParaRPr lang="es-CL" sz="2800" dirty="0" smtClean="0"/>
          </a:p>
        </p:txBody>
      </p:sp>
    </p:spTree>
    <p:extLst>
      <p:ext uri="{BB962C8B-B14F-4D97-AF65-F5344CB8AC3E}">
        <p14:creationId xmlns:p14="http://schemas.microsoft.com/office/powerpoint/2010/main" val="230981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3</a:t>
            </a:r>
            <a:r>
              <a:rPr lang="es-CL" dirty="0" smtClean="0"/>
              <a:t>) Definir el alcance de la solución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494046" y="1431561"/>
            <a:ext cx="116979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Tenemos que pasar de una idea general, a una lista de funcionalidades.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Normalmente, esta definición requiere una estimación inicial de esfuerzos, costos y beneficios de diferentes alternativas (negociación). </a:t>
            </a:r>
            <a:endParaRPr lang="es-CL" sz="2800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533" y="3474720"/>
            <a:ext cx="3743617" cy="236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3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 smtClean="0"/>
              <a:t>Diagrama de contexto</a:t>
            </a:r>
            <a:endParaRPr lang="en-US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1" y="1450348"/>
            <a:ext cx="6088412" cy="490378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744255" y="1091157"/>
            <a:ext cx="4206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Se conoce también como </a:t>
            </a:r>
            <a:r>
              <a:rPr lang="es-CL" sz="2800" b="1" dirty="0" smtClean="0"/>
              <a:t>DFD de Nivel 0</a:t>
            </a:r>
            <a:r>
              <a:rPr lang="es-CL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 smtClean="0"/>
              <a:t>Básicamente, contiene: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El sistema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Los sistemas con los cuales interactúa.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Los flujos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b="1" dirty="0" smtClean="0"/>
              <a:t>No incluye: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Interacciones entre sistemas.</a:t>
            </a:r>
          </a:p>
        </p:txBody>
      </p:sp>
    </p:spTree>
    <p:extLst>
      <p:ext uri="{BB962C8B-B14F-4D97-AF65-F5344CB8AC3E}">
        <p14:creationId xmlns:p14="http://schemas.microsoft.com/office/powerpoint/2010/main" val="286049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3</a:t>
            </a:r>
            <a:r>
              <a:rPr lang="es-CL" dirty="0" smtClean="0"/>
              <a:t>) ¿Cómo definimos el alcance de la solución?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30162" y="1645569"/>
            <a:ext cx="10731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¿Qué procesos, funciones y eventos serán parte de la solución? ¿Cuáles no lo serán?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¿Quiénes utilizarán la solución? ¿Quiénes no la usarán?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¿Qué sistemas participarán en la solución? ¿Cuáles serán sus interfaces?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¿Dónde comienzan y terminan las responsabilidades de cada sistema?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¿Qué datos deberá contener y manejar el sistema?</a:t>
            </a:r>
            <a:endParaRPr lang="es-CL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¿Cómo sabremos dónde detenernos?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¿Cómo encaja nuestra solución en el resto del sistema</a:t>
            </a:r>
            <a:r>
              <a:rPr lang="es-CL" sz="2800" b="1" dirty="0" smtClean="0"/>
              <a:t>?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140364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Diagrama de ecosistema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237379" y="1645569"/>
            <a:ext cx="42244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Identificamos la lista de sistemas y flujos de datos que participan en nuestra solución.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Diagramamos sus interacciones, incluyendo aquellas en las que nuestro sistema no participa.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75" y="1472395"/>
            <a:ext cx="6816516" cy="47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Planificación de </a:t>
            </a:r>
            <a:r>
              <a:rPr lang="es-CL" dirty="0" err="1" smtClean="0"/>
              <a:t>releases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78213" y="4182894"/>
            <a:ext cx="106836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Usar regla de Pareto (80/20).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Intentar balancear el esfuerzo requerido (tiempos, costos).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Definirlos en función de entregables que </a:t>
            </a:r>
            <a:r>
              <a:rPr lang="es-CL" sz="2800" b="1" dirty="0" smtClean="0"/>
              <a:t>aportan valor </a:t>
            </a:r>
            <a:r>
              <a:rPr lang="es-CL" sz="2800" dirty="0" smtClean="0"/>
              <a:t>al usuario final, no de funcionalidades puntuales.</a:t>
            </a:r>
            <a:endParaRPr lang="es-CL" sz="2800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148890"/>
            <a:ext cx="9273664" cy="285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5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Ejercicio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98" y="3420024"/>
            <a:ext cx="2851074" cy="30196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14" y="1197973"/>
            <a:ext cx="2425842" cy="18565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2" y="1538924"/>
            <a:ext cx="8419926" cy="45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0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3) Definir el alcance de la solución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218553" y="1595337"/>
            <a:ext cx="9100545" cy="449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3200" dirty="0" smtClean="0"/>
              <a:t>Ejercicio:</a:t>
            </a:r>
          </a:p>
          <a:p>
            <a:pPr lvl="0"/>
            <a:endParaRPr lang="es-CL" sz="28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 smtClean="0"/>
              <a:t>Realice </a:t>
            </a:r>
            <a:r>
              <a:rPr lang="es-CL" sz="2800" dirty="0"/>
              <a:t>el</a:t>
            </a:r>
            <a:r>
              <a:rPr lang="es-CL" sz="2800" b="1" dirty="0"/>
              <a:t> diagrama de contexto </a:t>
            </a:r>
            <a:r>
              <a:rPr lang="es-CL" sz="2800" dirty="0"/>
              <a:t>de la solución, en su versión </a:t>
            </a:r>
            <a:r>
              <a:rPr lang="es-CL" sz="2800" dirty="0" smtClean="0"/>
              <a:t>completa</a:t>
            </a:r>
            <a:r>
              <a:rPr lang="es-CL" sz="2800" dirty="0"/>
              <a:t> </a:t>
            </a:r>
            <a:r>
              <a:rPr lang="es-CL" sz="2800" dirty="0" smtClean="0"/>
              <a:t>(incluyendo todos </a:t>
            </a:r>
            <a:r>
              <a:rPr lang="es-CL" sz="2800" smtClean="0"/>
              <a:t>los requisitos).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/>
              <a:t>Realice el </a:t>
            </a:r>
            <a:r>
              <a:rPr lang="es-CL" sz="2800" b="1" dirty="0"/>
              <a:t>diagrama de ecosistema </a:t>
            </a:r>
            <a:r>
              <a:rPr lang="es-CL" sz="2800" dirty="0"/>
              <a:t>de la solución, en su versión final, indicando cómo los diferentes sistemas debieran interconectarse.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/>
              <a:t>Suponiendo que el proyecto puede desarrollarse en 4 etapas, defina los </a:t>
            </a:r>
            <a:r>
              <a:rPr lang="es-CL" sz="2800" b="1" dirty="0"/>
              <a:t>objetivos para cada uno de esos </a:t>
            </a:r>
            <a:r>
              <a:rPr lang="es-CL" sz="2800" b="1" dirty="0" err="1"/>
              <a:t>releases</a:t>
            </a:r>
            <a:r>
              <a:rPr lang="es-CL" sz="2800" dirty="0" smtClean="0"/>
              <a:t>.</a:t>
            </a:r>
            <a:endParaRPr lang="en-US" sz="28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214" y="2332583"/>
            <a:ext cx="2851074" cy="30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5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 smtClean="0"/>
              <a:t>Wiegers</a:t>
            </a:r>
            <a:r>
              <a:rPr lang="es-CL" sz="2400" dirty="0" smtClean="0"/>
              <a:t>, K &amp; </a:t>
            </a:r>
            <a:r>
              <a:rPr lang="es-CL" sz="2400" dirty="0" err="1" smtClean="0"/>
              <a:t>Hokanson</a:t>
            </a:r>
            <a:r>
              <a:rPr lang="es-CL" sz="2400" dirty="0" smtClean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27006" y="1219290"/>
            <a:ext cx="2094271" cy="1332181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1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29453</TotalTime>
  <Words>731</Words>
  <Application>Microsoft Office PowerPoint</Application>
  <PresentationFormat>Panorámica</PresentationFormat>
  <Paragraphs>82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Unidad 0 - Introducción</vt:lpstr>
      <vt:lpstr>Tipos de requisitos</vt:lpstr>
      <vt:lpstr>Prácticas esenciales en Ing. de Requisitos</vt:lpstr>
      <vt:lpstr>¿Cuáles son los límites de un sistema?</vt:lpstr>
      <vt:lpstr>3) Definir el alcance de la solución</vt:lpstr>
      <vt:lpstr>Diagrama de contexto</vt:lpstr>
      <vt:lpstr>3) ¿Cómo definimos el alcance de la solución?</vt:lpstr>
      <vt:lpstr>Diagrama de ecosistema</vt:lpstr>
      <vt:lpstr>Planificación de releases</vt:lpstr>
      <vt:lpstr>Ejercicio</vt:lpstr>
      <vt:lpstr>3) Definir el alcance de la solución</vt:lpstr>
      <vt:lpstr>Tipos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189</cp:revision>
  <cp:lastPrinted>2020-10-05T12:16:48Z</cp:lastPrinted>
  <dcterms:created xsi:type="dcterms:W3CDTF">2018-03-05T20:26:11Z</dcterms:created>
  <dcterms:modified xsi:type="dcterms:W3CDTF">2024-08-21T00:08:39Z</dcterms:modified>
</cp:coreProperties>
</file>
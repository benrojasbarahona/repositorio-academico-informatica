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7" r:id="rId2"/>
    <p:sldId id="441" r:id="rId3"/>
    <p:sldId id="449" r:id="rId4"/>
    <p:sldId id="453" r:id="rId5"/>
    <p:sldId id="452" r:id="rId6"/>
    <p:sldId id="465" r:id="rId7"/>
    <p:sldId id="466" r:id="rId8"/>
    <p:sldId id="467" r:id="rId9"/>
    <p:sldId id="468" r:id="rId10"/>
    <p:sldId id="463" r:id="rId11"/>
    <p:sldId id="476" r:id="rId12"/>
    <p:sldId id="477" r:id="rId13"/>
    <p:sldId id="478" r:id="rId14"/>
    <p:sldId id="479" r:id="rId15"/>
    <p:sldId id="475" r:id="rId16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343" autoAdjust="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5507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021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8446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3032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5022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0125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0841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7269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979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7746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4759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509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537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24-08-2025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un requisito?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38291" y="2803160"/>
            <a:ext cx="107642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i="1" dirty="0"/>
              <a:t>“Una </a:t>
            </a:r>
            <a:r>
              <a:rPr lang="es-CL" sz="2400" b="1" i="1" dirty="0"/>
              <a:t>especificación</a:t>
            </a:r>
            <a:r>
              <a:rPr lang="es-CL" sz="2400" i="1" dirty="0"/>
              <a:t> de lo que debiera implementarse.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i="1" dirty="0"/>
              <a:t>Es una </a:t>
            </a:r>
            <a:r>
              <a:rPr lang="es-CL" sz="2400" b="1" i="1" dirty="0"/>
              <a:t>descripción</a:t>
            </a:r>
            <a:r>
              <a:rPr lang="es-CL" sz="2400" i="1" dirty="0"/>
              <a:t> de cómo el sistema debiera </a:t>
            </a:r>
            <a:r>
              <a:rPr lang="es-CL" sz="2400" b="1" i="1" dirty="0"/>
              <a:t>comportarse</a:t>
            </a:r>
            <a:r>
              <a:rPr lang="es-CL" sz="2400" i="1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i="1" dirty="0"/>
              <a:t>o de un </a:t>
            </a:r>
            <a:r>
              <a:rPr lang="es-CL" sz="2400" b="1" i="1" dirty="0"/>
              <a:t>atributo</a:t>
            </a:r>
            <a:r>
              <a:rPr lang="es-CL" sz="2400" i="1" dirty="0"/>
              <a:t> o propiedad del sistema.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i="1" dirty="0"/>
              <a:t>Puede ser también una </a:t>
            </a:r>
            <a:r>
              <a:rPr lang="es-CL" sz="2400" b="1" i="1" dirty="0"/>
              <a:t>restricción</a:t>
            </a:r>
            <a:r>
              <a:rPr lang="es-CL" sz="2400" i="1" dirty="0"/>
              <a:t> sobre el </a:t>
            </a:r>
            <a:r>
              <a:rPr lang="es-CL" sz="2400" b="1" i="1" dirty="0"/>
              <a:t>proceso de desarrollo </a:t>
            </a:r>
            <a:r>
              <a:rPr lang="es-CL" sz="2400" i="1" dirty="0"/>
              <a:t>del sistema.”</a:t>
            </a:r>
          </a:p>
          <a:p>
            <a:endParaRPr lang="es-CL" sz="2400" dirty="0"/>
          </a:p>
          <a:p>
            <a:r>
              <a:rPr lang="es-CL" sz="2400" dirty="0" err="1"/>
              <a:t>Sommerville</a:t>
            </a:r>
            <a:r>
              <a:rPr lang="es-CL" sz="2400" dirty="0"/>
              <a:t>, I. &amp; Sawyer, P., 1997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427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38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Entender el problema antes de converger hacia una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/>
              <a:t>Identificar objetivos de negocio.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/>
              <a:t>Definir el alcance de la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/>
              <a:t>Identificar y caracterizar a las partes involucradas.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2687259"/>
            <a:ext cx="5467354" cy="670797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Identificar objetivos de negocio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94046" y="1431561"/>
            <a:ext cx="116979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b="1" dirty="0"/>
              <a:t>¿Qué es un requerimiento de negocios?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Una </a:t>
            </a:r>
            <a:r>
              <a:rPr lang="es-CL" sz="3200" b="1" dirty="0"/>
              <a:t>razón</a:t>
            </a:r>
            <a:r>
              <a:rPr lang="es-CL" sz="3200" dirty="0"/>
              <a:t> que explica </a:t>
            </a:r>
            <a:r>
              <a:rPr lang="es-CL" sz="3200" b="1" dirty="0"/>
              <a:t>por qué </a:t>
            </a:r>
            <a:r>
              <a:rPr lang="es-CL" sz="3200" dirty="0"/>
              <a:t>la organización decidió desarrollar el proyecto.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Aprovechar una oportunidad de negocios.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Satisfacer una necesidad de negocios.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Resolver un problema de negocios.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Qué </a:t>
            </a:r>
            <a:r>
              <a:rPr lang="es-CL" sz="3200" b="1" dirty="0"/>
              <a:t>valor</a:t>
            </a:r>
            <a:r>
              <a:rPr lang="es-CL" sz="3200" dirty="0"/>
              <a:t> esperan que entregue el proyecto a la organización.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¿Qué </a:t>
            </a:r>
            <a:r>
              <a:rPr lang="es-CL" sz="3200" b="1" dirty="0"/>
              <a:t>no es </a:t>
            </a:r>
            <a:r>
              <a:rPr lang="es-CL" sz="3200" dirty="0"/>
              <a:t>un requerimiento de negocios?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Una lista de funcionalidades.</a:t>
            </a:r>
          </a:p>
        </p:txBody>
      </p:sp>
    </p:spTree>
    <p:extLst>
      <p:ext uri="{BB962C8B-B14F-4D97-AF65-F5344CB8AC3E}">
        <p14:creationId xmlns:p14="http://schemas.microsoft.com/office/powerpoint/2010/main" val="420903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Identificar objetivos de negocio - preguntas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94046" y="1431561"/>
            <a:ext cx="116979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¿Qué problema de negocios intentas resolver?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¿Qué oportunidades intentas aprovechar?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¿Cuál es la motivación para abordar este problema/ oportunidad?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¿Qué “dolores” quieres aliviar?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¿Cómo podrías evaluar el éxito de una solución?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¿Cuál sería el impacto en el negocio si no se implementa esta solución? ¿O si se posterga?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¿Qué individuos, grupos, productos, sistemas o proyectos podrían ser afectados por este proyecto?</a:t>
            </a:r>
          </a:p>
        </p:txBody>
      </p:sp>
    </p:spTree>
    <p:extLst>
      <p:ext uri="{BB962C8B-B14F-4D97-AF65-F5344CB8AC3E}">
        <p14:creationId xmlns:p14="http://schemas.microsoft.com/office/powerpoint/2010/main" val="344030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Identificar </a:t>
            </a:r>
            <a:r>
              <a:rPr lang="es-CL" b="1" dirty="0"/>
              <a:t>objetivos de negocio - </a:t>
            </a:r>
            <a:r>
              <a:rPr lang="es-CL" dirty="0"/>
              <a:t>tipos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94046" y="1494623"/>
            <a:ext cx="116979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Financieros / no financieros.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Relativos a los productos / a las operaciones internas.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3200" dirty="0"/>
          </a:p>
          <a:p>
            <a:r>
              <a:rPr lang="es-CL" sz="3200" b="1" dirty="0" err="1"/>
              <a:t>Tip</a:t>
            </a:r>
            <a:r>
              <a:rPr lang="es-CL" sz="3200" b="1" dirty="0"/>
              <a:t>: </a:t>
            </a:r>
            <a:r>
              <a:rPr lang="es-CL" sz="3200" dirty="0"/>
              <a:t>Pensar en la situación deseada, no en el % de mejora.</a:t>
            </a:r>
          </a:p>
          <a:p>
            <a:endParaRPr lang="es-CL" sz="3200" dirty="0"/>
          </a:p>
          <a:p>
            <a:r>
              <a:rPr lang="es-CL" sz="3200" dirty="0"/>
              <a:t>Ejemplos?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En ICI, alcanzar un % de retención del 90% al término del primer año.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En ICI, lograr un 80% de aprobación en Cálculo en Varias Variables.</a:t>
            </a:r>
          </a:p>
        </p:txBody>
      </p:sp>
    </p:spTree>
    <p:extLst>
      <p:ext uri="{BB962C8B-B14F-4D97-AF65-F5344CB8AC3E}">
        <p14:creationId xmlns:p14="http://schemas.microsoft.com/office/powerpoint/2010/main" val="2106557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RML – </a:t>
            </a:r>
            <a:r>
              <a:rPr lang="es-CL" dirty="0" err="1"/>
              <a:t>Requirements</a:t>
            </a:r>
            <a:r>
              <a:rPr lang="es-CL" dirty="0"/>
              <a:t> </a:t>
            </a:r>
            <a:r>
              <a:rPr lang="es-CL" dirty="0" err="1"/>
              <a:t>Modeling</a:t>
            </a:r>
            <a:r>
              <a:rPr lang="es-CL" dirty="0"/>
              <a:t> </a:t>
            </a:r>
            <a:r>
              <a:rPr lang="es-CL" dirty="0" err="1"/>
              <a:t>Language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101623"/>
            <a:ext cx="9136042" cy="52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88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Declaración de visión</a:t>
            </a:r>
            <a:endParaRPr lang="en-U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959647"/>
              </p:ext>
            </p:extLst>
          </p:nvPr>
        </p:nvGraphicFramePr>
        <p:xfrm>
          <a:off x="696976" y="1451186"/>
          <a:ext cx="11034776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437">
                  <a:extLst>
                    <a:ext uri="{9D8B030D-6E8A-4147-A177-3AD203B41FA5}">
                      <a16:colId xmlns:a16="http://schemas.microsoft.com/office/drawing/2014/main" val="2284406736"/>
                    </a:ext>
                  </a:extLst>
                </a:gridCol>
                <a:gridCol w="8649339">
                  <a:extLst>
                    <a:ext uri="{9D8B030D-6E8A-4147-A177-3AD203B41FA5}">
                      <a16:colId xmlns:a16="http://schemas.microsoft.com/office/drawing/2014/main" val="99933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667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400" b="1" dirty="0"/>
                        <a:t>Para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Clientes objetivo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145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400" b="1" dirty="0"/>
                        <a:t>Quienes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Necesidad de negocios – oportunidad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42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400" b="1" dirty="0"/>
                        <a:t>El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Nombre del proyecto o producto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764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400" b="1" dirty="0"/>
                        <a:t>Es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Tipo</a:t>
                      </a:r>
                      <a:r>
                        <a:rPr lang="es-CL" sz="2400" baseline="0" dirty="0"/>
                        <a:t> de producto o proyecto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0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400" b="1" dirty="0"/>
                        <a:t>Que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Capacidades</a:t>
                      </a:r>
                      <a:r>
                        <a:rPr lang="es-CL" sz="2400" baseline="0" dirty="0"/>
                        <a:t> del producto, beneficios clave, razones para desarrollar el proyecto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294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400" b="1" dirty="0"/>
                        <a:t>A diferencia de 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Situación actual, productos</a:t>
                      </a:r>
                      <a:r>
                        <a:rPr lang="es-CL" sz="2400" baseline="0" dirty="0"/>
                        <a:t> alternativos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07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400" b="1" dirty="0"/>
                        <a:t>Nuestro producto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Resumen</a:t>
                      </a:r>
                      <a:r>
                        <a:rPr lang="es-CL" sz="2400" baseline="0" dirty="0"/>
                        <a:t> de las principales ventajas de este producto, respecto de las alternativas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013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45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227006" y="1219290"/>
            <a:ext cx="2094271" cy="1332181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1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Identificar objetivos de negocio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F72534-4F67-4990-AF24-42E50330D2C9}"/>
              </a:ext>
            </a:extLst>
          </p:cNvPr>
          <p:cNvSpPr txBox="1"/>
          <p:nvPr/>
        </p:nvSpPr>
        <p:spPr>
          <a:xfrm>
            <a:off x="414950" y="1498228"/>
            <a:ext cx="11362099" cy="335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“problema de negocios” intentas resolver?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Ministerio del Medio Ambiente (MMA) debe determinar si se debe </a:t>
            </a:r>
            <a:r>
              <a:rPr lang="es-CL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prohibir o no </a:t>
            </a: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uso de </a:t>
            </a:r>
            <a:r>
              <a:rPr lang="es-CL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leña</a:t>
            </a: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ciudades del sur de Chile, basado en argumentos técnicos.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oportunidades intentas aprovechar?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Disponibilidad de sensores de bajo costo.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Redes Wifi en todos los sectores de las ciudades del sur de Chile.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Fondos concursables del gobierno (FIC, FONDEF). </a:t>
            </a:r>
          </a:p>
        </p:txBody>
      </p:sp>
    </p:spTree>
    <p:extLst>
      <p:ext uri="{BB962C8B-B14F-4D97-AF65-F5344CB8AC3E}">
        <p14:creationId xmlns:p14="http://schemas.microsoft.com/office/powerpoint/2010/main" val="323120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Identificar objetivos de negocio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F72534-4F67-4990-AF24-42E50330D2C9}"/>
              </a:ext>
            </a:extLst>
          </p:cNvPr>
          <p:cNvSpPr txBox="1"/>
          <p:nvPr/>
        </p:nvSpPr>
        <p:spPr>
          <a:xfrm>
            <a:off x="414949" y="1416747"/>
            <a:ext cx="11362099" cy="514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¿Cuál es la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motivación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abordar este problema/ oportunidad?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un lado, existe presión ciudadana, de profesionales de la salud y científica para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mejorar la calidad del aire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otro lado, existe presión de productores de leña y usuarios para evitar dañar a esa actividad económica.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sectores de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menores ingresos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la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leña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 el único combustible viable.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“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dolores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quieres aliviar?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invierno, la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calidad del aire es muy mala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las ciudades del sur de Chile.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mala calidad del aire se asocia a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enfermedades respiratorias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especialmente en niños y adultos mayores.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 contrario de lo que ocurre en Santiago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en el sur la mala calidad del aire se asocia a calefacción nocturna (leña).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sabemos 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cuánto afecta el uso de leña al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 intradomiciliaria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7138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Identificar objetivos de negocio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F72534-4F67-4990-AF24-42E50330D2C9}"/>
              </a:ext>
            </a:extLst>
          </p:cNvPr>
          <p:cNvSpPr txBox="1"/>
          <p:nvPr/>
        </p:nvSpPr>
        <p:spPr>
          <a:xfrm>
            <a:off x="414950" y="1498228"/>
            <a:ext cx="11362099" cy="4160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¿Cómo podrías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evaluar el éxito 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una solución?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Tener registros de MP tanto exterior como intradomiciliario, en múltiples puntos, que permita determinar si existe relación significativa entre ambos.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MMA entrega recomendación técnica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la cual es validada científicamente.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¿Cuál sería el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impacto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el negocio si no se implementa esta solución? ¿O si se posterga?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Ciudadanía responsabiliza a MMA por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daños a salud y muertes 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invierno.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Incertidumbre en negocio de la leña 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disponibilidad de leña seca.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individuos, grupos, productos, sistemas o proyectos </a:t>
            </a:r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podrían ser afectados 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este proyecto?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Productores y vendedores de leña.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Servicios de salud. </a:t>
            </a:r>
          </a:p>
        </p:txBody>
      </p:sp>
    </p:spTree>
    <p:extLst>
      <p:ext uri="{BB962C8B-B14F-4D97-AF65-F5344CB8AC3E}">
        <p14:creationId xmlns:p14="http://schemas.microsoft.com/office/powerpoint/2010/main" val="3919413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2) Identificar objetivos de negocio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F72534-4F67-4990-AF24-42E50330D2C9}"/>
              </a:ext>
            </a:extLst>
          </p:cNvPr>
          <p:cNvSpPr txBox="1"/>
          <p:nvPr/>
        </p:nvSpPr>
        <p:spPr>
          <a:xfrm>
            <a:off x="414950" y="1498228"/>
            <a:ext cx="11362099" cy="335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“problema de negocios” intentas resolver?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Ministerio del Medio Ambiente (MMA) debe determinar si se debe prohibir o no el uso de leña en ciudades del sur de Chile, basado en argumentos técnicos.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oportunidades intentas aprovechar?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Disponibilidad de sensores de bajo costo.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Redes Wifi en todos los sectores de las ciudades del sur de Chile.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C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Fondos concursables del gobierno (FIC, FONDEF). </a:t>
            </a:r>
          </a:p>
        </p:txBody>
      </p:sp>
    </p:spTree>
    <p:extLst>
      <p:ext uri="{BB962C8B-B14F-4D97-AF65-F5344CB8AC3E}">
        <p14:creationId xmlns:p14="http://schemas.microsoft.com/office/powerpoint/2010/main" val="191824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598" y="3420024"/>
            <a:ext cx="2851074" cy="30196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14" y="1197973"/>
            <a:ext cx="2425842" cy="185651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2" y="1538924"/>
            <a:ext cx="8419926" cy="453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01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29292</TotalTime>
  <Words>958</Words>
  <Application>Microsoft Office PowerPoint</Application>
  <PresentationFormat>Panorámica</PresentationFormat>
  <Paragraphs>121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Unidad 0 - Introducción</vt:lpstr>
      <vt:lpstr>¿Qué es un requisito?</vt:lpstr>
      <vt:lpstr>Tipos de requisitos</vt:lpstr>
      <vt:lpstr>Prácticas esenciales en Ing. de Requisitos</vt:lpstr>
      <vt:lpstr>2) Identificar objetivos de negocio</vt:lpstr>
      <vt:lpstr>2) Identificar objetivos de negocio - preguntas</vt:lpstr>
      <vt:lpstr>2) Identificar objetivos de negocio - tipos</vt:lpstr>
      <vt:lpstr>2) RML – Requirements Modeling Language</vt:lpstr>
      <vt:lpstr>2) Declaración de visión</vt:lpstr>
      <vt:lpstr>Tipos de requisitos</vt:lpstr>
      <vt:lpstr>2) Identificar objetivos de negocio</vt:lpstr>
      <vt:lpstr>2) Identificar objetivos de negocio</vt:lpstr>
      <vt:lpstr>2) Identificar objetivos de negocio</vt:lpstr>
      <vt:lpstr>2) Identificar objetivos de negocio</vt:lpstr>
      <vt:lpstr>Ejemplo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184</cp:revision>
  <cp:lastPrinted>2020-10-05T12:16:48Z</cp:lastPrinted>
  <dcterms:created xsi:type="dcterms:W3CDTF">2018-03-05T20:26:11Z</dcterms:created>
  <dcterms:modified xsi:type="dcterms:W3CDTF">2025-08-25T02:54:09Z</dcterms:modified>
</cp:coreProperties>
</file>
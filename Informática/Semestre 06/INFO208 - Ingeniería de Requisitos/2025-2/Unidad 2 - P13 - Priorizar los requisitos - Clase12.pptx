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7" r:id="rId2"/>
    <p:sldId id="464" r:id="rId3"/>
    <p:sldId id="466" r:id="rId4"/>
    <p:sldId id="495" r:id="rId5"/>
    <p:sldId id="510" r:id="rId6"/>
    <p:sldId id="511" r:id="rId7"/>
    <p:sldId id="512" r:id="rId8"/>
    <p:sldId id="513" r:id="rId9"/>
    <p:sldId id="515" r:id="rId10"/>
    <p:sldId id="514" r:id="rId11"/>
    <p:sldId id="516" r:id="rId12"/>
    <p:sldId id="517" r:id="rId13"/>
    <p:sldId id="518" r:id="rId14"/>
    <p:sldId id="519" r:id="rId15"/>
    <p:sldId id="520" r:id="rId16"/>
    <p:sldId id="521" r:id="rId17"/>
    <p:sldId id="522" r:id="rId18"/>
    <p:sldId id="486" r:id="rId19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3525" autoAdjust="0"/>
  </p:normalViewPr>
  <p:slideViewPr>
    <p:cSldViewPr snapToGrid="0">
      <p:cViewPr varScale="1">
        <p:scale>
          <a:sx n="94" d="100"/>
          <a:sy n="94" d="100"/>
        </p:scale>
        <p:origin x="4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05-10-2025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4285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El</a:t>
            </a:r>
            <a:r>
              <a:rPr lang="es-CL" baseline="0" dirty="0"/>
              <a:t> análisis de requisitos es un proceso iterativo e incremental.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6457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4902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8151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2129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7644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Tenemos</a:t>
            </a:r>
            <a:r>
              <a:rPr lang="en-US" dirty="0"/>
              <a:t> que </a:t>
            </a:r>
            <a:r>
              <a:rPr lang="en-US" dirty="0" err="1"/>
              <a:t>definir</a:t>
            </a:r>
            <a:r>
              <a:rPr lang="en-US" dirty="0"/>
              <a:t>/</a:t>
            </a:r>
            <a:r>
              <a:rPr lang="en-US" dirty="0" err="1"/>
              <a:t>escoger</a:t>
            </a:r>
            <a:r>
              <a:rPr lang="en-US" dirty="0"/>
              <a:t> un </a:t>
            </a:r>
            <a:r>
              <a:rPr lang="en-US" dirty="0" err="1"/>
              <a:t>método</a:t>
            </a:r>
            <a:r>
              <a:rPr lang="en-US" dirty="0"/>
              <a:t> para </a:t>
            </a:r>
            <a:r>
              <a:rPr lang="en-US" dirty="0" err="1"/>
              <a:t>priorizar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4813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Tenemos</a:t>
            </a:r>
            <a:r>
              <a:rPr lang="en-US" dirty="0"/>
              <a:t> que </a:t>
            </a:r>
            <a:r>
              <a:rPr lang="en-US" dirty="0" err="1"/>
              <a:t>definir</a:t>
            </a:r>
            <a:r>
              <a:rPr lang="en-US" dirty="0"/>
              <a:t>/</a:t>
            </a:r>
            <a:r>
              <a:rPr lang="en-US" dirty="0" err="1"/>
              <a:t>escoger</a:t>
            </a:r>
            <a:r>
              <a:rPr lang="en-US" dirty="0"/>
              <a:t> un </a:t>
            </a:r>
            <a:r>
              <a:rPr lang="en-US" dirty="0" err="1"/>
              <a:t>método</a:t>
            </a:r>
            <a:r>
              <a:rPr lang="en-US" dirty="0"/>
              <a:t> para </a:t>
            </a:r>
            <a:r>
              <a:rPr lang="en-US" dirty="0" err="1"/>
              <a:t>priorizar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1174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Tenemos</a:t>
            </a:r>
            <a:r>
              <a:rPr lang="en-US" dirty="0"/>
              <a:t> que </a:t>
            </a:r>
            <a:r>
              <a:rPr lang="en-US" dirty="0" err="1"/>
              <a:t>definir</a:t>
            </a:r>
            <a:r>
              <a:rPr lang="en-US" dirty="0"/>
              <a:t>/</a:t>
            </a:r>
            <a:r>
              <a:rPr lang="en-US" dirty="0" err="1"/>
              <a:t>escoger</a:t>
            </a:r>
            <a:r>
              <a:rPr lang="en-US" dirty="0"/>
              <a:t> un </a:t>
            </a:r>
            <a:r>
              <a:rPr lang="en-US" dirty="0" err="1"/>
              <a:t>método</a:t>
            </a:r>
            <a:r>
              <a:rPr lang="en-US" dirty="0"/>
              <a:t> para </a:t>
            </a:r>
            <a:r>
              <a:rPr lang="en-US" dirty="0" err="1"/>
              <a:t>priorizar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9589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5272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Tenemos</a:t>
            </a:r>
            <a:r>
              <a:rPr lang="en-US" dirty="0"/>
              <a:t> que </a:t>
            </a:r>
            <a:r>
              <a:rPr lang="en-US" dirty="0" err="1"/>
              <a:t>definir</a:t>
            </a:r>
            <a:r>
              <a:rPr lang="en-US" dirty="0"/>
              <a:t>/</a:t>
            </a:r>
            <a:r>
              <a:rPr lang="en-US" dirty="0" err="1"/>
              <a:t>escoger</a:t>
            </a:r>
            <a:r>
              <a:rPr lang="en-US" dirty="0"/>
              <a:t> un </a:t>
            </a:r>
            <a:r>
              <a:rPr lang="en-US" dirty="0" err="1"/>
              <a:t>método</a:t>
            </a:r>
            <a:r>
              <a:rPr lang="en-US" dirty="0"/>
              <a:t> para </a:t>
            </a:r>
            <a:r>
              <a:rPr lang="en-US" dirty="0" err="1"/>
              <a:t>priorizar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9088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1200" b="1" dirty="0" err="1"/>
              <a:t>Must</a:t>
            </a:r>
            <a:r>
              <a:rPr lang="es-CL" sz="1200" b="1" dirty="0"/>
              <a:t>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1200" b="1" dirty="0" err="1"/>
              <a:t>Should</a:t>
            </a:r>
            <a:r>
              <a:rPr lang="es-CL" sz="1200" b="1" dirty="0"/>
              <a:t>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1200" b="1" dirty="0" err="1"/>
              <a:t>Could</a:t>
            </a:r>
            <a:r>
              <a:rPr lang="es-CL" sz="1200" b="1" dirty="0"/>
              <a:t>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1200" b="1" dirty="0" err="1"/>
              <a:t>Won’t</a:t>
            </a:r>
            <a:r>
              <a:rPr lang="es-CL" sz="1200" b="1" dirty="0"/>
              <a:t>:</a:t>
            </a:r>
            <a:endParaRPr lang="es-CL" sz="1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50163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</a:t>
            </a:r>
            <a:r>
              <a:rPr lang="en-US" dirty="0" err="1"/>
              <a:t>disponibilidad</a:t>
            </a:r>
            <a:r>
              <a:rPr lang="en-US" dirty="0"/>
              <a:t> es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que 4 </a:t>
            </a:r>
            <a:r>
              <a:rPr lang="en-US" dirty="0" err="1"/>
              <a:t>atributos</a:t>
            </a:r>
            <a:r>
              <a:rPr lang="en-US" dirty="0"/>
              <a:t> (</a:t>
            </a:r>
            <a:r>
              <a:rPr lang="en-US" dirty="0" err="1"/>
              <a:t>eficiencia</a:t>
            </a:r>
            <a:r>
              <a:rPr lang="en-US" dirty="0"/>
              <a:t>, </a:t>
            </a:r>
            <a:r>
              <a:rPr lang="en-US" dirty="0" err="1"/>
              <a:t>modificabilidad</a:t>
            </a:r>
            <a:r>
              <a:rPr lang="en-US" dirty="0"/>
              <a:t>, </a:t>
            </a:r>
            <a:r>
              <a:rPr lang="en-US" dirty="0" err="1"/>
              <a:t>rendimiento</a:t>
            </a:r>
            <a:r>
              <a:rPr lang="en-US" dirty="0"/>
              <a:t> y </a:t>
            </a:r>
            <a:r>
              <a:rPr lang="en-US" dirty="0" err="1"/>
              <a:t>escalabilidad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Este </a:t>
            </a:r>
            <a:r>
              <a:rPr lang="en-US" dirty="0" err="1"/>
              <a:t>método</a:t>
            </a:r>
            <a:r>
              <a:rPr lang="en-US" dirty="0"/>
              <a:t> es </a:t>
            </a:r>
            <a:r>
              <a:rPr lang="en-US" dirty="0" err="1"/>
              <a:t>útil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la </a:t>
            </a:r>
            <a:r>
              <a:rPr lang="en-US" dirty="0" err="1"/>
              <a:t>lista</a:t>
            </a:r>
            <a:r>
              <a:rPr lang="en-US" dirty="0"/>
              <a:t> de requisites es </a:t>
            </a:r>
            <a:r>
              <a:rPr lang="en-US" dirty="0" err="1"/>
              <a:t>acotada</a:t>
            </a:r>
            <a:r>
              <a:rPr lang="en-US" dirty="0"/>
              <a:t> (</a:t>
            </a:r>
            <a:r>
              <a:rPr lang="en-US" dirty="0" err="1"/>
              <a:t>ejm</a:t>
            </a:r>
            <a:r>
              <a:rPr lang="en-US" dirty="0"/>
              <a:t>: requisites no </a:t>
            </a:r>
            <a:r>
              <a:rPr lang="en-US" dirty="0" err="1"/>
              <a:t>funcionales</a:t>
            </a:r>
            <a:r>
              <a:rPr lang="en-US" dirty="0"/>
              <a:t>)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79232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0733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9263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Tenemos</a:t>
            </a:r>
            <a:r>
              <a:rPr lang="en-US" dirty="0"/>
              <a:t> que </a:t>
            </a:r>
            <a:r>
              <a:rPr lang="en-US" dirty="0" err="1"/>
              <a:t>definir</a:t>
            </a:r>
            <a:r>
              <a:rPr lang="en-US" dirty="0"/>
              <a:t>/</a:t>
            </a:r>
            <a:r>
              <a:rPr lang="en-US" dirty="0" err="1"/>
              <a:t>escoger</a:t>
            </a:r>
            <a:r>
              <a:rPr lang="en-US" dirty="0"/>
              <a:t> un </a:t>
            </a:r>
            <a:r>
              <a:rPr lang="en-US" dirty="0" err="1"/>
              <a:t>método</a:t>
            </a:r>
            <a:r>
              <a:rPr lang="en-US" dirty="0"/>
              <a:t> para </a:t>
            </a:r>
            <a:r>
              <a:rPr lang="en-US" dirty="0" err="1"/>
              <a:t>priorizar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1362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9543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05-10-2025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10/5/2025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- 2024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2. Análisis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significa analizar los requisitos?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670105" y="2522940"/>
            <a:ext cx="112170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i="1" dirty="0"/>
              <a:t>“Asegurarse de que se </a:t>
            </a:r>
            <a:r>
              <a:rPr lang="es-CL" sz="2800" b="1" i="1" dirty="0"/>
              <a:t>entienden</a:t>
            </a:r>
            <a:r>
              <a:rPr lang="es-CL" sz="2800" i="1" dirty="0"/>
              <a:t> las necesidades de los </a:t>
            </a:r>
            <a:r>
              <a:rPr lang="es-CL" sz="2800" i="1" dirty="0" err="1"/>
              <a:t>stakeholders</a:t>
            </a:r>
            <a:r>
              <a:rPr lang="es-CL" sz="2800" i="1" dirty="0"/>
              <a:t> y que </a:t>
            </a:r>
            <a:r>
              <a:rPr lang="es-CL" sz="2800" b="1" i="1" dirty="0"/>
              <a:t>es posible definir, acordar, construir y testear una solución </a:t>
            </a:r>
            <a:r>
              <a:rPr lang="es-CL" sz="2800" i="1" dirty="0"/>
              <a:t>satisfactoria”</a:t>
            </a:r>
          </a:p>
          <a:p>
            <a:pPr algn="r"/>
            <a:r>
              <a:rPr lang="es-CL" sz="2800" dirty="0"/>
              <a:t>Wiegers &amp; </a:t>
            </a:r>
            <a:r>
              <a:rPr lang="es-CL" sz="2800" dirty="0" err="1"/>
              <a:t>Hokakson</a:t>
            </a:r>
            <a:r>
              <a:rPr lang="es-CL" sz="2800" dirty="0"/>
              <a:t>, 2023 </a:t>
            </a:r>
          </a:p>
        </p:txBody>
      </p:sp>
    </p:spTree>
    <p:extLst>
      <p:ext uri="{BB962C8B-B14F-4D97-AF65-F5344CB8AC3E}">
        <p14:creationId xmlns:p14="http://schemas.microsoft.com/office/powerpoint/2010/main" val="2197493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asociadas al análisis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P10: Analizar requisitos individuales y conjuntos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P11: Crear modelos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P12: Crear y evaluar prototipos.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P13: Priorizar los requisitos.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118418" y="3539735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70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P13: Priorizar los requisitos (1)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¿Por qué priorizar?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Porque tenemos restricciones de tiempo, presupuesto y recursos en general.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Porque no podemos implementar todo al mismo tiempo.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¿Por qué es difícil priorizar?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No es fácil que quien nos hizo un requerimiento, decida que este no es importante.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372182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P13: Priorizar los requisitos (2)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¿Cómo podemos identificar qué tiene mayor prioridad? Posibles preguntas: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sucedería si esta característica no estuviese presente?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¿Es posible optar por una alternativa de solución manual?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tareas no sería posible realizar si esa característica no está presente?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¿Cuál sería la consecuencia si esa característica no estuviese disponible en la primera versión?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938084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P13: Priorizar los requisitos (3)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¿A qué nivel de detalle debemos priorizar?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Podemos hacerlo a diferentes niveles de detalle.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Requisito individual.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Grupo de requisitos.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Épica.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Requisito funcional / no funcional.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Caso de uso.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Historia de usuario.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Etc.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Clave: Priorizar requisitos de la misma categoría / nivel de detalle.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115054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P13: Factores que pueden influir en la prioridad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942" y="1514903"/>
            <a:ext cx="1165561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Valor para el cliente.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Quién requiere la funcionalidad.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Frecuencia de uso esperada.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Costo, tiempo y dificultad de implementación.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Urgencia.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Dependencia respecto de otros requisitos.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Riesgos que podría implicar la implementación, la postergación, etc.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Requerimientos legales, regulatorios, de seguridad, certificación, etc.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945597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P13: Priorizar los requisitos. Ejemplo: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191" y="1532832"/>
            <a:ext cx="116556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0" lvl="2" indent="-514350">
              <a:buAutoNum type="arabicPeriod"/>
            </a:pPr>
            <a:r>
              <a:rPr lang="es-CL" sz="2800" dirty="0"/>
              <a:t>RF1: Pago con tarjeta de crédito.</a:t>
            </a:r>
          </a:p>
          <a:p>
            <a:pPr marL="1885950" lvl="3" indent="-514350">
              <a:buFont typeface="Arial" panose="020B0604020202020204" pitchFamily="34" charset="0"/>
              <a:buChar char="•"/>
            </a:pPr>
            <a:r>
              <a:rPr lang="es-CL" sz="2800" dirty="0"/>
              <a:t>De alto valor para el cliente. </a:t>
            </a:r>
          </a:p>
          <a:p>
            <a:pPr marL="1885950" lvl="3" indent="-514350">
              <a:buFont typeface="Arial" panose="020B0604020202020204" pitchFamily="34" charset="0"/>
              <a:buChar char="•"/>
            </a:pPr>
            <a:r>
              <a:rPr lang="es-CL" sz="2800" dirty="0"/>
              <a:t>Bajo costo de implementación (servicio provisto por un tercero).</a:t>
            </a:r>
          </a:p>
          <a:p>
            <a:pPr marL="1885950" lvl="3" indent="-514350">
              <a:buFont typeface="Arial" panose="020B0604020202020204" pitchFamily="34" charset="0"/>
              <a:buChar char="•"/>
            </a:pPr>
            <a:r>
              <a:rPr lang="es-CL" sz="2800" dirty="0"/>
              <a:t>Frecuencia de uso esperada alta.</a:t>
            </a:r>
          </a:p>
          <a:p>
            <a:pPr marL="1885950" lvl="3" indent="-51435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428750" lvl="2" indent="-514350">
              <a:buFont typeface="+mj-lt"/>
              <a:buAutoNum type="arabicPeriod"/>
            </a:pPr>
            <a:r>
              <a:rPr lang="es-CL" sz="2800" dirty="0"/>
              <a:t>RF2: Emisión de boleta electrónica.</a:t>
            </a:r>
          </a:p>
          <a:p>
            <a:pPr marL="1885950" lvl="3" indent="-514350">
              <a:buFont typeface="Arial" panose="020B0604020202020204" pitchFamily="34" charset="0"/>
              <a:buChar char="•"/>
            </a:pPr>
            <a:r>
              <a:rPr lang="es-CL" sz="2800" dirty="0"/>
              <a:t>Poco relevante para el cliente.</a:t>
            </a:r>
          </a:p>
          <a:p>
            <a:pPr marL="1885950" lvl="3" indent="-514350">
              <a:buFont typeface="Arial" panose="020B0604020202020204" pitchFamily="34" charset="0"/>
              <a:buChar char="•"/>
            </a:pPr>
            <a:r>
              <a:rPr lang="es-CL" sz="2800" dirty="0"/>
              <a:t>Normativa SII lo exige.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8DD889-A95D-4342-6CF5-9EE15AAC1793}"/>
              </a:ext>
            </a:extLst>
          </p:cNvPr>
          <p:cNvSpPr txBox="1"/>
          <p:nvPr/>
        </p:nvSpPr>
        <p:spPr>
          <a:xfrm>
            <a:off x="3761384" y="5072262"/>
            <a:ext cx="466922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b="1" dirty="0"/>
              <a:t>¿Cuál tiene mayor prioridad? </a:t>
            </a:r>
          </a:p>
          <a:p>
            <a:pPr algn="ctr"/>
            <a:r>
              <a:rPr lang="es-CL" sz="2400" dirty="0"/>
              <a:t>No es fácil … </a:t>
            </a:r>
          </a:p>
          <a:p>
            <a:pPr algn="ctr"/>
            <a:r>
              <a:rPr lang="es-CL" sz="2400" dirty="0"/>
              <a:t>¿Tiene sentido hacerse la pregunta?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34253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P13: Técnicas de priorización. Método general.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191" y="1532832"/>
            <a:ext cx="116556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0" lvl="2" indent="-514350">
              <a:buAutoNum type="arabicPeriod"/>
            </a:pPr>
            <a:r>
              <a:rPr lang="es-CL" sz="2800" dirty="0"/>
              <a:t>Identificar a </a:t>
            </a:r>
            <a:r>
              <a:rPr lang="es-CL" sz="2800" b="1" dirty="0"/>
              <a:t>quienes</a:t>
            </a:r>
            <a:r>
              <a:rPr lang="es-CL" sz="2800" dirty="0"/>
              <a:t> realizarán la priorización.</a:t>
            </a:r>
          </a:p>
          <a:p>
            <a:pPr marL="1428750" lvl="2" indent="-514350">
              <a:buAutoNum type="arabicPeriod"/>
            </a:pPr>
            <a:r>
              <a:rPr lang="es-CL" sz="2800" dirty="0"/>
              <a:t>Acordar un </a:t>
            </a:r>
            <a:r>
              <a:rPr lang="es-CL" sz="2800" b="1" dirty="0"/>
              <a:t>método</a:t>
            </a:r>
            <a:r>
              <a:rPr lang="es-CL" sz="2800" dirty="0"/>
              <a:t> de priorización.</a:t>
            </a:r>
          </a:p>
          <a:p>
            <a:pPr marL="1885950" lvl="3" indent="-514350">
              <a:buFont typeface="Arial" panose="020B0604020202020204" pitchFamily="34" charset="0"/>
              <a:buChar char="•"/>
            </a:pPr>
            <a:r>
              <a:rPr lang="es-CL" sz="2800" dirty="0"/>
              <a:t>Acordar los criterios de priorización. </a:t>
            </a:r>
          </a:p>
          <a:p>
            <a:pPr marL="1885950" lvl="3" indent="-514350">
              <a:buFont typeface="Arial" panose="020B0604020202020204" pitchFamily="34" charset="0"/>
              <a:buChar char="•"/>
            </a:pPr>
            <a:r>
              <a:rPr lang="es-CL" sz="2800" dirty="0"/>
              <a:t>Acordar los parámetros del método.</a:t>
            </a:r>
          </a:p>
          <a:p>
            <a:pPr marL="1428750" lvl="2" indent="-514350">
              <a:buFont typeface="+mj-lt"/>
              <a:buAutoNum type="arabicPeriod"/>
            </a:pPr>
            <a:r>
              <a:rPr lang="es-CL" sz="2800" b="1" dirty="0"/>
              <a:t>Priorizar</a:t>
            </a:r>
            <a:r>
              <a:rPr lang="es-CL" sz="2800" dirty="0"/>
              <a:t> los ítems y organizarlos en </a:t>
            </a:r>
            <a:r>
              <a:rPr lang="es-CL" sz="2800" b="1" dirty="0"/>
              <a:t>incrementos</a:t>
            </a:r>
            <a:r>
              <a:rPr lang="es-CL" sz="2800" dirty="0"/>
              <a:t>. </a:t>
            </a:r>
          </a:p>
          <a:p>
            <a:pPr marL="1885950" lvl="3" indent="-51435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03951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P13: Técnicas de priorización. 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191" y="1532832"/>
            <a:ext cx="1165561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0" lvl="2" indent="-514350">
              <a:buAutoNum type="arabicPeriod"/>
            </a:pPr>
            <a:r>
              <a:rPr lang="es-CL" sz="2800" dirty="0"/>
              <a:t>Escala de 3 niveles. Clasificar los </a:t>
            </a:r>
            <a:r>
              <a:rPr lang="es-CL" sz="2800" dirty="0" err="1"/>
              <a:t>ítemes</a:t>
            </a:r>
            <a:r>
              <a:rPr lang="es-CL" sz="2800" dirty="0"/>
              <a:t> en 3 categorías.</a:t>
            </a:r>
          </a:p>
          <a:p>
            <a:pPr lvl="3"/>
            <a:r>
              <a:rPr lang="es-CL" sz="2800" dirty="0"/>
              <a:t>Prioridad </a:t>
            </a:r>
            <a:r>
              <a:rPr lang="es-CL" sz="2800" b="1" dirty="0"/>
              <a:t>Alta</a:t>
            </a:r>
            <a:r>
              <a:rPr lang="es-CL" sz="2800" dirty="0"/>
              <a:t>: Aquello que es urgente e importante.</a:t>
            </a:r>
          </a:p>
          <a:p>
            <a:pPr lvl="3"/>
            <a:r>
              <a:rPr lang="es-CL" sz="2800" dirty="0"/>
              <a:t>Prioridad </a:t>
            </a:r>
            <a:r>
              <a:rPr lang="es-CL" sz="2800" b="1" dirty="0"/>
              <a:t>Media</a:t>
            </a:r>
            <a:r>
              <a:rPr lang="es-CL" sz="2800" dirty="0"/>
              <a:t>: Aquello que es importante, pero no urgente.</a:t>
            </a:r>
          </a:p>
          <a:p>
            <a:pPr lvl="3"/>
            <a:r>
              <a:rPr lang="es-CL" sz="2800" dirty="0"/>
              <a:t>Prioridad </a:t>
            </a:r>
            <a:r>
              <a:rPr lang="es-CL" sz="2800" b="1" dirty="0"/>
              <a:t>Baja</a:t>
            </a:r>
            <a:r>
              <a:rPr lang="es-CL" sz="2800" dirty="0"/>
              <a:t>: Aquello que no es importante, ni urgente. </a:t>
            </a:r>
          </a:p>
          <a:p>
            <a:pPr marL="1428750" lvl="2" indent="-514350">
              <a:buAutoNum type="arabicPeriod"/>
            </a:pPr>
            <a:endParaRPr lang="es-CL" sz="2800" dirty="0"/>
          </a:p>
          <a:p>
            <a:pPr marL="1885950" lvl="3" indent="-51435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815669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P13: Escala de 3 niveles. Ejemplo.</a:t>
            </a:r>
            <a:endParaRPr lang="en-US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F8B7187-5BEF-2FE7-7BC5-EBDC2F721174}"/>
              </a:ext>
            </a:extLst>
          </p:cNvPr>
          <p:cNvGrpSpPr/>
          <p:nvPr/>
        </p:nvGrpSpPr>
        <p:grpSpPr>
          <a:xfrm>
            <a:off x="145688" y="1707777"/>
            <a:ext cx="7707394" cy="4345632"/>
            <a:chOff x="1831053" y="1725706"/>
            <a:chExt cx="7707394" cy="4345632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D13A53CE-4D60-8603-76D5-C48F312F0C21}"/>
                </a:ext>
              </a:extLst>
            </p:cNvPr>
            <p:cNvSpPr/>
            <p:nvPr/>
          </p:nvSpPr>
          <p:spPr>
            <a:xfrm>
              <a:off x="2653553" y="1725706"/>
              <a:ext cx="3442447" cy="1703294"/>
            </a:xfrm>
            <a:prstGeom prst="rect">
              <a:avLst/>
            </a:prstGeom>
            <a:solidFill>
              <a:schemeClr val="accent1">
                <a:alpha val="0"/>
              </a:schemeClr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2400" b="1" dirty="0">
                  <a:solidFill>
                    <a:schemeClr val="tx1"/>
                  </a:solidFill>
                </a:rPr>
                <a:t>¿Debiese descartar este cuadrante?</a:t>
              </a:r>
            </a:p>
          </p:txBody>
        </p: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D0FC51A9-6BAA-B6D6-B2CC-398021FEFF07}"/>
                </a:ext>
              </a:extLst>
            </p:cNvPr>
            <p:cNvSpPr txBox="1"/>
            <p:nvPr/>
          </p:nvSpPr>
          <p:spPr>
            <a:xfrm rot="16200000">
              <a:off x="1183345" y="3198167"/>
              <a:ext cx="17570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2400" b="1" dirty="0"/>
                <a:t>Urgente</a:t>
              </a: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16F7D23D-CFB0-E0EA-1712-E4D587806A09}"/>
                </a:ext>
              </a:extLst>
            </p:cNvPr>
            <p:cNvSpPr/>
            <p:nvPr/>
          </p:nvSpPr>
          <p:spPr>
            <a:xfrm>
              <a:off x="6096000" y="1725706"/>
              <a:ext cx="3442447" cy="1703294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2800" b="1" dirty="0">
                  <a:solidFill>
                    <a:schemeClr val="tx1"/>
                  </a:solidFill>
                </a:rPr>
                <a:t>Prioridad Alta</a:t>
              </a: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235E04F9-DA05-A524-CD28-E2961BAF75D1}"/>
                </a:ext>
              </a:extLst>
            </p:cNvPr>
            <p:cNvSpPr/>
            <p:nvPr/>
          </p:nvSpPr>
          <p:spPr>
            <a:xfrm>
              <a:off x="2653552" y="3429000"/>
              <a:ext cx="3442447" cy="1703294"/>
            </a:xfrm>
            <a:prstGeom prst="rect">
              <a:avLst/>
            </a:prstGeom>
            <a:solidFill>
              <a:schemeClr val="accent1">
                <a:alpha val="7000"/>
              </a:schemeClr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2400" b="1" dirty="0">
                  <a:solidFill>
                    <a:schemeClr val="tx1"/>
                  </a:solidFill>
                </a:rPr>
                <a:t>Prioridad Baja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B1593070-4E0B-318B-680E-2FBAB57B1A97}"/>
                </a:ext>
              </a:extLst>
            </p:cNvPr>
            <p:cNvSpPr/>
            <p:nvPr/>
          </p:nvSpPr>
          <p:spPr>
            <a:xfrm>
              <a:off x="6096000" y="3429000"/>
              <a:ext cx="3442447" cy="1703294"/>
            </a:xfrm>
            <a:prstGeom prst="rect">
              <a:avLst/>
            </a:prstGeom>
            <a:solidFill>
              <a:schemeClr val="accent1">
                <a:alpha val="42000"/>
              </a:schemeClr>
            </a:solidFill>
            <a:ln w="317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L" sz="2400" b="1" dirty="0">
                  <a:solidFill>
                    <a:schemeClr val="tx1"/>
                  </a:solidFill>
                </a:rPr>
                <a:t>Prioridad Media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AAC3B718-C2F4-7112-EB3E-5884366E2459}"/>
                </a:ext>
              </a:extLst>
            </p:cNvPr>
            <p:cNvSpPr txBox="1"/>
            <p:nvPr/>
          </p:nvSpPr>
          <p:spPr>
            <a:xfrm>
              <a:off x="5217458" y="5609673"/>
              <a:ext cx="17570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2400" b="1" dirty="0"/>
                <a:t>Importante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72CDBCE-FF09-6686-48DB-E47A529BA263}"/>
                </a:ext>
              </a:extLst>
            </p:cNvPr>
            <p:cNvSpPr txBox="1"/>
            <p:nvPr/>
          </p:nvSpPr>
          <p:spPr>
            <a:xfrm>
              <a:off x="2097794" y="1748218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3200" b="1" dirty="0"/>
                <a:t>+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B358C4B7-9C49-2A2A-403E-E90069E21947}"/>
                </a:ext>
              </a:extLst>
            </p:cNvPr>
            <p:cNvSpPr txBox="1"/>
            <p:nvPr/>
          </p:nvSpPr>
          <p:spPr>
            <a:xfrm>
              <a:off x="8973674" y="5132294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3200" b="1" dirty="0"/>
                <a:t>+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6F19F071-429E-23DE-E368-E5F94EBE28B7}"/>
                </a:ext>
              </a:extLst>
            </p:cNvPr>
            <p:cNvSpPr txBox="1"/>
            <p:nvPr/>
          </p:nvSpPr>
          <p:spPr>
            <a:xfrm>
              <a:off x="2118022" y="4493821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3200" b="1" dirty="0"/>
                <a:t>-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3E4D5E01-067A-A9F2-53C9-39982BD67C35}"/>
                </a:ext>
              </a:extLst>
            </p:cNvPr>
            <p:cNvSpPr txBox="1"/>
            <p:nvPr/>
          </p:nvSpPr>
          <p:spPr>
            <a:xfrm>
              <a:off x="2897946" y="5203157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3200" b="1" dirty="0"/>
                <a:t>-</a:t>
              </a: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7AB2428-CA5A-0F93-42E3-21B97A5EB962}"/>
              </a:ext>
            </a:extLst>
          </p:cNvPr>
          <p:cNvSpPr txBox="1"/>
          <p:nvPr/>
        </p:nvSpPr>
        <p:spPr>
          <a:xfrm>
            <a:off x="8166849" y="1102578"/>
            <a:ext cx="3765925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Tareas: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Sacar a pasear a mi perro.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Actualizar el Windows de mi equipo.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Renovar revisión técnica de mi auto (venció ayer).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Analizar ofertas de </a:t>
            </a:r>
            <a:r>
              <a:rPr lang="es-CL" sz="2400" dirty="0" err="1"/>
              <a:t>Cyber</a:t>
            </a:r>
            <a:r>
              <a:rPr lang="es-CL" sz="2400" dirty="0"/>
              <a:t> en una categoría de productos poco relevante.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Elegir regalo de cumpleaños para un amigo (7/oct).</a:t>
            </a:r>
          </a:p>
        </p:txBody>
      </p:sp>
    </p:spTree>
    <p:extLst>
      <p:ext uri="{BB962C8B-B14F-4D97-AF65-F5344CB8AC3E}">
        <p14:creationId xmlns:p14="http://schemas.microsoft.com/office/powerpoint/2010/main" val="2944617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P13: Técnicas de priorización. </a:t>
            </a:r>
            <a:r>
              <a:rPr lang="es-CL" b="1" dirty="0" err="1"/>
              <a:t>MoSCoW</a:t>
            </a:r>
            <a:endParaRPr lang="en-US" b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191" y="1532832"/>
            <a:ext cx="1165561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0" lvl="2" indent="-514350">
              <a:buAutoNum type="arabicPeriod"/>
            </a:pPr>
            <a:r>
              <a:rPr lang="es-CL" sz="2800" dirty="0"/>
              <a:t>Escala </a:t>
            </a:r>
            <a:r>
              <a:rPr lang="es-CL" sz="2800" dirty="0" err="1"/>
              <a:t>MoSCoW</a:t>
            </a:r>
            <a:endParaRPr lang="es-CL" sz="2800" dirty="0"/>
          </a:p>
          <a:p>
            <a:pPr lvl="3"/>
            <a:r>
              <a:rPr lang="es-CL" sz="2800" b="1" dirty="0" err="1"/>
              <a:t>Must</a:t>
            </a:r>
            <a:r>
              <a:rPr lang="es-CL" sz="2800" b="1" dirty="0"/>
              <a:t>: </a:t>
            </a:r>
            <a:r>
              <a:rPr lang="es-CL" sz="2800" dirty="0"/>
              <a:t>Requisito debe ser satisfecho para que la solución sea exitosa.</a:t>
            </a:r>
          </a:p>
          <a:p>
            <a:pPr lvl="3"/>
            <a:r>
              <a:rPr lang="es-CL" sz="2800" b="1" dirty="0" err="1"/>
              <a:t>Should</a:t>
            </a:r>
            <a:r>
              <a:rPr lang="es-CL" sz="2800" b="1" dirty="0"/>
              <a:t>: </a:t>
            </a:r>
            <a:r>
              <a:rPr lang="es-CL" sz="2800" dirty="0"/>
              <a:t>Requisito debiese ser incluido en la solución, pero no es obligatorio.</a:t>
            </a:r>
          </a:p>
          <a:p>
            <a:pPr lvl="3"/>
            <a:r>
              <a:rPr lang="es-CL" sz="2800" b="1" dirty="0" err="1"/>
              <a:t>Could</a:t>
            </a:r>
            <a:r>
              <a:rPr lang="es-CL" sz="2800" b="1" dirty="0"/>
              <a:t>: </a:t>
            </a:r>
            <a:r>
              <a:rPr lang="es-CL" sz="2800" dirty="0"/>
              <a:t>Requisito es una característica deseable, se implementará sólo si el tiempo y recursos lo permiten.</a:t>
            </a:r>
          </a:p>
          <a:p>
            <a:pPr lvl="3"/>
            <a:r>
              <a:rPr lang="es-CL" sz="2800" b="1" dirty="0" err="1"/>
              <a:t>Won’t</a:t>
            </a:r>
            <a:r>
              <a:rPr lang="es-CL" sz="2800" b="1" dirty="0"/>
              <a:t>: </a:t>
            </a:r>
            <a:r>
              <a:rPr lang="es-CL" sz="2800" dirty="0"/>
              <a:t>Está fuera del alcance en esta versión, pero pudiese incluirse a futuro.</a:t>
            </a:r>
          </a:p>
          <a:p>
            <a:pPr marL="1428750" lvl="2" indent="-514350">
              <a:buAutoNum type="arabicPeriod"/>
            </a:pPr>
            <a:endParaRPr lang="es-CL" sz="2800" dirty="0"/>
          </a:p>
          <a:p>
            <a:pPr marL="1885950" lvl="3" indent="-51435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524726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P13: </a:t>
            </a:r>
            <a:r>
              <a:rPr lang="es-CL" dirty="0" err="1"/>
              <a:t>MoSCoW</a:t>
            </a:r>
            <a:r>
              <a:rPr lang="es-CL" dirty="0"/>
              <a:t>. Ejemplo: 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190" y="1532832"/>
            <a:ext cx="117445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/>
              <a:t>Se desea implementar un sistema de </a:t>
            </a:r>
            <a:r>
              <a:rPr lang="es-CL" sz="3200" b="1" dirty="0"/>
              <a:t>control de acceso</a:t>
            </a:r>
            <a:r>
              <a:rPr lang="es-CL" sz="3200" dirty="0"/>
              <a:t> al Edificio de Informática. Dependiendo de los perfiles de usuario (profesores, funcionarios, guardias y estudiantes), se podrá restringir el acceso en algunos días y horarios. </a:t>
            </a:r>
          </a:p>
          <a:p>
            <a:endParaRPr lang="es-CL" sz="3200" dirty="0"/>
          </a:p>
          <a:p>
            <a:r>
              <a:rPr lang="es-CL" sz="3200" dirty="0"/>
              <a:t>Júntense en grupos de 3-5 y definan una lista de (3) requisitos, idealmente de distinta prioridad.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726036-C627-3077-6822-53FF3EABF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366" y="5072262"/>
            <a:ext cx="6943123" cy="113449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C7AE0F3-FFF9-4684-A555-C6A39B83D2AC}"/>
              </a:ext>
            </a:extLst>
          </p:cNvPr>
          <p:cNvSpPr txBox="1"/>
          <p:nvPr/>
        </p:nvSpPr>
        <p:spPr>
          <a:xfrm>
            <a:off x="7934960" y="5325946"/>
            <a:ext cx="165608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2400" b="1" dirty="0"/>
              <a:t>2638 3713</a:t>
            </a:r>
            <a:endParaRPr lang="es-CL" sz="2400" b="1" dirty="0"/>
          </a:p>
        </p:txBody>
      </p:sp>
    </p:spTree>
    <p:extLst>
      <p:ext uri="{BB962C8B-B14F-4D97-AF65-F5344CB8AC3E}">
        <p14:creationId xmlns:p14="http://schemas.microsoft.com/office/powerpoint/2010/main" val="2960386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P13: Técnicas de priorización. </a:t>
            </a:r>
            <a:r>
              <a:rPr lang="es-CL" sz="3200" b="1" dirty="0"/>
              <a:t>Comparación por pares.</a:t>
            </a:r>
            <a:endParaRPr lang="en-US" sz="3200" b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191" y="1532832"/>
            <a:ext cx="116556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Comparar todos con todos, y decidir cuál de cada par es más importante.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Contar en cuántos casos el atributo es más importante.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40A21F-2976-74E3-0532-E6AF7C637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56" y="2486939"/>
            <a:ext cx="6803500" cy="396764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FA538E2-A743-E78A-CC2F-C5771FF4FDB0}"/>
              </a:ext>
            </a:extLst>
          </p:cNvPr>
          <p:cNvSpPr txBox="1"/>
          <p:nvPr/>
        </p:nvSpPr>
        <p:spPr>
          <a:xfrm>
            <a:off x="7895375" y="3429000"/>
            <a:ext cx="4296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/>
              <a:t>“&lt;“</a:t>
            </a:r>
            <a:r>
              <a:rPr lang="es-CL" dirty="0"/>
              <a:t> y </a:t>
            </a:r>
            <a:r>
              <a:rPr lang="es-CL" sz="2400" dirty="0"/>
              <a:t>“^”</a:t>
            </a:r>
            <a:r>
              <a:rPr lang="es-CL" dirty="0"/>
              <a:t> indican cuál es más importante. </a:t>
            </a:r>
          </a:p>
        </p:txBody>
      </p:sp>
    </p:spTree>
    <p:extLst>
      <p:ext uri="{BB962C8B-B14F-4D97-AF65-F5344CB8AC3E}">
        <p14:creationId xmlns:p14="http://schemas.microsoft.com/office/powerpoint/2010/main" val="2609493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6" y="98213"/>
            <a:ext cx="9135259" cy="1107996"/>
          </a:xfrm>
        </p:spPr>
        <p:txBody>
          <a:bodyPr/>
          <a:lstStyle/>
          <a:p>
            <a:r>
              <a:rPr lang="es-CL" dirty="0"/>
              <a:t>P13: Técnicas de priorización. Matriz de criterios.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1746034" y="1012879"/>
            <a:ext cx="101846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Una matriz donde definimos: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Conjunto de criterios.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400" dirty="0"/>
              <a:t>Peso de cada criterio.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Damos un valor a cada criterio, dentro de una escala, para cada requisito.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400" dirty="0"/>
              <a:t>Calculamos un puntaje, como un promedio ponderado.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8B9CB19-88E1-19A3-9DF1-3BD833180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130" y="2951871"/>
            <a:ext cx="7365739" cy="359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26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6" y="98213"/>
            <a:ext cx="9135259" cy="553998"/>
          </a:xfrm>
        </p:spPr>
        <p:txBody>
          <a:bodyPr/>
          <a:lstStyle/>
          <a:p>
            <a:r>
              <a:rPr lang="es-CL" dirty="0"/>
              <a:t>P13: Matriz de criterios. Ejemplo.</a:t>
            </a:r>
            <a:endParaRPr lang="en-US" dirty="0"/>
          </a:p>
        </p:txBody>
      </p:sp>
      <p:sp>
        <p:nvSpPr>
          <p:cNvPr id="8" name="CuadroTexto 7"/>
          <p:cNvSpPr txBox="1"/>
          <p:nvPr/>
        </p:nvSpPr>
        <p:spPr>
          <a:xfrm>
            <a:off x="317984" y="1314825"/>
            <a:ext cx="1155603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/>
              <a:t>Debemos priorizar los siguientes requisitos para un </a:t>
            </a:r>
            <a:r>
              <a:rPr lang="es-CL" sz="2400" b="1" dirty="0"/>
              <a:t>sistema de control de acceso </a:t>
            </a:r>
            <a:r>
              <a:rPr lang="es-CL" sz="2400" dirty="0"/>
              <a:t>al edificio 10000: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RF1: Creación de roles diferenciados para estudiantes de Bachillerato, estudiantes de cursos de Licenciatura, estudiantes de últimos años y estudiantes de Magíster.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RF2: Posibilidad de que los profesores autoricen el ingreso de estudiantes específicos en horarios restringidos.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RF3: Implementación de ingreso con </a:t>
            </a:r>
            <a:r>
              <a:rPr lang="es-CL" sz="2400" dirty="0" err="1"/>
              <a:t>rut</a:t>
            </a:r>
            <a:r>
              <a:rPr lang="es-CL" sz="2400" dirty="0"/>
              <a:t> y clave.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RF4: Implementación de acceso con huella digital.</a:t>
            </a:r>
          </a:p>
          <a:p>
            <a:endParaRPr lang="es-CL" sz="2400" dirty="0"/>
          </a:p>
          <a:p>
            <a:r>
              <a:rPr lang="es-CL" sz="2400" dirty="0"/>
              <a:t>Se deben priorizar los requisitos en base a los siguientes criterios y pesos: Valor para los usuarios (30); Costo de implementación (40); Dificultad técnica (30). </a:t>
            </a:r>
          </a:p>
          <a:p>
            <a:r>
              <a:rPr lang="es-CL" sz="2400" dirty="0"/>
              <a:t>Se deben asignar puntajes de 1 a 5 para cada criterio y requerimiento, donde 5 indica mayor prioridad. </a:t>
            </a:r>
          </a:p>
          <a:p>
            <a:r>
              <a:rPr lang="es-CL" sz="2400" b="1" dirty="0"/>
              <a:t>Elabore matriz de priorización y ordene requisitos según prioridad.</a:t>
            </a:r>
          </a:p>
        </p:txBody>
      </p:sp>
    </p:spTree>
    <p:extLst>
      <p:ext uri="{BB962C8B-B14F-4D97-AF65-F5344CB8AC3E}">
        <p14:creationId xmlns:p14="http://schemas.microsoft.com/office/powerpoint/2010/main" val="3358700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P13: Técnicas de priorización. </a:t>
            </a:r>
            <a:endParaRPr lang="en-US" b="1" dirty="0"/>
          </a:p>
        </p:txBody>
      </p:sp>
      <p:sp>
        <p:nvSpPr>
          <p:cNvPr id="8" name="CuadroTexto 7"/>
          <p:cNvSpPr txBox="1"/>
          <p:nvPr/>
        </p:nvSpPr>
        <p:spPr>
          <a:xfrm>
            <a:off x="268191" y="1613118"/>
            <a:ext cx="1165561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¿Es posible o recomendable combinar técnicas?</a:t>
            </a:r>
          </a:p>
          <a:p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Se recomienda categorizar requisitos mediante la escala de 3 niveles o </a:t>
            </a:r>
            <a:r>
              <a:rPr lang="es-CL" sz="2800" dirty="0" err="1"/>
              <a:t>MoSCoW</a:t>
            </a:r>
            <a:r>
              <a:rPr lang="es-CL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Se recomienda utilizar las técnicas de comparación por pares o matriz de pesos, dentro de una categoría (no entre todos los requisitos).</a:t>
            </a:r>
          </a:p>
          <a:p>
            <a:pPr marL="1885950" lvl="3" indent="-51435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41088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asociadas al análisis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P10: Analizar requisitos individuales y conjuntos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P11: Crear modelos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P12: Crear y evaluar prototipos.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P13: Priorizar los requisitos.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1151129" y="3693671"/>
            <a:ext cx="9955161" cy="423924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0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31936</TotalTime>
  <Words>1202</Words>
  <Application>Microsoft Office PowerPoint</Application>
  <PresentationFormat>Panorámica</PresentationFormat>
  <Paragraphs>157</Paragraphs>
  <Slides>18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Unidad 0 - Introducción</vt:lpstr>
      <vt:lpstr>¿Qué significa analizar los requisitos?</vt:lpstr>
      <vt:lpstr>Prácticas asociadas al análisis de requisitos</vt:lpstr>
      <vt:lpstr>P13: Priorizar los requisitos (1)</vt:lpstr>
      <vt:lpstr>P13: Priorizar los requisitos (2)</vt:lpstr>
      <vt:lpstr>P13: Priorizar los requisitos (3)</vt:lpstr>
      <vt:lpstr>P13: Factores que pueden influir en la prioridad</vt:lpstr>
      <vt:lpstr>P13: Priorizar los requisitos. Ejemplo:</vt:lpstr>
      <vt:lpstr>P13: Técnicas de priorización. Método general.</vt:lpstr>
      <vt:lpstr>P13: Técnicas de priorización. </vt:lpstr>
      <vt:lpstr>P13: Escala de 3 niveles. Ejemplo.</vt:lpstr>
      <vt:lpstr>P13: Técnicas de priorización. MoSCoW</vt:lpstr>
      <vt:lpstr>P13: MoSCoW. Ejemplo: </vt:lpstr>
      <vt:lpstr>P13: Técnicas de priorización. Comparación por pares.</vt:lpstr>
      <vt:lpstr>P13: Técnicas de priorización. Matriz de criterios.</vt:lpstr>
      <vt:lpstr>P13: Matriz de criterios. Ejemplo.</vt:lpstr>
      <vt:lpstr>P13: Técnicas de priorización. </vt:lpstr>
      <vt:lpstr>Prácticas asociadas al análisis de requisitos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215</cp:revision>
  <cp:lastPrinted>2020-10-05T12:16:48Z</cp:lastPrinted>
  <dcterms:created xsi:type="dcterms:W3CDTF">2018-03-05T20:26:11Z</dcterms:created>
  <dcterms:modified xsi:type="dcterms:W3CDTF">2025-10-06T02:02:20Z</dcterms:modified>
</cp:coreProperties>
</file>
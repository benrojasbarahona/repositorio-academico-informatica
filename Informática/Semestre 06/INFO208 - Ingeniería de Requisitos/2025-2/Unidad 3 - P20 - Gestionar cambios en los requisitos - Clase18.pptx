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handoutMasterIdLst>
    <p:handoutMasterId r:id="rId19"/>
  </p:handoutMasterIdLst>
  <p:sldIdLst>
    <p:sldId id="257" r:id="rId2"/>
    <p:sldId id="557" r:id="rId3"/>
    <p:sldId id="449" r:id="rId4"/>
    <p:sldId id="575" r:id="rId5"/>
    <p:sldId id="574" r:id="rId6"/>
    <p:sldId id="576" r:id="rId7"/>
    <p:sldId id="577" r:id="rId8"/>
    <p:sldId id="565" r:id="rId9"/>
    <p:sldId id="578" r:id="rId10"/>
    <p:sldId id="524" r:id="rId11"/>
    <p:sldId id="579" r:id="rId12"/>
    <p:sldId id="581" r:id="rId13"/>
    <p:sldId id="580" r:id="rId14"/>
    <p:sldId id="582" r:id="rId15"/>
    <p:sldId id="583" r:id="rId16"/>
    <p:sldId id="584" r:id="rId17"/>
  </p:sldIdLst>
  <p:sldSz cx="12192000" cy="6858000"/>
  <p:notesSz cx="7102475" cy="9388475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uan Pablo Salazar Fernández" initials="JPSF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83525" autoAdjust="0"/>
  </p:normalViewPr>
  <p:slideViewPr>
    <p:cSldViewPr snapToGrid="0">
      <p:cViewPr varScale="1">
        <p:scale>
          <a:sx n="94" d="100"/>
          <a:sy n="94" d="100"/>
        </p:scale>
        <p:origin x="117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40" cy="471055"/>
          </a:xfrm>
          <a:prstGeom prst="rect">
            <a:avLst/>
          </a:prstGeom>
        </p:spPr>
        <p:txBody>
          <a:bodyPr vert="horz" lIns="93625" tIns="46813" rIns="93625" bIns="46813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4023093" y="0"/>
            <a:ext cx="3077740" cy="471055"/>
          </a:xfrm>
          <a:prstGeom prst="rect">
            <a:avLst/>
          </a:prstGeom>
        </p:spPr>
        <p:txBody>
          <a:bodyPr vert="horz" lIns="93625" tIns="46813" rIns="93625" bIns="46813" rtlCol="0"/>
          <a:lstStyle>
            <a:lvl1pPr algn="r">
              <a:defRPr sz="1200"/>
            </a:lvl1pPr>
          </a:lstStyle>
          <a:p>
            <a:fld id="{421F1719-9756-4A84-82A5-4DD33F36571E}" type="datetimeFigureOut">
              <a:rPr lang="es-CL" smtClean="0"/>
              <a:t>18-11-2025</a:t>
            </a:fld>
            <a:endParaRPr lang="es-CL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917423"/>
            <a:ext cx="3077740" cy="471054"/>
          </a:xfrm>
          <a:prstGeom prst="rect">
            <a:avLst/>
          </a:prstGeom>
        </p:spPr>
        <p:txBody>
          <a:bodyPr vert="horz" lIns="93625" tIns="46813" rIns="93625" bIns="46813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4023093" y="8917423"/>
            <a:ext cx="3077740" cy="471054"/>
          </a:xfrm>
          <a:prstGeom prst="rect">
            <a:avLst/>
          </a:prstGeom>
        </p:spPr>
        <p:txBody>
          <a:bodyPr vert="horz" lIns="93625" tIns="46813" rIns="93625" bIns="46813" rtlCol="0" anchor="b"/>
          <a:lstStyle>
            <a:lvl1pPr algn="r">
              <a:defRPr sz="1200"/>
            </a:lvl1pPr>
          </a:lstStyle>
          <a:p>
            <a:fld id="{AA1FAC36-D20F-4D20-A1F7-B93EBCBA800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750227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40" cy="471055"/>
          </a:xfrm>
          <a:prstGeom prst="rect">
            <a:avLst/>
          </a:prstGeom>
        </p:spPr>
        <p:txBody>
          <a:bodyPr vert="horz" lIns="93625" tIns="46813" rIns="93625" bIns="46813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4023093" y="0"/>
            <a:ext cx="3077740" cy="471055"/>
          </a:xfrm>
          <a:prstGeom prst="rect">
            <a:avLst/>
          </a:prstGeom>
        </p:spPr>
        <p:txBody>
          <a:bodyPr vert="horz" lIns="93625" tIns="46813" rIns="93625" bIns="46813" rtlCol="0"/>
          <a:lstStyle>
            <a:lvl1pPr algn="r">
              <a:defRPr sz="1200"/>
            </a:lvl1pPr>
          </a:lstStyle>
          <a:p>
            <a:fld id="{BCCA8EBD-F228-4310-98D3-0AA28F568233}" type="datetimeFigureOut">
              <a:rPr lang="es-CL" smtClean="0"/>
              <a:t>18-11-2025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735013" y="1173163"/>
            <a:ext cx="5632450" cy="31686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625" tIns="46813" rIns="93625" bIns="46813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710248" y="4518205"/>
            <a:ext cx="5681980" cy="3696712"/>
          </a:xfrm>
          <a:prstGeom prst="rect">
            <a:avLst/>
          </a:prstGeom>
        </p:spPr>
        <p:txBody>
          <a:bodyPr vert="horz" lIns="93625" tIns="46813" rIns="93625" bIns="46813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917423"/>
            <a:ext cx="3077740" cy="471054"/>
          </a:xfrm>
          <a:prstGeom prst="rect">
            <a:avLst/>
          </a:prstGeom>
        </p:spPr>
        <p:txBody>
          <a:bodyPr vert="horz" lIns="93625" tIns="46813" rIns="93625" bIns="46813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4023093" y="8917423"/>
            <a:ext cx="3077740" cy="471054"/>
          </a:xfrm>
          <a:prstGeom prst="rect">
            <a:avLst/>
          </a:prstGeom>
        </p:spPr>
        <p:txBody>
          <a:bodyPr vert="horz" lIns="93625" tIns="46813" rIns="93625" bIns="46813" rtlCol="0" anchor="b"/>
          <a:lstStyle>
            <a:lvl1pPr algn="r">
              <a:defRPr sz="1200"/>
            </a:lvl1pPr>
          </a:lstStyle>
          <a:p>
            <a:fld id="{BF801272-3DC3-4F9E-9400-55ED7D4F325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943694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B943E-906E-50CA-D79E-A6D1F0E70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F490216-15D2-C1F9-C51B-746FBBC6BA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E1C2ECD-5C34-F2D4-46F7-51FD82373F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C55E50A-6E2F-8D8C-1DBE-23E1D90DF1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049376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020213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A1AF18-9925-E4BF-7455-0C22F835E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2709A54-CFF2-2489-B587-376522732F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3D077B4-B982-464A-8CC0-909E633E8C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Vemos</a:t>
            </a:r>
            <a:r>
              <a:rPr lang="en-US" dirty="0"/>
              <a:t> que SCRUM “conversa” bien con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enfoque</a:t>
            </a:r>
            <a:r>
              <a:rPr lang="en-US" dirty="0"/>
              <a:t> de gestion de </a:t>
            </a:r>
            <a:r>
              <a:rPr lang="en-US" dirty="0" err="1"/>
              <a:t>requisitos</a:t>
            </a:r>
            <a:r>
              <a:rPr lang="en-US" dirty="0"/>
              <a:t> y baselines.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9890559-5850-0024-D966-738C4657CD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137458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A67B8-9F9B-4202-75A7-13CCF382F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891E478-A9D5-DD74-746E-2451BBE605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A295858-BBF5-C185-3714-2F0CEFD744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Ver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podemos</a:t>
            </a:r>
            <a:r>
              <a:rPr lang="en-US" dirty="0"/>
              <a:t> o no </a:t>
            </a:r>
            <a:r>
              <a:rPr lang="en-US" dirty="0" err="1"/>
              <a:t>hacer</a:t>
            </a:r>
            <a:r>
              <a:rPr lang="en-US" dirty="0"/>
              <a:t> </a:t>
            </a:r>
            <a:r>
              <a:rPr lang="en-US" dirty="0" err="1"/>
              <a:t>entregas</a:t>
            </a:r>
            <a:r>
              <a:rPr lang="en-US" dirty="0"/>
              <a:t> </a:t>
            </a:r>
            <a:r>
              <a:rPr lang="en-US" dirty="0" err="1"/>
              <a:t>parciales</a:t>
            </a:r>
            <a:r>
              <a:rPr lang="en-US" dirty="0"/>
              <a:t> que </a:t>
            </a:r>
            <a:r>
              <a:rPr lang="en-US" dirty="0" err="1"/>
              <a:t>entreguen</a:t>
            </a:r>
            <a:r>
              <a:rPr lang="en-US" dirty="0"/>
              <a:t> valor al </a:t>
            </a:r>
            <a:r>
              <a:rPr lang="en-US" dirty="0" err="1"/>
              <a:t>cliente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D696728-9629-8D09-AA98-E8B1FD7AA68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381463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87B319-78DF-569A-4D30-52838A2D9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D54DE75-1294-D596-C484-26E5B5F191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62C0E4F-87C6-3DF4-AAC3-206360E541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092BBB3-28D4-CABF-59C1-A05747D2CD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6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195830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7F448-4CD4-928D-B073-F1C8AEAB8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3FF6A84-61ED-5452-A864-2F7C4862D8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8326310-F738-27D3-BE95-EC271CF495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909965E-DCC7-C0C5-7287-5704A2CEAD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7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981689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EB567-92D7-44F5-0741-0BA396F2D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1682287-B0DA-A23E-1260-F654223A70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04C25F2-3737-5BDF-68EF-CDE6F7CB0A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¿Por </a:t>
            </a:r>
            <a:r>
              <a:rPr lang="en-US" dirty="0" err="1"/>
              <a:t>qué</a:t>
            </a:r>
            <a:r>
              <a:rPr lang="en-US" dirty="0"/>
              <a:t> no es possible </a:t>
            </a:r>
            <a:r>
              <a:rPr lang="en-US" dirty="0" err="1"/>
              <a:t>inscribir</a:t>
            </a:r>
            <a:r>
              <a:rPr lang="en-US" dirty="0"/>
              <a:t> y </a:t>
            </a:r>
            <a:r>
              <a:rPr lang="en-US" dirty="0" err="1"/>
              <a:t>realizar</a:t>
            </a:r>
            <a:r>
              <a:rPr lang="en-US" dirty="0"/>
              <a:t> las </a:t>
            </a:r>
            <a:r>
              <a:rPr lang="en-US" dirty="0" err="1"/>
              <a:t>practicas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la </a:t>
            </a:r>
            <a:r>
              <a:rPr lang="en-US" dirty="0" err="1"/>
              <a:t>UACh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un </a:t>
            </a:r>
            <a:r>
              <a:rPr lang="en-US" dirty="0" err="1"/>
              <a:t>período</a:t>
            </a:r>
            <a:r>
              <a:rPr lang="en-US" dirty="0"/>
              <a:t> </a:t>
            </a:r>
            <a:r>
              <a:rPr lang="en-US" dirty="0" err="1"/>
              <a:t>distinto</a:t>
            </a:r>
            <a:r>
              <a:rPr lang="en-US" dirty="0"/>
              <a:t> a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semestres</a:t>
            </a:r>
            <a:r>
              <a:rPr lang="en-US" dirty="0"/>
              <a:t> </a:t>
            </a:r>
            <a:r>
              <a:rPr lang="en-US" dirty="0" err="1"/>
              <a:t>académicos</a:t>
            </a:r>
            <a:r>
              <a:rPr lang="en-US" dirty="0"/>
              <a:t>?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1594C16-4775-3D01-700F-42ED4EAA62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8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399047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1BA561-6F6F-0DFD-153D-712386C4D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67E6712-EE72-0099-F6CF-28AC3AFF7F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323B2CE-3DB9-2B91-F846-ED8011D1A8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Lo </a:t>
            </a:r>
            <a:r>
              <a:rPr lang="en-US" dirty="0" err="1"/>
              <a:t>más</a:t>
            </a:r>
            <a:r>
              <a:rPr lang="en-US" dirty="0"/>
              <a:t> </a:t>
            </a:r>
            <a:r>
              <a:rPr lang="en-US" dirty="0" err="1"/>
              <a:t>importante</a:t>
            </a:r>
            <a:r>
              <a:rPr lang="en-US" dirty="0"/>
              <a:t>: </a:t>
            </a:r>
            <a:r>
              <a:rPr lang="en-US" b="1" dirty="0"/>
              <a:t>de </a:t>
            </a:r>
            <a:r>
              <a:rPr lang="en-US" b="1" dirty="0" err="1"/>
              <a:t>qué</a:t>
            </a:r>
            <a:r>
              <a:rPr lang="en-US" b="1" dirty="0"/>
              <a:t> </a:t>
            </a:r>
            <a:r>
              <a:rPr lang="en-US" b="1" dirty="0" err="1"/>
              <a:t>depende</a:t>
            </a:r>
            <a:r>
              <a:rPr lang="en-US" b="1" dirty="0"/>
              <a:t>!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2F5F663-F84B-51F4-A40F-9F66BF657B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9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486564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Lo </a:t>
            </a:r>
            <a:r>
              <a:rPr lang="en-US" dirty="0" err="1"/>
              <a:t>más</a:t>
            </a:r>
            <a:r>
              <a:rPr lang="en-US" dirty="0"/>
              <a:t> </a:t>
            </a:r>
            <a:r>
              <a:rPr lang="en-US" dirty="0" err="1"/>
              <a:t>importante</a:t>
            </a:r>
            <a:r>
              <a:rPr lang="en-US" dirty="0"/>
              <a:t>: </a:t>
            </a:r>
            <a:r>
              <a:rPr lang="en-US" b="1" dirty="0"/>
              <a:t>de </a:t>
            </a:r>
            <a:r>
              <a:rPr lang="en-US" b="1" dirty="0" err="1"/>
              <a:t>qué</a:t>
            </a:r>
            <a:r>
              <a:rPr lang="en-US" b="1" dirty="0"/>
              <a:t> </a:t>
            </a:r>
            <a:r>
              <a:rPr lang="en-US" b="1" dirty="0" err="1"/>
              <a:t>depende</a:t>
            </a:r>
            <a:r>
              <a:rPr lang="en-US" b="1" dirty="0"/>
              <a:t>!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10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463141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83643-AC99-0742-3FF1-9DD22BD7C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497C295-73D9-DCEE-2B5F-FE53AB3003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F7E97BE-0755-09A7-1E5B-5611255756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0" dirty="0"/>
              <a:t>Toda </a:t>
            </a:r>
            <a:r>
              <a:rPr lang="en-US" b="0" dirty="0" err="1"/>
              <a:t>flexibilidad</a:t>
            </a:r>
            <a:r>
              <a:rPr lang="en-US" b="0" dirty="0"/>
              <a:t> </a:t>
            </a:r>
            <a:r>
              <a:rPr lang="en-US" b="0" dirty="0" err="1"/>
              <a:t>tiene</a:t>
            </a:r>
            <a:r>
              <a:rPr lang="en-US" b="0" dirty="0"/>
              <a:t> un </a:t>
            </a:r>
            <a:r>
              <a:rPr lang="en-US" b="0" dirty="0" err="1"/>
              <a:t>costo</a:t>
            </a:r>
            <a:r>
              <a:rPr lang="en-US" b="0" dirty="0"/>
              <a:t>. ¿Por </a:t>
            </a:r>
            <a:r>
              <a:rPr lang="en-US" b="0" dirty="0" err="1"/>
              <a:t>qué</a:t>
            </a:r>
            <a:r>
              <a:rPr lang="en-US" b="0" dirty="0"/>
              <a:t> pongo </a:t>
            </a:r>
            <a:r>
              <a:rPr lang="en-US" b="0" dirty="0" err="1"/>
              <a:t>holguras</a:t>
            </a:r>
            <a:r>
              <a:rPr lang="en-US" b="0" dirty="0"/>
              <a:t>? </a:t>
            </a:r>
          </a:p>
          <a:p>
            <a:pPr marL="171450" indent="-171450">
              <a:buFontTx/>
              <a:buChar char="-"/>
            </a:pPr>
            <a:r>
              <a:rPr lang="en-US" b="0" dirty="0"/>
              <a:t>Si es para </a:t>
            </a:r>
            <a:r>
              <a:rPr lang="en-US" b="0" dirty="0" err="1"/>
              <a:t>ganar</a:t>
            </a:r>
            <a:r>
              <a:rPr lang="en-US" b="0" dirty="0"/>
              <a:t> </a:t>
            </a:r>
            <a:r>
              <a:rPr lang="en-US" b="0" dirty="0" err="1"/>
              <a:t>flexibilidad</a:t>
            </a:r>
            <a:r>
              <a:rPr lang="en-US" b="0" dirty="0"/>
              <a:t>, la </a:t>
            </a:r>
            <a:r>
              <a:rPr lang="en-US" b="0" dirty="0" err="1"/>
              <a:t>paga</a:t>
            </a:r>
            <a:r>
              <a:rPr lang="en-US" b="0" dirty="0"/>
              <a:t> </a:t>
            </a:r>
            <a:r>
              <a:rPr lang="en-US" b="0" dirty="0" err="1"/>
              <a:t>el</a:t>
            </a:r>
            <a:r>
              <a:rPr lang="en-US" b="0" dirty="0"/>
              <a:t> </a:t>
            </a:r>
            <a:r>
              <a:rPr lang="en-US" b="0" dirty="0" err="1"/>
              <a:t>cliente</a:t>
            </a:r>
            <a:r>
              <a:rPr lang="en-US" b="0" dirty="0"/>
              <a:t>. </a:t>
            </a:r>
          </a:p>
          <a:p>
            <a:pPr marL="171450" indent="-171450">
              <a:buFontTx/>
              <a:buChar char="-"/>
            </a:pPr>
            <a:r>
              <a:rPr lang="en-US" b="0" dirty="0"/>
              <a:t>Si es para </a:t>
            </a:r>
            <a:r>
              <a:rPr lang="en-US" b="0" dirty="0" err="1"/>
              <a:t>reducir</a:t>
            </a:r>
            <a:r>
              <a:rPr lang="en-US" b="0" dirty="0"/>
              <a:t> </a:t>
            </a:r>
            <a:r>
              <a:rPr lang="en-US" b="0" dirty="0" err="1"/>
              <a:t>el</a:t>
            </a:r>
            <a:r>
              <a:rPr lang="en-US" b="0" dirty="0"/>
              <a:t> </a:t>
            </a:r>
            <a:r>
              <a:rPr lang="en-US" b="0" dirty="0" err="1"/>
              <a:t>riesgo</a:t>
            </a:r>
            <a:r>
              <a:rPr lang="en-US" b="0" dirty="0"/>
              <a:t> de </a:t>
            </a:r>
            <a:r>
              <a:rPr lang="en-US" b="0" dirty="0" err="1"/>
              <a:t>una</a:t>
            </a:r>
            <a:r>
              <a:rPr lang="en-US" b="0" dirty="0"/>
              <a:t> mala </a:t>
            </a:r>
            <a:r>
              <a:rPr lang="en-US" b="0" dirty="0" err="1"/>
              <a:t>estimación</a:t>
            </a:r>
            <a:r>
              <a:rPr lang="en-US" b="0" dirty="0"/>
              <a:t>, </a:t>
            </a:r>
            <a:r>
              <a:rPr lang="en-US" b="0" dirty="0" err="1"/>
              <a:t>quizás</a:t>
            </a:r>
            <a:r>
              <a:rPr lang="en-US" b="0" dirty="0"/>
              <a:t> </a:t>
            </a:r>
            <a:r>
              <a:rPr lang="en-US" b="0" dirty="0" err="1"/>
              <a:t>deba</a:t>
            </a:r>
            <a:r>
              <a:rPr lang="en-US" b="0" dirty="0"/>
              <a:t> </a:t>
            </a:r>
            <a:r>
              <a:rPr lang="en-US" b="0" dirty="0" err="1"/>
              <a:t>pagarla</a:t>
            </a:r>
            <a:r>
              <a:rPr lang="en-US" b="0" dirty="0"/>
              <a:t> </a:t>
            </a:r>
            <a:r>
              <a:rPr lang="en-US" b="0" dirty="0" err="1"/>
              <a:t>yo</a:t>
            </a:r>
            <a:r>
              <a:rPr lang="en-US" b="0" dirty="0"/>
              <a:t>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02028B9-AB09-829A-4149-79CEE0AFDC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11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649951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566BF-EE85-6455-2A3D-5C4A6625C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CD5C401-FE35-8DB9-2065-4911ECDC3C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92084C2-05BB-FB98-86EE-AE92F4FCB4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b="1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F3FF33C-3A86-9D76-5476-0C47C8FFC2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12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347375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2B5DE-4D91-7F2B-8334-6C8EC23B8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7CB4354-B7D8-01A9-7446-2FA1F6F78F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C831F9F-6B98-A67F-65BC-4B8734EE60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b="1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DDCD8D6-34C1-E826-8DDE-B9C1819A4D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13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426519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A994B-86E7-4F39-2421-4C11C47EA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6A53B00-E0F4-1EC4-4856-2F5C6C45DF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E039F83-891C-D9C6-1228-C9EBEC76B7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Lo </a:t>
            </a:r>
            <a:r>
              <a:rPr lang="en-US" dirty="0" err="1"/>
              <a:t>más</a:t>
            </a:r>
            <a:r>
              <a:rPr lang="en-US" dirty="0"/>
              <a:t> </a:t>
            </a:r>
            <a:r>
              <a:rPr lang="en-US" dirty="0" err="1"/>
              <a:t>importante</a:t>
            </a:r>
            <a:r>
              <a:rPr lang="en-US" dirty="0"/>
              <a:t>: </a:t>
            </a:r>
            <a:r>
              <a:rPr lang="en-US" b="1" dirty="0"/>
              <a:t>de </a:t>
            </a:r>
            <a:r>
              <a:rPr lang="en-US" b="1" dirty="0" err="1"/>
              <a:t>qué</a:t>
            </a:r>
            <a:r>
              <a:rPr lang="en-US" b="1" dirty="0"/>
              <a:t> </a:t>
            </a:r>
            <a:r>
              <a:rPr lang="en-US" b="1" dirty="0" err="1"/>
              <a:t>depende</a:t>
            </a:r>
            <a:r>
              <a:rPr lang="en-US" b="1" dirty="0"/>
              <a:t>!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DB7751A-4C28-5359-AB44-28BEAD3CB2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14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137005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D34A73-F163-5A7D-314B-22755046C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2902D46-38F6-E2FB-33CA-E0BC0086B2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D472755-F1CE-B4E6-3FF0-039A9635D7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Lo </a:t>
            </a:r>
            <a:r>
              <a:rPr lang="en-US" dirty="0" err="1"/>
              <a:t>más</a:t>
            </a:r>
            <a:r>
              <a:rPr lang="en-US" dirty="0"/>
              <a:t> </a:t>
            </a:r>
            <a:r>
              <a:rPr lang="en-US" dirty="0" err="1"/>
              <a:t>importante</a:t>
            </a:r>
            <a:r>
              <a:rPr lang="en-US" dirty="0"/>
              <a:t>: </a:t>
            </a:r>
            <a:r>
              <a:rPr lang="en-US" b="1" dirty="0"/>
              <a:t>de </a:t>
            </a:r>
            <a:r>
              <a:rPr lang="en-US" b="1" dirty="0" err="1"/>
              <a:t>qué</a:t>
            </a:r>
            <a:r>
              <a:rPr lang="en-US" b="1" dirty="0"/>
              <a:t> </a:t>
            </a:r>
            <a:r>
              <a:rPr lang="en-US" b="1" dirty="0" err="1"/>
              <a:t>depende</a:t>
            </a:r>
            <a:r>
              <a:rPr lang="en-US" b="1" dirty="0"/>
              <a:t>!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0EA02EF-ECEB-5557-0058-4FB571893C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15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406147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0F7489-8E96-8F4B-D624-D3205D4AE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412EA16-7BEA-0CFD-D0B6-EC2FEDA75A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F23A006-93C1-4979-FD32-0A147CE82D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Lo </a:t>
            </a:r>
            <a:r>
              <a:rPr lang="en-US" dirty="0" err="1"/>
              <a:t>más</a:t>
            </a:r>
            <a:r>
              <a:rPr lang="en-US" dirty="0"/>
              <a:t> </a:t>
            </a:r>
            <a:r>
              <a:rPr lang="en-US" dirty="0" err="1"/>
              <a:t>importante</a:t>
            </a:r>
            <a:r>
              <a:rPr lang="en-US" dirty="0"/>
              <a:t>: </a:t>
            </a:r>
            <a:r>
              <a:rPr lang="en-US" b="1" dirty="0"/>
              <a:t>de </a:t>
            </a:r>
            <a:r>
              <a:rPr lang="en-US" b="1" dirty="0" err="1"/>
              <a:t>qué</a:t>
            </a:r>
            <a:r>
              <a:rPr lang="en-US" b="1" dirty="0"/>
              <a:t> </a:t>
            </a:r>
            <a:r>
              <a:rPr lang="en-US" b="1" dirty="0" err="1"/>
              <a:t>depende</a:t>
            </a:r>
            <a:r>
              <a:rPr lang="en-US" b="1" dirty="0"/>
              <a:t>!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168D2DC-962D-811E-2201-1C7FF15207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16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793357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png"/><Relationship Id="rId7" Type="http://schemas.openxmlformats.org/officeDocument/2006/relationships/image" Target="../media/image6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png"/><Relationship Id="rId9" Type="http://schemas.openxmlformats.org/officeDocument/2006/relationships/image" Target="../media/image8.jp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7386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/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1" y="3840480"/>
            <a:ext cx="8534399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11/18/2025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8656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0" y="5952613"/>
            <a:ext cx="12192000" cy="81889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553998"/>
          </a:xfrm>
        </p:spPr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2910" y="1647156"/>
            <a:ext cx="10366180" cy="492443"/>
          </a:xfrm>
        </p:spPr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1" y="6190611"/>
            <a:ext cx="3901439" cy="276999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599" y="6191013"/>
            <a:ext cx="2804160" cy="276999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11/18/2025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190611"/>
            <a:ext cx="2804160" cy="276999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579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0" y="6039105"/>
            <a:ext cx="12192000" cy="81889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58247" y="98214"/>
            <a:ext cx="8875504" cy="553998"/>
          </a:xfrm>
        </p:spPr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333500"/>
            <a:ext cx="530352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79" y="1333500"/>
            <a:ext cx="530352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>
          <a:xfrm>
            <a:off x="4145281" y="6134101"/>
            <a:ext cx="3901439" cy="276999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>
          <a:xfrm>
            <a:off x="609600" y="6134101"/>
            <a:ext cx="2804160" cy="276999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11/18/2025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>
          <a:xfrm>
            <a:off x="8778240" y="6134101"/>
            <a:ext cx="2804160" cy="276999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47770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553998"/>
          </a:xfrm>
        </p:spPr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11/18/2025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130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0" y="6039105"/>
            <a:ext cx="12192000" cy="81889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1" name="bk object 21"/>
          <p:cNvSpPr/>
          <p:nvPr/>
        </p:nvSpPr>
        <p:spPr>
          <a:xfrm>
            <a:off x="2357119" y="1316735"/>
            <a:ext cx="7284720" cy="517956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2" name="bk object 22"/>
          <p:cNvSpPr/>
          <p:nvPr/>
        </p:nvSpPr>
        <p:spPr>
          <a:xfrm>
            <a:off x="451103" y="1570736"/>
            <a:ext cx="11098784" cy="194462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3" name="bk object 23"/>
          <p:cNvSpPr/>
          <p:nvPr/>
        </p:nvSpPr>
        <p:spPr>
          <a:xfrm>
            <a:off x="184912" y="1944623"/>
            <a:ext cx="11988800" cy="198119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4" name="bk object 24"/>
          <p:cNvSpPr/>
          <p:nvPr/>
        </p:nvSpPr>
        <p:spPr>
          <a:xfrm>
            <a:off x="203200" y="2544064"/>
            <a:ext cx="11738864" cy="319430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5" name="bk object 25"/>
          <p:cNvSpPr/>
          <p:nvPr/>
        </p:nvSpPr>
        <p:spPr>
          <a:xfrm>
            <a:off x="229616" y="4519168"/>
            <a:ext cx="11812016" cy="181660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11/18/2025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60171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663303"/>
            <a:ext cx="9144000" cy="184666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36933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09600" y="6377941"/>
            <a:ext cx="2804160" cy="276999"/>
          </a:xfrm>
        </p:spPr>
        <p:txBody>
          <a:bodyPr/>
          <a:lstStyle/>
          <a:p>
            <a:fld id="{A9667479-CA72-4F5A-B46B-B4A3B031F1A0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18-11-2025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4145281" y="6377941"/>
            <a:ext cx="3901439" cy="276999"/>
          </a:xfrm>
        </p:spPr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778240" y="6377941"/>
            <a:ext cx="2804160" cy="276999"/>
          </a:xfrm>
        </p:spPr>
        <p:txBody>
          <a:bodyPr/>
          <a:lstStyle/>
          <a:p>
            <a:fld id="{55F34035-2F18-467C-941C-89571A5FBF17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3476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4154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2910" y="1647157"/>
            <a:ext cx="1036618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1" y="6377941"/>
            <a:ext cx="3901439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1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11/18/2025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1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93119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609585">
        <a:defRPr>
          <a:latin typeface="+mn-lt"/>
          <a:ea typeface="+mn-ea"/>
          <a:cs typeface="+mn-cs"/>
        </a:defRPr>
      </a:lvl2pPr>
      <a:lvl3pPr marL="1219170">
        <a:defRPr>
          <a:latin typeface="+mn-lt"/>
          <a:ea typeface="+mn-ea"/>
          <a:cs typeface="+mn-cs"/>
        </a:defRPr>
      </a:lvl3pPr>
      <a:lvl4pPr marL="1828754">
        <a:defRPr>
          <a:latin typeface="+mn-lt"/>
          <a:ea typeface="+mn-ea"/>
          <a:cs typeface="+mn-cs"/>
        </a:defRPr>
      </a:lvl4pPr>
      <a:lvl5pPr marL="2438339">
        <a:defRPr>
          <a:latin typeface="+mn-lt"/>
          <a:ea typeface="+mn-ea"/>
          <a:cs typeface="+mn-cs"/>
        </a:defRPr>
      </a:lvl5pPr>
      <a:lvl6pPr marL="3047924">
        <a:defRPr>
          <a:latin typeface="+mn-lt"/>
          <a:ea typeface="+mn-ea"/>
          <a:cs typeface="+mn-cs"/>
        </a:defRPr>
      </a:lvl6pPr>
      <a:lvl7pPr marL="3657509">
        <a:defRPr>
          <a:latin typeface="+mn-lt"/>
          <a:ea typeface="+mn-ea"/>
          <a:cs typeface="+mn-cs"/>
        </a:defRPr>
      </a:lvl7pPr>
      <a:lvl8pPr marL="4267093">
        <a:defRPr>
          <a:latin typeface="+mn-lt"/>
          <a:ea typeface="+mn-ea"/>
          <a:cs typeface="+mn-cs"/>
        </a:defRPr>
      </a:lvl8pPr>
      <a:lvl9pPr marL="4876678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609585">
        <a:defRPr>
          <a:latin typeface="+mn-lt"/>
          <a:ea typeface="+mn-ea"/>
          <a:cs typeface="+mn-cs"/>
        </a:defRPr>
      </a:lvl2pPr>
      <a:lvl3pPr marL="1219170">
        <a:defRPr>
          <a:latin typeface="+mn-lt"/>
          <a:ea typeface="+mn-ea"/>
          <a:cs typeface="+mn-cs"/>
        </a:defRPr>
      </a:lvl3pPr>
      <a:lvl4pPr marL="1828754">
        <a:defRPr>
          <a:latin typeface="+mn-lt"/>
          <a:ea typeface="+mn-ea"/>
          <a:cs typeface="+mn-cs"/>
        </a:defRPr>
      </a:lvl4pPr>
      <a:lvl5pPr marL="2438339">
        <a:defRPr>
          <a:latin typeface="+mn-lt"/>
          <a:ea typeface="+mn-ea"/>
          <a:cs typeface="+mn-cs"/>
        </a:defRPr>
      </a:lvl5pPr>
      <a:lvl6pPr marL="3047924">
        <a:defRPr>
          <a:latin typeface="+mn-lt"/>
          <a:ea typeface="+mn-ea"/>
          <a:cs typeface="+mn-cs"/>
        </a:defRPr>
      </a:lvl6pPr>
      <a:lvl7pPr marL="3657509">
        <a:defRPr>
          <a:latin typeface="+mn-lt"/>
          <a:ea typeface="+mn-ea"/>
          <a:cs typeface="+mn-cs"/>
        </a:defRPr>
      </a:lvl7pPr>
      <a:lvl8pPr marL="4267093">
        <a:defRPr>
          <a:latin typeface="+mn-lt"/>
          <a:ea typeface="+mn-ea"/>
          <a:cs typeface="+mn-cs"/>
        </a:defRPr>
      </a:lvl8pPr>
      <a:lvl9pPr marL="4876678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hlSG23zjoaI?feature=oembed" TargetMode="External"/><Relationship Id="rId4" Type="http://schemas.openxmlformats.org/officeDocument/2006/relationships/image" Target="../media/image15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2586634"/>
            <a:ext cx="9144000" cy="923329"/>
          </a:xfrm>
        </p:spPr>
        <p:txBody>
          <a:bodyPr/>
          <a:lstStyle/>
          <a:p>
            <a:r>
              <a:rPr lang="es-CL" dirty="0"/>
              <a:t>Unidad 0 - Introducción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5461000"/>
            <a:ext cx="9144000" cy="738664"/>
          </a:xfrm>
        </p:spPr>
        <p:txBody>
          <a:bodyPr/>
          <a:lstStyle/>
          <a:p>
            <a:r>
              <a:rPr lang="es-CL" dirty="0"/>
              <a:t>INFO 208 – Ingeniería de Requisitos – 2025</a:t>
            </a:r>
          </a:p>
          <a:p>
            <a:r>
              <a:rPr lang="es-CL" dirty="0"/>
              <a:t>Juan Pablo Salazar F.</a:t>
            </a:r>
          </a:p>
        </p:txBody>
      </p:sp>
      <p:sp>
        <p:nvSpPr>
          <p:cNvPr id="4" name="Título 1"/>
          <p:cNvSpPr txBox="1">
            <a:spLocks/>
          </p:cNvSpPr>
          <p:nvPr/>
        </p:nvSpPr>
        <p:spPr>
          <a:xfrm>
            <a:off x="36945" y="2678966"/>
            <a:ext cx="12192000" cy="830997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algn="ctr">
              <a:defRPr sz="4500" b="0" i="0">
                <a:solidFill>
                  <a:schemeClr val="bg1"/>
                </a:solidFill>
                <a:latin typeface="Calibri Light"/>
                <a:ea typeface="+mj-ea"/>
                <a:cs typeface="Calibri Light"/>
              </a:defRPr>
            </a:lvl1pPr>
          </a:lstStyle>
          <a:p>
            <a:r>
              <a:rPr lang="es-CL" sz="5400" kern="0" dirty="0">
                <a:solidFill>
                  <a:prstClr val="black"/>
                </a:solidFill>
              </a:rPr>
              <a:t>Unidad 3. Gestión de requisitos</a:t>
            </a:r>
          </a:p>
        </p:txBody>
      </p:sp>
    </p:spTree>
    <p:extLst>
      <p:ext uri="{BB962C8B-B14F-4D97-AF65-F5344CB8AC3E}">
        <p14:creationId xmlns:p14="http://schemas.microsoft.com/office/powerpoint/2010/main" val="2926880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5023FD-9B69-2C76-42F9-68FFC3A88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8780F9-134D-1795-D270-FD42D7FFD6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5365" y="277507"/>
            <a:ext cx="9552728" cy="492443"/>
          </a:xfrm>
        </p:spPr>
        <p:txBody>
          <a:bodyPr/>
          <a:lstStyle/>
          <a:p>
            <a:r>
              <a:rPr lang="es-CL" sz="3200" dirty="0"/>
              <a:t>Prácticas asociadas a la gestión de requisitos</a:t>
            </a:r>
            <a:endParaRPr lang="en-US" sz="3200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1E4A938-185C-FFE8-FA48-EF204EFE65CD}"/>
              </a:ext>
            </a:extLst>
          </p:cNvPr>
          <p:cNvSpPr txBox="1"/>
          <p:nvPr/>
        </p:nvSpPr>
        <p:spPr>
          <a:xfrm>
            <a:off x="1151128" y="2327583"/>
            <a:ext cx="988974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P19: Definir y gestionar listas de requisitos.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P20: Gestionar cambios a los requisitos.</a:t>
            </a:r>
          </a:p>
        </p:txBody>
      </p:sp>
      <p:sp>
        <p:nvSpPr>
          <p:cNvPr id="4" name="Rectángulo redondeado 3">
            <a:extLst>
              <a:ext uri="{FF2B5EF4-FFF2-40B4-BE49-F238E27FC236}">
                <a16:creationId xmlns:a16="http://schemas.microsoft.com/office/drawing/2014/main" id="{0314BF34-B087-6114-A41D-8D7EF8680DBC}"/>
              </a:ext>
            </a:extLst>
          </p:cNvPr>
          <p:cNvSpPr/>
          <p:nvPr/>
        </p:nvSpPr>
        <p:spPr>
          <a:xfrm>
            <a:off x="924342" y="2226776"/>
            <a:ext cx="9955161" cy="577860"/>
          </a:xfrm>
          <a:prstGeom prst="roundRect">
            <a:avLst/>
          </a:prstGeom>
          <a:solidFill>
            <a:schemeClr val="accent1">
              <a:alpha val="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50540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Tipos de requisitos</a:t>
            </a:r>
            <a:endParaRPr lang="en-US" dirty="0"/>
          </a:p>
        </p:txBody>
      </p:sp>
      <p:sp>
        <p:nvSpPr>
          <p:cNvPr id="3" name="CuadroTexto 2"/>
          <p:cNvSpPr txBox="1"/>
          <p:nvPr/>
        </p:nvSpPr>
        <p:spPr>
          <a:xfrm>
            <a:off x="7808521" y="5891133"/>
            <a:ext cx="41790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400" dirty="0" err="1"/>
              <a:t>Wiegers</a:t>
            </a:r>
            <a:r>
              <a:rPr lang="es-CL" sz="2400" dirty="0"/>
              <a:t>, K &amp; </a:t>
            </a:r>
            <a:r>
              <a:rPr lang="es-CL" sz="2400" dirty="0" err="1"/>
              <a:t>Hokanson</a:t>
            </a:r>
            <a:r>
              <a:rPr lang="es-CL" sz="2400" dirty="0"/>
              <a:t>, C; 2023</a:t>
            </a:r>
            <a:endParaRPr lang="en-US" sz="2400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8247" y="1219290"/>
            <a:ext cx="5740952" cy="5133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7388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A395A1-A7D9-62D2-DA92-FF8C3318D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AF00A9-156D-9998-A5A0-E6A4BA092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492443"/>
          </a:xfrm>
        </p:spPr>
        <p:txBody>
          <a:bodyPr/>
          <a:lstStyle/>
          <a:p>
            <a:r>
              <a:rPr lang="es-CL" sz="3200" dirty="0"/>
              <a:t>P19: Definir y gestionar listas de requisitos.</a:t>
            </a:r>
            <a:endParaRPr lang="en-US" sz="32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BF044E5-8608-06FD-B7EF-6D404A9108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154" y="1415177"/>
            <a:ext cx="9993690" cy="4807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62706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0D3C03-836C-5780-0276-7C0B23161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9600D8-58B7-A2AD-58F1-3D27E9662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492443"/>
          </a:xfrm>
        </p:spPr>
        <p:txBody>
          <a:bodyPr/>
          <a:lstStyle/>
          <a:p>
            <a:r>
              <a:rPr lang="es-CL" sz="3200" dirty="0"/>
              <a:t>P19: Programación de </a:t>
            </a:r>
            <a:r>
              <a:rPr lang="es-CL" sz="3200" dirty="0" err="1"/>
              <a:t>baselines</a:t>
            </a:r>
            <a:r>
              <a:rPr lang="es-CL" sz="3200" dirty="0"/>
              <a:t> en el tiempo.</a:t>
            </a:r>
            <a:endParaRPr lang="en-US" sz="32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48998AD-3307-1C8B-5904-364D6DDE78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2013768"/>
            <a:ext cx="5984093" cy="3723644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4079053B-47E7-0C26-B2F4-F335AB9C35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46" y="2013768"/>
            <a:ext cx="5998539" cy="3723644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DE00B6A0-6675-3486-FD7C-72EF19910993}"/>
              </a:ext>
            </a:extLst>
          </p:cNvPr>
          <p:cNvSpPr txBox="1"/>
          <p:nvPr/>
        </p:nvSpPr>
        <p:spPr>
          <a:xfrm>
            <a:off x="3425748" y="1344706"/>
            <a:ext cx="53405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800" dirty="0"/>
              <a:t>¿Cuándo usar uno u otro enfoque? </a:t>
            </a:r>
          </a:p>
        </p:txBody>
      </p:sp>
    </p:spTree>
    <p:extLst>
      <p:ext uri="{BB962C8B-B14F-4D97-AF65-F5344CB8AC3E}">
        <p14:creationId xmlns:p14="http://schemas.microsoft.com/office/powerpoint/2010/main" val="20718326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9E8195-5237-88D9-CE41-F81DCDDA8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E84D81-3AD4-8DC4-551B-5977FDF7F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5365" y="277507"/>
            <a:ext cx="9552728" cy="492443"/>
          </a:xfrm>
        </p:spPr>
        <p:txBody>
          <a:bodyPr/>
          <a:lstStyle/>
          <a:p>
            <a:r>
              <a:rPr lang="es-CL" sz="3200" dirty="0"/>
              <a:t>Prácticas asociadas a la gestión de requisitos</a:t>
            </a:r>
            <a:endParaRPr lang="en-US" sz="3200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4FBF3A3-053B-8B32-7FD8-4AF87F7F1BF8}"/>
              </a:ext>
            </a:extLst>
          </p:cNvPr>
          <p:cNvSpPr txBox="1"/>
          <p:nvPr/>
        </p:nvSpPr>
        <p:spPr>
          <a:xfrm>
            <a:off x="1151128" y="2327583"/>
            <a:ext cx="988974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P19: Definir y gestionar listas de requisitos.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P20: Gestionar cambios a los requisitos.</a:t>
            </a:r>
          </a:p>
        </p:txBody>
      </p:sp>
      <p:sp>
        <p:nvSpPr>
          <p:cNvPr id="4" name="Rectángulo redondeado 3">
            <a:extLst>
              <a:ext uri="{FF2B5EF4-FFF2-40B4-BE49-F238E27FC236}">
                <a16:creationId xmlns:a16="http://schemas.microsoft.com/office/drawing/2014/main" id="{2E694B42-2997-BEAD-3B33-D2654CEE2035}"/>
              </a:ext>
            </a:extLst>
          </p:cNvPr>
          <p:cNvSpPr/>
          <p:nvPr/>
        </p:nvSpPr>
        <p:spPr>
          <a:xfrm>
            <a:off x="1085707" y="2804636"/>
            <a:ext cx="9955161" cy="577860"/>
          </a:xfrm>
          <a:prstGeom prst="roundRect">
            <a:avLst/>
          </a:prstGeom>
          <a:solidFill>
            <a:schemeClr val="accent1">
              <a:alpha val="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77058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9FFAA-D89D-F4FC-689F-5B31E160C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D3B8EE-935B-C657-DDA6-AD313A2B5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492443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3200" dirty="0"/>
              <a:t>P20: Gestionar cambios en los requisitos.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992F782-D28C-BD54-A391-19B7157EE101}"/>
              </a:ext>
            </a:extLst>
          </p:cNvPr>
          <p:cNvSpPr txBox="1"/>
          <p:nvPr/>
        </p:nvSpPr>
        <p:spPr>
          <a:xfrm>
            <a:off x="143435" y="1514903"/>
            <a:ext cx="11781123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¿Cuáles son los costos de no permitir cambios?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Funcionalidades que no son utilizadas.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Software que no cumple con su propósito.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 err="1"/>
              <a:t>Stakeholders</a:t>
            </a:r>
            <a:r>
              <a:rPr lang="es-CL" sz="2800" dirty="0"/>
              <a:t> insatisfechos.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endParaRPr lang="es-CL" sz="2800" dirty="0"/>
          </a:p>
          <a:p>
            <a:pPr marL="1371600" lvl="2" indent="-457200">
              <a:buFont typeface="Arial" panose="020B0604020202020204" pitchFamily="34" charset="0"/>
              <a:buChar char="•"/>
            </a:pPr>
            <a:endParaRPr lang="es-CL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Ejemplo: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Los planes de estudio en la UACh se organizan en semestres.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Prácticas en algunas carreras se hacen en paralelo con los cursos, pero en otras carreras se hacen en verano. 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endParaRPr lang="es-CL" sz="2800" dirty="0"/>
          </a:p>
        </p:txBody>
      </p:sp>
    </p:spTree>
    <p:extLst>
      <p:ext uri="{BB962C8B-B14F-4D97-AF65-F5344CB8AC3E}">
        <p14:creationId xmlns:p14="http://schemas.microsoft.com/office/powerpoint/2010/main" val="28429681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1DBD26-118A-06F4-B2E4-D4DF4A2B9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67141D-61F0-BFEB-0C87-559BC21B6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492443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3200" dirty="0"/>
              <a:t>P20: Gestionar cambios en los requisitos.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48DA2877-541D-2C9B-6B90-D9C94914CD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330" y="1982836"/>
            <a:ext cx="3553321" cy="395342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F8F98EDD-DB0B-80CC-4D87-149A3E6249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4188" y="1982836"/>
            <a:ext cx="4118918" cy="3953426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D1B72E24-043F-7FEF-6600-4ABF1668CA2C}"/>
              </a:ext>
            </a:extLst>
          </p:cNvPr>
          <p:cNvSpPr txBox="1"/>
          <p:nvPr/>
        </p:nvSpPr>
        <p:spPr>
          <a:xfrm>
            <a:off x="2342190" y="1613504"/>
            <a:ext cx="7335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b="1" dirty="0"/>
              <a:t>UACH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313B5516-F087-8CB3-61F6-5DF84CBC41FB}"/>
              </a:ext>
            </a:extLst>
          </p:cNvPr>
          <p:cNvSpPr txBox="1"/>
          <p:nvPr/>
        </p:nvSpPr>
        <p:spPr>
          <a:xfrm>
            <a:off x="8976847" y="1613504"/>
            <a:ext cx="8629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b="1" dirty="0"/>
              <a:t>UTFSM</a:t>
            </a:r>
          </a:p>
        </p:txBody>
      </p:sp>
    </p:spTree>
    <p:extLst>
      <p:ext uri="{BB962C8B-B14F-4D97-AF65-F5344CB8AC3E}">
        <p14:creationId xmlns:p14="http://schemas.microsoft.com/office/powerpoint/2010/main" val="34722861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DB646-35D5-23D3-9D84-3251C2808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32A902-4626-041B-1A25-B7CCA69721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492443"/>
          </a:xfrm>
        </p:spPr>
        <p:txBody>
          <a:bodyPr/>
          <a:lstStyle/>
          <a:p>
            <a:r>
              <a:rPr lang="es-CL" sz="3200" dirty="0"/>
              <a:t>P20: Gestionar cambios en los requisitos.</a:t>
            </a:r>
            <a:endParaRPr lang="en-US" sz="320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87C2D0EF-066B-8002-B1A2-1DF283E8C4C4}"/>
              </a:ext>
            </a:extLst>
          </p:cNvPr>
          <p:cNvSpPr txBox="1"/>
          <p:nvPr/>
        </p:nvSpPr>
        <p:spPr>
          <a:xfrm>
            <a:off x="143435" y="1514903"/>
            <a:ext cx="11781123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¿Qué hacemos ante un cambio en un requisito del </a:t>
            </a:r>
            <a:r>
              <a:rPr lang="es-CL" sz="2800" b="1" dirty="0" err="1"/>
              <a:t>baseline</a:t>
            </a:r>
            <a:r>
              <a:rPr lang="es-CL" sz="2800" dirty="0"/>
              <a:t> actual?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CL" sz="2800" dirty="0"/>
              <a:t>Aceptar el cambio e incluirlo en el </a:t>
            </a:r>
            <a:r>
              <a:rPr lang="es-CL" sz="2800" dirty="0" err="1"/>
              <a:t>baseline</a:t>
            </a:r>
            <a:r>
              <a:rPr lang="es-CL" sz="2800" dirty="0"/>
              <a:t>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CL" sz="2800" dirty="0"/>
              <a:t>Completar el </a:t>
            </a:r>
            <a:r>
              <a:rPr lang="es-CL" sz="2800" dirty="0" err="1"/>
              <a:t>baseline</a:t>
            </a:r>
            <a:r>
              <a:rPr lang="es-CL" sz="2800" dirty="0"/>
              <a:t> tal como está, generando un requisito de cambio para un </a:t>
            </a:r>
            <a:r>
              <a:rPr lang="es-CL" sz="2800" dirty="0" err="1"/>
              <a:t>baseline</a:t>
            </a:r>
            <a:r>
              <a:rPr lang="es-CL" sz="2800" dirty="0"/>
              <a:t> posterior.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CL" sz="2800" dirty="0"/>
              <a:t>Suspender la implementación de la funcionalidad afectada.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endParaRPr lang="es-CL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¿Existe una respuesta mejor que otra? </a:t>
            </a:r>
            <a:r>
              <a:rPr lang="es-CL" sz="2800" b="1" dirty="0"/>
              <a:t>Depende</a:t>
            </a:r>
            <a:r>
              <a:rPr lang="es-CL" sz="2800" dirty="0"/>
              <a:t> …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CL" sz="2800" dirty="0"/>
              <a:t>Nivel de avance en la iteración,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CL" sz="2800" dirty="0"/>
              <a:t>Criticidad del requisito,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CL" sz="2800" dirty="0"/>
              <a:t>Dependencias con otros requisitos,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CL" sz="2800" dirty="0"/>
              <a:t>Impacto en el resto de las funcionalidades.</a:t>
            </a:r>
          </a:p>
        </p:txBody>
      </p:sp>
      <p:pic>
        <p:nvPicPr>
          <p:cNvPr id="3" name="Elementos multimedia en línea 2" title="Huevos Bongó 2">
            <a:hlinkClick r:id="" action="ppaction://media"/>
            <a:extLst>
              <a:ext uri="{FF2B5EF4-FFF2-40B4-BE49-F238E27FC236}">
                <a16:creationId xmlns:a16="http://schemas.microsoft.com/office/drawing/2014/main" id="{308D2190-99EA-B487-CCC1-ECC6083EFFB3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8044107" y="3851405"/>
            <a:ext cx="4004458" cy="2262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292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492443"/>
          </a:xfrm>
        </p:spPr>
        <p:txBody>
          <a:bodyPr/>
          <a:lstStyle/>
          <a:p>
            <a:r>
              <a:rPr lang="es-CL" sz="3200" dirty="0"/>
              <a:t>P20: Dónde se originan los cambios.</a:t>
            </a:r>
            <a:endParaRPr lang="en-US" sz="3200" dirty="0"/>
          </a:p>
        </p:txBody>
      </p:sp>
      <p:sp>
        <p:nvSpPr>
          <p:cNvPr id="8" name="CuadroTexto 7"/>
          <p:cNvSpPr txBox="1"/>
          <p:nvPr/>
        </p:nvSpPr>
        <p:spPr>
          <a:xfrm>
            <a:off x="143435" y="1514903"/>
            <a:ext cx="1178112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b="1" dirty="0"/>
              <a:t>Usuarios: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Ideas de cómo mejorar el software / procesos.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b="1" dirty="0" err="1"/>
              <a:t>Testing</a:t>
            </a:r>
            <a:r>
              <a:rPr lang="es-CL" sz="2800" b="1" dirty="0"/>
              <a:t>: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Identifican errores o funcionalidades incompletas / faltantes.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b="1" dirty="0"/>
              <a:t>Gerentes: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Cambios en los objetivos de negocios.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b="1" dirty="0"/>
              <a:t>Desarrolladores: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Cambios en funcionalidad, integración de alguna tecnología.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endParaRPr lang="es-CL" sz="2800" dirty="0"/>
          </a:p>
        </p:txBody>
      </p:sp>
    </p:spTree>
    <p:extLst>
      <p:ext uri="{BB962C8B-B14F-4D97-AF65-F5344CB8AC3E}">
        <p14:creationId xmlns:p14="http://schemas.microsoft.com/office/powerpoint/2010/main" val="31733171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B461D-4892-1C8D-31D4-B1F36765B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58AE9B-160D-8714-BE2F-953308536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492443"/>
          </a:xfrm>
        </p:spPr>
        <p:txBody>
          <a:bodyPr/>
          <a:lstStyle/>
          <a:p>
            <a:r>
              <a:rPr lang="es-CL" sz="3200" dirty="0"/>
              <a:t>P20: Anticipar cambios en los requisitos.</a:t>
            </a:r>
            <a:endParaRPr lang="en-US" sz="320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BFAF069-2229-CAB7-9FCC-B7FED3367ABF}"/>
              </a:ext>
            </a:extLst>
          </p:cNvPr>
          <p:cNvSpPr txBox="1"/>
          <p:nvPr/>
        </p:nvSpPr>
        <p:spPr>
          <a:xfrm>
            <a:off x="143435" y="1514903"/>
            <a:ext cx="11781123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Algunos proyectos enfrentan mayor incertidumbre.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Algunas organizaciones están sometidas a procesos de cambio.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Algunas funcionalidades requerirán cambios frecuentes.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CL" sz="2800" dirty="0"/>
          </a:p>
          <a:p>
            <a:r>
              <a:rPr lang="es-CL" sz="2800" dirty="0"/>
              <a:t>¿Cómo enfrentamos lo anterior?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Sistemas configurables.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Tablas de parámetros.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Holguras en la planificación. Tiempo adicional.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Entre actividades.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Al final de una iteración.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Al final del proyecto.</a:t>
            </a:r>
          </a:p>
        </p:txBody>
      </p:sp>
    </p:spTree>
    <p:extLst>
      <p:ext uri="{BB962C8B-B14F-4D97-AF65-F5344CB8AC3E}">
        <p14:creationId xmlns:p14="http://schemas.microsoft.com/office/powerpoint/2010/main" val="7996402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07CAEE-FDAF-55EA-F285-63F6F6A68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8DFB9A-084D-3BFB-C0FC-2D8B30899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492443"/>
          </a:xfrm>
        </p:spPr>
        <p:txBody>
          <a:bodyPr/>
          <a:lstStyle/>
          <a:p>
            <a:r>
              <a:rPr lang="es-CL" sz="3200" dirty="0"/>
              <a:t>P20: Anticipar cambios en los requisitos. Parámetros.</a:t>
            </a:r>
            <a:endParaRPr lang="en-US" sz="32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CBB7398-6B19-9423-37EF-16DF1935A0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134" y="1551150"/>
            <a:ext cx="11019732" cy="4491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7676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203247-B5ED-6874-E41D-789F77F60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30A85F-69BD-F2AE-F091-6B83FD00D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492443"/>
          </a:xfrm>
        </p:spPr>
        <p:txBody>
          <a:bodyPr/>
          <a:lstStyle/>
          <a:p>
            <a:r>
              <a:rPr lang="es-CL" sz="3200" dirty="0"/>
              <a:t>P20: Definir un proceso de gestión de cambios.</a:t>
            </a:r>
            <a:endParaRPr lang="en-US" sz="32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0ED7E6F-4423-C535-03DC-A7B8FFB31E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7222" y="1065490"/>
            <a:ext cx="3702743" cy="5453832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4543164F-1774-B8B3-A6D0-004CFFF76E86}"/>
              </a:ext>
            </a:extLst>
          </p:cNvPr>
          <p:cNvSpPr txBox="1"/>
          <p:nvPr/>
        </p:nvSpPr>
        <p:spPr>
          <a:xfrm>
            <a:off x="143435" y="1514903"/>
            <a:ext cx="7673787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El proceso debe actuar como facilitador, no como barrera a los cambios.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El proceso debe definir quién hace qué.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CCB: Change control </a:t>
            </a:r>
            <a:r>
              <a:rPr lang="es-CL" sz="2800" dirty="0" err="1"/>
              <a:t>board</a:t>
            </a:r>
            <a:r>
              <a:rPr lang="es-CL" sz="2800" dirty="0"/>
              <a:t> (comité decisor).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PO: </a:t>
            </a:r>
            <a:r>
              <a:rPr lang="es-CL" sz="2800" dirty="0" err="1"/>
              <a:t>Product</a:t>
            </a:r>
            <a:r>
              <a:rPr lang="es-CL" sz="2800" dirty="0"/>
              <a:t> </a:t>
            </a:r>
            <a:r>
              <a:rPr lang="es-CL" sz="2800" dirty="0" err="1"/>
              <a:t>Owner</a:t>
            </a:r>
            <a:r>
              <a:rPr lang="es-CL" sz="2800" dirty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El proceso debe definir: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Cómo enviar una solicitud de cambio.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Qué información se requiere.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Qué criterios se usarán para decidir.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Quién aprobará o rechazará los cambios.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A quiénes se debe comunicar el cambio.</a:t>
            </a:r>
          </a:p>
          <a:p>
            <a:endParaRPr lang="es-CL" sz="2800" dirty="0"/>
          </a:p>
        </p:txBody>
      </p:sp>
    </p:spTree>
    <p:extLst>
      <p:ext uri="{BB962C8B-B14F-4D97-AF65-F5344CB8AC3E}">
        <p14:creationId xmlns:p14="http://schemas.microsoft.com/office/powerpoint/2010/main" val="3324536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8C99AD-B3FC-39E8-E848-8A77A255E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E071DA-87C8-2E12-5D10-962DF8757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492443"/>
          </a:xfrm>
        </p:spPr>
        <p:txBody>
          <a:bodyPr/>
          <a:lstStyle/>
          <a:p>
            <a:r>
              <a:rPr lang="es-CL" sz="3200" dirty="0"/>
              <a:t>P20: Rol del CCB (Change Control </a:t>
            </a:r>
            <a:r>
              <a:rPr lang="es-CL" sz="3200" dirty="0" err="1"/>
              <a:t>Board</a:t>
            </a:r>
            <a:r>
              <a:rPr lang="es-CL" sz="3200" dirty="0"/>
              <a:t>).</a:t>
            </a:r>
            <a:endParaRPr lang="en-US" sz="320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2818EF0F-828A-BA41-C06F-E672DF31E155}"/>
              </a:ext>
            </a:extLst>
          </p:cNvPr>
          <p:cNvSpPr txBox="1"/>
          <p:nvPr/>
        </p:nvSpPr>
        <p:spPr>
          <a:xfrm>
            <a:off x="143435" y="1514903"/>
            <a:ext cx="7817224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Etapa 5: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¿Con qué información se cuenta para tomar la decisión?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CL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Etapa 8: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¿Con qué información se cuenta para tomar la decisión?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CL" sz="28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B44D7D6-FF62-71E9-7214-083739F764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0612" y="1119278"/>
            <a:ext cx="3567953" cy="5255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0737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4650C7-4EF2-1F74-BC29-43F05B5B4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FEE83C-0BAA-0615-F39D-8DF8E5F3A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492443"/>
          </a:xfrm>
        </p:spPr>
        <p:txBody>
          <a:bodyPr/>
          <a:lstStyle/>
          <a:p>
            <a:r>
              <a:rPr lang="es-CL" sz="3200" dirty="0"/>
              <a:t>P20: Análisis de impacto de los cambios</a:t>
            </a:r>
            <a:endParaRPr lang="en-US" sz="320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2E4C50CF-FC26-768B-1FC7-CD06199F2F6A}"/>
              </a:ext>
            </a:extLst>
          </p:cNvPr>
          <p:cNvSpPr txBox="1"/>
          <p:nvPr/>
        </p:nvSpPr>
        <p:spPr>
          <a:xfrm>
            <a:off x="143434" y="1514903"/>
            <a:ext cx="1136724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Para evaluar un cambio se requiere disponer de: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Costo, esfuerzo,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Prioridad, urgencia,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Impacto en el resto del proyecto.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s-CL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Aceptar cambios sin un análisis acabado, supone riesgos.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CL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Evitar modificar los requisitos o el </a:t>
            </a:r>
            <a:r>
              <a:rPr lang="es-CL" sz="2800" dirty="0" err="1"/>
              <a:t>baseline</a:t>
            </a:r>
            <a:r>
              <a:rPr lang="es-CL" sz="2800" dirty="0"/>
              <a:t> antes de que los cambios sean aprobados (manejo de versiones). </a:t>
            </a:r>
          </a:p>
        </p:txBody>
      </p:sp>
    </p:spTree>
    <p:extLst>
      <p:ext uri="{BB962C8B-B14F-4D97-AF65-F5344CB8AC3E}">
        <p14:creationId xmlns:p14="http://schemas.microsoft.com/office/powerpoint/2010/main" val="2271836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665F9-0F26-656A-0CB4-56EB079CA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D3577B-B9E8-29C3-B9D3-0B0FA5254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492443"/>
          </a:xfrm>
        </p:spPr>
        <p:txBody>
          <a:bodyPr/>
          <a:lstStyle/>
          <a:p>
            <a:r>
              <a:rPr lang="es-CL" sz="3200" dirty="0"/>
              <a:t>P20: Para finalizar.</a:t>
            </a:r>
            <a:endParaRPr lang="en-US" sz="320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225C3EE8-4F0F-7077-8997-ACF9C621C49D}"/>
              </a:ext>
            </a:extLst>
          </p:cNvPr>
          <p:cNvSpPr txBox="1"/>
          <p:nvPr/>
        </p:nvSpPr>
        <p:spPr>
          <a:xfrm>
            <a:off x="143434" y="1514903"/>
            <a:ext cx="1136724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Una buena gestión de requisitos debiera reducir la necesidad de cambios.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CL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Después de aprobar o rechazar un cambio, es necesario: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Registrar la decisión y las razones (para gestión futura).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Informar del cambio a </a:t>
            </a:r>
            <a:r>
              <a:rPr lang="es-CL" sz="2800"/>
              <a:t>los interesados.</a:t>
            </a:r>
            <a:endParaRPr lang="es-CL" sz="2800" dirty="0"/>
          </a:p>
        </p:txBody>
      </p:sp>
    </p:spTree>
    <p:extLst>
      <p:ext uri="{BB962C8B-B14F-4D97-AF65-F5344CB8AC3E}">
        <p14:creationId xmlns:p14="http://schemas.microsoft.com/office/powerpoint/2010/main" val="25447786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35508</TotalTime>
  <Words>778</Words>
  <Application>Microsoft Office PowerPoint</Application>
  <PresentationFormat>Panorámica</PresentationFormat>
  <Paragraphs>119</Paragraphs>
  <Slides>16</Slides>
  <Notes>15</Notes>
  <HiddenSlides>0</HiddenSlides>
  <MMClips>1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Unidad 0 - Introducción</vt:lpstr>
      <vt:lpstr>Prácticas asociadas a la gestión de requisitos</vt:lpstr>
      <vt:lpstr>Tipos de requisitos</vt:lpstr>
      <vt:lpstr>P19: Definir y gestionar listas de requisitos.</vt:lpstr>
      <vt:lpstr>P19: Programación de baselines en el tiempo.</vt:lpstr>
      <vt:lpstr>Prácticas asociadas a la gestión de requisitos</vt:lpstr>
      <vt:lpstr>P20: Gestionar cambios en los requisitos.</vt:lpstr>
      <vt:lpstr>P20: Gestionar cambios en los requisitos.</vt:lpstr>
      <vt:lpstr>P20: Gestionar cambios en los requisitos.</vt:lpstr>
      <vt:lpstr>P20: Dónde se originan los cambios.</vt:lpstr>
      <vt:lpstr>P20: Anticipar cambios en los requisitos.</vt:lpstr>
      <vt:lpstr>P20: Anticipar cambios en los requisitos. Parámetros.</vt:lpstr>
      <vt:lpstr>P20: Definir un proceso de gestión de cambios.</vt:lpstr>
      <vt:lpstr>P20: Rol del CCB (Change Control Board).</vt:lpstr>
      <vt:lpstr>P20: Análisis de impacto de los cambios</vt:lpstr>
      <vt:lpstr>P20: Para finalizar.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Unidad 0 - Introducción</dc:title>
  <dc:creator>Valeria Henriquez Norambuena</dc:creator>
  <cp:lastModifiedBy>Juan Pablo Salazar Fernández</cp:lastModifiedBy>
  <cp:revision>233</cp:revision>
  <cp:lastPrinted>2020-10-05T12:16:48Z</cp:lastPrinted>
  <dcterms:created xsi:type="dcterms:W3CDTF">2018-03-05T20:26:11Z</dcterms:created>
  <dcterms:modified xsi:type="dcterms:W3CDTF">2025-11-19T02:17:58Z</dcterms:modified>
</cp:coreProperties>
</file>
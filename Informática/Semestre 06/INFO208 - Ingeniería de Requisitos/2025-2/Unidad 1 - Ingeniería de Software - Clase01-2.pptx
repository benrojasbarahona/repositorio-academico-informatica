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434" r:id="rId3"/>
    <p:sldId id="442" r:id="rId4"/>
    <p:sldId id="444" r:id="rId5"/>
    <p:sldId id="446" r:id="rId6"/>
    <p:sldId id="447" r:id="rId7"/>
    <p:sldId id="448" r:id="rId8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818" autoAdjust="0"/>
  </p:normalViewPr>
  <p:slideViewPr>
    <p:cSldViewPr snapToGrid="0">
      <p:cViewPr varScale="1">
        <p:scale>
          <a:sx n="84" d="100"/>
          <a:sy n="84" d="100"/>
        </p:scale>
        <p:origin x="10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Comentar el caso de ampolletas,</a:t>
            </a:r>
            <a:r>
              <a:rPr lang="es-CL" baseline="0" dirty="0"/>
              <a:t> discos duros, pendrives, etc.</a:t>
            </a:r>
          </a:p>
          <a:p>
            <a:r>
              <a:rPr lang="es-CL" baseline="0" dirty="0"/>
              <a:t>Explicar el problema de la entropía en el software. Preguntar, ¿cómo evitamos que esos </a:t>
            </a:r>
            <a:r>
              <a:rPr lang="es-CL" baseline="0" dirty="0" err="1"/>
              <a:t>peaks</a:t>
            </a:r>
            <a:r>
              <a:rPr lang="es-CL" baseline="0" dirty="0"/>
              <a:t> de fallas sean absorbidos por el usuario?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826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474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276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7107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Entender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y </a:t>
            </a:r>
            <a:r>
              <a:rPr lang="en-US" dirty="0" err="1"/>
              <a:t>planear</a:t>
            </a:r>
            <a:r>
              <a:rPr lang="en-US" dirty="0"/>
              <a:t> la </a:t>
            </a:r>
            <a:r>
              <a:rPr lang="en-US" dirty="0" err="1"/>
              <a:t>solución</a:t>
            </a:r>
            <a:r>
              <a:rPr lang="en-US" dirty="0"/>
              <a:t> son </a:t>
            </a:r>
            <a:r>
              <a:rPr lang="en-US" dirty="0" err="1"/>
              <a:t>actividades</a:t>
            </a:r>
            <a:r>
              <a:rPr lang="en-US" dirty="0"/>
              <a:t> clave </a:t>
            </a:r>
            <a:r>
              <a:rPr lang="en-US" dirty="0" err="1"/>
              <a:t>en</a:t>
            </a:r>
            <a:r>
              <a:rPr lang="en-US" dirty="0"/>
              <a:t> la Ing. de </a:t>
            </a:r>
            <a:r>
              <a:rPr lang="en-US" dirty="0" err="1"/>
              <a:t>Requisitos</a:t>
            </a:r>
            <a:r>
              <a:rPr lang="en-US" dirty="0"/>
              <a:t>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2497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07-08-2025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Cómo es vista nuestra profesión … (1)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93" y="1068996"/>
            <a:ext cx="7160811" cy="532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6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distingue al hardware del software?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32" y="1879192"/>
            <a:ext cx="5137452" cy="370589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67" y="1879191"/>
            <a:ext cx="5309070" cy="370589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97937" y="1479081"/>
            <a:ext cx="3604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Curva de fallas para el hardware</a:t>
            </a:r>
            <a:endParaRPr lang="en-US" sz="2000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7257581" y="1479081"/>
            <a:ext cx="3524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Curva de fallas para el software</a:t>
            </a:r>
            <a:endParaRPr lang="en-US" sz="2000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2981043" y="5754361"/>
            <a:ext cx="622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El software no se desgasta, pero sí se deteriora.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5824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la Ingeniería de Software?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310264" y="2230411"/>
            <a:ext cx="11571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i="1" dirty="0"/>
              <a:t>“Aplicación de una </a:t>
            </a:r>
            <a:r>
              <a:rPr lang="es-CL" sz="3200" b="1" i="1" dirty="0"/>
              <a:t>metodología</a:t>
            </a:r>
            <a:r>
              <a:rPr lang="es-CL" sz="3200" i="1" dirty="0"/>
              <a:t> </a:t>
            </a:r>
          </a:p>
          <a:p>
            <a:pPr algn="ctr"/>
            <a:r>
              <a:rPr lang="es-CL" sz="3200" i="1" dirty="0"/>
              <a:t>sistemática, disciplinada y cuantificable para el </a:t>
            </a:r>
          </a:p>
          <a:p>
            <a:pPr algn="ctr"/>
            <a:r>
              <a:rPr lang="es-CL" sz="3200" b="1" i="1" dirty="0"/>
              <a:t>desarrollo</a:t>
            </a:r>
            <a:r>
              <a:rPr lang="es-CL" sz="3200" i="1" dirty="0"/>
              <a:t>, la </a:t>
            </a:r>
            <a:r>
              <a:rPr lang="es-CL" sz="3200" b="1" i="1" dirty="0"/>
              <a:t>operación</a:t>
            </a:r>
            <a:r>
              <a:rPr lang="es-CL" sz="3200" i="1" dirty="0"/>
              <a:t> y el </a:t>
            </a:r>
            <a:r>
              <a:rPr lang="es-CL" sz="3200" b="1" i="1" dirty="0"/>
              <a:t>mantenimiento</a:t>
            </a:r>
            <a:r>
              <a:rPr lang="es-CL" sz="3200" i="1" dirty="0"/>
              <a:t> de software”</a:t>
            </a:r>
          </a:p>
          <a:p>
            <a:endParaRPr lang="es-CL" sz="2400" dirty="0"/>
          </a:p>
          <a:p>
            <a:pPr algn="r"/>
            <a:r>
              <a:rPr lang="es-CL" sz="2400" dirty="0"/>
              <a:t>IEEE, 2017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594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Actividades centrales en Ingeniería de Software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436534" y="1525561"/>
            <a:ext cx="114887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CL" sz="2800" b="1" dirty="0"/>
              <a:t>Comunicación: </a:t>
            </a:r>
            <a:r>
              <a:rPr lang="es-CL" sz="2800" dirty="0"/>
              <a:t>Entender objetivos y requisitos, para definir funciones y características del software.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Planeación: </a:t>
            </a:r>
            <a:r>
              <a:rPr lang="es-CL" sz="2800" dirty="0"/>
              <a:t>Definir las tareas, identificar los riesgos, los recursos, los productos y el calendario de trabajo.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Modelado: </a:t>
            </a:r>
            <a:r>
              <a:rPr lang="es-CL" sz="2800" dirty="0"/>
              <a:t>Crear “bosquejos” y descripciones detalladas, para entender los requerimientos y definir el diseño que los satisfaga. </a:t>
            </a:r>
          </a:p>
          <a:p>
            <a:pPr marL="457200" indent="-457200">
              <a:buAutoNum type="arabicPeriod"/>
            </a:pPr>
            <a:r>
              <a:rPr lang="es-CL" sz="2800" b="1" dirty="0"/>
              <a:t>Construcción: </a:t>
            </a:r>
            <a:r>
              <a:rPr lang="es-CL" sz="2800" dirty="0"/>
              <a:t>Generación del código y de las pruebas que permitan identificar errores.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Implementación: </a:t>
            </a:r>
            <a:r>
              <a:rPr lang="es-CL" sz="2800" dirty="0"/>
              <a:t>Entrega al cliente, instalación en entorno de producción.</a:t>
            </a:r>
            <a:endParaRPr lang="es-CL" sz="2400" dirty="0"/>
          </a:p>
          <a:p>
            <a:endParaRPr lang="es-CL" sz="2400" dirty="0"/>
          </a:p>
          <a:p>
            <a:r>
              <a:rPr lang="es-CL" sz="2400" dirty="0"/>
              <a:t>R. </a:t>
            </a:r>
            <a:r>
              <a:rPr lang="es-CL" sz="2400" dirty="0" err="1"/>
              <a:t>Pressman</a:t>
            </a:r>
            <a:r>
              <a:rPr lang="es-CL" sz="2400" dirty="0"/>
              <a:t> &amp; B. </a:t>
            </a:r>
            <a:r>
              <a:rPr lang="es-CL" sz="2400" dirty="0" err="1"/>
              <a:t>Maxim</a:t>
            </a:r>
            <a:r>
              <a:rPr lang="es-CL" sz="2400" dirty="0"/>
              <a:t>, 2021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679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Actividades de apoyo en Ingeniería de Software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351616" y="1449361"/>
            <a:ext cx="1148876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CL" sz="2800" b="1" dirty="0"/>
              <a:t>Seguimiento y control del proyecto.</a:t>
            </a:r>
            <a:endParaRPr lang="es-CL" sz="2800" dirty="0"/>
          </a:p>
          <a:p>
            <a:pPr marL="457200" indent="-457200">
              <a:buAutoNum type="arabicPeriod"/>
            </a:pPr>
            <a:r>
              <a:rPr lang="es-CL" sz="2800" b="1" dirty="0"/>
              <a:t>Gestión de riesgos.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Aseguramiento de la calidad.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Levantamiento de métricas.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Gestión de versiones. </a:t>
            </a:r>
          </a:p>
          <a:p>
            <a:pPr marL="457200" indent="-457200">
              <a:buAutoNum type="arabicPeriod"/>
            </a:pPr>
            <a:r>
              <a:rPr lang="es-CL" sz="2800" b="1" dirty="0"/>
              <a:t>Gestión de la reutilización.</a:t>
            </a:r>
          </a:p>
          <a:p>
            <a:pPr marL="457200" indent="-457200">
              <a:buAutoNum type="arabicPeriod"/>
            </a:pPr>
            <a:r>
              <a:rPr lang="es-CL" sz="2800" dirty="0"/>
              <a:t>… entre otras.</a:t>
            </a:r>
          </a:p>
          <a:p>
            <a:endParaRPr lang="es-CL" sz="2400" dirty="0"/>
          </a:p>
          <a:p>
            <a:r>
              <a:rPr lang="es-CL" sz="2400" dirty="0"/>
              <a:t>R. </a:t>
            </a:r>
            <a:r>
              <a:rPr lang="es-CL" sz="2400" dirty="0" err="1"/>
              <a:t>Pressman</a:t>
            </a:r>
            <a:r>
              <a:rPr lang="es-CL" sz="2400" dirty="0"/>
              <a:t> &amp; B. </a:t>
            </a:r>
            <a:r>
              <a:rPr lang="es-CL" sz="2400" dirty="0" err="1"/>
              <a:t>Maxim</a:t>
            </a:r>
            <a:r>
              <a:rPr lang="es-CL" sz="2400" dirty="0"/>
              <a:t>, 2021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293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¿Cuál es la esencia en Ing. de Software?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351616" y="1449361"/>
            <a:ext cx="1148876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CL" sz="2800" b="1" dirty="0"/>
              <a:t>Entender el problema (</a:t>
            </a:r>
            <a:r>
              <a:rPr lang="es-CL" sz="2800" dirty="0"/>
              <a:t>comunicación y análisis</a:t>
            </a:r>
            <a:r>
              <a:rPr lang="es-CL" sz="2800" b="1" dirty="0"/>
              <a:t>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¿Quiénes son los interesados?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¿Cuáles son los elementos desconocidos?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¿Puede dividirse el problema en sub problemas?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¿Puede el problema representarse en forma gráfica?</a:t>
            </a:r>
          </a:p>
          <a:p>
            <a:pPr marL="457200" indent="-457200">
              <a:buAutoNum type="arabicPeriod"/>
            </a:pPr>
            <a:r>
              <a:rPr lang="es-CL" sz="2800" b="1" dirty="0"/>
              <a:t>Planear una solución (</a:t>
            </a:r>
            <a:r>
              <a:rPr lang="es-CL" sz="2800" dirty="0"/>
              <a:t>modelado y diseño de software</a:t>
            </a:r>
            <a:r>
              <a:rPr lang="es-CL" sz="2800" b="1" dirty="0"/>
              <a:t>).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Llevar a cabo el plan (</a:t>
            </a:r>
            <a:r>
              <a:rPr lang="es-CL" sz="2800" dirty="0"/>
              <a:t>construir</a:t>
            </a:r>
            <a:r>
              <a:rPr lang="es-CL" sz="2800" b="1" dirty="0"/>
              <a:t>).</a:t>
            </a:r>
          </a:p>
          <a:p>
            <a:pPr marL="457200" indent="-457200">
              <a:buAutoNum type="arabicPeriod"/>
            </a:pPr>
            <a:r>
              <a:rPr lang="es-CL" sz="2800" b="1" dirty="0"/>
              <a:t>Examinar el resultado (</a:t>
            </a:r>
            <a:r>
              <a:rPr lang="es-CL" sz="2800" dirty="0"/>
              <a:t>pruebas y aseguramiento de calidad</a:t>
            </a:r>
            <a:r>
              <a:rPr lang="es-CL" sz="2800" b="1" dirty="0"/>
              <a:t>).</a:t>
            </a:r>
            <a:endParaRPr lang="es-CL" sz="2800" dirty="0"/>
          </a:p>
          <a:p>
            <a:endParaRPr lang="es-CL" sz="2400" dirty="0"/>
          </a:p>
          <a:p>
            <a:r>
              <a:rPr lang="es-CL" sz="2400" dirty="0" err="1"/>
              <a:t>G.Polya</a:t>
            </a:r>
            <a:r>
              <a:rPr lang="es-CL" sz="2400" dirty="0"/>
              <a:t>, 1945; R. </a:t>
            </a:r>
            <a:r>
              <a:rPr lang="es-CL" sz="2400" dirty="0" err="1"/>
              <a:t>Pressman</a:t>
            </a:r>
            <a:r>
              <a:rPr lang="es-CL" sz="2400" dirty="0"/>
              <a:t> &amp; B. </a:t>
            </a:r>
            <a:r>
              <a:rPr lang="es-CL" sz="2400" dirty="0" err="1"/>
              <a:t>Maxim</a:t>
            </a:r>
            <a:r>
              <a:rPr lang="es-CL" sz="2400" dirty="0"/>
              <a:t>, 2021</a:t>
            </a:r>
            <a:endParaRPr lang="en-US" sz="2400" dirty="0"/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4229BF4E-BCEE-4D17-82E9-9D6CF6AE0140}"/>
              </a:ext>
            </a:extLst>
          </p:cNvPr>
          <p:cNvSpPr/>
          <p:nvPr/>
        </p:nvSpPr>
        <p:spPr>
          <a:xfrm>
            <a:off x="106680" y="1449361"/>
            <a:ext cx="9151620" cy="2627339"/>
          </a:xfrm>
          <a:prstGeom prst="roundRect">
            <a:avLst/>
          </a:prstGeom>
          <a:solidFill>
            <a:schemeClr val="accent1">
              <a:alpha val="7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28668</TotalTime>
  <Words>397</Words>
  <Application>Microsoft Office PowerPoint</Application>
  <PresentationFormat>Panorámica</PresentationFormat>
  <Paragraphs>52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Unidad 0 - Introducción</vt:lpstr>
      <vt:lpstr>Cómo es vista nuestra profesión … (1)</vt:lpstr>
      <vt:lpstr>¿Qué distingue al hardware del software?</vt:lpstr>
      <vt:lpstr>¿Qué es la Ingeniería de Software?</vt:lpstr>
      <vt:lpstr>Actividades centrales en Ingeniería de Software</vt:lpstr>
      <vt:lpstr>Actividades de apoyo en Ingeniería de Software</vt:lpstr>
      <vt:lpstr>¿Cuál es la esencia en Ing. de Software?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172</cp:revision>
  <cp:lastPrinted>2020-10-05T12:16:48Z</cp:lastPrinted>
  <dcterms:created xsi:type="dcterms:W3CDTF">2018-03-05T20:26:11Z</dcterms:created>
  <dcterms:modified xsi:type="dcterms:W3CDTF">2025-08-07T14:56:47Z</dcterms:modified>
</cp:coreProperties>
</file>
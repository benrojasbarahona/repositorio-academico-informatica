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40" r:id="rId1"/>
  </p:sldMasterIdLst>
  <p:notesMasterIdLst>
    <p:notesMasterId r:id="rId58"/>
  </p:notesMasterIdLst>
  <p:handoutMasterIdLst>
    <p:handoutMasterId r:id="rId59"/>
  </p:handoutMasterIdLst>
  <p:sldIdLst>
    <p:sldId id="256" r:id="rId2"/>
    <p:sldId id="257" r:id="rId3"/>
    <p:sldId id="259" r:id="rId4"/>
    <p:sldId id="260" r:id="rId5"/>
    <p:sldId id="262" r:id="rId6"/>
    <p:sldId id="263" r:id="rId7"/>
    <p:sldId id="264" r:id="rId8"/>
    <p:sldId id="321" r:id="rId9"/>
    <p:sldId id="265" r:id="rId10"/>
    <p:sldId id="267" r:id="rId11"/>
    <p:sldId id="268" r:id="rId12"/>
    <p:sldId id="269" r:id="rId13"/>
    <p:sldId id="270" r:id="rId14"/>
    <p:sldId id="271" r:id="rId15"/>
    <p:sldId id="272" r:id="rId16"/>
    <p:sldId id="273" r:id="rId17"/>
    <p:sldId id="266" r:id="rId18"/>
    <p:sldId id="274" r:id="rId19"/>
    <p:sldId id="276" r:id="rId20"/>
    <p:sldId id="277" r:id="rId21"/>
    <p:sldId id="279" r:id="rId22"/>
    <p:sldId id="283" r:id="rId23"/>
    <p:sldId id="280" r:id="rId24"/>
    <p:sldId id="281" r:id="rId25"/>
    <p:sldId id="282" r:id="rId26"/>
    <p:sldId id="284" r:id="rId27"/>
    <p:sldId id="285" r:id="rId28"/>
    <p:sldId id="335" r:id="rId29"/>
    <p:sldId id="286" r:id="rId30"/>
    <p:sldId id="287" r:id="rId31"/>
    <p:sldId id="288" r:id="rId32"/>
    <p:sldId id="289" r:id="rId33"/>
    <p:sldId id="290" r:id="rId34"/>
    <p:sldId id="308" r:id="rId35"/>
    <p:sldId id="309" r:id="rId36"/>
    <p:sldId id="313" r:id="rId37"/>
    <p:sldId id="311" r:id="rId38"/>
    <p:sldId id="292" r:id="rId39"/>
    <p:sldId id="334" r:id="rId40"/>
    <p:sldId id="293" r:id="rId41"/>
    <p:sldId id="314" r:id="rId42"/>
    <p:sldId id="330" r:id="rId43"/>
    <p:sldId id="331" r:id="rId44"/>
    <p:sldId id="332" r:id="rId45"/>
    <p:sldId id="333" r:id="rId46"/>
    <p:sldId id="336" r:id="rId47"/>
    <p:sldId id="322" r:id="rId48"/>
    <p:sldId id="298" r:id="rId49"/>
    <p:sldId id="299" r:id="rId50"/>
    <p:sldId id="305" r:id="rId51"/>
    <p:sldId id="339" r:id="rId52"/>
    <p:sldId id="301" r:id="rId53"/>
    <p:sldId id="306" r:id="rId54"/>
    <p:sldId id="329" r:id="rId55"/>
    <p:sldId id="337" r:id="rId56"/>
    <p:sldId id="307" r:id="rId57"/>
  </p:sldIdLst>
  <p:sldSz cx="12192000" cy="6858000"/>
  <p:notesSz cx="6886575" cy="100187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6F6"/>
    <a:srgbClr val="00B0EE"/>
    <a:srgbClr val="00A7E2"/>
    <a:srgbClr val="2B8156"/>
    <a:srgbClr val="339966"/>
    <a:srgbClr val="FF00FF"/>
    <a:srgbClr val="A719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809" autoAdjust="0"/>
    <p:restoredTop sz="76994" autoAdjust="0"/>
  </p:normalViewPr>
  <p:slideViewPr>
    <p:cSldViewPr snapToGrid="0">
      <p:cViewPr varScale="1">
        <p:scale>
          <a:sx n="55" d="100"/>
          <a:sy n="55" d="100"/>
        </p:scale>
        <p:origin x="1020" y="78"/>
      </p:cViewPr>
      <p:guideLst/>
    </p:cSldViewPr>
  </p:slideViewPr>
  <p:notesTextViewPr>
    <p:cViewPr>
      <p:scale>
        <a:sx n="3" d="2"/>
        <a:sy n="3" d="2"/>
      </p:scale>
      <p:origin x="0" y="0"/>
    </p:cViewPr>
  </p:notesTextViewPr>
  <p:sorterViewPr>
    <p:cViewPr>
      <p:scale>
        <a:sx n="100" d="100"/>
        <a:sy n="100" d="100"/>
      </p:scale>
      <p:origin x="0" y="-1832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84500" cy="501650"/>
          </a:xfrm>
          <a:prstGeom prst="rect">
            <a:avLst/>
          </a:prstGeom>
        </p:spPr>
        <p:txBody>
          <a:bodyPr vert="horz" lIns="91440" tIns="45720" rIns="91440" bIns="45720" rtlCol="0"/>
          <a:lstStyle>
            <a:lvl1pPr algn="l">
              <a:defRPr sz="1200"/>
            </a:lvl1pPr>
          </a:lstStyle>
          <a:p>
            <a:endParaRPr lang="es-CL"/>
          </a:p>
        </p:txBody>
      </p:sp>
      <p:sp>
        <p:nvSpPr>
          <p:cNvPr id="3" name="Marcador de fecha 2"/>
          <p:cNvSpPr>
            <a:spLocks noGrp="1"/>
          </p:cNvSpPr>
          <p:nvPr>
            <p:ph type="dt" sz="quarter" idx="1"/>
          </p:nvPr>
        </p:nvSpPr>
        <p:spPr>
          <a:xfrm>
            <a:off x="3900488" y="0"/>
            <a:ext cx="2984500" cy="501650"/>
          </a:xfrm>
          <a:prstGeom prst="rect">
            <a:avLst/>
          </a:prstGeom>
        </p:spPr>
        <p:txBody>
          <a:bodyPr vert="horz" lIns="91440" tIns="45720" rIns="91440" bIns="45720" rtlCol="0"/>
          <a:lstStyle>
            <a:lvl1pPr algn="r">
              <a:defRPr sz="1200"/>
            </a:lvl1pPr>
          </a:lstStyle>
          <a:p>
            <a:fld id="{E8D28C52-E002-46C4-8FB5-D1DF1D3EB53F}" type="datetimeFigureOut">
              <a:rPr lang="es-CL" smtClean="0"/>
              <a:t>18-08-2025</a:t>
            </a:fld>
            <a:endParaRPr lang="es-CL"/>
          </a:p>
        </p:txBody>
      </p:sp>
      <p:sp>
        <p:nvSpPr>
          <p:cNvPr id="4" name="Marcador de pie de página 3"/>
          <p:cNvSpPr>
            <a:spLocks noGrp="1"/>
          </p:cNvSpPr>
          <p:nvPr>
            <p:ph type="ftr" sz="quarter" idx="2"/>
          </p:nvPr>
        </p:nvSpPr>
        <p:spPr>
          <a:xfrm>
            <a:off x="0" y="9517063"/>
            <a:ext cx="2984500" cy="501650"/>
          </a:xfrm>
          <a:prstGeom prst="rect">
            <a:avLst/>
          </a:prstGeom>
        </p:spPr>
        <p:txBody>
          <a:bodyPr vert="horz" lIns="91440" tIns="45720" rIns="91440" bIns="45720" rtlCol="0" anchor="b"/>
          <a:lstStyle>
            <a:lvl1pPr algn="l">
              <a:defRPr sz="1200"/>
            </a:lvl1pPr>
          </a:lstStyle>
          <a:p>
            <a:endParaRPr lang="es-CL"/>
          </a:p>
        </p:txBody>
      </p:sp>
      <p:sp>
        <p:nvSpPr>
          <p:cNvPr id="5" name="Marcador de número de diapositiva 4"/>
          <p:cNvSpPr>
            <a:spLocks noGrp="1"/>
          </p:cNvSpPr>
          <p:nvPr>
            <p:ph type="sldNum" sz="quarter" idx="3"/>
          </p:nvPr>
        </p:nvSpPr>
        <p:spPr>
          <a:xfrm>
            <a:off x="3900488" y="9517063"/>
            <a:ext cx="2984500" cy="501650"/>
          </a:xfrm>
          <a:prstGeom prst="rect">
            <a:avLst/>
          </a:prstGeom>
        </p:spPr>
        <p:txBody>
          <a:bodyPr vert="horz" lIns="91440" tIns="45720" rIns="91440" bIns="45720" rtlCol="0" anchor="b"/>
          <a:lstStyle>
            <a:lvl1pPr algn="r">
              <a:defRPr sz="1200"/>
            </a:lvl1pPr>
          </a:lstStyle>
          <a:p>
            <a:fld id="{AAFC807C-5332-4BB2-89FF-3FBFC4583F48}" type="slidenum">
              <a:rPr lang="es-CL" smtClean="0"/>
              <a:t>‹Nº›</a:t>
            </a:fld>
            <a:endParaRPr lang="es-CL"/>
          </a:p>
        </p:txBody>
      </p:sp>
    </p:spTree>
    <p:extLst>
      <p:ext uri="{BB962C8B-B14F-4D97-AF65-F5344CB8AC3E}">
        <p14:creationId xmlns:p14="http://schemas.microsoft.com/office/powerpoint/2010/main" val="98956133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1" y="0"/>
            <a:ext cx="2984182" cy="502676"/>
          </a:xfrm>
          <a:prstGeom prst="rect">
            <a:avLst/>
          </a:prstGeom>
        </p:spPr>
        <p:txBody>
          <a:bodyPr vert="horz" lIns="92400" tIns="46200" rIns="92400" bIns="46200" rtlCol="0"/>
          <a:lstStyle>
            <a:lvl1pPr algn="l">
              <a:defRPr sz="1200"/>
            </a:lvl1pPr>
          </a:lstStyle>
          <a:p>
            <a:endParaRPr lang="es-CL"/>
          </a:p>
        </p:txBody>
      </p:sp>
      <p:sp>
        <p:nvSpPr>
          <p:cNvPr id="3" name="Marcador de fecha 2"/>
          <p:cNvSpPr>
            <a:spLocks noGrp="1"/>
          </p:cNvSpPr>
          <p:nvPr>
            <p:ph type="dt" idx="1"/>
          </p:nvPr>
        </p:nvSpPr>
        <p:spPr>
          <a:xfrm>
            <a:off x="3900800" y="0"/>
            <a:ext cx="2984182" cy="502676"/>
          </a:xfrm>
          <a:prstGeom prst="rect">
            <a:avLst/>
          </a:prstGeom>
        </p:spPr>
        <p:txBody>
          <a:bodyPr vert="horz" lIns="92400" tIns="46200" rIns="92400" bIns="46200" rtlCol="0"/>
          <a:lstStyle>
            <a:lvl1pPr algn="r">
              <a:defRPr sz="1200"/>
            </a:lvl1pPr>
          </a:lstStyle>
          <a:p>
            <a:fld id="{20BE8F5E-60A2-4198-BE14-C2DF439F2EF7}" type="datetimeFigureOut">
              <a:rPr lang="es-CL" smtClean="0"/>
              <a:t>18-08-2025</a:t>
            </a:fld>
            <a:endParaRPr lang="es-CL"/>
          </a:p>
        </p:txBody>
      </p:sp>
      <p:sp>
        <p:nvSpPr>
          <p:cNvPr id="4" name="Marcador de imagen de diapositiva 3"/>
          <p:cNvSpPr>
            <a:spLocks noGrp="1" noRot="1" noChangeAspect="1"/>
          </p:cNvSpPr>
          <p:nvPr>
            <p:ph type="sldImg" idx="2"/>
          </p:nvPr>
        </p:nvSpPr>
        <p:spPr>
          <a:xfrm>
            <a:off x="439738" y="1252538"/>
            <a:ext cx="6007100" cy="3379787"/>
          </a:xfrm>
          <a:prstGeom prst="rect">
            <a:avLst/>
          </a:prstGeom>
          <a:noFill/>
          <a:ln w="12700">
            <a:solidFill>
              <a:prstClr val="black"/>
            </a:solidFill>
          </a:ln>
        </p:spPr>
        <p:txBody>
          <a:bodyPr vert="horz" lIns="92400" tIns="46200" rIns="92400" bIns="46200" rtlCol="0" anchor="ctr"/>
          <a:lstStyle/>
          <a:p>
            <a:endParaRPr lang="es-CL"/>
          </a:p>
        </p:txBody>
      </p:sp>
      <p:sp>
        <p:nvSpPr>
          <p:cNvPr id="5" name="Marcador de notas 4"/>
          <p:cNvSpPr>
            <a:spLocks noGrp="1"/>
          </p:cNvSpPr>
          <p:nvPr>
            <p:ph type="body" sz="quarter" idx="3"/>
          </p:nvPr>
        </p:nvSpPr>
        <p:spPr>
          <a:xfrm>
            <a:off x="688658" y="4821506"/>
            <a:ext cx="5509260" cy="3944868"/>
          </a:xfrm>
          <a:prstGeom prst="rect">
            <a:avLst/>
          </a:prstGeom>
        </p:spPr>
        <p:txBody>
          <a:bodyPr vert="horz" lIns="92400" tIns="46200" rIns="92400" bIns="46200" rtlCol="0"/>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6" name="Marcador de pie de página 5"/>
          <p:cNvSpPr>
            <a:spLocks noGrp="1"/>
          </p:cNvSpPr>
          <p:nvPr>
            <p:ph type="ftr" sz="quarter" idx="4"/>
          </p:nvPr>
        </p:nvSpPr>
        <p:spPr>
          <a:xfrm>
            <a:off x="1" y="9516039"/>
            <a:ext cx="2984182" cy="502675"/>
          </a:xfrm>
          <a:prstGeom prst="rect">
            <a:avLst/>
          </a:prstGeom>
        </p:spPr>
        <p:txBody>
          <a:bodyPr vert="horz" lIns="92400" tIns="46200" rIns="92400" bIns="46200" rtlCol="0" anchor="b"/>
          <a:lstStyle>
            <a:lvl1pPr algn="l">
              <a:defRPr sz="1200"/>
            </a:lvl1pPr>
          </a:lstStyle>
          <a:p>
            <a:endParaRPr lang="es-CL"/>
          </a:p>
        </p:txBody>
      </p:sp>
      <p:sp>
        <p:nvSpPr>
          <p:cNvPr id="7" name="Marcador de número de diapositiva 6"/>
          <p:cNvSpPr>
            <a:spLocks noGrp="1"/>
          </p:cNvSpPr>
          <p:nvPr>
            <p:ph type="sldNum" sz="quarter" idx="5"/>
          </p:nvPr>
        </p:nvSpPr>
        <p:spPr>
          <a:xfrm>
            <a:off x="3900800" y="9516039"/>
            <a:ext cx="2984182" cy="502675"/>
          </a:xfrm>
          <a:prstGeom prst="rect">
            <a:avLst/>
          </a:prstGeom>
        </p:spPr>
        <p:txBody>
          <a:bodyPr vert="horz" lIns="92400" tIns="46200" rIns="92400" bIns="46200" rtlCol="0" anchor="b"/>
          <a:lstStyle>
            <a:lvl1pPr algn="r">
              <a:defRPr sz="1200"/>
            </a:lvl1pPr>
          </a:lstStyle>
          <a:p>
            <a:fld id="{DFEF677D-1F46-493C-A6F2-8D39528CF5E2}" type="slidenum">
              <a:rPr lang="es-CL" smtClean="0"/>
              <a:t>‹Nº›</a:t>
            </a:fld>
            <a:endParaRPr lang="es-CL"/>
          </a:p>
        </p:txBody>
      </p:sp>
    </p:spTree>
    <p:extLst>
      <p:ext uri="{BB962C8B-B14F-4D97-AF65-F5344CB8AC3E}">
        <p14:creationId xmlns:p14="http://schemas.microsoft.com/office/powerpoint/2010/main" val="41223687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Podemos usar Geogebra.org</a:t>
            </a:r>
          </a:p>
          <a:p>
            <a:endParaRPr lang="es-CL" dirty="0"/>
          </a:p>
        </p:txBody>
      </p:sp>
      <p:sp>
        <p:nvSpPr>
          <p:cNvPr id="4" name="Marcador de número de diapositiva 3"/>
          <p:cNvSpPr>
            <a:spLocks noGrp="1"/>
          </p:cNvSpPr>
          <p:nvPr>
            <p:ph type="sldNum" sz="quarter" idx="10"/>
          </p:nvPr>
        </p:nvSpPr>
        <p:spPr/>
        <p:txBody>
          <a:bodyPr/>
          <a:lstStyle/>
          <a:p>
            <a:fld id="{DFEF677D-1F46-493C-A6F2-8D39528CF5E2}" type="slidenum">
              <a:rPr lang="es-CL" smtClean="0"/>
              <a:t>9</a:t>
            </a:fld>
            <a:endParaRPr lang="es-CL"/>
          </a:p>
        </p:txBody>
      </p:sp>
    </p:spTree>
    <p:extLst>
      <p:ext uri="{BB962C8B-B14F-4D97-AF65-F5344CB8AC3E}">
        <p14:creationId xmlns:p14="http://schemas.microsoft.com/office/powerpoint/2010/main" val="19753854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1.- renglón(2)</a:t>
            </a:r>
            <a:r>
              <a:rPr lang="es-CL" dirty="0">
                <a:sym typeface="Wingdings" panose="05000000000000000000" pitchFamily="2" charset="2"/>
              </a:rPr>
              <a:t> </a:t>
            </a:r>
            <a:r>
              <a:rPr lang="es-CL" dirty="0"/>
              <a:t>0/2= 0 …2/2=1….0/2=0…1/2=1/2…0/2=0…12/2=6</a:t>
            </a:r>
          </a:p>
          <a:p>
            <a:r>
              <a:rPr lang="es-CL" dirty="0"/>
              <a:t>2.- renglón(0) </a:t>
            </a:r>
            <a:r>
              <a:rPr lang="es-CL" dirty="0">
                <a:sym typeface="Wingdings" panose="05000000000000000000" pitchFamily="2" charset="2"/>
              </a:rPr>
              <a:t> </a:t>
            </a:r>
            <a:r>
              <a:rPr lang="es-CL" dirty="0"/>
              <a:t>-3+(5*0)=-3….-5+(5*1)=0…0+(5*0)=0…0+(5*1/2)=5/2…0+(5*0)=0…0+(5*6)=30</a:t>
            </a:r>
          </a:p>
          <a:p>
            <a:r>
              <a:rPr lang="es-CL" dirty="0"/>
              <a:t>3.- renglón(3)</a:t>
            </a:r>
            <a:r>
              <a:rPr lang="es-CL" baseline="0" dirty="0"/>
              <a:t> </a:t>
            </a:r>
            <a:r>
              <a:rPr lang="es-CL" baseline="0" dirty="0">
                <a:sym typeface="Wingdings" panose="05000000000000000000" pitchFamily="2" charset="2"/>
              </a:rPr>
              <a:t> 3-(2*0)=3…2-(2*1)=0…0-(2*0)=0…0-(2*1/2)=-1…1-(2*0)=1…18-(2*6)=6</a:t>
            </a:r>
            <a:endParaRPr lang="es-CL" dirty="0"/>
          </a:p>
        </p:txBody>
      </p:sp>
      <p:sp>
        <p:nvSpPr>
          <p:cNvPr id="4" name="Marcador de número de diapositiva 3"/>
          <p:cNvSpPr>
            <a:spLocks noGrp="1"/>
          </p:cNvSpPr>
          <p:nvPr>
            <p:ph type="sldNum" sz="quarter" idx="10"/>
          </p:nvPr>
        </p:nvSpPr>
        <p:spPr/>
        <p:txBody>
          <a:bodyPr/>
          <a:lstStyle/>
          <a:p>
            <a:fld id="{DFEF677D-1F46-493C-A6F2-8D39528CF5E2}" type="slidenum">
              <a:rPr lang="es-CL" smtClean="0"/>
              <a:t>32</a:t>
            </a:fld>
            <a:endParaRPr lang="es-CL"/>
          </a:p>
        </p:txBody>
      </p:sp>
    </p:spTree>
    <p:extLst>
      <p:ext uri="{BB962C8B-B14F-4D97-AF65-F5344CB8AC3E}">
        <p14:creationId xmlns:p14="http://schemas.microsoft.com/office/powerpoint/2010/main" val="146972772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defTabSz="924001">
              <a:defRPr/>
            </a:pPr>
            <a:r>
              <a:rPr lang="es-CL" dirty="0"/>
              <a:t>Si la tabla final tiene un 0 en el </a:t>
            </a:r>
            <a:r>
              <a:rPr lang="es-CL" dirty="0" err="1"/>
              <a:t>renglon</a:t>
            </a:r>
            <a:r>
              <a:rPr lang="es-CL" dirty="0"/>
              <a:t> cero en la columna de una variable de decisión</a:t>
            </a:r>
            <a:r>
              <a:rPr lang="es-CL" baseline="0" dirty="0"/>
              <a:t> que no está en la columna de las variables básicas, entonces el problema tiene múltiples soluciones, para encontrar otra solución tomar ésta variable como variable entrante y continuar como lo indica el método. </a:t>
            </a:r>
            <a:endParaRPr lang="es-CL" dirty="0"/>
          </a:p>
          <a:p>
            <a:endParaRPr lang="es-CL" dirty="0"/>
          </a:p>
        </p:txBody>
      </p:sp>
      <p:sp>
        <p:nvSpPr>
          <p:cNvPr id="4" name="Marcador de número de diapositiva 3"/>
          <p:cNvSpPr>
            <a:spLocks noGrp="1"/>
          </p:cNvSpPr>
          <p:nvPr>
            <p:ph type="sldNum" sz="quarter" idx="10"/>
          </p:nvPr>
        </p:nvSpPr>
        <p:spPr/>
        <p:txBody>
          <a:bodyPr/>
          <a:lstStyle/>
          <a:p>
            <a:fld id="{DFEF677D-1F46-493C-A6F2-8D39528CF5E2}" type="slidenum">
              <a:rPr lang="es-CL" smtClean="0"/>
              <a:t>33</a:t>
            </a:fld>
            <a:endParaRPr lang="es-CL"/>
          </a:p>
        </p:txBody>
      </p:sp>
    </p:spTree>
    <p:extLst>
      <p:ext uri="{BB962C8B-B14F-4D97-AF65-F5344CB8AC3E}">
        <p14:creationId xmlns:p14="http://schemas.microsoft.com/office/powerpoint/2010/main" val="41083686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CL" dirty="0"/>
              <a:t>Si la tabla final tiene un 0 en el </a:t>
            </a:r>
            <a:r>
              <a:rPr lang="es-CL" dirty="0" err="1"/>
              <a:t>renglon</a:t>
            </a:r>
            <a:r>
              <a:rPr lang="es-CL" dirty="0"/>
              <a:t> cero en la columna de una variable de decisión</a:t>
            </a:r>
            <a:r>
              <a:rPr lang="es-CL" baseline="0" dirty="0"/>
              <a:t> que no está en la columna de las variables básicas, entonces el problema tiene múltiples soluciones, para encontrar otra solución tomar ésta variable como variable entrante y continuar como acostumbra lo indica el método. </a:t>
            </a:r>
            <a:endParaRPr lang="es-CL" dirty="0"/>
          </a:p>
        </p:txBody>
      </p:sp>
      <p:sp>
        <p:nvSpPr>
          <p:cNvPr id="4" name="Marcador de número de diapositiva 3"/>
          <p:cNvSpPr>
            <a:spLocks noGrp="1"/>
          </p:cNvSpPr>
          <p:nvPr>
            <p:ph type="sldNum" sz="quarter" idx="10"/>
          </p:nvPr>
        </p:nvSpPr>
        <p:spPr/>
        <p:txBody>
          <a:bodyPr/>
          <a:lstStyle/>
          <a:p>
            <a:fld id="{DFEF677D-1F46-493C-A6F2-8D39528CF5E2}" type="slidenum">
              <a:rPr lang="es-CL" smtClean="0"/>
              <a:t>35</a:t>
            </a:fld>
            <a:endParaRPr lang="es-CL"/>
          </a:p>
        </p:txBody>
      </p:sp>
    </p:spTree>
    <p:extLst>
      <p:ext uri="{BB962C8B-B14F-4D97-AF65-F5344CB8AC3E}">
        <p14:creationId xmlns:p14="http://schemas.microsoft.com/office/powerpoint/2010/main" val="8845698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10"/>
          </p:nvPr>
        </p:nvSpPr>
        <p:spPr/>
        <p:txBody>
          <a:bodyPr/>
          <a:lstStyle/>
          <a:p>
            <a:fld id="{DFEF677D-1F46-493C-A6F2-8D39528CF5E2}" type="slidenum">
              <a:rPr lang="es-CL" smtClean="0"/>
              <a:t>38</a:t>
            </a:fld>
            <a:endParaRPr lang="es-CL"/>
          </a:p>
        </p:txBody>
      </p:sp>
    </p:spTree>
    <p:extLst>
      <p:ext uri="{BB962C8B-B14F-4D97-AF65-F5344CB8AC3E}">
        <p14:creationId xmlns:p14="http://schemas.microsoft.com/office/powerpoint/2010/main" val="574461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a:p>
        </p:txBody>
      </p:sp>
      <p:sp>
        <p:nvSpPr>
          <p:cNvPr id="4" name="Marcador de número de diapositiva 3"/>
          <p:cNvSpPr>
            <a:spLocks noGrp="1"/>
          </p:cNvSpPr>
          <p:nvPr>
            <p:ph type="sldNum" sz="quarter" idx="10"/>
          </p:nvPr>
        </p:nvSpPr>
        <p:spPr/>
        <p:txBody>
          <a:bodyPr/>
          <a:lstStyle/>
          <a:p>
            <a:fld id="{DFEF677D-1F46-493C-A6F2-8D39528CF5E2}" type="slidenum">
              <a:rPr lang="es-CL" smtClean="0"/>
              <a:t>41</a:t>
            </a:fld>
            <a:endParaRPr lang="es-CL"/>
          </a:p>
        </p:txBody>
      </p:sp>
    </p:spTree>
    <p:extLst>
      <p:ext uri="{BB962C8B-B14F-4D97-AF65-F5344CB8AC3E}">
        <p14:creationId xmlns:p14="http://schemas.microsoft.com/office/powerpoint/2010/main" val="25587191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L" dirty="0"/>
          </a:p>
        </p:txBody>
      </p:sp>
      <p:sp>
        <p:nvSpPr>
          <p:cNvPr id="4" name="Marcador de número de diapositiva 3"/>
          <p:cNvSpPr>
            <a:spLocks noGrp="1"/>
          </p:cNvSpPr>
          <p:nvPr>
            <p:ph type="sldNum" sz="quarter" idx="10"/>
          </p:nvPr>
        </p:nvSpPr>
        <p:spPr/>
        <p:txBody>
          <a:bodyPr/>
          <a:lstStyle/>
          <a:p>
            <a:fld id="{DFEF677D-1F46-493C-A6F2-8D39528CF5E2}" type="slidenum">
              <a:rPr lang="es-CL" smtClean="0"/>
              <a:t>47</a:t>
            </a:fld>
            <a:endParaRPr lang="es-CL"/>
          </a:p>
        </p:txBody>
      </p:sp>
    </p:spTree>
    <p:extLst>
      <p:ext uri="{BB962C8B-B14F-4D97-AF65-F5344CB8AC3E}">
        <p14:creationId xmlns:p14="http://schemas.microsoft.com/office/powerpoint/2010/main" val="189786092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 dirty="0"/>
              <a:t>Las reglas para determinar el sentido de la optimización, ver: </a:t>
            </a:r>
            <a:r>
              <a:rPr lang="es-MX" dirty="0"/>
              <a:t>https://www.youtube.com/watch?v=Vu8eyomtRUY</a:t>
            </a:r>
          </a:p>
          <a:p>
            <a:pPr marL="0" marR="0" lvl="0" indent="0" algn="l" defTabSz="914400" rtl="0" eaLnBrk="1" fontAlgn="auto" latinLnBrk="0" hangingPunct="1">
              <a:lnSpc>
                <a:spcPct val="100000"/>
              </a:lnSpc>
              <a:spcBef>
                <a:spcPts val="0"/>
              </a:spcBef>
              <a:spcAft>
                <a:spcPts val="0"/>
              </a:spcAft>
              <a:buClrTx/>
              <a:buSzTx/>
              <a:buFontTx/>
              <a:buNone/>
              <a:tabLst/>
              <a:defRPr/>
            </a:pPr>
            <a:r>
              <a:rPr lang="es-MX" dirty="0"/>
              <a:t>Un fabricante de clavos</a:t>
            </a:r>
            <a:r>
              <a:rPr lang="es-MX" baseline="0" dirty="0"/>
              <a:t> y tornillos quirúrgicos los vende a US$3 y US$5 respectivamente. Requiere para su fabricación 1 hora de la maquina 1 por clavo, 2 horas de máquina 2 por tornillo; 3</a:t>
            </a:r>
          </a:p>
          <a:p>
            <a:pPr marL="0" marR="0" lvl="0" indent="0" algn="l" defTabSz="914400" rtl="0" eaLnBrk="1" fontAlgn="auto" latinLnBrk="0" hangingPunct="1">
              <a:lnSpc>
                <a:spcPct val="100000"/>
              </a:lnSpc>
              <a:spcBef>
                <a:spcPts val="0"/>
              </a:spcBef>
              <a:spcAft>
                <a:spcPts val="0"/>
              </a:spcAft>
              <a:buClrTx/>
              <a:buSzTx/>
              <a:buFontTx/>
              <a:buNone/>
              <a:tabLst/>
              <a:defRPr/>
            </a:pPr>
            <a:r>
              <a:rPr lang="es-MX" baseline="0" dirty="0"/>
              <a:t> horas por clavo y 2 por tornillo de la máquina 3.</a:t>
            </a:r>
            <a:endParaRPr lang="es-CL" dirty="0"/>
          </a:p>
          <a:p>
            <a:r>
              <a:rPr lang="es-CL" dirty="0"/>
              <a:t>X1: n°</a:t>
            </a:r>
            <a:r>
              <a:rPr lang="es-CL" baseline="0" dirty="0"/>
              <a:t> de clavos</a:t>
            </a:r>
          </a:p>
          <a:p>
            <a:r>
              <a:rPr lang="es-CL" baseline="0" dirty="0"/>
              <a:t>Y1: $/</a:t>
            </a:r>
            <a:r>
              <a:rPr lang="es-CL" baseline="0" dirty="0" err="1"/>
              <a:t>hr.maq</a:t>
            </a:r>
            <a:r>
              <a:rPr lang="es-CL" baseline="0" dirty="0"/>
              <a:t>.</a:t>
            </a:r>
            <a:endParaRPr lang="es-CL" dirty="0"/>
          </a:p>
        </p:txBody>
      </p:sp>
      <p:sp>
        <p:nvSpPr>
          <p:cNvPr id="4" name="Marcador de número de diapositiva 3"/>
          <p:cNvSpPr>
            <a:spLocks noGrp="1"/>
          </p:cNvSpPr>
          <p:nvPr>
            <p:ph type="sldNum" sz="quarter" idx="10"/>
          </p:nvPr>
        </p:nvSpPr>
        <p:spPr/>
        <p:txBody>
          <a:bodyPr/>
          <a:lstStyle/>
          <a:p>
            <a:fld id="{DFEF677D-1F46-493C-A6F2-8D39528CF5E2}" type="slidenum">
              <a:rPr lang="es-CL" smtClean="0"/>
              <a:t>52</a:t>
            </a:fld>
            <a:endParaRPr lang="es-CL"/>
          </a:p>
        </p:txBody>
      </p:sp>
    </p:spTree>
    <p:extLst>
      <p:ext uri="{BB962C8B-B14F-4D97-AF65-F5344CB8AC3E}">
        <p14:creationId xmlns:p14="http://schemas.microsoft.com/office/powerpoint/2010/main" val="4045083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Un fabricante de clavos</a:t>
            </a:r>
            <a:r>
              <a:rPr lang="es-MX" baseline="0" dirty="0"/>
              <a:t> y tornillos quirúrgicos los vende a US$3 y US$5 respectivamente. Requiere para su fabricación 1 hora de la maquina 1 por clavo, 2 horas de máquina 2 por tornillo y 3 horas por clavo y 2 por tornillo de la máquina 3.</a:t>
            </a:r>
            <a:endParaRPr lang="es-CL" dirty="0"/>
          </a:p>
        </p:txBody>
      </p:sp>
      <p:sp>
        <p:nvSpPr>
          <p:cNvPr id="4" name="Marcador de número de diapositiva 3"/>
          <p:cNvSpPr>
            <a:spLocks noGrp="1"/>
          </p:cNvSpPr>
          <p:nvPr>
            <p:ph type="sldNum" sz="quarter" idx="10"/>
          </p:nvPr>
        </p:nvSpPr>
        <p:spPr/>
        <p:txBody>
          <a:bodyPr/>
          <a:lstStyle/>
          <a:p>
            <a:fld id="{DFEF677D-1F46-493C-A6F2-8D39528CF5E2}" type="slidenum">
              <a:rPr lang="es-CL" smtClean="0"/>
              <a:t>53</a:t>
            </a:fld>
            <a:endParaRPr lang="es-CL"/>
          </a:p>
        </p:txBody>
      </p:sp>
    </p:spTree>
    <p:extLst>
      <p:ext uri="{BB962C8B-B14F-4D97-AF65-F5344CB8AC3E}">
        <p14:creationId xmlns:p14="http://schemas.microsoft.com/office/powerpoint/2010/main" val="26519970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L" baseline="0" dirty="0"/>
              <a:t>Y2=3/2 $/</a:t>
            </a:r>
            <a:r>
              <a:rPr lang="es-CL" baseline="0" dirty="0" err="1"/>
              <a:t>hr.maq</a:t>
            </a:r>
            <a:r>
              <a:rPr lang="es-CL" baseline="0" dirty="0"/>
              <a:t>. Si aumento R2 a 13 =&gt; Z=37,5</a:t>
            </a:r>
            <a:endParaRPr lang="es-CL" dirty="0"/>
          </a:p>
          <a:p>
            <a:pPr marL="0" marR="0" lvl="0" indent="0" algn="l" defTabSz="914400" rtl="0" eaLnBrk="1" fontAlgn="auto" latinLnBrk="0" hangingPunct="1">
              <a:lnSpc>
                <a:spcPct val="100000"/>
              </a:lnSpc>
              <a:spcBef>
                <a:spcPts val="0"/>
              </a:spcBef>
              <a:spcAft>
                <a:spcPts val="0"/>
              </a:spcAft>
              <a:buClrTx/>
              <a:buSzTx/>
              <a:buFontTx/>
              <a:buNone/>
              <a:tabLst/>
              <a:defRPr/>
            </a:pPr>
            <a:r>
              <a:rPr lang="es-CL" baseline="0" dirty="0"/>
              <a:t>Y3=1 $/</a:t>
            </a:r>
            <a:r>
              <a:rPr lang="es-CL" baseline="0" dirty="0" err="1"/>
              <a:t>hr.maq</a:t>
            </a:r>
            <a:r>
              <a:rPr lang="es-CL" baseline="0" dirty="0"/>
              <a:t>. Si aumento R3 a 19 =&gt; Z=37</a:t>
            </a:r>
          </a:p>
          <a:p>
            <a:pPr marL="0" marR="0" lvl="0" indent="0" algn="l" defTabSz="914400" rtl="0" eaLnBrk="1" fontAlgn="auto" latinLnBrk="0" hangingPunct="1">
              <a:lnSpc>
                <a:spcPct val="100000"/>
              </a:lnSpc>
              <a:spcBef>
                <a:spcPts val="0"/>
              </a:spcBef>
              <a:spcAft>
                <a:spcPts val="0"/>
              </a:spcAft>
              <a:buClrTx/>
              <a:buSzTx/>
              <a:buFontTx/>
              <a:buNone/>
              <a:tabLst/>
              <a:defRPr/>
            </a:pPr>
            <a:r>
              <a:rPr lang="es-CL" baseline="0" dirty="0"/>
              <a:t>El optimo me recomienda consumir la totalidad de los recursos de maquina 2 y 3. </a:t>
            </a:r>
          </a:p>
          <a:p>
            <a:pPr marL="0" marR="0" lvl="0" indent="0" algn="l" defTabSz="914400" rtl="0" eaLnBrk="1" fontAlgn="auto" latinLnBrk="0" hangingPunct="1">
              <a:lnSpc>
                <a:spcPct val="100000"/>
              </a:lnSpc>
              <a:spcBef>
                <a:spcPts val="0"/>
              </a:spcBef>
              <a:spcAft>
                <a:spcPts val="0"/>
              </a:spcAft>
              <a:buClrTx/>
              <a:buSzTx/>
              <a:buFontTx/>
              <a:buNone/>
              <a:tabLst/>
              <a:defRPr/>
            </a:pPr>
            <a:r>
              <a:rPr lang="es-CL" baseline="0" dirty="0"/>
              <a:t>¿conviene aumentar las horas de máquinas? ¿Qué máquinas? (2 y 3)</a:t>
            </a:r>
          </a:p>
          <a:p>
            <a:pPr marL="0" marR="0" lvl="0" indent="0" algn="l" defTabSz="914400" rtl="0" eaLnBrk="1" fontAlgn="auto" latinLnBrk="0" hangingPunct="1">
              <a:lnSpc>
                <a:spcPct val="100000"/>
              </a:lnSpc>
              <a:spcBef>
                <a:spcPts val="0"/>
              </a:spcBef>
              <a:spcAft>
                <a:spcPts val="0"/>
              </a:spcAft>
              <a:buClrTx/>
              <a:buSzTx/>
              <a:buFontTx/>
              <a:buNone/>
              <a:tabLst/>
              <a:defRPr/>
            </a:pPr>
            <a:r>
              <a:rPr lang="es-CL" baseline="0" dirty="0"/>
              <a:t>¿Si alguien le quiere arrendar el uso de la maquina 1, hasta cuantas horas puede arrendar? (X3=2)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CL" dirty="0"/>
          </a:p>
        </p:txBody>
      </p:sp>
      <p:sp>
        <p:nvSpPr>
          <p:cNvPr id="4" name="Marcador de número de diapositiva 3"/>
          <p:cNvSpPr>
            <a:spLocks noGrp="1"/>
          </p:cNvSpPr>
          <p:nvPr>
            <p:ph type="sldNum" sz="quarter" idx="10"/>
          </p:nvPr>
        </p:nvSpPr>
        <p:spPr/>
        <p:txBody>
          <a:bodyPr/>
          <a:lstStyle/>
          <a:p>
            <a:fld id="{DFEF677D-1F46-493C-A6F2-8D39528CF5E2}" type="slidenum">
              <a:rPr lang="es-CL" smtClean="0"/>
              <a:t>55</a:t>
            </a:fld>
            <a:endParaRPr lang="es-CL"/>
          </a:p>
        </p:txBody>
      </p:sp>
    </p:spTree>
    <p:extLst>
      <p:ext uri="{BB962C8B-B14F-4D97-AF65-F5344CB8AC3E}">
        <p14:creationId xmlns:p14="http://schemas.microsoft.com/office/powerpoint/2010/main" val="802719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8/18/2025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86B75A-687E-405C-8A0B-8D00578BA2C3}" type="datetimeFigureOut">
              <a:rPr lang="en-US" dirty="0"/>
              <a:pPr/>
              <a:t>8/18/2025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el estilo de texto del patrón</a:t>
            </a:r>
          </a:p>
        </p:txBody>
      </p:sp>
      <p:sp>
        <p:nvSpPr>
          <p:cNvPr id="4" name="Date Placeholder 3"/>
          <p:cNvSpPr>
            <a:spLocks noGrp="1"/>
          </p:cNvSpPr>
          <p:nvPr>
            <p:ph type="dt" sz="half" idx="10"/>
          </p:nvPr>
        </p:nvSpPr>
        <p:spPr/>
        <p:txBody>
          <a:bodyPr/>
          <a:lstStyle/>
          <a:p>
            <a:fld id="{5586B75A-687E-405C-8A0B-8D00578BA2C3}" type="datetimeFigureOut">
              <a:rPr lang="en-US" dirty="0"/>
              <a:pPr/>
              <a:t>8/18/2025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8" name="Date Placeholder 7"/>
          <p:cNvSpPr>
            <a:spLocks noGrp="1"/>
          </p:cNvSpPr>
          <p:nvPr>
            <p:ph type="dt" sz="half" idx="10"/>
          </p:nvPr>
        </p:nvSpPr>
        <p:spPr/>
        <p:txBody>
          <a:bodyPr/>
          <a:lstStyle/>
          <a:p>
            <a:fld id="{5586B75A-687E-405C-8A0B-8D00578BA2C3}" type="datetimeFigureOut">
              <a:rPr lang="en-US" dirty="0"/>
              <a:pPr/>
              <a:t>8/18/2025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el estilo de texto del patrón</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8/18/2025</a:t>
            </a:fld>
            <a:endParaRPr lang="en-US" dirty="0"/>
          </a:p>
        </p:txBody>
      </p:sp>
      <p:sp>
        <p:nvSpPr>
          <p:cNvPr id="11" name="Footer Placeholder 10"/>
          <p:cNvSpPr>
            <a:spLocks noGrp="1"/>
          </p:cNvSpPr>
          <p:nvPr>
            <p:ph type="ftr" sz="quarter" idx="11"/>
          </p:nvPr>
        </p:nvSpPr>
        <p:spPr/>
        <p:txBody>
          <a:bodyPr/>
          <a:lstStyle/>
          <a:p>
            <a:endParaRPr lang="en-US" dirty="0"/>
          </a:p>
        </p:txBody>
      </p:sp>
      <p:sp>
        <p:nvSpPr>
          <p:cNvPr id="12" name="Slide Number Placeholder 11"/>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s-ES"/>
              <a:t>Haga clic para modificar el estilo de título del patrón</a:t>
            </a:r>
            <a:endParaRPr lang="en-US" dirty="0"/>
          </a:p>
        </p:txBody>
      </p:sp>
      <p:sp>
        <p:nvSpPr>
          <p:cNvPr id="2" name="Date Placeholder 1"/>
          <p:cNvSpPr>
            <a:spLocks noGrp="1"/>
          </p:cNvSpPr>
          <p:nvPr>
            <p:ph type="dt" sz="half" idx="10"/>
          </p:nvPr>
        </p:nvSpPr>
        <p:spPr/>
        <p:txBody>
          <a:bodyPr/>
          <a:lstStyle/>
          <a:p>
            <a:fld id="{5586B75A-687E-405C-8A0B-8D00578BA2C3}" type="datetimeFigureOut">
              <a:rPr lang="en-US" dirty="0"/>
              <a:pPr/>
              <a:t>8/18/2025</a:t>
            </a:fld>
            <a:endParaRPr lang="en-US" dirty="0"/>
          </a:p>
        </p:txBody>
      </p:sp>
      <p:sp>
        <p:nvSpPr>
          <p:cNvPr id="7" name="Footer Placeholder 6"/>
          <p:cNvSpPr>
            <a:spLocks noGrp="1"/>
          </p:cNvSpPr>
          <p:nvPr>
            <p:ph type="ftr" sz="quarter" idx="11"/>
          </p:nvPr>
        </p:nvSpPr>
        <p:spPr/>
        <p:txBody>
          <a:bodyPr/>
          <a:lstStyle/>
          <a:p>
            <a:endParaRPr lang="en-US" dirty="0"/>
          </a:p>
        </p:txBody>
      </p:sp>
      <p:sp>
        <p:nvSpPr>
          <p:cNvPr id="8" name="Slide Number Placeholder 7"/>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5586B75A-687E-405C-8A0B-8D00578BA2C3}" type="datetimeFigureOut">
              <a:rPr lang="en-US" dirty="0"/>
              <a:pPr/>
              <a:t>8/18/2025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8" name="Date Placeholder 7"/>
          <p:cNvSpPr>
            <a:spLocks noGrp="1"/>
          </p:cNvSpPr>
          <p:nvPr>
            <p:ph type="dt" sz="half" idx="10"/>
          </p:nvPr>
        </p:nvSpPr>
        <p:spPr/>
        <p:txBody>
          <a:bodyPr/>
          <a:lstStyle/>
          <a:p>
            <a:fld id="{5586B75A-687E-405C-8A0B-8D00578BA2C3}" type="datetimeFigureOut">
              <a:rPr lang="en-US" dirty="0"/>
              <a:pPr/>
              <a:t>8/18/2025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el estilo de texto del patrón</a:t>
            </a:r>
          </a:p>
        </p:txBody>
      </p:sp>
      <p:sp>
        <p:nvSpPr>
          <p:cNvPr id="8" name="Date Placeholder 7"/>
          <p:cNvSpPr>
            <a:spLocks noGrp="1"/>
          </p:cNvSpPr>
          <p:nvPr>
            <p:ph type="dt" sz="half" idx="10"/>
          </p:nvPr>
        </p:nvSpPr>
        <p:spPr/>
        <p:txBody>
          <a:bodyPr/>
          <a:lstStyle/>
          <a:p>
            <a:fld id="{5586B75A-687E-405C-8A0B-8D00578BA2C3}" type="datetimeFigureOut">
              <a:rPr lang="en-US" dirty="0"/>
              <a:pPr/>
              <a:t>8/18/2025</a:t>
            </a:fld>
            <a:endParaRPr lang="en-US" dirty="0"/>
          </a:p>
        </p:txBody>
      </p:sp>
      <p:sp>
        <p:nvSpPr>
          <p:cNvPr id="9" name="Footer Placeholder 8"/>
          <p:cNvSpPr>
            <a:spLocks noGrp="1"/>
          </p:cNvSpPr>
          <p:nvPr>
            <p:ph type="ftr" sz="quarter" idx="11"/>
          </p:nvPr>
        </p:nvSpPr>
        <p:spPr>
          <a:xfrm>
            <a:off x="3499101" y="6356350"/>
            <a:ext cx="5911517" cy="365125"/>
          </a:xfrm>
        </p:spPr>
        <p:txBody>
          <a:bodyPr/>
          <a:lstStyle/>
          <a:p>
            <a:endParaRPr lang="en-US" dirty="0"/>
          </a:p>
        </p:txBody>
      </p:sp>
      <p:sp>
        <p:nvSpPr>
          <p:cNvPr id="10" name="Slide Number Placeholder 9"/>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ncho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8/18/2025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586B75A-687E-405C-8A0B-8D00578BA2C3}" type="datetimeFigureOut">
              <a:rPr lang="en-US" dirty="0"/>
              <a:pPr/>
              <a:t>8/18/2025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pPr/>
              <a:t>‹Nº›</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ido">
    <p:spTree>
      <p:nvGrpSpPr>
        <p:cNvPr id="1" name=""/>
        <p:cNvGrpSpPr/>
        <p:nvPr/>
      </p:nvGrpSpPr>
      <p:grpSpPr>
        <a:xfrm>
          <a:off x="0" y="0"/>
          <a:ext cx="0" cy="0"/>
          <a:chOff x="0" y="0"/>
          <a:chExt cx="0" cy="0"/>
        </a:xfrm>
      </p:grpSpPr>
      <p:sp>
        <p:nvSpPr>
          <p:cNvPr id="2" name="Marcador de contenido 1"/>
          <p:cNvSpPr>
            <a:spLocks noGrp="1"/>
          </p:cNvSpPr>
          <p:nvPr>
            <p:ph/>
          </p:nvPr>
        </p:nvSpPr>
        <p:spPr>
          <a:xfrm>
            <a:off x="1320800" y="271463"/>
            <a:ext cx="10363200" cy="5529262"/>
          </a:xfrm>
        </p:spPr>
        <p:txBody>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s-CL"/>
          </a:p>
        </p:txBody>
      </p:sp>
    </p:spTree>
    <p:extLst>
      <p:ext uri="{BB962C8B-B14F-4D97-AF65-F5344CB8AC3E}">
        <p14:creationId xmlns:p14="http://schemas.microsoft.com/office/powerpoint/2010/main" val="1920765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s-ES"/>
              <a:t>Haga clic para modificar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5586B75A-687E-405C-8A0B-8D00578BA2C3}" type="datetimeFigureOut">
              <a:rPr lang="en-US" dirty="0"/>
              <a:pPr/>
              <a:t>8/18/2025</a:t>
            </a:fld>
            <a:endParaRPr lang="en-US" dirty="0"/>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US" dirty="0"/>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4FAB73BC-B049-4115-A692-8D63A059BFB8}" type="slidenum">
              <a:rPr lang="en-US" dirty="0"/>
              <a:pPr/>
              <a:t>‹Nº›</a:t>
            </a:fld>
            <a:endParaRPr lang="en-US" dirty="0"/>
          </a:p>
        </p:txBody>
      </p:sp>
    </p:spTree>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 id="2147483852" r:id="rId12"/>
  </p:sldLayoutIdLst>
  <p:hf sldNum="0" hdr="0" ftr="0" dt="0"/>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2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emf"/><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image" Target="../media/image11.png"/><Relationship Id="rId1" Type="http://schemas.openxmlformats.org/officeDocument/2006/relationships/slideLayout" Target="../slideLayouts/slideLayout6.xml"/><Relationship Id="rId5" Type="http://schemas.openxmlformats.org/officeDocument/2006/relationships/image" Target="../media/image140.png"/><Relationship Id="rId4" Type="http://schemas.openxmlformats.org/officeDocument/2006/relationships/image" Target="../media/image130.png"/></Relationships>
</file>

<file path=ppt/slides/_rels/slide3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 Id="rId4" Type="http://schemas.openxmlformats.org/officeDocument/2006/relationships/image" Target="../media/image21.png"/></Relationships>
</file>

<file path=ppt/slides/_rels/slide3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5" Type="http://schemas.openxmlformats.org/officeDocument/2006/relationships/image" Target="../media/image32.png"/><Relationship Id="rId4" Type="http://schemas.openxmlformats.org/officeDocument/2006/relationships/image" Target="../media/image31.png"/></Relationships>
</file>

<file path=ppt/slides/_rels/slide47.xml.rels><?xml version="1.0" encoding="UTF-8" standalone="yes"?>
<Relationships xmlns="http://schemas.openxmlformats.org/package/2006/relationships"><Relationship Id="rId3" Type="http://schemas.openxmlformats.org/officeDocument/2006/relationships/image" Target="../media/image320.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40.png"/><Relationship Id="rId4" Type="http://schemas.openxmlformats.org/officeDocument/2006/relationships/image" Target="../media/image39.png"/></Relationships>
</file>

<file path=ppt/slides/_rels/slide5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6.xml"/><Relationship Id="rId5" Type="http://schemas.openxmlformats.org/officeDocument/2006/relationships/image" Target="../media/image39.png"/><Relationship Id="rId4" Type="http://schemas.openxmlformats.org/officeDocument/2006/relationships/image" Target="../media/image12.png"/></Relationships>
</file>

<file path=ppt/slides/_rels/slide55.xml.rels><?xml version="1.0" encoding="UTF-8" standalone="yes"?>
<Relationships xmlns="http://schemas.openxmlformats.org/package/2006/relationships"><Relationship Id="rId3" Type="http://schemas.openxmlformats.org/officeDocument/2006/relationships/image" Target="../media/image45.png"/><Relationship Id="rId7" Type="http://schemas.openxmlformats.org/officeDocument/2006/relationships/image" Target="../media/image46.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47.png"/><Relationship Id="rId5" Type="http://schemas.openxmlformats.org/officeDocument/2006/relationships/image" Target="../media/image44.png"/><Relationship Id="rId4" Type="http://schemas.openxmlformats.org/officeDocument/2006/relationships/image" Target="../media/image12.png"/></Relationships>
</file>

<file path=ppt/slides/_rels/slide5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r>
              <a:rPr lang="es-CL" dirty="0"/>
              <a:t>Programación Lineal</a:t>
            </a:r>
          </a:p>
        </p:txBody>
      </p:sp>
      <p:sp>
        <p:nvSpPr>
          <p:cNvPr id="3" name="Subtítulo 2"/>
          <p:cNvSpPr>
            <a:spLocks noGrp="1"/>
          </p:cNvSpPr>
          <p:nvPr>
            <p:ph type="subTitle" idx="1"/>
          </p:nvPr>
        </p:nvSpPr>
        <p:spPr/>
        <p:txBody>
          <a:bodyPr/>
          <a:lstStyle/>
          <a:p>
            <a:endParaRPr lang="es-CL" dirty="0"/>
          </a:p>
        </p:txBody>
      </p:sp>
    </p:spTree>
    <p:extLst>
      <p:ext uri="{BB962C8B-B14F-4D97-AF65-F5344CB8AC3E}">
        <p14:creationId xmlns:p14="http://schemas.microsoft.com/office/powerpoint/2010/main" val="10083071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1123837"/>
            <a:ext cx="3397827" cy="4601183"/>
          </a:xfrm>
        </p:spPr>
        <p:txBody>
          <a:bodyPr>
            <a:normAutofit/>
          </a:bodyPr>
          <a:lstStyle/>
          <a:p>
            <a:pPr algn="ctr"/>
            <a:r>
              <a:rPr lang="es-CL" sz="3400" dirty="0"/>
              <a:t>PROGRAMACIÓN</a:t>
            </a:r>
            <a:br>
              <a:rPr lang="es-CL" sz="3400" dirty="0"/>
            </a:br>
            <a:br>
              <a:rPr lang="es-CL" sz="3400" dirty="0"/>
            </a:br>
            <a:r>
              <a:rPr lang="es-CL" sz="3400" dirty="0"/>
              <a:t> LINEAL</a:t>
            </a:r>
          </a:p>
        </p:txBody>
      </p:sp>
      <p:sp>
        <p:nvSpPr>
          <p:cNvPr id="3" name="Marcador de contenido 2"/>
          <p:cNvSpPr>
            <a:spLocks noGrp="1"/>
          </p:cNvSpPr>
          <p:nvPr>
            <p:ph idx="1"/>
          </p:nvPr>
        </p:nvSpPr>
        <p:spPr/>
        <p:txBody>
          <a:bodyPr>
            <a:normAutofit/>
          </a:bodyPr>
          <a:lstStyle/>
          <a:p>
            <a:pPr marL="0" indent="0">
              <a:buNone/>
            </a:pPr>
            <a:r>
              <a:rPr lang="es-CL" sz="2400" dirty="0">
                <a:solidFill>
                  <a:schemeClr val="tx1"/>
                </a:solidFill>
              </a:rPr>
              <a:t>PROGRAMACION </a:t>
            </a:r>
            <a:r>
              <a:rPr lang="es-CL" sz="2400" dirty="0">
                <a:solidFill>
                  <a:schemeClr val="tx1"/>
                </a:solidFill>
                <a:sym typeface="Wingdings" panose="05000000000000000000" pitchFamily="2" charset="2"/>
              </a:rPr>
              <a:t> </a:t>
            </a:r>
            <a:r>
              <a:rPr lang="es-CL" sz="2400" dirty="0">
                <a:solidFill>
                  <a:schemeClr val="tx1"/>
                </a:solidFill>
              </a:rPr>
              <a:t>es sinónimo de planeación. </a:t>
            </a:r>
          </a:p>
          <a:p>
            <a:pPr marL="0" indent="0">
              <a:buNone/>
            </a:pPr>
            <a:r>
              <a:rPr lang="es-CL" sz="2400" dirty="0">
                <a:solidFill>
                  <a:schemeClr val="tx1"/>
                </a:solidFill>
              </a:rPr>
              <a:t>LINEAL </a:t>
            </a:r>
            <a:r>
              <a:rPr lang="es-CL" sz="2400" dirty="0">
                <a:solidFill>
                  <a:schemeClr val="tx1"/>
                </a:solidFill>
                <a:sym typeface="Wingdings" panose="05000000000000000000" pitchFamily="2" charset="2"/>
              </a:rPr>
              <a:t> </a:t>
            </a:r>
            <a:r>
              <a:rPr lang="es-CL" sz="2400" dirty="0">
                <a:solidFill>
                  <a:schemeClr val="tx1"/>
                </a:solidFill>
              </a:rPr>
              <a:t>las funciones matemáticas del modelo deben ser funciones lineales.</a:t>
            </a:r>
          </a:p>
          <a:p>
            <a:pPr marL="0" indent="0">
              <a:buNone/>
            </a:pPr>
            <a:r>
              <a:rPr lang="es-CL" sz="2400" dirty="0">
                <a:solidFill>
                  <a:schemeClr val="tx1"/>
                </a:solidFill>
              </a:rPr>
              <a:t>La Programación Lineal utiliza un modelo matemático para describir el problema. Es una planificación de actividades para obtener un resultado óptimo; esto es, el resultado que mejor alcance la meta especificada—de acuerdo con el modelo matemático— entre todas las alternativas factibles.</a:t>
            </a:r>
          </a:p>
          <a:p>
            <a:endParaRPr lang="es-CL" sz="2400" dirty="0">
              <a:solidFill>
                <a:schemeClr val="tx1"/>
              </a:solidFill>
            </a:endParaRPr>
          </a:p>
        </p:txBody>
      </p:sp>
      <p:sp>
        <p:nvSpPr>
          <p:cNvPr id="6" name="Rectángulo 5"/>
          <p:cNvSpPr/>
          <p:nvPr/>
        </p:nvSpPr>
        <p:spPr>
          <a:xfrm>
            <a:off x="5348241" y="5276862"/>
            <a:ext cx="6096000" cy="707886"/>
          </a:xfrm>
          <a:prstGeom prst="rect">
            <a:avLst/>
          </a:prstGeom>
        </p:spPr>
        <p:txBody>
          <a:bodyPr>
            <a:spAutoFit/>
          </a:bodyPr>
          <a:lstStyle/>
          <a:p>
            <a:r>
              <a:rPr lang="es-CL" sz="2000" dirty="0">
                <a:solidFill>
                  <a:schemeClr val="tx1">
                    <a:lumMod val="65000"/>
                    <a:lumOff val="35000"/>
                  </a:schemeClr>
                </a:solidFill>
              </a:rPr>
              <a:t>Introducción a Investigación de Operaciones”, </a:t>
            </a:r>
            <a:r>
              <a:rPr lang="es-CL" sz="2000" dirty="0" err="1">
                <a:solidFill>
                  <a:schemeClr val="tx1">
                    <a:lumMod val="65000"/>
                    <a:lumOff val="35000"/>
                  </a:schemeClr>
                </a:solidFill>
              </a:rPr>
              <a:t>Hillier</a:t>
            </a:r>
            <a:r>
              <a:rPr lang="es-CL" sz="2000" dirty="0">
                <a:solidFill>
                  <a:schemeClr val="tx1">
                    <a:lumMod val="65000"/>
                    <a:lumOff val="35000"/>
                  </a:schemeClr>
                </a:solidFill>
              </a:rPr>
              <a:t> y G. Lieberman. Edit. McGraw Hill</a:t>
            </a:r>
          </a:p>
        </p:txBody>
      </p:sp>
    </p:spTree>
    <p:extLst>
      <p:ext uri="{BB962C8B-B14F-4D97-AF65-F5344CB8AC3E}">
        <p14:creationId xmlns:p14="http://schemas.microsoft.com/office/powerpoint/2010/main" val="2252492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4156363" y="333137"/>
            <a:ext cx="7570415" cy="62478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s-CL" altLang="es-CL" sz="2000" dirty="0"/>
              <a:t>Se necesita determinar la cantidad de hitos a desarrollar,  por semana, de dos proyectos:</a:t>
            </a:r>
          </a:p>
          <a:p>
            <a:pPr eaLnBrk="0" hangingPunct="0"/>
            <a:endParaRPr lang="es-CL" altLang="es-CL" sz="2000" dirty="0"/>
          </a:p>
          <a:p>
            <a:pPr eaLnBrk="0" hangingPunct="0"/>
            <a:r>
              <a:rPr lang="es-CL" altLang="es-CL" sz="2000" dirty="0"/>
              <a:t>Cada hito del Proyecto 1:</a:t>
            </a:r>
          </a:p>
          <a:p>
            <a:pPr marL="557213" lvl="1" indent="-198438" eaLnBrk="0" hangingPunct="0">
              <a:buFont typeface="Arial" panose="020B0604020202020204" pitchFamily="34" charset="0"/>
              <a:buChar char="•"/>
            </a:pPr>
            <a:r>
              <a:rPr lang="es-CL" altLang="es-CL" sz="2000" dirty="0"/>
              <a:t>  la empresa recibe un pago de USD 3000.</a:t>
            </a:r>
          </a:p>
          <a:p>
            <a:pPr marL="557213" lvl="1" indent="-198438" eaLnBrk="0" hangingPunct="0">
              <a:buFont typeface="Arial" panose="020B0604020202020204" pitchFamily="34" charset="0"/>
              <a:buChar char="•"/>
            </a:pPr>
            <a:r>
              <a:rPr lang="es-CL" altLang="es-CL" sz="2000" dirty="0"/>
              <a:t>  Requiere 20 horas de ingeniero Junior.</a:t>
            </a:r>
          </a:p>
          <a:p>
            <a:pPr marL="557213" lvl="1" indent="-198438" eaLnBrk="0" hangingPunct="0">
              <a:buFont typeface="Arial" panose="020B0604020202020204" pitchFamily="34" charset="0"/>
              <a:buChar char="•"/>
            </a:pPr>
            <a:r>
              <a:rPr lang="es-CL" altLang="es-CL" sz="2000" dirty="0"/>
              <a:t>  Requiere 10 horas de ingeniero </a:t>
            </a:r>
            <a:r>
              <a:rPr lang="es-CL" altLang="es-CL" sz="2000" dirty="0" err="1"/>
              <a:t>Senior</a:t>
            </a:r>
            <a:r>
              <a:rPr lang="es-CL" altLang="es-CL" sz="2000" dirty="0"/>
              <a:t>.</a:t>
            </a:r>
          </a:p>
          <a:p>
            <a:pPr eaLnBrk="0" hangingPunct="0"/>
            <a:r>
              <a:rPr lang="es-CL" altLang="es-CL" sz="2000" dirty="0"/>
              <a:t> Cada hito del Proyecto 2:</a:t>
            </a:r>
          </a:p>
          <a:p>
            <a:pPr marL="631825" indent="-285750" eaLnBrk="0" hangingPunct="0">
              <a:buFont typeface="Arial" panose="020B0604020202020204" pitchFamily="34" charset="0"/>
              <a:buChar char="•"/>
            </a:pPr>
            <a:r>
              <a:rPr lang="es-CL" altLang="es-CL" sz="2000" dirty="0"/>
              <a:t> la empresa recibe un pago de USD 2000.</a:t>
            </a:r>
          </a:p>
          <a:p>
            <a:pPr marL="631825" indent="-285750" eaLnBrk="0" hangingPunct="0">
              <a:buFont typeface="Arial" panose="020B0604020202020204" pitchFamily="34" charset="0"/>
              <a:buChar char="•"/>
            </a:pPr>
            <a:r>
              <a:rPr lang="es-CL" altLang="es-CL" sz="2000" dirty="0"/>
              <a:t> Requiere 10 horas de ingeniero Junior.</a:t>
            </a:r>
          </a:p>
          <a:p>
            <a:pPr marL="631825" indent="-285750" eaLnBrk="0" hangingPunct="0">
              <a:buFont typeface="Arial" panose="020B0604020202020204" pitchFamily="34" charset="0"/>
              <a:buChar char="•"/>
            </a:pPr>
            <a:r>
              <a:rPr lang="es-CL" altLang="es-CL" sz="2000" dirty="0"/>
              <a:t> Requiere 10 hora de ingeniero </a:t>
            </a:r>
            <a:r>
              <a:rPr lang="es-CL" altLang="es-CL" sz="2000" dirty="0" err="1"/>
              <a:t>Senior</a:t>
            </a:r>
            <a:r>
              <a:rPr lang="es-CL" altLang="es-CL" sz="2000" dirty="0"/>
              <a:t>.</a:t>
            </a:r>
          </a:p>
          <a:p>
            <a:pPr marL="631825" indent="-285750" eaLnBrk="0" hangingPunct="0">
              <a:buFont typeface="Arial" panose="020B0604020202020204" pitchFamily="34" charset="0"/>
              <a:buChar char="•"/>
            </a:pPr>
            <a:endParaRPr lang="es-CL" altLang="es-CL" sz="2000" dirty="0"/>
          </a:p>
          <a:p>
            <a:pPr eaLnBrk="0" hangingPunct="0"/>
            <a:r>
              <a:rPr lang="es-CL" altLang="es-CL" sz="2000" dirty="0"/>
              <a:t>Cada semana la empresa puede disponer de:</a:t>
            </a:r>
          </a:p>
          <a:p>
            <a:pPr marL="446088" indent="-285750" eaLnBrk="0" hangingPunct="0">
              <a:buFont typeface="Arial" panose="020B0604020202020204" pitchFamily="34" charset="0"/>
              <a:buChar char="•"/>
            </a:pPr>
            <a:r>
              <a:rPr lang="es-CL" altLang="es-CL" sz="2000" dirty="0"/>
              <a:t>  100 horas de Junior.</a:t>
            </a:r>
          </a:p>
          <a:p>
            <a:pPr marL="446088" indent="-285750" eaLnBrk="0" hangingPunct="0">
              <a:buFont typeface="Arial" panose="020B0604020202020204" pitchFamily="34" charset="0"/>
              <a:buChar char="•"/>
            </a:pPr>
            <a:r>
              <a:rPr lang="es-CL" altLang="es-CL" sz="2000" dirty="0"/>
              <a:t>  80 horas de </a:t>
            </a:r>
            <a:r>
              <a:rPr lang="es-CL" altLang="es-CL" sz="2000" dirty="0" err="1"/>
              <a:t>Senior</a:t>
            </a:r>
            <a:r>
              <a:rPr lang="es-CL" altLang="es-CL" sz="2000" dirty="0"/>
              <a:t>.</a:t>
            </a:r>
          </a:p>
          <a:p>
            <a:pPr eaLnBrk="0" hangingPunct="0"/>
            <a:r>
              <a:rPr lang="es-CL" altLang="es-CL" sz="2000" dirty="0"/>
              <a:t>También:</a:t>
            </a:r>
          </a:p>
          <a:p>
            <a:pPr marL="446088" indent="-285750" eaLnBrk="0" hangingPunct="0">
              <a:buFont typeface="Arial" panose="020B0604020202020204" pitchFamily="34" charset="0"/>
              <a:buChar char="•"/>
            </a:pPr>
            <a:r>
              <a:rPr lang="es-CL" altLang="es-CL" sz="2000" dirty="0"/>
              <a:t>  El Proyecto 2 es de muy largo plazo, por lo que se puede considerar que tiene un sinnúmero de hitos (sin límite).</a:t>
            </a:r>
          </a:p>
          <a:p>
            <a:pPr marL="446088" indent="-285750" eaLnBrk="0" hangingPunct="0">
              <a:buFont typeface="Arial" panose="020B0604020202020204" pitchFamily="34" charset="0"/>
              <a:buChar char="•"/>
            </a:pPr>
            <a:r>
              <a:rPr lang="es-CL" altLang="es-CL" sz="2000" dirty="0"/>
              <a:t>  El Proyecto 1 tiene a lo más 4 hitos que completar.</a:t>
            </a:r>
          </a:p>
          <a:p>
            <a:pPr marL="346075" eaLnBrk="0" hangingPunct="0"/>
            <a:endParaRPr lang="es-CL" altLang="es-CL" sz="2000" dirty="0"/>
          </a:p>
        </p:txBody>
      </p:sp>
      <p:sp>
        <p:nvSpPr>
          <p:cNvPr id="6149" name="Rectangle 5"/>
          <p:cNvSpPr>
            <a:spLocks noChangeArrowheads="1"/>
          </p:cNvSpPr>
          <p:nvPr/>
        </p:nvSpPr>
        <p:spPr bwMode="auto">
          <a:xfrm>
            <a:off x="590589" y="1900535"/>
            <a:ext cx="127631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s-CL" sz="2400" b="1" u="sng"/>
              <a:t>Ejem</a:t>
            </a:r>
            <a:r>
              <a:rPr lang="en-US" altLang="es-CL" sz="2400" b="1"/>
              <a:t>p</a:t>
            </a:r>
            <a:r>
              <a:rPr lang="en-US" altLang="es-CL" sz="2400" b="1" u="sng"/>
              <a:t>lo</a:t>
            </a:r>
          </a:p>
        </p:txBody>
      </p:sp>
      <p:sp>
        <p:nvSpPr>
          <p:cNvPr id="2" name="Rectángulo 1"/>
          <p:cNvSpPr/>
          <p:nvPr/>
        </p:nvSpPr>
        <p:spPr>
          <a:xfrm rot="21061965">
            <a:off x="200547" y="2830028"/>
            <a:ext cx="3907738" cy="923330"/>
          </a:xfrm>
          <a:prstGeom prst="rect">
            <a:avLst/>
          </a:prstGeom>
          <a:solidFill>
            <a:schemeClr val="accent1"/>
          </a:solidFill>
          <a:ln w="38100">
            <a:solidFill>
              <a:schemeClr val="tx1"/>
            </a:solidFill>
          </a:ln>
        </p:spPr>
        <p:txBody>
          <a:bodyPr wrap="square">
            <a:spAutoFit/>
          </a:bodyPr>
          <a:lstStyle/>
          <a:p>
            <a:pPr eaLnBrk="0" hangingPunct="0"/>
            <a:r>
              <a:rPr lang="es-CL" altLang="es-CL" dirty="0">
                <a:latin typeface="Arial Unicode MS" panose="020B0604020202020204" pitchFamily="34" charset="-128"/>
                <a:ea typeface="Arial Unicode MS" panose="020B0604020202020204" pitchFamily="34" charset="-128"/>
                <a:cs typeface="Arial Unicode MS" panose="020B0604020202020204" pitchFamily="34" charset="-128"/>
              </a:rPr>
              <a:t>Para maximizar los beneficios.</a:t>
            </a:r>
          </a:p>
          <a:p>
            <a:pPr eaLnBrk="0" hangingPunct="0"/>
            <a:r>
              <a:rPr lang="es-CL" altLang="es-CL" dirty="0">
                <a:latin typeface="Arial Unicode MS" panose="020B0604020202020204" pitchFamily="34" charset="-128"/>
                <a:ea typeface="Arial Unicode MS" panose="020B0604020202020204" pitchFamily="34" charset="-128"/>
                <a:cs typeface="Arial Unicode MS" panose="020B0604020202020204" pitchFamily="34" charset="-128"/>
              </a:rPr>
              <a:t>¿Cuántos hitos de cada Proyecto se deben lograr semanalmente?</a:t>
            </a:r>
          </a:p>
        </p:txBody>
      </p:sp>
    </p:spTree>
    <p:extLst>
      <p:ext uri="{BB962C8B-B14F-4D97-AF65-F5344CB8AC3E}">
        <p14:creationId xmlns:p14="http://schemas.microsoft.com/office/powerpoint/2010/main" val="28005133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Formulación del problema</a:t>
            </a:r>
          </a:p>
        </p:txBody>
      </p:sp>
      <p:sp>
        <p:nvSpPr>
          <p:cNvPr id="4" name="Marcador de texto 3"/>
          <p:cNvSpPr>
            <a:spLocks noGrp="1"/>
          </p:cNvSpPr>
          <p:nvPr>
            <p:ph type="body" sz="half" idx="2"/>
          </p:nvPr>
        </p:nvSpPr>
        <p:spPr/>
        <p:txBody>
          <a:bodyPr/>
          <a:lstStyle/>
          <a:p>
            <a:endParaRPr lang="es-CL"/>
          </a:p>
        </p:txBody>
      </p:sp>
      <p:sp>
        <p:nvSpPr>
          <p:cNvPr id="5" name="Text Box 4"/>
          <p:cNvSpPr txBox="1">
            <a:spLocks noChangeArrowheads="1"/>
          </p:cNvSpPr>
          <p:nvPr/>
        </p:nvSpPr>
        <p:spPr bwMode="auto">
          <a:xfrm>
            <a:off x="3824368" y="969808"/>
            <a:ext cx="7409689" cy="5232202"/>
          </a:xfrm>
          <a:prstGeom prst="rect">
            <a:avLst/>
          </a:prstGeom>
          <a:noFill/>
          <a:ln>
            <a:noFill/>
          </a:ln>
          <a:effectLst/>
        </p:spPr>
        <p:txBody>
          <a:bodyPr wrap="square">
            <a:spAutoFit/>
          </a:bodyPr>
          <a:lstStyle/>
          <a:p>
            <a:pPr eaLnBrk="0" hangingPunct="0">
              <a:spcBef>
                <a:spcPct val="50000"/>
              </a:spcBef>
            </a:pPr>
            <a:r>
              <a:rPr lang="en-US" altLang="es-CL" sz="3200" b="1" i="1" dirty="0"/>
              <a:t>Variables de </a:t>
            </a:r>
            <a:r>
              <a:rPr lang="en-US" altLang="es-CL" sz="3200" b="1" i="1" dirty="0" err="1"/>
              <a:t>Decisión</a:t>
            </a:r>
            <a:r>
              <a:rPr lang="en-US" altLang="es-CL" sz="3200" b="1" i="1" dirty="0"/>
              <a:t>: </a:t>
            </a:r>
            <a:r>
              <a:rPr lang="es-CL" sz="3200" i="1" dirty="0"/>
              <a:t>decisiones cuantificables relacionadas entre sí o actividades de decisión.</a:t>
            </a:r>
          </a:p>
          <a:p>
            <a:pPr eaLnBrk="0" hangingPunct="0">
              <a:spcBef>
                <a:spcPct val="50000"/>
              </a:spcBef>
            </a:pPr>
            <a:endParaRPr lang="es-CL" sz="2800" dirty="0"/>
          </a:p>
          <a:p>
            <a:pPr eaLnBrk="0" hangingPunct="0">
              <a:spcBef>
                <a:spcPct val="50000"/>
              </a:spcBef>
            </a:pPr>
            <a:r>
              <a:rPr lang="es-CL" sz="2800" dirty="0"/>
              <a:t>¿Para este ejemplo serían el número de Junior y de Senior a utilizar para completar  o los hitos de los proyectos?</a:t>
            </a:r>
          </a:p>
          <a:p>
            <a:pPr eaLnBrk="0" hangingPunct="0">
              <a:spcBef>
                <a:spcPct val="50000"/>
              </a:spcBef>
            </a:pPr>
            <a:endParaRPr lang="en-US" altLang="es-CL" sz="2800" b="1" dirty="0"/>
          </a:p>
          <a:p>
            <a:pPr marL="1349375"/>
            <a:r>
              <a:rPr lang="en-US" altLang="es-CL" sz="2800" dirty="0"/>
              <a:t>x = nº </a:t>
            </a:r>
            <a:r>
              <a:rPr lang="en-US" altLang="es-CL" sz="2800" dirty="0" err="1"/>
              <a:t>hitos</a:t>
            </a:r>
            <a:r>
              <a:rPr lang="en-US" altLang="es-CL" sz="2800" dirty="0"/>
              <a:t> </a:t>
            </a:r>
            <a:r>
              <a:rPr lang="en-US" altLang="es-CL" sz="2800" dirty="0" err="1"/>
              <a:t>proyecto</a:t>
            </a:r>
            <a:r>
              <a:rPr lang="en-US" altLang="es-CL" sz="2800" dirty="0"/>
              <a:t> 1 </a:t>
            </a:r>
            <a:r>
              <a:rPr lang="en-US" altLang="es-CL" sz="2800" dirty="0" err="1"/>
              <a:t>por</a:t>
            </a:r>
            <a:r>
              <a:rPr lang="en-US" altLang="es-CL" sz="2800" dirty="0"/>
              <a:t> </a:t>
            </a:r>
            <a:r>
              <a:rPr lang="en-US" altLang="es-CL" sz="2800" dirty="0" err="1"/>
              <a:t>semana</a:t>
            </a:r>
            <a:endParaRPr lang="en-US" altLang="es-CL" sz="2800" dirty="0"/>
          </a:p>
          <a:p>
            <a:pPr marL="1349375"/>
            <a:r>
              <a:rPr lang="en-US" altLang="es-CL" sz="2800" dirty="0"/>
              <a:t>y = nº </a:t>
            </a:r>
            <a:r>
              <a:rPr lang="en-US" altLang="es-CL" sz="2800" dirty="0" err="1"/>
              <a:t>hitos</a:t>
            </a:r>
            <a:r>
              <a:rPr lang="en-US" altLang="es-CL" sz="2800" dirty="0"/>
              <a:t> </a:t>
            </a:r>
            <a:r>
              <a:rPr lang="en-US" altLang="es-CL" sz="2800" dirty="0" err="1"/>
              <a:t>proyecto</a:t>
            </a:r>
            <a:r>
              <a:rPr lang="en-US" altLang="es-CL" sz="2800" dirty="0"/>
              <a:t> 2 </a:t>
            </a:r>
            <a:r>
              <a:rPr lang="en-US" altLang="es-CL" sz="2800" dirty="0" err="1"/>
              <a:t>por</a:t>
            </a:r>
            <a:r>
              <a:rPr lang="en-US" altLang="es-CL" sz="2800" dirty="0"/>
              <a:t> </a:t>
            </a:r>
            <a:r>
              <a:rPr lang="en-US" altLang="es-CL" sz="2800" dirty="0" err="1"/>
              <a:t>semana</a:t>
            </a:r>
            <a:endParaRPr lang="en-US" altLang="es-CL" sz="2800" b="1" dirty="0"/>
          </a:p>
        </p:txBody>
      </p:sp>
    </p:spTree>
    <p:extLst>
      <p:ext uri="{BB962C8B-B14F-4D97-AF65-F5344CB8AC3E}">
        <p14:creationId xmlns:p14="http://schemas.microsoft.com/office/powerpoint/2010/main" val="2442900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Formulación del problema</a:t>
            </a:r>
          </a:p>
        </p:txBody>
      </p:sp>
      <p:sp>
        <p:nvSpPr>
          <p:cNvPr id="4" name="Marcador de texto 3"/>
          <p:cNvSpPr>
            <a:spLocks noGrp="1"/>
          </p:cNvSpPr>
          <p:nvPr>
            <p:ph type="body" sz="half" idx="2"/>
          </p:nvPr>
        </p:nvSpPr>
        <p:spPr/>
        <p:txBody>
          <a:bodyPr/>
          <a:lstStyle/>
          <a:p>
            <a:endParaRPr lang="es-CL"/>
          </a:p>
        </p:txBody>
      </p:sp>
      <p:sp>
        <p:nvSpPr>
          <p:cNvPr id="6" name="Text Box 6"/>
          <p:cNvSpPr txBox="1">
            <a:spLocks noChangeArrowheads="1"/>
          </p:cNvSpPr>
          <p:nvPr/>
        </p:nvSpPr>
        <p:spPr bwMode="auto">
          <a:xfrm>
            <a:off x="3920598" y="436924"/>
            <a:ext cx="7585602" cy="5539978"/>
          </a:xfrm>
          <a:prstGeom prst="rect">
            <a:avLst/>
          </a:prstGeom>
          <a:noFill/>
          <a:ln>
            <a:noFill/>
          </a:ln>
          <a:effectLst/>
        </p:spPr>
        <p:txBody>
          <a:bodyPr wrap="square">
            <a:spAutoFit/>
          </a:bodyPr>
          <a:lstStyle/>
          <a:p>
            <a:pPr eaLnBrk="0" hangingPunct="0">
              <a:spcBef>
                <a:spcPct val="50000"/>
              </a:spcBef>
            </a:pPr>
            <a:r>
              <a:rPr lang="en-US" altLang="es-CL" sz="2800" b="1" i="1" dirty="0" err="1"/>
              <a:t>Función</a:t>
            </a:r>
            <a:r>
              <a:rPr lang="en-US" altLang="es-CL" sz="2800" b="1" i="1" dirty="0"/>
              <a:t> </a:t>
            </a:r>
            <a:r>
              <a:rPr lang="en-US" altLang="es-CL" sz="2800" b="1" i="1" dirty="0" err="1"/>
              <a:t>Objetivo</a:t>
            </a:r>
            <a:r>
              <a:rPr lang="en-US" altLang="es-CL" sz="2800" b="1" i="1" dirty="0"/>
              <a:t>.</a:t>
            </a:r>
            <a:r>
              <a:rPr lang="en-US" altLang="es-CL" sz="2800" i="1" dirty="0"/>
              <a:t> </a:t>
            </a:r>
            <a:r>
              <a:rPr lang="en-US" altLang="es-CL" sz="2800" i="1" dirty="0" err="1"/>
              <a:t>En</a:t>
            </a:r>
            <a:r>
              <a:rPr lang="en-US" altLang="es-CL" sz="2800" i="1" dirty="0"/>
              <a:t> </a:t>
            </a:r>
            <a:r>
              <a:rPr lang="en-US" altLang="es-CL" sz="2800" i="1" dirty="0" err="1"/>
              <a:t>cualquier</a:t>
            </a:r>
            <a:r>
              <a:rPr lang="en-US" altLang="es-CL" sz="2800" i="1" dirty="0"/>
              <a:t> PPL </a:t>
            </a:r>
            <a:r>
              <a:rPr lang="en-US" altLang="es-CL" sz="2800" i="1" dirty="0" err="1"/>
              <a:t>es</a:t>
            </a:r>
            <a:r>
              <a:rPr lang="en-US" altLang="es-CL" sz="2800" i="1" dirty="0"/>
              <a:t> la </a:t>
            </a:r>
            <a:r>
              <a:rPr lang="en-US" altLang="es-CL" sz="2800" i="1" dirty="0" err="1"/>
              <a:t>función</a:t>
            </a:r>
            <a:r>
              <a:rPr lang="en-US" altLang="es-CL" sz="2800" i="1" dirty="0"/>
              <a:t> a </a:t>
            </a:r>
            <a:r>
              <a:rPr lang="en-US" altLang="es-CL" sz="2800" i="1" dirty="0" err="1"/>
              <a:t>maximizar</a:t>
            </a:r>
            <a:r>
              <a:rPr lang="en-US" altLang="es-CL" sz="2800" i="1" dirty="0"/>
              <a:t> o </a:t>
            </a:r>
            <a:r>
              <a:rPr lang="en-US" altLang="es-CL" sz="2800" i="1" dirty="0" err="1"/>
              <a:t>minimizar</a:t>
            </a:r>
            <a:r>
              <a:rPr lang="en-US" altLang="es-CL" sz="2800" i="1" dirty="0"/>
              <a:t>. </a:t>
            </a:r>
            <a:r>
              <a:rPr lang="en-US" altLang="es-CL" sz="2800" i="1" dirty="0" err="1"/>
              <a:t>Compuesta</a:t>
            </a:r>
            <a:r>
              <a:rPr lang="en-US" altLang="es-CL" sz="2800" i="1" dirty="0"/>
              <a:t> </a:t>
            </a:r>
            <a:r>
              <a:rPr lang="en-US" altLang="es-CL" sz="2800" i="1" dirty="0" err="1"/>
              <a:t>por</a:t>
            </a:r>
            <a:r>
              <a:rPr lang="en-US" altLang="es-CL" sz="2800" i="1" dirty="0"/>
              <a:t> las variables de </a:t>
            </a:r>
            <a:r>
              <a:rPr lang="en-US" altLang="es-CL" sz="2800" i="1" dirty="0" err="1"/>
              <a:t>decisión</a:t>
            </a:r>
            <a:r>
              <a:rPr lang="en-US" altLang="es-CL" sz="2800" i="1" dirty="0"/>
              <a:t>.</a:t>
            </a:r>
          </a:p>
          <a:p>
            <a:pPr marL="1795463" eaLnBrk="0" hangingPunct="0">
              <a:spcBef>
                <a:spcPct val="50000"/>
              </a:spcBef>
            </a:pPr>
            <a:r>
              <a:rPr lang="en-US" altLang="es-CL" sz="2400" dirty="0" err="1"/>
              <a:t>Maximizar</a:t>
            </a:r>
            <a:r>
              <a:rPr lang="en-US" altLang="es-CL" sz="2400" dirty="0"/>
              <a:t> </a:t>
            </a:r>
            <a:r>
              <a:rPr lang="en-US" altLang="es-CL" sz="2400" dirty="0">
                <a:sym typeface="Wingdings" panose="05000000000000000000" pitchFamily="2" charset="2"/>
              </a:rPr>
              <a:t> </a:t>
            </a:r>
            <a:r>
              <a:rPr lang="en-US" altLang="es-CL" sz="2400" dirty="0"/>
              <a:t> </a:t>
            </a:r>
            <a:r>
              <a:rPr lang="en-US" altLang="es-CL" sz="2400" dirty="0" err="1"/>
              <a:t>beneficio</a:t>
            </a:r>
            <a:endParaRPr lang="en-US" altLang="es-CL" sz="2400" dirty="0"/>
          </a:p>
          <a:p>
            <a:pPr marL="1795463" eaLnBrk="0" hangingPunct="0">
              <a:spcBef>
                <a:spcPct val="50000"/>
              </a:spcBef>
            </a:pPr>
            <a:r>
              <a:rPr lang="en-US" altLang="es-CL" sz="2400" dirty="0" err="1"/>
              <a:t>Minimizar</a:t>
            </a:r>
            <a:r>
              <a:rPr lang="en-US" altLang="es-CL" sz="2400" dirty="0"/>
              <a:t>  </a:t>
            </a:r>
            <a:r>
              <a:rPr lang="en-US" altLang="es-CL" sz="2400" dirty="0">
                <a:sym typeface="Wingdings" panose="05000000000000000000" pitchFamily="2" charset="2"/>
              </a:rPr>
              <a:t> </a:t>
            </a:r>
            <a:r>
              <a:rPr lang="en-US" altLang="es-CL" sz="2400" dirty="0" err="1"/>
              <a:t>desventaja</a:t>
            </a:r>
            <a:endParaRPr lang="en-US" altLang="es-CL" sz="2400" dirty="0"/>
          </a:p>
          <a:p>
            <a:pPr eaLnBrk="0" hangingPunct="0">
              <a:spcBef>
                <a:spcPct val="50000"/>
              </a:spcBef>
            </a:pPr>
            <a:endParaRPr lang="en-US" altLang="es-CL" sz="2400" dirty="0"/>
          </a:p>
          <a:p>
            <a:pPr eaLnBrk="0" hangingPunct="0">
              <a:spcBef>
                <a:spcPct val="50000"/>
              </a:spcBef>
            </a:pPr>
            <a:r>
              <a:rPr lang="en-US" altLang="es-CL" sz="2400" dirty="0"/>
              <a:t> Para </a:t>
            </a:r>
            <a:r>
              <a:rPr lang="en-US" altLang="es-CL" sz="2400" dirty="0" err="1"/>
              <a:t>este</a:t>
            </a:r>
            <a:r>
              <a:rPr lang="en-US" altLang="es-CL" sz="2400" dirty="0"/>
              <a:t> </a:t>
            </a:r>
            <a:r>
              <a:rPr lang="en-US" altLang="es-CL" sz="2400" dirty="0" err="1"/>
              <a:t>ejemplo</a:t>
            </a:r>
            <a:r>
              <a:rPr lang="en-US" altLang="es-CL" sz="2400" dirty="0"/>
              <a:t> </a:t>
            </a:r>
            <a:r>
              <a:rPr lang="en-US" altLang="es-CL" sz="2400" dirty="0" err="1"/>
              <a:t>si</a:t>
            </a:r>
            <a:r>
              <a:rPr lang="en-US" altLang="es-CL" sz="2400" dirty="0"/>
              <a:t> </a:t>
            </a:r>
            <a:r>
              <a:rPr lang="en-US" altLang="es-CL" sz="2400" b="1" dirty="0"/>
              <a:t>z</a:t>
            </a:r>
            <a:r>
              <a:rPr lang="en-US" altLang="es-CL" sz="2400" dirty="0"/>
              <a:t> son </a:t>
            </a:r>
            <a:r>
              <a:rPr lang="en-US" altLang="es-CL" sz="2400" dirty="0" err="1"/>
              <a:t>los</a:t>
            </a:r>
            <a:r>
              <a:rPr lang="en-US" altLang="es-CL" sz="2400" dirty="0"/>
              <a:t> USD </a:t>
            </a:r>
            <a:r>
              <a:rPr lang="en-US" altLang="es-CL" sz="2400" dirty="0" err="1"/>
              <a:t>ingresados</a:t>
            </a:r>
            <a:r>
              <a:rPr lang="en-US" altLang="es-CL" sz="2400" dirty="0"/>
              <a:t> </a:t>
            </a:r>
            <a:r>
              <a:rPr lang="en-US" altLang="es-CL" sz="2400" dirty="0" err="1"/>
              <a:t>por</a:t>
            </a:r>
            <a:r>
              <a:rPr lang="en-US" altLang="es-CL" sz="2400" dirty="0"/>
              <a:t> </a:t>
            </a:r>
            <a:r>
              <a:rPr lang="en-US" altLang="es-CL" sz="2400" dirty="0" err="1"/>
              <a:t>concepto</a:t>
            </a:r>
            <a:r>
              <a:rPr lang="en-US" altLang="es-CL" sz="2400" dirty="0"/>
              <a:t> de </a:t>
            </a:r>
            <a:r>
              <a:rPr lang="en-US" altLang="es-CL" sz="2400" dirty="0" err="1"/>
              <a:t>término</a:t>
            </a:r>
            <a:r>
              <a:rPr lang="en-US" altLang="es-CL" sz="2400" dirty="0"/>
              <a:t> de </a:t>
            </a:r>
            <a:r>
              <a:rPr lang="en-US" altLang="es-CL" sz="2400" dirty="0" err="1"/>
              <a:t>hitos</a:t>
            </a:r>
            <a:r>
              <a:rPr lang="en-US" altLang="es-CL" sz="2400" dirty="0"/>
              <a:t>, </a:t>
            </a:r>
            <a:r>
              <a:rPr lang="en-US" altLang="es-CL" sz="2400" dirty="0" err="1"/>
              <a:t>entonces</a:t>
            </a:r>
            <a:r>
              <a:rPr lang="en-US" altLang="es-CL" sz="2400" dirty="0"/>
              <a:t>, la </a:t>
            </a:r>
            <a:r>
              <a:rPr lang="en-US" altLang="es-CL" sz="2400" dirty="0" err="1"/>
              <a:t>función</a:t>
            </a:r>
            <a:r>
              <a:rPr lang="en-US" altLang="es-CL" sz="2400" dirty="0"/>
              <a:t> </a:t>
            </a:r>
            <a:r>
              <a:rPr lang="en-US" altLang="es-CL" sz="2400" dirty="0" err="1"/>
              <a:t>objetivo</a:t>
            </a:r>
            <a:r>
              <a:rPr lang="en-US" altLang="es-CL" sz="2400" dirty="0"/>
              <a:t> </a:t>
            </a:r>
            <a:r>
              <a:rPr lang="en-US" altLang="es-CL" sz="2400" dirty="0" err="1"/>
              <a:t>es</a:t>
            </a:r>
            <a:r>
              <a:rPr lang="en-US" altLang="es-CL" sz="2400" dirty="0"/>
              <a:t>:</a:t>
            </a:r>
          </a:p>
          <a:p>
            <a:pPr algn="ctr" eaLnBrk="0" hangingPunct="0">
              <a:spcBef>
                <a:spcPct val="50000"/>
              </a:spcBef>
            </a:pPr>
            <a:r>
              <a:rPr lang="en-US" altLang="es-CL" sz="2400" dirty="0"/>
              <a:t>Max z = 3000x + 2000y</a:t>
            </a:r>
            <a:endParaRPr lang="en-US" altLang="es-CL" sz="2400" baseline="-25000" dirty="0"/>
          </a:p>
          <a:p>
            <a:pPr eaLnBrk="0" hangingPunct="0">
              <a:spcBef>
                <a:spcPct val="50000"/>
              </a:spcBef>
            </a:pPr>
            <a:endParaRPr lang="en-US" altLang="es-CL" sz="2800" dirty="0"/>
          </a:p>
        </p:txBody>
      </p:sp>
    </p:spTree>
    <p:extLst>
      <p:ext uri="{BB962C8B-B14F-4D97-AF65-F5344CB8AC3E}">
        <p14:creationId xmlns:p14="http://schemas.microsoft.com/office/powerpoint/2010/main" val="963510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Formulación del problema</a:t>
            </a:r>
          </a:p>
        </p:txBody>
      </p:sp>
      <p:sp>
        <p:nvSpPr>
          <p:cNvPr id="4" name="Marcador de texto 3"/>
          <p:cNvSpPr>
            <a:spLocks noGrp="1"/>
          </p:cNvSpPr>
          <p:nvPr>
            <p:ph type="body" sz="half" idx="2"/>
          </p:nvPr>
        </p:nvSpPr>
        <p:spPr/>
        <p:txBody>
          <a:bodyPr/>
          <a:lstStyle/>
          <a:p>
            <a:endParaRPr lang="es-CL"/>
          </a:p>
        </p:txBody>
      </p:sp>
      <p:sp>
        <p:nvSpPr>
          <p:cNvPr id="7" name="Text Box 14"/>
          <p:cNvSpPr txBox="1">
            <a:spLocks noChangeArrowheads="1"/>
          </p:cNvSpPr>
          <p:nvPr/>
        </p:nvSpPr>
        <p:spPr bwMode="auto">
          <a:xfrm>
            <a:off x="3529262" y="30934"/>
            <a:ext cx="8309811" cy="3046988"/>
          </a:xfrm>
          <a:prstGeom prst="rect">
            <a:avLst/>
          </a:prstGeom>
          <a:noFill/>
          <a:ln>
            <a:noFill/>
          </a:ln>
          <a:effectLst/>
        </p:spPr>
        <p:txBody>
          <a:bodyPr wrap="square">
            <a:spAutoFit/>
          </a:bodyPr>
          <a:lstStyle/>
          <a:p>
            <a:pPr eaLnBrk="0" hangingPunct="0">
              <a:spcBef>
                <a:spcPct val="50000"/>
              </a:spcBef>
            </a:pPr>
            <a:r>
              <a:rPr lang="es-CL" altLang="es-CL" sz="2400" b="1" dirty="0"/>
              <a:t>Restricciones</a:t>
            </a:r>
          </a:p>
          <a:p>
            <a:r>
              <a:rPr lang="es-CL" altLang="es-CL" sz="2400" dirty="0"/>
              <a:t>Son desigualdades que limitan los posibles valores de las variables de decisión. Esto también incluye restricciones de signo o no negatividad.</a:t>
            </a:r>
          </a:p>
          <a:p>
            <a:endParaRPr lang="es-CL" altLang="es-CL" sz="2400" dirty="0"/>
          </a:p>
          <a:p>
            <a:r>
              <a:rPr lang="es-CL" altLang="es-CL" sz="2400" dirty="0"/>
              <a:t>En este problema las restricciones vienen dadas por los requerimientos de horas de </a:t>
            </a:r>
            <a:r>
              <a:rPr lang="es-CL" altLang="es-CL" sz="2400" dirty="0" err="1"/>
              <a:t>Senior</a:t>
            </a:r>
            <a:r>
              <a:rPr lang="es-CL" altLang="es-CL" sz="2400" dirty="0"/>
              <a:t> y Junior; y por cantidad de hitos a cumplir.</a:t>
            </a:r>
          </a:p>
        </p:txBody>
      </p:sp>
      <p:sp>
        <p:nvSpPr>
          <p:cNvPr id="8" name="Text Box 4"/>
          <p:cNvSpPr txBox="1">
            <a:spLocks noChangeArrowheads="1"/>
          </p:cNvSpPr>
          <p:nvPr/>
        </p:nvSpPr>
        <p:spPr bwMode="auto">
          <a:xfrm>
            <a:off x="3785938" y="3279408"/>
            <a:ext cx="5213684"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lang="es-CL" altLang="es-CL" sz="2000" b="1" dirty="0"/>
              <a:t>Restricción 1: </a:t>
            </a:r>
            <a:r>
              <a:rPr lang="es-CL" altLang="es-CL" sz="2000" dirty="0"/>
              <a:t>  no más de 100 horas de Junior.</a:t>
            </a:r>
          </a:p>
          <a:p>
            <a:pPr eaLnBrk="0" hangingPunct="0">
              <a:spcBef>
                <a:spcPct val="50000"/>
              </a:spcBef>
            </a:pPr>
            <a:r>
              <a:rPr lang="es-CL" altLang="es-CL" sz="2000" b="1" dirty="0"/>
              <a:t>Restricción 2:</a:t>
            </a:r>
            <a:r>
              <a:rPr lang="es-CL" altLang="es-CL" sz="2000" dirty="0"/>
              <a:t>   no más de 80 horas de </a:t>
            </a:r>
            <a:r>
              <a:rPr lang="es-CL" altLang="es-CL" sz="2000" dirty="0" err="1"/>
              <a:t>Senior</a:t>
            </a:r>
            <a:r>
              <a:rPr lang="es-CL" altLang="es-CL" sz="2000" dirty="0"/>
              <a:t>.</a:t>
            </a:r>
          </a:p>
          <a:p>
            <a:pPr eaLnBrk="0" hangingPunct="0">
              <a:spcBef>
                <a:spcPct val="50000"/>
              </a:spcBef>
            </a:pPr>
            <a:r>
              <a:rPr lang="es-CL" altLang="es-CL" sz="2000" b="1" dirty="0"/>
              <a:t>Restricción 3: </a:t>
            </a:r>
            <a:r>
              <a:rPr lang="es-CL" altLang="es-CL" sz="2000" dirty="0"/>
              <a:t>  limitación de demanda, no deben resolverse más de 4 hitos del Proyecto 1.</a:t>
            </a:r>
          </a:p>
        </p:txBody>
      </p:sp>
      <p:sp>
        <p:nvSpPr>
          <p:cNvPr id="9" name="Text Box 5"/>
          <p:cNvSpPr txBox="1">
            <a:spLocks noChangeArrowheads="1"/>
          </p:cNvSpPr>
          <p:nvPr/>
        </p:nvSpPr>
        <p:spPr bwMode="auto">
          <a:xfrm>
            <a:off x="8999621" y="3417907"/>
            <a:ext cx="2627856" cy="1200329"/>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lang="es-CL" altLang="es-CL" dirty="0"/>
              <a:t>Estas tres restricciones pueden expresarse matemáticamente por las siguientes desigualdades:</a:t>
            </a:r>
          </a:p>
        </p:txBody>
      </p:sp>
      <p:sp>
        <p:nvSpPr>
          <p:cNvPr id="10" name="Text Box 6"/>
          <p:cNvSpPr txBox="1">
            <a:spLocks noChangeArrowheads="1"/>
          </p:cNvSpPr>
          <p:nvPr/>
        </p:nvSpPr>
        <p:spPr bwMode="auto">
          <a:xfrm>
            <a:off x="4900300" y="5031336"/>
            <a:ext cx="541324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r>
              <a:rPr lang="es-CL" altLang="es-CL" sz="2400" b="1" dirty="0"/>
              <a:t>Restricción 1:    20 x + 10y  ≤ 100</a:t>
            </a:r>
          </a:p>
          <a:p>
            <a:pPr eaLnBrk="0" hangingPunct="0"/>
            <a:r>
              <a:rPr lang="es-CL" altLang="es-CL" sz="2400" b="1" dirty="0"/>
              <a:t>Restricción 2:       10x + 10y  ≤ 80</a:t>
            </a:r>
          </a:p>
          <a:p>
            <a:pPr eaLnBrk="0" hangingPunct="0"/>
            <a:r>
              <a:rPr lang="es-CL" altLang="es-CL" sz="2400" b="1" dirty="0"/>
              <a:t>Restricción 3:       x ≤ 4</a:t>
            </a:r>
          </a:p>
        </p:txBody>
      </p:sp>
      <p:sp>
        <p:nvSpPr>
          <p:cNvPr id="11" name="Text Box 11"/>
          <p:cNvSpPr txBox="1">
            <a:spLocks noChangeArrowheads="1"/>
          </p:cNvSpPr>
          <p:nvPr/>
        </p:nvSpPr>
        <p:spPr bwMode="auto">
          <a:xfrm>
            <a:off x="4123782" y="6244655"/>
            <a:ext cx="6287544"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 altLang="es-CL" sz="2000" dirty="0"/>
              <a:t>Además, tenemos</a:t>
            </a:r>
            <a:r>
              <a:rPr lang="en-US" altLang="es-CL" sz="2000" dirty="0"/>
              <a:t> las </a:t>
            </a:r>
            <a:r>
              <a:rPr lang="en-US" altLang="es-CL" sz="2000" dirty="0" err="1"/>
              <a:t>restricciones</a:t>
            </a:r>
            <a:r>
              <a:rPr lang="en-US" altLang="es-CL" sz="2000" dirty="0"/>
              <a:t> de </a:t>
            </a:r>
            <a:r>
              <a:rPr lang="en-US" altLang="es-CL" sz="2000" dirty="0" err="1"/>
              <a:t>signo</a:t>
            </a:r>
            <a:r>
              <a:rPr lang="en-US" altLang="es-CL" sz="2000" dirty="0"/>
              <a:t>: x ≥ 0 e y ≥ 0</a:t>
            </a:r>
            <a:endParaRPr lang="es-ES" altLang="es-CL" sz="2000" dirty="0"/>
          </a:p>
        </p:txBody>
      </p:sp>
    </p:spTree>
    <p:extLst>
      <p:ext uri="{BB962C8B-B14F-4D97-AF65-F5344CB8AC3E}">
        <p14:creationId xmlns:p14="http://schemas.microsoft.com/office/powerpoint/2010/main" val="40393752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Formulación Matemática</a:t>
            </a:r>
          </a:p>
        </p:txBody>
      </p:sp>
      <p:sp>
        <p:nvSpPr>
          <p:cNvPr id="3" name="Text Box 4"/>
          <p:cNvSpPr txBox="1">
            <a:spLocks noChangeArrowheads="1"/>
          </p:cNvSpPr>
          <p:nvPr/>
        </p:nvSpPr>
        <p:spPr bwMode="auto">
          <a:xfrm>
            <a:off x="4256313" y="1013511"/>
            <a:ext cx="5704115" cy="4821833"/>
          </a:xfrm>
          <a:prstGeom prst="rect">
            <a:avLst/>
          </a:prstGeom>
          <a:ln>
            <a:solidFill>
              <a:schemeClr val="tx1"/>
            </a:solidFill>
            <a:headEnd type="none" w="sm" len="sm"/>
            <a:tailEnd type="none" w="sm" len="sm"/>
          </a:ln>
        </p:spPr>
        <p:style>
          <a:lnRef idx="2">
            <a:schemeClr val="dk1"/>
          </a:lnRef>
          <a:fillRef idx="1">
            <a:schemeClr val="lt1"/>
          </a:fillRef>
          <a:effectRef idx="0">
            <a:schemeClr val="dk1"/>
          </a:effectRef>
          <a:fontRef idx="minor">
            <a:schemeClr val="dk1"/>
          </a:fontRef>
        </p:style>
        <p:txBody>
          <a:bodyPr wrap="square">
            <a:spAutoFit/>
          </a:bodyPr>
          <a:lstStyle/>
          <a:p>
            <a:pPr eaLnBrk="0" hangingPunct="0">
              <a:spcBef>
                <a:spcPct val="50000"/>
              </a:spcBef>
            </a:pPr>
            <a:r>
              <a:rPr lang="en-US" altLang="es-CL" sz="2800" dirty="0" err="1"/>
              <a:t>función</a:t>
            </a:r>
            <a:r>
              <a:rPr lang="en-US" altLang="es-CL" sz="2800" dirty="0"/>
              <a:t> </a:t>
            </a:r>
            <a:r>
              <a:rPr lang="en-US" altLang="es-CL" sz="2800" dirty="0" err="1"/>
              <a:t>objetivo</a:t>
            </a:r>
            <a:r>
              <a:rPr lang="en-US" altLang="es-CL" sz="2800" dirty="0"/>
              <a:t>            </a:t>
            </a:r>
          </a:p>
          <a:p>
            <a:pPr eaLnBrk="0" hangingPunct="0">
              <a:spcBef>
                <a:spcPct val="50000"/>
              </a:spcBef>
            </a:pPr>
            <a:r>
              <a:rPr lang="en-US" altLang="es-CL" sz="2800" dirty="0"/>
              <a:t>				Max z = 3000x + 2000y     </a:t>
            </a:r>
            <a:endParaRPr lang="en-US" altLang="es-CL" sz="2800" baseline="-25000" dirty="0"/>
          </a:p>
          <a:p>
            <a:pPr eaLnBrk="0" hangingPunct="0">
              <a:spcBef>
                <a:spcPct val="50000"/>
              </a:spcBef>
            </a:pPr>
            <a:endParaRPr lang="en-US" altLang="es-CL" sz="2800" dirty="0"/>
          </a:p>
          <a:p>
            <a:pPr eaLnBrk="0" hangingPunct="0">
              <a:spcBef>
                <a:spcPct val="50000"/>
              </a:spcBef>
            </a:pPr>
            <a:r>
              <a:rPr lang="en-US" altLang="es-CL" sz="2800" dirty="0" err="1"/>
              <a:t>sujeto</a:t>
            </a:r>
            <a:r>
              <a:rPr lang="en-US" altLang="es-CL" sz="2800" dirty="0"/>
              <a:t> a (</a:t>
            </a:r>
            <a:r>
              <a:rPr lang="en-US" altLang="es-CL" sz="2800" dirty="0" err="1"/>
              <a:t>s.a</a:t>
            </a:r>
            <a:r>
              <a:rPr lang="en-US" altLang="es-CL" sz="2800" dirty="0"/>
              <a:t>:)</a:t>
            </a:r>
          </a:p>
          <a:p>
            <a:pPr lvl="3" eaLnBrk="0" hangingPunct="0">
              <a:lnSpc>
                <a:spcPts val="2000"/>
              </a:lnSpc>
              <a:spcBef>
                <a:spcPct val="50000"/>
              </a:spcBef>
            </a:pPr>
            <a:r>
              <a:rPr lang="en-US" altLang="es-CL" sz="2800" dirty="0"/>
              <a:t>	20x + 10y  ≤ 100	</a:t>
            </a:r>
          </a:p>
          <a:p>
            <a:pPr lvl="3" eaLnBrk="0" hangingPunct="0">
              <a:lnSpc>
                <a:spcPts val="2000"/>
              </a:lnSpc>
              <a:spcBef>
                <a:spcPct val="50000"/>
              </a:spcBef>
            </a:pPr>
            <a:r>
              <a:rPr lang="en-US" altLang="es-CL" sz="2800" dirty="0"/>
              <a:t>   	10x + 10y  ≤  80	 </a:t>
            </a:r>
          </a:p>
          <a:p>
            <a:pPr lvl="3" eaLnBrk="0" hangingPunct="0">
              <a:lnSpc>
                <a:spcPts val="2000"/>
              </a:lnSpc>
              <a:spcBef>
                <a:spcPct val="50000"/>
              </a:spcBef>
            </a:pPr>
            <a:r>
              <a:rPr lang="en-US" altLang="es-CL" sz="2800" dirty="0"/>
              <a:t>	   x                ≤  4	</a:t>
            </a:r>
          </a:p>
          <a:p>
            <a:pPr lvl="3" eaLnBrk="0" hangingPunct="0">
              <a:lnSpc>
                <a:spcPts val="2000"/>
              </a:lnSpc>
              <a:spcBef>
                <a:spcPct val="50000"/>
              </a:spcBef>
            </a:pPr>
            <a:r>
              <a:rPr lang="en-US" altLang="es-CL" sz="2800" dirty="0"/>
              <a:t>    	   x                ≥  0	</a:t>
            </a:r>
          </a:p>
          <a:p>
            <a:pPr lvl="3" eaLnBrk="0" hangingPunct="0">
              <a:lnSpc>
                <a:spcPts val="2000"/>
              </a:lnSpc>
              <a:spcBef>
                <a:spcPct val="50000"/>
              </a:spcBef>
            </a:pPr>
            <a:r>
              <a:rPr lang="en-US" altLang="es-CL" sz="2800" dirty="0"/>
              <a:t>                       y  ≥  0</a:t>
            </a:r>
            <a:endParaRPr lang="en-US" altLang="es-CL" sz="2800" dirty="0">
              <a:latin typeface="Book Antiqua" panose="02040602050305030304" pitchFamily="18" charset="0"/>
            </a:endParaRPr>
          </a:p>
        </p:txBody>
      </p:sp>
    </p:spTree>
    <p:extLst>
      <p:ext uri="{BB962C8B-B14F-4D97-AF65-F5344CB8AC3E}">
        <p14:creationId xmlns:p14="http://schemas.microsoft.com/office/powerpoint/2010/main" val="19179630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Ejercicios de formulación matemática</a:t>
            </a:r>
          </a:p>
        </p:txBody>
      </p:sp>
      <p:sp>
        <p:nvSpPr>
          <p:cNvPr id="3" name="Rectángulo 2"/>
          <p:cNvSpPr/>
          <p:nvPr/>
        </p:nvSpPr>
        <p:spPr>
          <a:xfrm>
            <a:off x="1850104" y="129936"/>
            <a:ext cx="9384632" cy="6588983"/>
          </a:xfrm>
          <a:prstGeom prst="rect">
            <a:avLst/>
          </a:prstGeom>
          <a:solidFill>
            <a:schemeClr val="bg1"/>
          </a:solidFill>
        </p:spPr>
        <p:txBody>
          <a:bodyPr wrap="square">
            <a:spAutoFit/>
          </a:bodyPr>
          <a:lstStyle/>
          <a:p>
            <a:pPr marL="342900" marR="95250" lvl="0" indent="-342900" algn="just">
              <a:spcBef>
                <a:spcPts val="450"/>
              </a:spcBef>
              <a:spcAft>
                <a:spcPts val="0"/>
              </a:spcAft>
              <a:buFont typeface="+mj-lt"/>
              <a:buAutoNum type="arabicPeriod"/>
            </a:pPr>
            <a:r>
              <a:rPr lang="es-ES" sz="2200" dirty="0">
                <a:latin typeface="Arial" panose="020B0604020202020204" pitchFamily="34" charset="0"/>
                <a:ea typeface="Times New Roman" panose="02020603050405020304" pitchFamily="18" charset="0"/>
                <a:cs typeface="Arial" panose="020B0604020202020204" pitchFamily="34" charset="0"/>
              </a:rPr>
              <a:t>Una empresa fabrica y vende tres productos (1, 2 y 3). Se dispone de 10 kg. diarios de materia prima y de 20 </a:t>
            </a:r>
            <a:r>
              <a:rPr lang="es-ES" sz="2200" dirty="0" err="1">
                <a:latin typeface="Arial" panose="020B0604020202020204" pitchFamily="34" charset="0"/>
                <a:ea typeface="Times New Roman" panose="02020603050405020304" pitchFamily="18" charset="0"/>
                <a:cs typeface="Arial" panose="020B0604020202020204" pitchFamily="34" charset="0"/>
              </a:rPr>
              <a:t>hrs</a:t>
            </a:r>
            <a:r>
              <a:rPr lang="es-ES" sz="2200" dirty="0">
                <a:latin typeface="Arial" panose="020B0604020202020204" pitchFamily="34" charset="0"/>
                <a:ea typeface="Times New Roman" panose="02020603050405020304" pitchFamily="18" charset="0"/>
                <a:cs typeface="Arial" panose="020B0604020202020204" pitchFamily="34" charset="0"/>
              </a:rPr>
              <a:t>. de máquina diaria. Cada producto  requiere  1,  2 y 1 kg de  materia prima, respectivamente, y de 4, 2 y 2hs de máquina por unidad. Los beneficios unitarios son de 4, 1 y 2$/unidad. Debido a un contrato firmado con un cliente se deben  producir como mínimo 2 unidades diarias de producto. ¿Cómo maximiza su beneficio?</a:t>
            </a:r>
            <a:endParaRPr lang="es-CL" sz="2200" dirty="0">
              <a:latin typeface="Arial" panose="020B0604020202020204" pitchFamily="34" charset="0"/>
              <a:ea typeface="Times New Roman" panose="02020603050405020304" pitchFamily="18" charset="0"/>
              <a:cs typeface="Arial" panose="020B0604020202020204" pitchFamily="34" charset="0"/>
            </a:endParaRPr>
          </a:p>
          <a:p>
            <a:pPr marL="342900" marR="95250" lvl="0" indent="-342900" algn="just">
              <a:spcBef>
                <a:spcPts val="450"/>
              </a:spcBef>
              <a:spcAft>
                <a:spcPts val="0"/>
              </a:spcAft>
              <a:buFont typeface="+mj-lt"/>
              <a:buAutoNum type="arabicPeriod"/>
            </a:pPr>
            <a:r>
              <a:rPr lang="es-ES" sz="2200" dirty="0">
                <a:latin typeface="Arial" panose="020B0604020202020204" pitchFamily="34" charset="0"/>
                <a:ea typeface="Times New Roman" panose="02020603050405020304" pitchFamily="18" charset="0"/>
                <a:cs typeface="Arial" panose="020B0604020202020204" pitchFamily="34" charset="0"/>
              </a:rPr>
              <a:t>En una fábrica se elaboran tres tipos de herramientas A, B y C. En la fábrica trabajan 3 obreros durante 8 horas diarias y un revisor, para comprobar las herramientas una vez fabricadas, que trabaja 1 hora diaria. Para la construcción de A se emplean 3 horas diarias de mano de obra y necesita de 6 minutos de revisión, para la construcción de B se emplean igualmente 3 horas de mano de obra y 4 minutos para su revisión, y para C es necesaria 1 hora diaria de mano de obra y 3 minutos de revisión. Por problemas de bodega en la fábrica no se pueden fabricar más de 12 herramientas diarias y el precio de cada herramienta A, B y C es de 4000, 3000 y 2000 pesos respectivamente. Hallar cuántas unidades se deben elaborar cada día de cada una de ellas para obtener un beneficio máximo.</a:t>
            </a:r>
            <a:endParaRPr lang="es-CL" sz="2200" dirty="0">
              <a:effectLst/>
              <a:latin typeface="Arial" panose="020B060402020202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41475911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29688" y="1604477"/>
            <a:ext cx="3208739" cy="3752165"/>
          </a:xfrm>
        </p:spPr>
        <p:txBody>
          <a:bodyPr>
            <a:normAutofit fontScale="90000"/>
          </a:bodyPr>
          <a:lstStyle/>
          <a:p>
            <a:r>
              <a:rPr lang="es-CL" sz="5400" dirty="0"/>
              <a:t>Método gráfico:</a:t>
            </a:r>
            <a:br>
              <a:rPr lang="es-CL" sz="5400" dirty="0"/>
            </a:br>
            <a:br>
              <a:rPr lang="es-CL" sz="5400" dirty="0"/>
            </a:br>
            <a:r>
              <a:rPr lang="es-CL" altLang="es-CL" sz="2700" dirty="0"/>
              <a:t>Cualquier PPL con sólo dos variables puede resolverse gráficamente.</a:t>
            </a:r>
            <a:br>
              <a:rPr lang="en-US" altLang="es-CL" sz="5400" dirty="0"/>
            </a:br>
            <a:endParaRPr lang="es-CL" sz="5400" dirty="0"/>
          </a:p>
        </p:txBody>
      </p:sp>
      <p:sp>
        <p:nvSpPr>
          <p:cNvPr id="3" name="Rectángulo 2"/>
          <p:cNvSpPr/>
          <p:nvPr/>
        </p:nvSpPr>
        <p:spPr>
          <a:xfrm>
            <a:off x="3163318" y="902901"/>
            <a:ext cx="7750629" cy="4893647"/>
          </a:xfrm>
          <a:prstGeom prst="rect">
            <a:avLst/>
          </a:prstGeom>
          <a:solidFill>
            <a:schemeClr val="bg1"/>
          </a:solidFill>
        </p:spPr>
        <p:txBody>
          <a:bodyPr wrap="square">
            <a:spAutoFit/>
          </a:bodyPr>
          <a:lstStyle/>
          <a:p>
            <a:r>
              <a:rPr lang="es-CL" sz="2400" dirty="0"/>
              <a:t>El primer paso es identificar los valores de las variables de decisión permitidos por las restricciones, dibujando cada una de las rectas que representan a las restricciones o limitan los valores permitidos.</a:t>
            </a:r>
          </a:p>
          <a:p>
            <a:endParaRPr lang="es-CL" sz="2400" dirty="0"/>
          </a:p>
          <a:p>
            <a:r>
              <a:rPr lang="es-CL" sz="2400" dirty="0"/>
              <a:t>El paso final es seleccionar, dentro de esta región factible, el punto que maximiza el valor de la función objetivo:</a:t>
            </a:r>
          </a:p>
          <a:p>
            <a:br>
              <a:rPr lang="es-CL" sz="2400" dirty="0"/>
            </a:br>
            <a:endParaRPr lang="es-CL" sz="2400" dirty="0"/>
          </a:p>
          <a:p>
            <a:r>
              <a:rPr lang="es-CL" sz="2400" b="1" dirty="0"/>
              <a:t>Región factible</a:t>
            </a:r>
            <a:r>
              <a:rPr lang="es-CL" sz="2400" dirty="0"/>
              <a:t>  </a:t>
            </a:r>
            <a:r>
              <a:rPr lang="es-CL" sz="2400" dirty="0">
                <a:sym typeface="Wingdings" panose="05000000000000000000" pitchFamily="2" charset="2"/>
              </a:rPr>
              <a:t> </a:t>
            </a:r>
            <a:r>
              <a:rPr lang="es-CL" sz="2400" dirty="0"/>
              <a:t>región de valores </a:t>
            </a:r>
            <a:r>
              <a:rPr lang="es-CL" altLang="es-CL" sz="2400" dirty="0"/>
              <a:t>o conjunto de todos los puntos que satisfacen todas las restricciones. Es la región del plano delimitada por el sistema de desigualdades que forman las restricciones.</a:t>
            </a:r>
            <a:endParaRPr lang="es-CL" sz="2400" dirty="0"/>
          </a:p>
        </p:txBody>
      </p:sp>
    </p:spTree>
    <p:extLst>
      <p:ext uri="{BB962C8B-B14F-4D97-AF65-F5344CB8AC3E}">
        <p14:creationId xmlns:p14="http://schemas.microsoft.com/office/powerpoint/2010/main" val="1493767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eaLnBrk="0" hangingPunct="0">
              <a:spcBef>
                <a:spcPct val="50000"/>
              </a:spcBef>
            </a:pPr>
            <a:r>
              <a:rPr lang="es-CL" dirty="0"/>
              <a:t>Restricción</a:t>
            </a:r>
            <a:br>
              <a:rPr lang="es-CL" dirty="0"/>
            </a:br>
            <a:r>
              <a:rPr lang="en-US" altLang="es-CL" sz="3200" dirty="0">
                <a:solidFill>
                  <a:schemeClr val="accent2"/>
                </a:solidFill>
                <a:effectLst>
                  <a:outerShdw blurRad="38100" dist="38100" dir="2700000" algn="tl">
                    <a:srgbClr val="000000">
                      <a:alpha val="43137"/>
                    </a:srgbClr>
                  </a:outerShdw>
                </a:effectLst>
              </a:rPr>
              <a:t>20 x + 10y  ≤ 100</a:t>
            </a:r>
            <a:br>
              <a:rPr lang="en-US" altLang="es-CL" sz="3200" dirty="0">
                <a:solidFill>
                  <a:schemeClr val="accent2"/>
                </a:solidFill>
              </a:rPr>
            </a:br>
            <a:r>
              <a:rPr lang="en-US" altLang="es-CL" sz="3200" dirty="0"/>
              <a:t>10 x + 10y  ≤  80</a:t>
            </a:r>
            <a:br>
              <a:rPr lang="en-US" altLang="es-CL" sz="3200" dirty="0"/>
            </a:br>
            <a:r>
              <a:rPr lang="en-US" altLang="es-CL" sz="3200" dirty="0"/>
              <a:t>    x       ≤  4</a:t>
            </a:r>
            <a:br>
              <a:rPr lang="en-US" altLang="es-CL" sz="3200" dirty="0"/>
            </a:br>
            <a:r>
              <a:rPr lang="en-US" altLang="es-CL" sz="3200" dirty="0"/>
              <a:t>    x       ≥ 0</a:t>
            </a:r>
            <a:br>
              <a:rPr lang="en-US" altLang="es-CL" sz="3200" dirty="0"/>
            </a:br>
            <a:r>
              <a:rPr lang="en-US" altLang="es-CL" sz="3200" dirty="0"/>
              <a:t>         y  ≥ 0</a:t>
            </a:r>
            <a:br>
              <a:rPr lang="en-US" altLang="es-CL" sz="3200" dirty="0">
                <a:latin typeface="Book Antiqua" panose="02040602050305030304" pitchFamily="18" charset="0"/>
              </a:rPr>
            </a:br>
            <a:endParaRPr lang="es-CL" sz="3200" dirty="0"/>
          </a:p>
        </p:txBody>
      </p:sp>
      <p:pic>
        <p:nvPicPr>
          <p:cNvPr id="4" name="Imagen 3"/>
          <p:cNvPicPr>
            <a:picLocks noChangeAspect="1"/>
          </p:cNvPicPr>
          <p:nvPr/>
        </p:nvPicPr>
        <p:blipFill>
          <a:blip r:embed="rId2"/>
          <a:stretch>
            <a:fillRect/>
          </a:stretch>
        </p:blipFill>
        <p:spPr>
          <a:xfrm>
            <a:off x="4799618" y="903508"/>
            <a:ext cx="2523963" cy="5114987"/>
          </a:xfrm>
          <a:prstGeom prst="rect">
            <a:avLst/>
          </a:prstGeom>
        </p:spPr>
      </p:pic>
      <p:sp>
        <p:nvSpPr>
          <p:cNvPr id="5" name="Text Box 37"/>
          <p:cNvSpPr txBox="1">
            <a:spLocks noChangeArrowheads="1"/>
          </p:cNvSpPr>
          <p:nvPr/>
        </p:nvSpPr>
        <p:spPr bwMode="auto">
          <a:xfrm>
            <a:off x="6859891" y="2427282"/>
            <a:ext cx="14598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20x + 10y = 100</a:t>
            </a:r>
          </a:p>
        </p:txBody>
      </p:sp>
      <p:grpSp>
        <p:nvGrpSpPr>
          <p:cNvPr id="7" name="Group 41"/>
          <p:cNvGrpSpPr>
            <a:grpSpLocks/>
          </p:cNvGrpSpPr>
          <p:nvPr/>
        </p:nvGrpSpPr>
        <p:grpSpPr bwMode="auto">
          <a:xfrm>
            <a:off x="4789715" y="699291"/>
            <a:ext cx="5279571" cy="5273675"/>
            <a:chOff x="2064" y="470"/>
            <a:chExt cx="3422" cy="3322"/>
          </a:xfrm>
        </p:grpSpPr>
        <p:sp>
          <p:nvSpPr>
            <p:cNvPr id="8" name="Text Box 42"/>
            <p:cNvSpPr txBox="1">
              <a:spLocks noChangeArrowheads="1"/>
            </p:cNvSpPr>
            <p:nvPr/>
          </p:nvSpPr>
          <p:spPr bwMode="auto">
            <a:xfrm>
              <a:off x="2112" y="2995"/>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9" name="Text Box 43"/>
            <p:cNvSpPr txBox="1">
              <a:spLocks noChangeArrowheads="1"/>
            </p:cNvSpPr>
            <p:nvPr/>
          </p:nvSpPr>
          <p:spPr bwMode="auto">
            <a:xfrm>
              <a:off x="2741" y="3571"/>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10" name="Text Box 44"/>
            <p:cNvSpPr txBox="1">
              <a:spLocks noChangeArrowheads="1"/>
            </p:cNvSpPr>
            <p:nvPr/>
          </p:nvSpPr>
          <p:spPr bwMode="auto">
            <a:xfrm>
              <a:off x="3221" y="3565"/>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1" name="Text Box 45"/>
            <p:cNvSpPr txBox="1">
              <a:spLocks noChangeArrowheads="1"/>
            </p:cNvSpPr>
            <p:nvPr/>
          </p:nvSpPr>
          <p:spPr bwMode="auto">
            <a:xfrm>
              <a:off x="3701" y="3600"/>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2" name="Text Box 46"/>
            <p:cNvSpPr txBox="1">
              <a:spLocks noChangeArrowheads="1"/>
            </p:cNvSpPr>
            <p:nvPr/>
          </p:nvSpPr>
          <p:spPr bwMode="auto">
            <a:xfrm>
              <a:off x="4181" y="3600"/>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3" name="Text Box 47"/>
            <p:cNvSpPr txBox="1">
              <a:spLocks noChangeArrowheads="1"/>
            </p:cNvSpPr>
            <p:nvPr/>
          </p:nvSpPr>
          <p:spPr bwMode="auto">
            <a:xfrm>
              <a:off x="2112" y="2496"/>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4" name="Text Box 48"/>
            <p:cNvSpPr txBox="1">
              <a:spLocks noChangeArrowheads="1"/>
            </p:cNvSpPr>
            <p:nvPr/>
          </p:nvSpPr>
          <p:spPr bwMode="auto">
            <a:xfrm>
              <a:off x="2112" y="2035"/>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5" name="Text Box 49"/>
            <p:cNvSpPr txBox="1">
              <a:spLocks noChangeArrowheads="1"/>
            </p:cNvSpPr>
            <p:nvPr/>
          </p:nvSpPr>
          <p:spPr bwMode="auto">
            <a:xfrm>
              <a:off x="2112" y="1536"/>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6" name="Text Box 50"/>
            <p:cNvSpPr txBox="1">
              <a:spLocks noChangeArrowheads="1"/>
            </p:cNvSpPr>
            <p:nvPr/>
          </p:nvSpPr>
          <p:spPr bwMode="auto">
            <a:xfrm>
              <a:off x="2064" y="1075"/>
              <a:ext cx="20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10</a:t>
              </a:r>
            </a:p>
          </p:txBody>
        </p:sp>
        <p:grpSp>
          <p:nvGrpSpPr>
            <p:cNvPr id="17" name="Group 51"/>
            <p:cNvGrpSpPr>
              <a:grpSpLocks/>
            </p:cNvGrpSpPr>
            <p:nvPr/>
          </p:nvGrpSpPr>
          <p:grpSpPr bwMode="auto">
            <a:xfrm>
              <a:off x="2098" y="470"/>
              <a:ext cx="3388" cy="3322"/>
              <a:chOff x="2098" y="470"/>
              <a:chExt cx="3388" cy="3322"/>
            </a:xfrm>
          </p:grpSpPr>
          <p:sp>
            <p:nvSpPr>
              <p:cNvPr id="18" name="Line 52"/>
              <p:cNvSpPr>
                <a:spLocks noChangeShapeType="1"/>
              </p:cNvSpPr>
              <p:nvPr/>
            </p:nvSpPr>
            <p:spPr bwMode="auto">
              <a:xfrm flipV="1">
                <a:off x="2366" y="576"/>
                <a:ext cx="0" cy="321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19" name="Line 53"/>
              <p:cNvSpPr>
                <a:spLocks noChangeShapeType="1"/>
              </p:cNvSpPr>
              <p:nvPr/>
            </p:nvSpPr>
            <p:spPr bwMode="auto">
              <a:xfrm flipH="1">
                <a:off x="2304" y="307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0" name="Line 54"/>
              <p:cNvSpPr>
                <a:spLocks noChangeShapeType="1"/>
              </p:cNvSpPr>
              <p:nvPr/>
            </p:nvSpPr>
            <p:spPr bwMode="auto">
              <a:xfrm>
                <a:off x="283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1" name="Line 55"/>
              <p:cNvSpPr>
                <a:spLocks noChangeShapeType="1"/>
              </p:cNvSpPr>
              <p:nvPr/>
            </p:nvSpPr>
            <p:spPr bwMode="auto">
              <a:xfrm>
                <a:off x="331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2" name="Line 56"/>
              <p:cNvSpPr>
                <a:spLocks noChangeShapeType="1"/>
              </p:cNvSpPr>
              <p:nvPr/>
            </p:nvSpPr>
            <p:spPr bwMode="auto">
              <a:xfrm>
                <a:off x="379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3" name="Line 57"/>
              <p:cNvSpPr>
                <a:spLocks noChangeShapeType="1"/>
              </p:cNvSpPr>
              <p:nvPr/>
            </p:nvSpPr>
            <p:spPr bwMode="auto">
              <a:xfrm>
                <a:off x="427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4" name="Line 58"/>
              <p:cNvSpPr>
                <a:spLocks noChangeShapeType="1"/>
              </p:cNvSpPr>
              <p:nvPr/>
            </p:nvSpPr>
            <p:spPr bwMode="auto">
              <a:xfrm flipH="1">
                <a:off x="2304" y="259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5" name="Line 59"/>
              <p:cNvSpPr>
                <a:spLocks noChangeShapeType="1"/>
              </p:cNvSpPr>
              <p:nvPr/>
            </p:nvSpPr>
            <p:spPr bwMode="auto">
              <a:xfrm flipH="1">
                <a:off x="2304" y="211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6" name="Line 60"/>
              <p:cNvSpPr>
                <a:spLocks noChangeShapeType="1"/>
              </p:cNvSpPr>
              <p:nvPr/>
            </p:nvSpPr>
            <p:spPr bwMode="auto">
              <a:xfrm flipH="1">
                <a:off x="2304" y="163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7" name="Line 61"/>
              <p:cNvSpPr>
                <a:spLocks noChangeShapeType="1"/>
              </p:cNvSpPr>
              <p:nvPr/>
            </p:nvSpPr>
            <p:spPr bwMode="auto">
              <a:xfrm flipH="1">
                <a:off x="2304" y="115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8" name="Text Box 62"/>
              <p:cNvSpPr txBox="1">
                <a:spLocks noChangeArrowheads="1"/>
              </p:cNvSpPr>
              <p:nvPr/>
            </p:nvSpPr>
            <p:spPr bwMode="auto">
              <a:xfrm>
                <a:off x="2143" y="47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Y</a:t>
                </a:r>
              </a:p>
            </p:txBody>
          </p:sp>
          <p:sp>
            <p:nvSpPr>
              <p:cNvPr id="29" name="Text Box 63"/>
              <p:cNvSpPr txBox="1">
                <a:spLocks noChangeArrowheads="1"/>
              </p:cNvSpPr>
              <p:nvPr/>
            </p:nvSpPr>
            <p:spPr bwMode="auto">
              <a:xfrm>
                <a:off x="5217" y="3533"/>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X</a:t>
                </a:r>
              </a:p>
            </p:txBody>
          </p:sp>
          <p:sp>
            <p:nvSpPr>
              <p:cNvPr id="30" name="Line 64"/>
              <p:cNvSpPr>
                <a:spLocks noChangeShapeType="1"/>
              </p:cNvSpPr>
              <p:nvPr/>
            </p:nvSpPr>
            <p:spPr bwMode="auto">
              <a:xfrm flipV="1">
                <a:off x="2098" y="3552"/>
                <a:ext cx="338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grpSp>
      </p:grpSp>
      <p:sp>
        <p:nvSpPr>
          <p:cNvPr id="31" name="Line 38"/>
          <p:cNvSpPr>
            <a:spLocks noChangeShapeType="1"/>
          </p:cNvSpPr>
          <p:nvPr/>
        </p:nvSpPr>
        <p:spPr bwMode="auto">
          <a:xfrm flipH="1">
            <a:off x="6118550" y="2734466"/>
            <a:ext cx="7620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 name="AutoShape 47"/>
          <p:cNvSpPr>
            <a:spLocks noChangeArrowheads="1"/>
          </p:cNvSpPr>
          <p:nvPr/>
        </p:nvSpPr>
        <p:spPr bwMode="auto">
          <a:xfrm>
            <a:off x="4706590" y="911433"/>
            <a:ext cx="2819400" cy="5562600"/>
          </a:xfrm>
          <a:prstGeom prst="triangle">
            <a:avLst>
              <a:gd name="adj" fmla="val 3791"/>
            </a:avLst>
          </a:prstGeom>
          <a:solidFill>
            <a:srgbClr val="FFFF00">
              <a:alpha val="50000"/>
            </a:srgbClr>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s-CL"/>
          </a:p>
        </p:txBody>
      </p:sp>
    </p:spTree>
    <p:extLst>
      <p:ext uri="{BB962C8B-B14F-4D97-AF65-F5344CB8AC3E}">
        <p14:creationId xmlns:p14="http://schemas.microsoft.com/office/powerpoint/2010/main" val="1021686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blinds(horizontal)">
                                      <p:cBhvr>
                                        <p:cTn id="7" dur="500"/>
                                        <p:tgtEl>
                                          <p:spTgt spid="3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grpId="1" nodeType="clickEffect">
                                  <p:stCondLst>
                                    <p:cond delay="0"/>
                                  </p:stCondLst>
                                  <p:childTnLst>
                                    <p:animEffect transition="out" filter="blinds(horizontal)">
                                      <p:cBhvr>
                                        <p:cTn id="11" dur="500"/>
                                        <p:tgtEl>
                                          <p:spTgt spid="35"/>
                                        </p:tgtEl>
                                      </p:cBhvr>
                                    </p:animEffect>
                                    <p:set>
                                      <p:cBhvr>
                                        <p:cTn id="12" dur="1" fill="hold">
                                          <p:stCondLst>
                                            <p:cond delay="499"/>
                                          </p:stCondLst>
                                        </p:cTn>
                                        <p:tgtEl>
                                          <p:spTgt spid="3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animBg="1"/>
      <p:bldP spid="35" grpId="1"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eaLnBrk="0" hangingPunct="0">
              <a:spcBef>
                <a:spcPct val="50000"/>
              </a:spcBef>
            </a:pPr>
            <a:r>
              <a:rPr lang="es-CL" dirty="0"/>
              <a:t>Restricción</a:t>
            </a:r>
            <a:br>
              <a:rPr lang="es-CL" dirty="0"/>
            </a:br>
            <a:r>
              <a:rPr lang="en-US" altLang="es-CL" sz="3200" dirty="0">
                <a:solidFill>
                  <a:schemeClr val="bg1"/>
                </a:solidFill>
              </a:rPr>
              <a:t>20 x + 10y  ≤ 100</a:t>
            </a:r>
            <a:br>
              <a:rPr lang="en-US" altLang="es-CL" sz="3200" dirty="0">
                <a:solidFill>
                  <a:schemeClr val="accent2"/>
                </a:solidFill>
              </a:rPr>
            </a:br>
            <a:r>
              <a:rPr lang="en-US" altLang="es-CL" sz="3200" b="1" dirty="0">
                <a:solidFill>
                  <a:schemeClr val="accent6">
                    <a:lumMod val="60000"/>
                    <a:lumOff val="40000"/>
                  </a:schemeClr>
                </a:solidFill>
                <a:effectLst>
                  <a:outerShdw blurRad="38100" dist="38100" dir="2700000" algn="tl">
                    <a:srgbClr val="000000">
                      <a:alpha val="43137"/>
                    </a:srgbClr>
                  </a:outerShdw>
                </a:effectLst>
              </a:rPr>
              <a:t>10 x + 10y  ≤  80</a:t>
            </a:r>
            <a:br>
              <a:rPr lang="en-US" altLang="es-CL" sz="3200" dirty="0">
                <a:solidFill>
                  <a:srgbClr val="FFFF00"/>
                </a:solidFill>
              </a:rPr>
            </a:br>
            <a:r>
              <a:rPr lang="en-US" altLang="es-CL" sz="3200" dirty="0"/>
              <a:t>    </a:t>
            </a:r>
            <a:r>
              <a:rPr lang="en-US" altLang="es-CL" sz="3200" dirty="0">
                <a:solidFill>
                  <a:schemeClr val="bg1"/>
                </a:solidFill>
              </a:rPr>
              <a:t>x       ≤  4</a:t>
            </a:r>
            <a:br>
              <a:rPr lang="en-US" altLang="es-CL" sz="3200" dirty="0"/>
            </a:br>
            <a:r>
              <a:rPr lang="en-US" altLang="es-CL" sz="3200" dirty="0"/>
              <a:t>    x       ≥ 0</a:t>
            </a:r>
            <a:br>
              <a:rPr lang="en-US" altLang="es-CL" sz="3200" dirty="0"/>
            </a:br>
            <a:r>
              <a:rPr lang="en-US" altLang="es-CL" sz="3200" dirty="0"/>
              <a:t>         y  ≥ 0</a:t>
            </a:r>
            <a:br>
              <a:rPr lang="en-US" altLang="es-CL" sz="3200" dirty="0">
                <a:latin typeface="Book Antiqua" panose="02040602050305030304" pitchFamily="18" charset="0"/>
              </a:rPr>
            </a:br>
            <a:endParaRPr lang="es-CL" sz="3200" dirty="0"/>
          </a:p>
        </p:txBody>
      </p:sp>
      <p:sp>
        <p:nvSpPr>
          <p:cNvPr id="5" name="Text Box 37"/>
          <p:cNvSpPr txBox="1">
            <a:spLocks noChangeArrowheads="1"/>
          </p:cNvSpPr>
          <p:nvPr/>
        </p:nvSpPr>
        <p:spPr bwMode="auto">
          <a:xfrm>
            <a:off x="6859891" y="2427282"/>
            <a:ext cx="14598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20x + 10y = 100</a:t>
            </a:r>
          </a:p>
        </p:txBody>
      </p:sp>
      <p:grpSp>
        <p:nvGrpSpPr>
          <p:cNvPr id="3" name="Grupo 2"/>
          <p:cNvGrpSpPr/>
          <p:nvPr/>
        </p:nvGrpSpPr>
        <p:grpSpPr>
          <a:xfrm>
            <a:off x="4759166" y="699291"/>
            <a:ext cx="5310120" cy="5869745"/>
            <a:chOff x="4759166" y="699291"/>
            <a:chExt cx="5310120" cy="5869745"/>
          </a:xfrm>
        </p:grpSpPr>
        <p:pic>
          <p:nvPicPr>
            <p:cNvPr id="4" name="Imagen 3"/>
            <p:cNvPicPr>
              <a:picLocks noChangeAspect="1"/>
            </p:cNvPicPr>
            <p:nvPr/>
          </p:nvPicPr>
          <p:blipFill>
            <a:blip r:embed="rId2"/>
            <a:stretch>
              <a:fillRect/>
            </a:stretch>
          </p:blipFill>
          <p:spPr>
            <a:xfrm>
              <a:off x="4799618" y="903508"/>
              <a:ext cx="2523963" cy="5114987"/>
            </a:xfrm>
            <a:prstGeom prst="rect">
              <a:avLst/>
            </a:prstGeom>
          </p:spPr>
        </p:pic>
        <p:grpSp>
          <p:nvGrpSpPr>
            <p:cNvPr id="7" name="Group 41"/>
            <p:cNvGrpSpPr>
              <a:grpSpLocks/>
            </p:cNvGrpSpPr>
            <p:nvPr/>
          </p:nvGrpSpPr>
          <p:grpSpPr bwMode="auto">
            <a:xfrm>
              <a:off x="4789715" y="699291"/>
              <a:ext cx="5279571" cy="5273675"/>
              <a:chOff x="2064" y="470"/>
              <a:chExt cx="3422" cy="3322"/>
            </a:xfrm>
          </p:grpSpPr>
          <p:sp>
            <p:nvSpPr>
              <p:cNvPr id="8" name="Text Box 42"/>
              <p:cNvSpPr txBox="1">
                <a:spLocks noChangeArrowheads="1"/>
              </p:cNvSpPr>
              <p:nvPr/>
            </p:nvSpPr>
            <p:spPr bwMode="auto">
              <a:xfrm>
                <a:off x="2112" y="2995"/>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9" name="Text Box 43"/>
              <p:cNvSpPr txBox="1">
                <a:spLocks noChangeArrowheads="1"/>
              </p:cNvSpPr>
              <p:nvPr/>
            </p:nvSpPr>
            <p:spPr bwMode="auto">
              <a:xfrm>
                <a:off x="2741" y="3571"/>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10" name="Text Box 44"/>
              <p:cNvSpPr txBox="1">
                <a:spLocks noChangeArrowheads="1"/>
              </p:cNvSpPr>
              <p:nvPr/>
            </p:nvSpPr>
            <p:spPr bwMode="auto">
              <a:xfrm>
                <a:off x="3221" y="3565"/>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1" name="Text Box 45"/>
              <p:cNvSpPr txBox="1">
                <a:spLocks noChangeArrowheads="1"/>
              </p:cNvSpPr>
              <p:nvPr/>
            </p:nvSpPr>
            <p:spPr bwMode="auto">
              <a:xfrm>
                <a:off x="3701" y="3600"/>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2" name="Text Box 46"/>
              <p:cNvSpPr txBox="1">
                <a:spLocks noChangeArrowheads="1"/>
              </p:cNvSpPr>
              <p:nvPr/>
            </p:nvSpPr>
            <p:spPr bwMode="auto">
              <a:xfrm>
                <a:off x="4181" y="3600"/>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3" name="Text Box 47"/>
              <p:cNvSpPr txBox="1">
                <a:spLocks noChangeArrowheads="1"/>
              </p:cNvSpPr>
              <p:nvPr/>
            </p:nvSpPr>
            <p:spPr bwMode="auto">
              <a:xfrm>
                <a:off x="2112" y="2496"/>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4" name="Text Box 48"/>
              <p:cNvSpPr txBox="1">
                <a:spLocks noChangeArrowheads="1"/>
              </p:cNvSpPr>
              <p:nvPr/>
            </p:nvSpPr>
            <p:spPr bwMode="auto">
              <a:xfrm>
                <a:off x="2112" y="2035"/>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5" name="Text Box 49"/>
              <p:cNvSpPr txBox="1">
                <a:spLocks noChangeArrowheads="1"/>
              </p:cNvSpPr>
              <p:nvPr/>
            </p:nvSpPr>
            <p:spPr bwMode="auto">
              <a:xfrm>
                <a:off x="2112" y="1536"/>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6" name="Text Box 50"/>
              <p:cNvSpPr txBox="1">
                <a:spLocks noChangeArrowheads="1"/>
              </p:cNvSpPr>
              <p:nvPr/>
            </p:nvSpPr>
            <p:spPr bwMode="auto">
              <a:xfrm>
                <a:off x="2064" y="1075"/>
                <a:ext cx="20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10</a:t>
                </a:r>
              </a:p>
            </p:txBody>
          </p:sp>
          <p:grpSp>
            <p:nvGrpSpPr>
              <p:cNvPr id="17" name="Group 51"/>
              <p:cNvGrpSpPr>
                <a:grpSpLocks/>
              </p:cNvGrpSpPr>
              <p:nvPr/>
            </p:nvGrpSpPr>
            <p:grpSpPr bwMode="auto">
              <a:xfrm>
                <a:off x="2098" y="470"/>
                <a:ext cx="3388" cy="3322"/>
                <a:chOff x="2098" y="470"/>
                <a:chExt cx="3388" cy="3322"/>
              </a:xfrm>
            </p:grpSpPr>
            <p:sp>
              <p:nvSpPr>
                <p:cNvPr id="18" name="Line 52"/>
                <p:cNvSpPr>
                  <a:spLocks noChangeShapeType="1"/>
                </p:cNvSpPr>
                <p:nvPr/>
              </p:nvSpPr>
              <p:spPr bwMode="auto">
                <a:xfrm flipV="1">
                  <a:off x="2366" y="576"/>
                  <a:ext cx="0" cy="321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19" name="Line 53"/>
                <p:cNvSpPr>
                  <a:spLocks noChangeShapeType="1"/>
                </p:cNvSpPr>
                <p:nvPr/>
              </p:nvSpPr>
              <p:spPr bwMode="auto">
                <a:xfrm flipH="1">
                  <a:off x="2304" y="307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0" name="Line 54"/>
                <p:cNvSpPr>
                  <a:spLocks noChangeShapeType="1"/>
                </p:cNvSpPr>
                <p:nvPr/>
              </p:nvSpPr>
              <p:spPr bwMode="auto">
                <a:xfrm>
                  <a:off x="283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1" name="Line 55"/>
                <p:cNvSpPr>
                  <a:spLocks noChangeShapeType="1"/>
                </p:cNvSpPr>
                <p:nvPr/>
              </p:nvSpPr>
              <p:spPr bwMode="auto">
                <a:xfrm>
                  <a:off x="331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2" name="Line 56"/>
                <p:cNvSpPr>
                  <a:spLocks noChangeShapeType="1"/>
                </p:cNvSpPr>
                <p:nvPr/>
              </p:nvSpPr>
              <p:spPr bwMode="auto">
                <a:xfrm>
                  <a:off x="379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3" name="Line 57"/>
                <p:cNvSpPr>
                  <a:spLocks noChangeShapeType="1"/>
                </p:cNvSpPr>
                <p:nvPr/>
              </p:nvSpPr>
              <p:spPr bwMode="auto">
                <a:xfrm>
                  <a:off x="427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4" name="Line 58"/>
                <p:cNvSpPr>
                  <a:spLocks noChangeShapeType="1"/>
                </p:cNvSpPr>
                <p:nvPr/>
              </p:nvSpPr>
              <p:spPr bwMode="auto">
                <a:xfrm flipH="1">
                  <a:off x="2304" y="259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5" name="Line 59"/>
                <p:cNvSpPr>
                  <a:spLocks noChangeShapeType="1"/>
                </p:cNvSpPr>
                <p:nvPr/>
              </p:nvSpPr>
              <p:spPr bwMode="auto">
                <a:xfrm flipH="1">
                  <a:off x="2304" y="211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6" name="Line 60"/>
                <p:cNvSpPr>
                  <a:spLocks noChangeShapeType="1"/>
                </p:cNvSpPr>
                <p:nvPr/>
              </p:nvSpPr>
              <p:spPr bwMode="auto">
                <a:xfrm flipH="1">
                  <a:off x="2304" y="163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7" name="Line 61"/>
                <p:cNvSpPr>
                  <a:spLocks noChangeShapeType="1"/>
                </p:cNvSpPr>
                <p:nvPr/>
              </p:nvSpPr>
              <p:spPr bwMode="auto">
                <a:xfrm flipH="1">
                  <a:off x="2304" y="115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8" name="Text Box 62"/>
                <p:cNvSpPr txBox="1">
                  <a:spLocks noChangeArrowheads="1"/>
                </p:cNvSpPr>
                <p:nvPr/>
              </p:nvSpPr>
              <p:spPr bwMode="auto">
                <a:xfrm>
                  <a:off x="2143" y="47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Y</a:t>
                  </a:r>
                </a:p>
              </p:txBody>
            </p:sp>
            <p:sp>
              <p:nvSpPr>
                <p:cNvPr id="29" name="Text Box 63"/>
                <p:cNvSpPr txBox="1">
                  <a:spLocks noChangeArrowheads="1"/>
                </p:cNvSpPr>
                <p:nvPr/>
              </p:nvSpPr>
              <p:spPr bwMode="auto">
                <a:xfrm>
                  <a:off x="5217" y="3533"/>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X</a:t>
                  </a:r>
                </a:p>
              </p:txBody>
            </p:sp>
            <p:sp>
              <p:nvSpPr>
                <p:cNvPr id="30" name="Line 64"/>
                <p:cNvSpPr>
                  <a:spLocks noChangeShapeType="1"/>
                </p:cNvSpPr>
                <p:nvPr/>
              </p:nvSpPr>
              <p:spPr bwMode="auto">
                <a:xfrm flipV="1">
                  <a:off x="2098" y="3552"/>
                  <a:ext cx="338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grpSp>
        </p:grpSp>
        <p:sp>
          <p:nvSpPr>
            <p:cNvPr id="31" name="Line 38"/>
            <p:cNvSpPr>
              <a:spLocks noChangeShapeType="1"/>
            </p:cNvSpPr>
            <p:nvPr/>
          </p:nvSpPr>
          <p:spPr bwMode="auto">
            <a:xfrm flipH="1">
              <a:off x="6118550" y="2734466"/>
              <a:ext cx="7620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 name="AutoShape 47"/>
            <p:cNvSpPr>
              <a:spLocks noChangeArrowheads="1"/>
            </p:cNvSpPr>
            <p:nvPr/>
          </p:nvSpPr>
          <p:spPr bwMode="auto">
            <a:xfrm>
              <a:off x="4759166" y="1006436"/>
              <a:ext cx="2819400" cy="5562600"/>
            </a:xfrm>
            <a:prstGeom prst="triangle">
              <a:avLst>
                <a:gd name="adj" fmla="val 2948"/>
              </a:avLst>
            </a:prstGeom>
            <a:solidFill>
              <a:srgbClr val="FFFF00">
                <a:alpha val="50000"/>
              </a:srgbClr>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s-CL"/>
            </a:p>
          </p:txBody>
        </p:sp>
      </p:grpSp>
      <p:sp>
        <p:nvSpPr>
          <p:cNvPr id="32" name="Text Box 31"/>
          <p:cNvSpPr txBox="1">
            <a:spLocks noChangeArrowheads="1"/>
          </p:cNvSpPr>
          <p:nvPr/>
        </p:nvSpPr>
        <p:spPr bwMode="auto">
          <a:xfrm>
            <a:off x="8034598" y="3951281"/>
            <a:ext cx="135966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10x + 10y = 80</a:t>
            </a:r>
          </a:p>
        </p:txBody>
      </p:sp>
      <p:sp>
        <p:nvSpPr>
          <p:cNvPr id="33" name="AutoShape 30"/>
          <p:cNvSpPr>
            <a:spLocks noChangeArrowheads="1"/>
          </p:cNvSpPr>
          <p:nvPr/>
        </p:nvSpPr>
        <p:spPr bwMode="auto">
          <a:xfrm>
            <a:off x="4356534" y="1676397"/>
            <a:ext cx="4906219" cy="5030788"/>
          </a:xfrm>
          <a:prstGeom prst="triangle">
            <a:avLst>
              <a:gd name="adj" fmla="val 0"/>
            </a:avLst>
          </a:prstGeom>
          <a:solidFill>
            <a:srgbClr val="FF0000">
              <a:alpha val="40000"/>
            </a:srgbClr>
          </a:solidFill>
          <a:ln>
            <a:noFill/>
          </a:ln>
          <a:effectLst/>
        </p:spPr>
        <p:txBody>
          <a:bodyPr wrap="square" anchor="ctr">
            <a:spAutoFit/>
          </a:bodyPr>
          <a:lstStyle/>
          <a:p>
            <a:endParaRPr lang="es-CL"/>
          </a:p>
        </p:txBody>
      </p:sp>
      <p:cxnSp>
        <p:nvCxnSpPr>
          <p:cNvPr id="34" name="Conector recto 33"/>
          <p:cNvCxnSpPr>
            <a:endCxn id="33" idx="4"/>
          </p:cNvCxnSpPr>
          <p:nvPr/>
        </p:nvCxnSpPr>
        <p:spPr>
          <a:xfrm>
            <a:off x="4215740" y="1520042"/>
            <a:ext cx="5047013" cy="518714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Line 38"/>
          <p:cNvSpPr>
            <a:spLocks noChangeShapeType="1"/>
          </p:cNvSpPr>
          <p:nvPr/>
        </p:nvSpPr>
        <p:spPr bwMode="auto">
          <a:xfrm flipH="1">
            <a:off x="7515108" y="4273287"/>
            <a:ext cx="7620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Tree>
    <p:extLst>
      <p:ext uri="{BB962C8B-B14F-4D97-AF65-F5344CB8AC3E}">
        <p14:creationId xmlns:p14="http://schemas.microsoft.com/office/powerpoint/2010/main" val="248390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eaLnBrk="0" hangingPunct="0">
              <a:spcBef>
                <a:spcPct val="50000"/>
              </a:spcBef>
            </a:pPr>
            <a:r>
              <a:rPr lang="es-CL" dirty="0"/>
              <a:t>Restricción</a:t>
            </a:r>
            <a:br>
              <a:rPr lang="es-CL" dirty="0"/>
            </a:br>
            <a:r>
              <a:rPr lang="en-US" altLang="es-CL" sz="3200" dirty="0">
                <a:solidFill>
                  <a:schemeClr val="bg1"/>
                </a:solidFill>
              </a:rPr>
              <a:t>20 x + 10y  ≤ 100</a:t>
            </a:r>
            <a:br>
              <a:rPr lang="en-US" altLang="es-CL" sz="3200" dirty="0">
                <a:solidFill>
                  <a:schemeClr val="accent2"/>
                </a:solidFill>
              </a:rPr>
            </a:br>
            <a:r>
              <a:rPr lang="en-US" altLang="es-CL" sz="3200" dirty="0">
                <a:solidFill>
                  <a:schemeClr val="bg1"/>
                </a:solidFill>
              </a:rPr>
              <a:t>10 x + 10y  ≤  80</a:t>
            </a:r>
            <a:br>
              <a:rPr lang="en-US" altLang="es-CL" sz="3200" dirty="0">
                <a:solidFill>
                  <a:srgbClr val="FFFF00"/>
                </a:solidFill>
              </a:rPr>
            </a:br>
            <a:r>
              <a:rPr lang="en-US" altLang="es-CL" sz="3200" dirty="0"/>
              <a:t>    </a:t>
            </a:r>
            <a:r>
              <a:rPr lang="en-US" altLang="es-CL" sz="3200" b="1" dirty="0">
                <a:solidFill>
                  <a:srgbClr val="FF00FF"/>
                </a:solidFill>
                <a:effectLst>
                  <a:outerShdw blurRad="38100" dist="38100" dir="2700000" algn="tl">
                    <a:srgbClr val="000000">
                      <a:alpha val="43137"/>
                    </a:srgbClr>
                  </a:outerShdw>
                </a:effectLst>
              </a:rPr>
              <a:t>x       ≤  4</a:t>
            </a:r>
            <a:br>
              <a:rPr lang="en-US" altLang="es-CL" sz="3200" dirty="0">
                <a:effectLst>
                  <a:outerShdw blurRad="38100" dist="38100" dir="2700000" algn="tl">
                    <a:srgbClr val="000000">
                      <a:alpha val="43137"/>
                    </a:srgbClr>
                  </a:outerShdw>
                </a:effectLst>
              </a:rPr>
            </a:br>
            <a:r>
              <a:rPr lang="en-US" altLang="es-CL" sz="3200" dirty="0"/>
              <a:t>    x       ≥ 0</a:t>
            </a:r>
            <a:br>
              <a:rPr lang="en-US" altLang="es-CL" sz="3200" dirty="0"/>
            </a:br>
            <a:r>
              <a:rPr lang="en-US" altLang="es-CL" sz="3200" dirty="0"/>
              <a:t>         y  ≥ 0</a:t>
            </a:r>
            <a:br>
              <a:rPr lang="en-US" altLang="es-CL" sz="3200" dirty="0">
                <a:latin typeface="Book Antiqua" panose="02040602050305030304" pitchFamily="18" charset="0"/>
              </a:rPr>
            </a:br>
            <a:endParaRPr lang="es-CL" sz="3200" dirty="0"/>
          </a:p>
        </p:txBody>
      </p:sp>
      <p:sp>
        <p:nvSpPr>
          <p:cNvPr id="5" name="Text Box 37"/>
          <p:cNvSpPr txBox="1">
            <a:spLocks noChangeArrowheads="1"/>
          </p:cNvSpPr>
          <p:nvPr/>
        </p:nvSpPr>
        <p:spPr bwMode="auto">
          <a:xfrm>
            <a:off x="6859891" y="2427282"/>
            <a:ext cx="14598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20x + 10y = 100</a:t>
            </a:r>
          </a:p>
        </p:txBody>
      </p:sp>
      <p:grpSp>
        <p:nvGrpSpPr>
          <p:cNvPr id="3" name="Grupo 2"/>
          <p:cNvGrpSpPr/>
          <p:nvPr/>
        </p:nvGrpSpPr>
        <p:grpSpPr>
          <a:xfrm>
            <a:off x="4759166" y="699291"/>
            <a:ext cx="5310120" cy="5869745"/>
            <a:chOff x="4759166" y="699291"/>
            <a:chExt cx="5310120" cy="5869745"/>
          </a:xfrm>
        </p:grpSpPr>
        <p:pic>
          <p:nvPicPr>
            <p:cNvPr id="4" name="Imagen 3"/>
            <p:cNvPicPr>
              <a:picLocks noChangeAspect="1"/>
            </p:cNvPicPr>
            <p:nvPr/>
          </p:nvPicPr>
          <p:blipFill>
            <a:blip r:embed="rId2"/>
            <a:stretch>
              <a:fillRect/>
            </a:stretch>
          </p:blipFill>
          <p:spPr>
            <a:xfrm>
              <a:off x="4799618" y="903508"/>
              <a:ext cx="2523963" cy="5114987"/>
            </a:xfrm>
            <a:prstGeom prst="rect">
              <a:avLst/>
            </a:prstGeom>
          </p:spPr>
        </p:pic>
        <p:grpSp>
          <p:nvGrpSpPr>
            <p:cNvPr id="7" name="Group 41"/>
            <p:cNvGrpSpPr>
              <a:grpSpLocks/>
            </p:cNvGrpSpPr>
            <p:nvPr/>
          </p:nvGrpSpPr>
          <p:grpSpPr bwMode="auto">
            <a:xfrm>
              <a:off x="4789715" y="699291"/>
              <a:ext cx="5279571" cy="5273675"/>
              <a:chOff x="2064" y="470"/>
              <a:chExt cx="3422" cy="3322"/>
            </a:xfrm>
          </p:grpSpPr>
          <p:sp>
            <p:nvSpPr>
              <p:cNvPr id="8" name="Text Box 42"/>
              <p:cNvSpPr txBox="1">
                <a:spLocks noChangeArrowheads="1"/>
              </p:cNvSpPr>
              <p:nvPr/>
            </p:nvSpPr>
            <p:spPr bwMode="auto">
              <a:xfrm>
                <a:off x="2112" y="2995"/>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9" name="Text Box 43"/>
              <p:cNvSpPr txBox="1">
                <a:spLocks noChangeArrowheads="1"/>
              </p:cNvSpPr>
              <p:nvPr/>
            </p:nvSpPr>
            <p:spPr bwMode="auto">
              <a:xfrm>
                <a:off x="2741" y="3571"/>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10" name="Text Box 44"/>
              <p:cNvSpPr txBox="1">
                <a:spLocks noChangeArrowheads="1"/>
              </p:cNvSpPr>
              <p:nvPr/>
            </p:nvSpPr>
            <p:spPr bwMode="auto">
              <a:xfrm>
                <a:off x="3221" y="3565"/>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1" name="Text Box 45"/>
              <p:cNvSpPr txBox="1">
                <a:spLocks noChangeArrowheads="1"/>
              </p:cNvSpPr>
              <p:nvPr/>
            </p:nvSpPr>
            <p:spPr bwMode="auto">
              <a:xfrm>
                <a:off x="3701" y="3600"/>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2" name="Text Box 46"/>
              <p:cNvSpPr txBox="1">
                <a:spLocks noChangeArrowheads="1"/>
              </p:cNvSpPr>
              <p:nvPr/>
            </p:nvSpPr>
            <p:spPr bwMode="auto">
              <a:xfrm>
                <a:off x="4181" y="3600"/>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3" name="Text Box 47"/>
              <p:cNvSpPr txBox="1">
                <a:spLocks noChangeArrowheads="1"/>
              </p:cNvSpPr>
              <p:nvPr/>
            </p:nvSpPr>
            <p:spPr bwMode="auto">
              <a:xfrm>
                <a:off x="2112" y="2496"/>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4" name="Text Box 48"/>
              <p:cNvSpPr txBox="1">
                <a:spLocks noChangeArrowheads="1"/>
              </p:cNvSpPr>
              <p:nvPr/>
            </p:nvSpPr>
            <p:spPr bwMode="auto">
              <a:xfrm>
                <a:off x="2112" y="2035"/>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5" name="Text Box 49"/>
              <p:cNvSpPr txBox="1">
                <a:spLocks noChangeArrowheads="1"/>
              </p:cNvSpPr>
              <p:nvPr/>
            </p:nvSpPr>
            <p:spPr bwMode="auto">
              <a:xfrm>
                <a:off x="2112" y="1536"/>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6" name="Text Box 50"/>
              <p:cNvSpPr txBox="1">
                <a:spLocks noChangeArrowheads="1"/>
              </p:cNvSpPr>
              <p:nvPr/>
            </p:nvSpPr>
            <p:spPr bwMode="auto">
              <a:xfrm>
                <a:off x="2064" y="1075"/>
                <a:ext cx="20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10</a:t>
                </a:r>
              </a:p>
            </p:txBody>
          </p:sp>
          <p:grpSp>
            <p:nvGrpSpPr>
              <p:cNvPr id="17" name="Group 51"/>
              <p:cNvGrpSpPr>
                <a:grpSpLocks/>
              </p:cNvGrpSpPr>
              <p:nvPr/>
            </p:nvGrpSpPr>
            <p:grpSpPr bwMode="auto">
              <a:xfrm>
                <a:off x="2098" y="470"/>
                <a:ext cx="3388" cy="3322"/>
                <a:chOff x="2098" y="470"/>
                <a:chExt cx="3388" cy="3322"/>
              </a:xfrm>
            </p:grpSpPr>
            <p:sp>
              <p:nvSpPr>
                <p:cNvPr id="18" name="Line 52"/>
                <p:cNvSpPr>
                  <a:spLocks noChangeShapeType="1"/>
                </p:cNvSpPr>
                <p:nvPr/>
              </p:nvSpPr>
              <p:spPr bwMode="auto">
                <a:xfrm flipV="1">
                  <a:off x="2366" y="576"/>
                  <a:ext cx="0" cy="321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19" name="Line 53"/>
                <p:cNvSpPr>
                  <a:spLocks noChangeShapeType="1"/>
                </p:cNvSpPr>
                <p:nvPr/>
              </p:nvSpPr>
              <p:spPr bwMode="auto">
                <a:xfrm flipH="1">
                  <a:off x="2304" y="307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0" name="Line 54"/>
                <p:cNvSpPr>
                  <a:spLocks noChangeShapeType="1"/>
                </p:cNvSpPr>
                <p:nvPr/>
              </p:nvSpPr>
              <p:spPr bwMode="auto">
                <a:xfrm>
                  <a:off x="283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1" name="Line 55"/>
                <p:cNvSpPr>
                  <a:spLocks noChangeShapeType="1"/>
                </p:cNvSpPr>
                <p:nvPr/>
              </p:nvSpPr>
              <p:spPr bwMode="auto">
                <a:xfrm>
                  <a:off x="331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2" name="Line 56"/>
                <p:cNvSpPr>
                  <a:spLocks noChangeShapeType="1"/>
                </p:cNvSpPr>
                <p:nvPr/>
              </p:nvSpPr>
              <p:spPr bwMode="auto">
                <a:xfrm>
                  <a:off x="379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3" name="Line 57"/>
                <p:cNvSpPr>
                  <a:spLocks noChangeShapeType="1"/>
                </p:cNvSpPr>
                <p:nvPr/>
              </p:nvSpPr>
              <p:spPr bwMode="auto">
                <a:xfrm>
                  <a:off x="427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4" name="Line 58"/>
                <p:cNvSpPr>
                  <a:spLocks noChangeShapeType="1"/>
                </p:cNvSpPr>
                <p:nvPr/>
              </p:nvSpPr>
              <p:spPr bwMode="auto">
                <a:xfrm flipH="1">
                  <a:off x="2304" y="259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5" name="Line 59"/>
                <p:cNvSpPr>
                  <a:spLocks noChangeShapeType="1"/>
                </p:cNvSpPr>
                <p:nvPr/>
              </p:nvSpPr>
              <p:spPr bwMode="auto">
                <a:xfrm flipH="1">
                  <a:off x="2304" y="211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6" name="Line 60"/>
                <p:cNvSpPr>
                  <a:spLocks noChangeShapeType="1"/>
                </p:cNvSpPr>
                <p:nvPr/>
              </p:nvSpPr>
              <p:spPr bwMode="auto">
                <a:xfrm flipH="1">
                  <a:off x="2304" y="163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7" name="Line 61"/>
                <p:cNvSpPr>
                  <a:spLocks noChangeShapeType="1"/>
                </p:cNvSpPr>
                <p:nvPr/>
              </p:nvSpPr>
              <p:spPr bwMode="auto">
                <a:xfrm flipH="1">
                  <a:off x="2304" y="115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8" name="Text Box 62"/>
                <p:cNvSpPr txBox="1">
                  <a:spLocks noChangeArrowheads="1"/>
                </p:cNvSpPr>
                <p:nvPr/>
              </p:nvSpPr>
              <p:spPr bwMode="auto">
                <a:xfrm>
                  <a:off x="2143" y="47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Y</a:t>
                  </a:r>
                </a:p>
              </p:txBody>
            </p:sp>
            <p:sp>
              <p:nvSpPr>
                <p:cNvPr id="29" name="Text Box 63"/>
                <p:cNvSpPr txBox="1">
                  <a:spLocks noChangeArrowheads="1"/>
                </p:cNvSpPr>
                <p:nvPr/>
              </p:nvSpPr>
              <p:spPr bwMode="auto">
                <a:xfrm>
                  <a:off x="5217" y="3533"/>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X</a:t>
                  </a:r>
                </a:p>
              </p:txBody>
            </p:sp>
            <p:sp>
              <p:nvSpPr>
                <p:cNvPr id="30" name="Line 64"/>
                <p:cNvSpPr>
                  <a:spLocks noChangeShapeType="1"/>
                </p:cNvSpPr>
                <p:nvPr/>
              </p:nvSpPr>
              <p:spPr bwMode="auto">
                <a:xfrm flipV="1">
                  <a:off x="2098" y="3552"/>
                  <a:ext cx="338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grpSp>
        </p:grpSp>
        <p:sp>
          <p:nvSpPr>
            <p:cNvPr id="31" name="Line 38"/>
            <p:cNvSpPr>
              <a:spLocks noChangeShapeType="1"/>
            </p:cNvSpPr>
            <p:nvPr/>
          </p:nvSpPr>
          <p:spPr bwMode="auto">
            <a:xfrm flipH="1">
              <a:off x="6118550" y="2734466"/>
              <a:ext cx="7620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 name="AutoShape 47"/>
            <p:cNvSpPr>
              <a:spLocks noChangeArrowheads="1"/>
            </p:cNvSpPr>
            <p:nvPr/>
          </p:nvSpPr>
          <p:spPr bwMode="auto">
            <a:xfrm>
              <a:off x="4759166" y="1006436"/>
              <a:ext cx="2819400" cy="5562600"/>
            </a:xfrm>
            <a:prstGeom prst="triangle">
              <a:avLst>
                <a:gd name="adj" fmla="val 2948"/>
              </a:avLst>
            </a:prstGeom>
            <a:solidFill>
              <a:srgbClr val="FFFF00">
                <a:alpha val="50000"/>
              </a:srgbClr>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s-CL"/>
            </a:p>
          </p:txBody>
        </p:sp>
      </p:grpSp>
      <p:sp>
        <p:nvSpPr>
          <p:cNvPr id="32" name="Text Box 31"/>
          <p:cNvSpPr txBox="1">
            <a:spLocks noChangeArrowheads="1"/>
          </p:cNvSpPr>
          <p:nvPr/>
        </p:nvSpPr>
        <p:spPr bwMode="auto">
          <a:xfrm>
            <a:off x="8034598" y="3951281"/>
            <a:ext cx="135966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10x + 10y = 80</a:t>
            </a:r>
          </a:p>
        </p:txBody>
      </p:sp>
      <p:sp>
        <p:nvSpPr>
          <p:cNvPr id="33" name="AutoShape 30"/>
          <p:cNvSpPr>
            <a:spLocks noChangeArrowheads="1"/>
          </p:cNvSpPr>
          <p:nvPr/>
        </p:nvSpPr>
        <p:spPr bwMode="auto">
          <a:xfrm>
            <a:off x="4356534" y="1676397"/>
            <a:ext cx="4906219" cy="5030788"/>
          </a:xfrm>
          <a:prstGeom prst="triangle">
            <a:avLst>
              <a:gd name="adj" fmla="val 0"/>
            </a:avLst>
          </a:prstGeom>
          <a:solidFill>
            <a:srgbClr val="FF0000">
              <a:alpha val="40000"/>
            </a:srgbClr>
          </a:solidFill>
          <a:ln>
            <a:noFill/>
          </a:ln>
          <a:effectLst/>
        </p:spPr>
        <p:txBody>
          <a:bodyPr wrap="square" anchor="ctr">
            <a:spAutoFit/>
          </a:bodyPr>
          <a:lstStyle/>
          <a:p>
            <a:endParaRPr lang="es-CL"/>
          </a:p>
        </p:txBody>
      </p:sp>
      <p:cxnSp>
        <p:nvCxnSpPr>
          <p:cNvPr id="34" name="Conector recto 33"/>
          <p:cNvCxnSpPr>
            <a:endCxn id="33" idx="4"/>
          </p:cNvCxnSpPr>
          <p:nvPr/>
        </p:nvCxnSpPr>
        <p:spPr>
          <a:xfrm>
            <a:off x="4215740" y="1520042"/>
            <a:ext cx="5047013" cy="518714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Line 38"/>
          <p:cNvSpPr>
            <a:spLocks noChangeShapeType="1"/>
          </p:cNvSpPr>
          <p:nvPr/>
        </p:nvSpPr>
        <p:spPr bwMode="auto">
          <a:xfrm flipH="1">
            <a:off x="7515108" y="4273287"/>
            <a:ext cx="7620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9" name="Line 30"/>
          <p:cNvSpPr>
            <a:spLocks noChangeShapeType="1"/>
          </p:cNvSpPr>
          <p:nvPr/>
        </p:nvSpPr>
        <p:spPr bwMode="auto">
          <a:xfrm flipV="1">
            <a:off x="6707455" y="845451"/>
            <a:ext cx="795" cy="583961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40" name="Text Box 32"/>
          <p:cNvSpPr txBox="1">
            <a:spLocks noChangeArrowheads="1"/>
          </p:cNvSpPr>
          <p:nvPr/>
        </p:nvSpPr>
        <p:spPr bwMode="auto">
          <a:xfrm>
            <a:off x="7107083" y="1175158"/>
            <a:ext cx="7445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 altLang="es-CL" sz="1600" dirty="0"/>
              <a:t>x = 4</a:t>
            </a:r>
          </a:p>
        </p:txBody>
      </p:sp>
      <p:sp>
        <p:nvSpPr>
          <p:cNvPr id="41" name="Line 33"/>
          <p:cNvSpPr>
            <a:spLocks noChangeShapeType="1"/>
          </p:cNvSpPr>
          <p:nvPr/>
        </p:nvSpPr>
        <p:spPr bwMode="auto">
          <a:xfrm flipH="1">
            <a:off x="6714581" y="1520042"/>
            <a:ext cx="6858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42" name="Rectángulo 41"/>
          <p:cNvSpPr/>
          <p:nvPr/>
        </p:nvSpPr>
        <p:spPr>
          <a:xfrm>
            <a:off x="4551583" y="903508"/>
            <a:ext cx="2162998" cy="5803677"/>
          </a:xfrm>
          <a:prstGeom prst="rect">
            <a:avLst/>
          </a:prstGeom>
          <a:solidFill>
            <a:srgbClr val="A71993">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205743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down)">
                                      <p:cBhvr>
                                        <p:cTn id="1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9"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pPr eaLnBrk="0" hangingPunct="0">
              <a:spcBef>
                <a:spcPct val="50000"/>
              </a:spcBef>
            </a:pPr>
            <a:r>
              <a:rPr lang="es-CL" dirty="0"/>
              <a:t>Restricción</a:t>
            </a:r>
            <a:br>
              <a:rPr lang="es-CL" dirty="0"/>
            </a:br>
            <a:r>
              <a:rPr lang="en-US" altLang="es-CL" sz="3200" dirty="0">
                <a:solidFill>
                  <a:schemeClr val="bg1"/>
                </a:solidFill>
              </a:rPr>
              <a:t>20 x + 10y  ≤ 100</a:t>
            </a:r>
            <a:br>
              <a:rPr lang="en-US" altLang="es-CL" sz="3200" dirty="0">
                <a:solidFill>
                  <a:schemeClr val="accent2"/>
                </a:solidFill>
              </a:rPr>
            </a:br>
            <a:r>
              <a:rPr lang="en-US" altLang="es-CL" sz="3200" dirty="0">
                <a:solidFill>
                  <a:schemeClr val="bg1"/>
                </a:solidFill>
              </a:rPr>
              <a:t>10 x + 10y  ≤  80</a:t>
            </a:r>
            <a:br>
              <a:rPr lang="en-US" altLang="es-CL" sz="3200" dirty="0">
                <a:solidFill>
                  <a:srgbClr val="FFFF00"/>
                </a:solidFill>
              </a:rPr>
            </a:br>
            <a:r>
              <a:rPr lang="en-US" altLang="es-CL" sz="3200" dirty="0"/>
              <a:t>    </a:t>
            </a:r>
            <a:r>
              <a:rPr lang="en-US" altLang="es-CL" sz="3200" dirty="0">
                <a:solidFill>
                  <a:schemeClr val="bg1"/>
                </a:solidFill>
              </a:rPr>
              <a:t>x       ≤  4</a:t>
            </a:r>
            <a:br>
              <a:rPr lang="en-US" altLang="es-CL" sz="3200" dirty="0"/>
            </a:br>
            <a:r>
              <a:rPr lang="en-US" altLang="es-CL" sz="3200" b="1" dirty="0">
                <a:solidFill>
                  <a:srgbClr val="339966"/>
                </a:solidFill>
              </a:rPr>
              <a:t>    </a:t>
            </a:r>
            <a:r>
              <a:rPr lang="en-US" altLang="es-CL" sz="3200" b="1" dirty="0">
                <a:solidFill>
                  <a:srgbClr val="2B8156"/>
                </a:solidFill>
                <a:effectLst>
                  <a:outerShdw blurRad="38100" dist="38100" dir="2700000" algn="tl">
                    <a:srgbClr val="000000">
                      <a:alpha val="43137"/>
                    </a:srgbClr>
                  </a:outerShdw>
                </a:effectLst>
              </a:rPr>
              <a:t>x       ≥ 0</a:t>
            </a:r>
            <a:br>
              <a:rPr lang="en-US" altLang="es-CL" sz="3200" b="1" dirty="0">
                <a:solidFill>
                  <a:srgbClr val="2B8156"/>
                </a:solidFill>
                <a:effectLst>
                  <a:outerShdw blurRad="38100" dist="38100" dir="2700000" algn="tl">
                    <a:srgbClr val="000000">
                      <a:alpha val="43137"/>
                    </a:srgbClr>
                  </a:outerShdw>
                </a:effectLst>
              </a:rPr>
            </a:br>
            <a:r>
              <a:rPr lang="en-US" altLang="es-CL" sz="3200" b="1" dirty="0">
                <a:solidFill>
                  <a:srgbClr val="2B8156"/>
                </a:solidFill>
                <a:effectLst>
                  <a:outerShdw blurRad="38100" dist="38100" dir="2700000" algn="tl">
                    <a:srgbClr val="000000">
                      <a:alpha val="43137"/>
                    </a:srgbClr>
                  </a:outerShdw>
                </a:effectLst>
              </a:rPr>
              <a:t>         y  ≥ 0</a:t>
            </a:r>
            <a:br>
              <a:rPr lang="en-US" altLang="es-CL" sz="3200" dirty="0">
                <a:effectLst>
                  <a:outerShdw blurRad="38100" dist="38100" dir="2700000" algn="tl">
                    <a:srgbClr val="000000">
                      <a:alpha val="43137"/>
                    </a:srgbClr>
                  </a:outerShdw>
                </a:effectLst>
                <a:latin typeface="Book Antiqua" panose="02040602050305030304" pitchFamily="18" charset="0"/>
              </a:rPr>
            </a:br>
            <a:endParaRPr lang="es-CL" sz="3200" dirty="0">
              <a:effectLst>
                <a:outerShdw blurRad="38100" dist="38100" dir="2700000" algn="tl">
                  <a:srgbClr val="000000">
                    <a:alpha val="43137"/>
                  </a:srgbClr>
                </a:outerShdw>
              </a:effectLst>
            </a:endParaRPr>
          </a:p>
        </p:txBody>
      </p:sp>
      <p:sp>
        <p:nvSpPr>
          <p:cNvPr id="5" name="Text Box 37"/>
          <p:cNvSpPr txBox="1">
            <a:spLocks noChangeArrowheads="1"/>
          </p:cNvSpPr>
          <p:nvPr/>
        </p:nvSpPr>
        <p:spPr bwMode="auto">
          <a:xfrm>
            <a:off x="7012715" y="2129740"/>
            <a:ext cx="14598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20x + 10y = 100</a:t>
            </a:r>
          </a:p>
        </p:txBody>
      </p:sp>
      <p:grpSp>
        <p:nvGrpSpPr>
          <p:cNvPr id="3" name="Grupo 2"/>
          <p:cNvGrpSpPr/>
          <p:nvPr/>
        </p:nvGrpSpPr>
        <p:grpSpPr>
          <a:xfrm>
            <a:off x="4789715" y="699291"/>
            <a:ext cx="5279571" cy="5319204"/>
            <a:chOff x="4789715" y="699291"/>
            <a:chExt cx="5279571" cy="5319204"/>
          </a:xfrm>
        </p:grpSpPr>
        <p:pic>
          <p:nvPicPr>
            <p:cNvPr id="4" name="Imagen 3"/>
            <p:cNvPicPr>
              <a:picLocks noChangeAspect="1"/>
            </p:cNvPicPr>
            <p:nvPr/>
          </p:nvPicPr>
          <p:blipFill>
            <a:blip r:embed="rId2"/>
            <a:stretch>
              <a:fillRect/>
            </a:stretch>
          </p:blipFill>
          <p:spPr>
            <a:xfrm>
              <a:off x="4799618" y="903508"/>
              <a:ext cx="2523963" cy="5114987"/>
            </a:xfrm>
            <a:prstGeom prst="rect">
              <a:avLst/>
            </a:prstGeom>
          </p:spPr>
        </p:pic>
        <p:grpSp>
          <p:nvGrpSpPr>
            <p:cNvPr id="7" name="Group 41"/>
            <p:cNvGrpSpPr>
              <a:grpSpLocks/>
            </p:cNvGrpSpPr>
            <p:nvPr/>
          </p:nvGrpSpPr>
          <p:grpSpPr bwMode="auto">
            <a:xfrm>
              <a:off x="4789715" y="699291"/>
              <a:ext cx="5279571" cy="5273675"/>
              <a:chOff x="2064" y="470"/>
              <a:chExt cx="3422" cy="3322"/>
            </a:xfrm>
          </p:grpSpPr>
          <p:sp>
            <p:nvSpPr>
              <p:cNvPr id="8" name="Text Box 42"/>
              <p:cNvSpPr txBox="1">
                <a:spLocks noChangeArrowheads="1"/>
              </p:cNvSpPr>
              <p:nvPr/>
            </p:nvSpPr>
            <p:spPr bwMode="auto">
              <a:xfrm>
                <a:off x="2112" y="2995"/>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9" name="Text Box 43"/>
              <p:cNvSpPr txBox="1">
                <a:spLocks noChangeArrowheads="1"/>
              </p:cNvSpPr>
              <p:nvPr/>
            </p:nvSpPr>
            <p:spPr bwMode="auto">
              <a:xfrm>
                <a:off x="2741" y="3571"/>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10" name="Text Box 44"/>
              <p:cNvSpPr txBox="1">
                <a:spLocks noChangeArrowheads="1"/>
              </p:cNvSpPr>
              <p:nvPr/>
            </p:nvSpPr>
            <p:spPr bwMode="auto">
              <a:xfrm>
                <a:off x="3221" y="3565"/>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1" name="Text Box 45"/>
              <p:cNvSpPr txBox="1">
                <a:spLocks noChangeArrowheads="1"/>
              </p:cNvSpPr>
              <p:nvPr/>
            </p:nvSpPr>
            <p:spPr bwMode="auto">
              <a:xfrm>
                <a:off x="3701" y="3600"/>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2" name="Text Box 46"/>
              <p:cNvSpPr txBox="1">
                <a:spLocks noChangeArrowheads="1"/>
              </p:cNvSpPr>
              <p:nvPr/>
            </p:nvSpPr>
            <p:spPr bwMode="auto">
              <a:xfrm>
                <a:off x="4181" y="3600"/>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3" name="Text Box 47"/>
              <p:cNvSpPr txBox="1">
                <a:spLocks noChangeArrowheads="1"/>
              </p:cNvSpPr>
              <p:nvPr/>
            </p:nvSpPr>
            <p:spPr bwMode="auto">
              <a:xfrm>
                <a:off x="2112" y="2496"/>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4" name="Text Box 48"/>
              <p:cNvSpPr txBox="1">
                <a:spLocks noChangeArrowheads="1"/>
              </p:cNvSpPr>
              <p:nvPr/>
            </p:nvSpPr>
            <p:spPr bwMode="auto">
              <a:xfrm>
                <a:off x="2112" y="2035"/>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5" name="Text Box 49"/>
              <p:cNvSpPr txBox="1">
                <a:spLocks noChangeArrowheads="1"/>
              </p:cNvSpPr>
              <p:nvPr/>
            </p:nvSpPr>
            <p:spPr bwMode="auto">
              <a:xfrm>
                <a:off x="2112" y="1536"/>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6" name="Text Box 50"/>
              <p:cNvSpPr txBox="1">
                <a:spLocks noChangeArrowheads="1"/>
              </p:cNvSpPr>
              <p:nvPr/>
            </p:nvSpPr>
            <p:spPr bwMode="auto">
              <a:xfrm>
                <a:off x="2064" y="1075"/>
                <a:ext cx="20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10</a:t>
                </a:r>
              </a:p>
            </p:txBody>
          </p:sp>
          <p:grpSp>
            <p:nvGrpSpPr>
              <p:cNvPr id="17" name="Group 51"/>
              <p:cNvGrpSpPr>
                <a:grpSpLocks/>
              </p:cNvGrpSpPr>
              <p:nvPr/>
            </p:nvGrpSpPr>
            <p:grpSpPr bwMode="auto">
              <a:xfrm>
                <a:off x="2098" y="470"/>
                <a:ext cx="3388" cy="3322"/>
                <a:chOff x="2098" y="470"/>
                <a:chExt cx="3388" cy="3322"/>
              </a:xfrm>
            </p:grpSpPr>
            <p:sp>
              <p:nvSpPr>
                <p:cNvPr id="18" name="Line 52"/>
                <p:cNvSpPr>
                  <a:spLocks noChangeShapeType="1"/>
                </p:cNvSpPr>
                <p:nvPr/>
              </p:nvSpPr>
              <p:spPr bwMode="auto">
                <a:xfrm flipV="1">
                  <a:off x="2366" y="576"/>
                  <a:ext cx="0" cy="321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19" name="Line 53"/>
                <p:cNvSpPr>
                  <a:spLocks noChangeShapeType="1"/>
                </p:cNvSpPr>
                <p:nvPr/>
              </p:nvSpPr>
              <p:spPr bwMode="auto">
                <a:xfrm flipH="1">
                  <a:off x="2304" y="307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0" name="Line 54"/>
                <p:cNvSpPr>
                  <a:spLocks noChangeShapeType="1"/>
                </p:cNvSpPr>
                <p:nvPr/>
              </p:nvSpPr>
              <p:spPr bwMode="auto">
                <a:xfrm>
                  <a:off x="283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1" name="Line 55"/>
                <p:cNvSpPr>
                  <a:spLocks noChangeShapeType="1"/>
                </p:cNvSpPr>
                <p:nvPr/>
              </p:nvSpPr>
              <p:spPr bwMode="auto">
                <a:xfrm>
                  <a:off x="331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2" name="Line 56"/>
                <p:cNvSpPr>
                  <a:spLocks noChangeShapeType="1"/>
                </p:cNvSpPr>
                <p:nvPr/>
              </p:nvSpPr>
              <p:spPr bwMode="auto">
                <a:xfrm>
                  <a:off x="379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3" name="Line 57"/>
                <p:cNvSpPr>
                  <a:spLocks noChangeShapeType="1"/>
                </p:cNvSpPr>
                <p:nvPr/>
              </p:nvSpPr>
              <p:spPr bwMode="auto">
                <a:xfrm>
                  <a:off x="427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4" name="Line 58"/>
                <p:cNvSpPr>
                  <a:spLocks noChangeShapeType="1"/>
                </p:cNvSpPr>
                <p:nvPr/>
              </p:nvSpPr>
              <p:spPr bwMode="auto">
                <a:xfrm flipH="1">
                  <a:off x="2304" y="259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5" name="Line 59"/>
                <p:cNvSpPr>
                  <a:spLocks noChangeShapeType="1"/>
                </p:cNvSpPr>
                <p:nvPr/>
              </p:nvSpPr>
              <p:spPr bwMode="auto">
                <a:xfrm flipH="1">
                  <a:off x="2304" y="211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6" name="Line 60"/>
                <p:cNvSpPr>
                  <a:spLocks noChangeShapeType="1"/>
                </p:cNvSpPr>
                <p:nvPr/>
              </p:nvSpPr>
              <p:spPr bwMode="auto">
                <a:xfrm flipH="1">
                  <a:off x="2304" y="163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7" name="Line 61"/>
                <p:cNvSpPr>
                  <a:spLocks noChangeShapeType="1"/>
                </p:cNvSpPr>
                <p:nvPr/>
              </p:nvSpPr>
              <p:spPr bwMode="auto">
                <a:xfrm flipH="1">
                  <a:off x="2304" y="115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8" name="Text Box 62"/>
                <p:cNvSpPr txBox="1">
                  <a:spLocks noChangeArrowheads="1"/>
                </p:cNvSpPr>
                <p:nvPr/>
              </p:nvSpPr>
              <p:spPr bwMode="auto">
                <a:xfrm>
                  <a:off x="2143" y="47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Y</a:t>
                  </a:r>
                </a:p>
              </p:txBody>
            </p:sp>
            <p:sp>
              <p:nvSpPr>
                <p:cNvPr id="29" name="Text Box 63"/>
                <p:cNvSpPr txBox="1">
                  <a:spLocks noChangeArrowheads="1"/>
                </p:cNvSpPr>
                <p:nvPr/>
              </p:nvSpPr>
              <p:spPr bwMode="auto">
                <a:xfrm>
                  <a:off x="5217" y="3533"/>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X</a:t>
                  </a:r>
                </a:p>
              </p:txBody>
            </p:sp>
            <p:sp>
              <p:nvSpPr>
                <p:cNvPr id="30" name="Line 64"/>
                <p:cNvSpPr>
                  <a:spLocks noChangeShapeType="1"/>
                </p:cNvSpPr>
                <p:nvPr/>
              </p:nvSpPr>
              <p:spPr bwMode="auto">
                <a:xfrm flipV="1">
                  <a:off x="2098" y="3552"/>
                  <a:ext cx="338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grpSp>
        </p:grpSp>
        <p:sp>
          <p:nvSpPr>
            <p:cNvPr id="31" name="Line 38"/>
            <p:cNvSpPr>
              <a:spLocks noChangeShapeType="1"/>
            </p:cNvSpPr>
            <p:nvPr/>
          </p:nvSpPr>
          <p:spPr bwMode="auto">
            <a:xfrm flipH="1">
              <a:off x="5834211" y="2459828"/>
              <a:ext cx="1331237" cy="33617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35" name="AutoShape 47"/>
            <p:cNvSpPr>
              <a:spLocks noChangeArrowheads="1"/>
            </p:cNvSpPr>
            <p:nvPr/>
          </p:nvSpPr>
          <p:spPr bwMode="auto">
            <a:xfrm>
              <a:off x="5276854" y="1817591"/>
              <a:ext cx="1830230" cy="3766041"/>
            </a:xfrm>
            <a:prstGeom prst="triangle">
              <a:avLst>
                <a:gd name="adj" fmla="val 0"/>
              </a:avLst>
            </a:prstGeom>
            <a:solidFill>
              <a:srgbClr val="FFFF00">
                <a:alpha val="50000"/>
              </a:srgbClr>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endParaRPr lang="es-CL"/>
            </a:p>
          </p:txBody>
        </p:sp>
      </p:grpSp>
      <p:sp>
        <p:nvSpPr>
          <p:cNvPr id="32" name="Text Box 31"/>
          <p:cNvSpPr txBox="1">
            <a:spLocks noChangeArrowheads="1"/>
          </p:cNvSpPr>
          <p:nvPr/>
        </p:nvSpPr>
        <p:spPr bwMode="auto">
          <a:xfrm>
            <a:off x="7689142" y="3463919"/>
            <a:ext cx="135966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10x + 10y = 80</a:t>
            </a:r>
          </a:p>
        </p:txBody>
      </p:sp>
      <p:sp>
        <p:nvSpPr>
          <p:cNvPr id="33" name="AutoShape 30"/>
          <p:cNvSpPr>
            <a:spLocks noChangeArrowheads="1"/>
          </p:cNvSpPr>
          <p:nvPr/>
        </p:nvSpPr>
        <p:spPr bwMode="auto">
          <a:xfrm>
            <a:off x="5250486" y="2543965"/>
            <a:ext cx="2943669" cy="3062798"/>
          </a:xfrm>
          <a:prstGeom prst="triangle">
            <a:avLst>
              <a:gd name="adj" fmla="val 0"/>
            </a:avLst>
          </a:prstGeom>
          <a:solidFill>
            <a:srgbClr val="FF0000">
              <a:alpha val="40000"/>
            </a:srgbClr>
          </a:solidFill>
          <a:ln>
            <a:noFill/>
          </a:ln>
          <a:effectLst/>
        </p:spPr>
        <p:txBody>
          <a:bodyPr wrap="square" anchor="ctr">
            <a:spAutoFit/>
          </a:bodyPr>
          <a:lstStyle/>
          <a:p>
            <a:endParaRPr lang="es-CL"/>
          </a:p>
        </p:txBody>
      </p:sp>
      <p:cxnSp>
        <p:nvCxnSpPr>
          <p:cNvPr id="34" name="Conector recto 33"/>
          <p:cNvCxnSpPr/>
          <p:nvPr/>
        </p:nvCxnSpPr>
        <p:spPr>
          <a:xfrm>
            <a:off x="4286990" y="1520042"/>
            <a:ext cx="4156366" cy="4368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Line 38"/>
          <p:cNvSpPr>
            <a:spLocks noChangeShapeType="1"/>
          </p:cNvSpPr>
          <p:nvPr/>
        </p:nvSpPr>
        <p:spPr bwMode="auto">
          <a:xfrm flipH="1">
            <a:off x="7087502" y="3811605"/>
            <a:ext cx="7620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9" name="Line 30"/>
          <p:cNvSpPr>
            <a:spLocks noChangeShapeType="1"/>
          </p:cNvSpPr>
          <p:nvPr/>
        </p:nvSpPr>
        <p:spPr bwMode="auto">
          <a:xfrm flipV="1">
            <a:off x="6700049" y="845451"/>
            <a:ext cx="8202" cy="51730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40" name="Text Box 32"/>
          <p:cNvSpPr txBox="1">
            <a:spLocks noChangeArrowheads="1"/>
          </p:cNvSpPr>
          <p:nvPr/>
        </p:nvSpPr>
        <p:spPr bwMode="auto">
          <a:xfrm>
            <a:off x="7107083" y="1175158"/>
            <a:ext cx="7445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 altLang="es-CL" sz="1600" dirty="0"/>
              <a:t>x = 4</a:t>
            </a:r>
          </a:p>
        </p:txBody>
      </p:sp>
      <p:sp>
        <p:nvSpPr>
          <p:cNvPr id="41" name="Line 33"/>
          <p:cNvSpPr>
            <a:spLocks noChangeShapeType="1"/>
          </p:cNvSpPr>
          <p:nvPr/>
        </p:nvSpPr>
        <p:spPr bwMode="auto">
          <a:xfrm flipH="1">
            <a:off x="6714581" y="1520042"/>
            <a:ext cx="6858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42" name="Rectángulo 41"/>
          <p:cNvSpPr/>
          <p:nvPr/>
        </p:nvSpPr>
        <p:spPr>
          <a:xfrm>
            <a:off x="5252029" y="903509"/>
            <a:ext cx="1462552" cy="4673092"/>
          </a:xfrm>
          <a:prstGeom prst="rect">
            <a:avLst/>
          </a:prstGeom>
          <a:solidFill>
            <a:srgbClr val="A71993">
              <a:alpha val="2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0" name="Rectángulo 49"/>
          <p:cNvSpPr/>
          <p:nvPr/>
        </p:nvSpPr>
        <p:spPr>
          <a:xfrm>
            <a:off x="5269777" y="699291"/>
            <a:ext cx="4140278" cy="4877310"/>
          </a:xfrm>
          <a:prstGeom prst="rect">
            <a:avLst/>
          </a:prstGeom>
          <a:solidFill>
            <a:schemeClr val="accent3">
              <a:alpha val="44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2802721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linds(horizont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9"/>
                                        </p:tgtEl>
                                        <p:attrNameLst>
                                          <p:attrName>style.visibility</p:attrName>
                                        </p:attrNameLst>
                                      </p:cBhvr>
                                      <p:to>
                                        <p:strVal val="visible"/>
                                      </p:to>
                                    </p:set>
                                    <p:animEffect transition="in" filter="wipe(down)">
                                      <p:cBhvr>
                                        <p:cTn id="1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186" y="1405386"/>
            <a:ext cx="3277188" cy="3092767"/>
          </a:xfrm>
        </p:spPr>
        <p:txBody>
          <a:bodyPr/>
          <a:lstStyle/>
          <a:p>
            <a:pPr eaLnBrk="0" hangingPunct="0">
              <a:spcBef>
                <a:spcPct val="50000"/>
              </a:spcBef>
            </a:pPr>
            <a:r>
              <a:rPr lang="es-CL" dirty="0"/>
              <a:t>Región Factible:</a:t>
            </a:r>
            <a:br>
              <a:rPr lang="es-CL" dirty="0"/>
            </a:br>
            <a:br>
              <a:rPr lang="es-CL" dirty="0"/>
            </a:br>
            <a:r>
              <a:rPr lang="es-CL" sz="3200" dirty="0"/>
              <a:t>región de valores permisibles de x e y</a:t>
            </a:r>
            <a:br>
              <a:rPr lang="es-CL" dirty="0"/>
            </a:br>
            <a:br>
              <a:rPr lang="en-US" altLang="es-CL" sz="3200" dirty="0">
                <a:latin typeface="Book Antiqua" panose="02040602050305030304" pitchFamily="18" charset="0"/>
              </a:rPr>
            </a:br>
            <a:endParaRPr lang="es-CL" sz="3200" dirty="0"/>
          </a:p>
        </p:txBody>
      </p:sp>
      <p:sp>
        <p:nvSpPr>
          <p:cNvPr id="5" name="Text Box 37"/>
          <p:cNvSpPr txBox="1">
            <a:spLocks noChangeArrowheads="1"/>
          </p:cNvSpPr>
          <p:nvPr/>
        </p:nvSpPr>
        <p:spPr bwMode="auto">
          <a:xfrm>
            <a:off x="7030268" y="2282042"/>
            <a:ext cx="14598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20x + 10y = 100</a:t>
            </a:r>
          </a:p>
        </p:txBody>
      </p:sp>
      <p:grpSp>
        <p:nvGrpSpPr>
          <p:cNvPr id="7" name="Group 41"/>
          <p:cNvGrpSpPr>
            <a:grpSpLocks/>
          </p:cNvGrpSpPr>
          <p:nvPr/>
        </p:nvGrpSpPr>
        <p:grpSpPr bwMode="auto">
          <a:xfrm>
            <a:off x="4789715" y="699291"/>
            <a:ext cx="5279571" cy="5273675"/>
            <a:chOff x="2064" y="470"/>
            <a:chExt cx="3422" cy="3322"/>
          </a:xfrm>
        </p:grpSpPr>
        <p:sp>
          <p:nvSpPr>
            <p:cNvPr id="8" name="Text Box 42"/>
            <p:cNvSpPr txBox="1">
              <a:spLocks noChangeArrowheads="1"/>
            </p:cNvSpPr>
            <p:nvPr/>
          </p:nvSpPr>
          <p:spPr bwMode="auto">
            <a:xfrm>
              <a:off x="2112" y="2995"/>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9" name="Text Box 43"/>
            <p:cNvSpPr txBox="1">
              <a:spLocks noChangeArrowheads="1"/>
            </p:cNvSpPr>
            <p:nvPr/>
          </p:nvSpPr>
          <p:spPr bwMode="auto">
            <a:xfrm>
              <a:off x="2741" y="3571"/>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10" name="Text Box 44"/>
            <p:cNvSpPr txBox="1">
              <a:spLocks noChangeArrowheads="1"/>
            </p:cNvSpPr>
            <p:nvPr/>
          </p:nvSpPr>
          <p:spPr bwMode="auto">
            <a:xfrm>
              <a:off x="3221" y="3565"/>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1" name="Text Box 45"/>
            <p:cNvSpPr txBox="1">
              <a:spLocks noChangeArrowheads="1"/>
            </p:cNvSpPr>
            <p:nvPr/>
          </p:nvSpPr>
          <p:spPr bwMode="auto">
            <a:xfrm>
              <a:off x="3701" y="3600"/>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2" name="Text Box 46"/>
            <p:cNvSpPr txBox="1">
              <a:spLocks noChangeArrowheads="1"/>
            </p:cNvSpPr>
            <p:nvPr/>
          </p:nvSpPr>
          <p:spPr bwMode="auto">
            <a:xfrm>
              <a:off x="4181" y="3600"/>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3" name="Text Box 47"/>
            <p:cNvSpPr txBox="1">
              <a:spLocks noChangeArrowheads="1"/>
            </p:cNvSpPr>
            <p:nvPr/>
          </p:nvSpPr>
          <p:spPr bwMode="auto">
            <a:xfrm>
              <a:off x="2112" y="2496"/>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4" name="Text Box 48"/>
            <p:cNvSpPr txBox="1">
              <a:spLocks noChangeArrowheads="1"/>
            </p:cNvSpPr>
            <p:nvPr/>
          </p:nvSpPr>
          <p:spPr bwMode="auto">
            <a:xfrm>
              <a:off x="2112" y="2035"/>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5" name="Text Box 49"/>
            <p:cNvSpPr txBox="1">
              <a:spLocks noChangeArrowheads="1"/>
            </p:cNvSpPr>
            <p:nvPr/>
          </p:nvSpPr>
          <p:spPr bwMode="auto">
            <a:xfrm>
              <a:off x="2112" y="1536"/>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6" name="Text Box 50"/>
            <p:cNvSpPr txBox="1">
              <a:spLocks noChangeArrowheads="1"/>
            </p:cNvSpPr>
            <p:nvPr/>
          </p:nvSpPr>
          <p:spPr bwMode="auto">
            <a:xfrm>
              <a:off x="2064" y="1075"/>
              <a:ext cx="20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10</a:t>
              </a:r>
            </a:p>
          </p:txBody>
        </p:sp>
        <p:grpSp>
          <p:nvGrpSpPr>
            <p:cNvPr id="17" name="Group 51"/>
            <p:cNvGrpSpPr>
              <a:grpSpLocks/>
            </p:cNvGrpSpPr>
            <p:nvPr/>
          </p:nvGrpSpPr>
          <p:grpSpPr bwMode="auto">
            <a:xfrm>
              <a:off x="2098" y="470"/>
              <a:ext cx="3388" cy="3322"/>
              <a:chOff x="2098" y="470"/>
              <a:chExt cx="3388" cy="3322"/>
            </a:xfrm>
          </p:grpSpPr>
          <p:sp>
            <p:nvSpPr>
              <p:cNvPr id="18" name="Line 52"/>
              <p:cNvSpPr>
                <a:spLocks noChangeShapeType="1"/>
              </p:cNvSpPr>
              <p:nvPr/>
            </p:nvSpPr>
            <p:spPr bwMode="auto">
              <a:xfrm flipV="1">
                <a:off x="2366" y="576"/>
                <a:ext cx="0" cy="321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19" name="Line 53"/>
              <p:cNvSpPr>
                <a:spLocks noChangeShapeType="1"/>
              </p:cNvSpPr>
              <p:nvPr/>
            </p:nvSpPr>
            <p:spPr bwMode="auto">
              <a:xfrm flipH="1">
                <a:off x="2304" y="307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0" name="Line 54"/>
              <p:cNvSpPr>
                <a:spLocks noChangeShapeType="1"/>
              </p:cNvSpPr>
              <p:nvPr/>
            </p:nvSpPr>
            <p:spPr bwMode="auto">
              <a:xfrm>
                <a:off x="283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1" name="Line 55"/>
              <p:cNvSpPr>
                <a:spLocks noChangeShapeType="1"/>
              </p:cNvSpPr>
              <p:nvPr/>
            </p:nvSpPr>
            <p:spPr bwMode="auto">
              <a:xfrm>
                <a:off x="331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2" name="Line 56"/>
              <p:cNvSpPr>
                <a:spLocks noChangeShapeType="1"/>
              </p:cNvSpPr>
              <p:nvPr/>
            </p:nvSpPr>
            <p:spPr bwMode="auto">
              <a:xfrm>
                <a:off x="379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3" name="Line 57"/>
              <p:cNvSpPr>
                <a:spLocks noChangeShapeType="1"/>
              </p:cNvSpPr>
              <p:nvPr/>
            </p:nvSpPr>
            <p:spPr bwMode="auto">
              <a:xfrm>
                <a:off x="427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4" name="Line 58"/>
              <p:cNvSpPr>
                <a:spLocks noChangeShapeType="1"/>
              </p:cNvSpPr>
              <p:nvPr/>
            </p:nvSpPr>
            <p:spPr bwMode="auto">
              <a:xfrm flipH="1">
                <a:off x="2304" y="259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5" name="Line 59"/>
              <p:cNvSpPr>
                <a:spLocks noChangeShapeType="1"/>
              </p:cNvSpPr>
              <p:nvPr/>
            </p:nvSpPr>
            <p:spPr bwMode="auto">
              <a:xfrm flipH="1">
                <a:off x="2304" y="211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6" name="Line 60"/>
              <p:cNvSpPr>
                <a:spLocks noChangeShapeType="1"/>
              </p:cNvSpPr>
              <p:nvPr/>
            </p:nvSpPr>
            <p:spPr bwMode="auto">
              <a:xfrm flipH="1">
                <a:off x="2304" y="163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7" name="Line 61"/>
              <p:cNvSpPr>
                <a:spLocks noChangeShapeType="1"/>
              </p:cNvSpPr>
              <p:nvPr/>
            </p:nvSpPr>
            <p:spPr bwMode="auto">
              <a:xfrm flipH="1">
                <a:off x="2304" y="115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8" name="Text Box 62"/>
              <p:cNvSpPr txBox="1">
                <a:spLocks noChangeArrowheads="1"/>
              </p:cNvSpPr>
              <p:nvPr/>
            </p:nvSpPr>
            <p:spPr bwMode="auto">
              <a:xfrm>
                <a:off x="2143" y="47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Y</a:t>
                </a:r>
              </a:p>
            </p:txBody>
          </p:sp>
          <p:sp>
            <p:nvSpPr>
              <p:cNvPr id="29" name="Text Box 63"/>
              <p:cNvSpPr txBox="1">
                <a:spLocks noChangeArrowheads="1"/>
              </p:cNvSpPr>
              <p:nvPr/>
            </p:nvSpPr>
            <p:spPr bwMode="auto">
              <a:xfrm>
                <a:off x="5217" y="3533"/>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X</a:t>
                </a:r>
              </a:p>
            </p:txBody>
          </p:sp>
          <p:sp>
            <p:nvSpPr>
              <p:cNvPr id="30" name="Line 64"/>
              <p:cNvSpPr>
                <a:spLocks noChangeShapeType="1"/>
              </p:cNvSpPr>
              <p:nvPr/>
            </p:nvSpPr>
            <p:spPr bwMode="auto">
              <a:xfrm flipV="1">
                <a:off x="2098" y="3552"/>
                <a:ext cx="338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grpSp>
      </p:grpSp>
      <p:sp>
        <p:nvSpPr>
          <p:cNvPr id="31" name="Line 38"/>
          <p:cNvSpPr>
            <a:spLocks noChangeShapeType="1"/>
          </p:cNvSpPr>
          <p:nvPr/>
        </p:nvSpPr>
        <p:spPr bwMode="auto">
          <a:xfrm flipH="1">
            <a:off x="5775845" y="2567163"/>
            <a:ext cx="1415843" cy="28727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32" name="Text Box 31"/>
          <p:cNvSpPr txBox="1">
            <a:spLocks noChangeArrowheads="1"/>
          </p:cNvSpPr>
          <p:nvPr/>
        </p:nvSpPr>
        <p:spPr bwMode="auto">
          <a:xfrm>
            <a:off x="7689142" y="3463919"/>
            <a:ext cx="135966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10x + 10y = 80</a:t>
            </a:r>
          </a:p>
        </p:txBody>
      </p:sp>
      <p:cxnSp>
        <p:nvCxnSpPr>
          <p:cNvPr id="34" name="Conector recto 33"/>
          <p:cNvCxnSpPr/>
          <p:nvPr/>
        </p:nvCxnSpPr>
        <p:spPr>
          <a:xfrm>
            <a:off x="4286990" y="1520042"/>
            <a:ext cx="4156366" cy="4368787"/>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Line 38"/>
          <p:cNvSpPr>
            <a:spLocks noChangeShapeType="1"/>
          </p:cNvSpPr>
          <p:nvPr/>
        </p:nvSpPr>
        <p:spPr bwMode="auto">
          <a:xfrm flipH="1">
            <a:off x="7087502" y="3811605"/>
            <a:ext cx="7620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9" name="Line 30"/>
          <p:cNvSpPr>
            <a:spLocks noChangeShapeType="1"/>
          </p:cNvSpPr>
          <p:nvPr/>
        </p:nvSpPr>
        <p:spPr bwMode="auto">
          <a:xfrm flipV="1">
            <a:off x="6710761" y="897728"/>
            <a:ext cx="8202" cy="51730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40" name="Text Box 32"/>
          <p:cNvSpPr txBox="1">
            <a:spLocks noChangeArrowheads="1"/>
          </p:cNvSpPr>
          <p:nvPr/>
        </p:nvSpPr>
        <p:spPr bwMode="auto">
          <a:xfrm>
            <a:off x="7107083" y="1175158"/>
            <a:ext cx="7445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 altLang="es-CL" sz="1600" dirty="0"/>
              <a:t>x = 4</a:t>
            </a:r>
          </a:p>
        </p:txBody>
      </p:sp>
      <p:sp>
        <p:nvSpPr>
          <p:cNvPr id="41" name="Line 33"/>
          <p:cNvSpPr>
            <a:spLocks noChangeShapeType="1"/>
          </p:cNvSpPr>
          <p:nvPr/>
        </p:nvSpPr>
        <p:spPr bwMode="auto">
          <a:xfrm flipH="1">
            <a:off x="6714581" y="1520042"/>
            <a:ext cx="6858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62" name="Freeform 41"/>
          <p:cNvSpPr>
            <a:spLocks/>
          </p:cNvSpPr>
          <p:nvPr/>
        </p:nvSpPr>
        <p:spPr bwMode="auto">
          <a:xfrm>
            <a:off x="5272677" y="2567164"/>
            <a:ext cx="1444706" cy="3017013"/>
          </a:xfrm>
          <a:custGeom>
            <a:avLst/>
            <a:gdLst>
              <a:gd name="T0" fmla="*/ 0 w 960"/>
              <a:gd name="T1" fmla="*/ 1920 h 1920"/>
              <a:gd name="T2" fmla="*/ 0 w 960"/>
              <a:gd name="T3" fmla="*/ 0 h 1920"/>
              <a:gd name="T4" fmla="*/ 480 w 960"/>
              <a:gd name="T5" fmla="*/ 480 h 1920"/>
              <a:gd name="T6" fmla="*/ 960 w 960"/>
              <a:gd name="T7" fmla="*/ 1440 h 1920"/>
              <a:gd name="T8" fmla="*/ 960 w 960"/>
              <a:gd name="T9" fmla="*/ 1920 h 1920"/>
              <a:gd name="T10" fmla="*/ 0 w 960"/>
              <a:gd name="T11" fmla="*/ 1920 h 1920"/>
            </a:gdLst>
            <a:ahLst/>
            <a:cxnLst>
              <a:cxn ang="0">
                <a:pos x="T0" y="T1"/>
              </a:cxn>
              <a:cxn ang="0">
                <a:pos x="T2" y="T3"/>
              </a:cxn>
              <a:cxn ang="0">
                <a:pos x="T4" y="T5"/>
              </a:cxn>
              <a:cxn ang="0">
                <a:pos x="T6" y="T7"/>
              </a:cxn>
              <a:cxn ang="0">
                <a:pos x="T8" y="T9"/>
              </a:cxn>
              <a:cxn ang="0">
                <a:pos x="T10" y="T11"/>
              </a:cxn>
            </a:cxnLst>
            <a:rect l="0" t="0" r="r" b="b"/>
            <a:pathLst>
              <a:path w="960" h="1920">
                <a:moveTo>
                  <a:pt x="0" y="1920"/>
                </a:moveTo>
                <a:lnTo>
                  <a:pt x="0" y="0"/>
                </a:lnTo>
                <a:lnTo>
                  <a:pt x="480" y="480"/>
                </a:lnTo>
                <a:lnTo>
                  <a:pt x="960" y="1440"/>
                </a:lnTo>
                <a:lnTo>
                  <a:pt x="960" y="1920"/>
                </a:lnTo>
                <a:lnTo>
                  <a:pt x="0" y="1920"/>
                </a:lnTo>
                <a:close/>
              </a:path>
            </a:pathLst>
          </a:custGeom>
          <a:solidFill>
            <a:schemeClr val="accent4">
              <a:lumMod val="60000"/>
              <a:lumOff val="40000"/>
              <a:alpha val="50000"/>
            </a:schemeClr>
          </a:solidFill>
          <a:ln>
            <a:noFill/>
          </a:ln>
          <a:effectLst/>
        </p:spPr>
        <p:txBody>
          <a:bodyPr wrap="square">
            <a:spAutoFit/>
          </a:bodyPr>
          <a:lstStyle/>
          <a:p>
            <a:endParaRPr lang="es-CL"/>
          </a:p>
        </p:txBody>
      </p:sp>
      <p:cxnSp>
        <p:nvCxnSpPr>
          <p:cNvPr id="64" name="Conector recto 63"/>
          <p:cNvCxnSpPr/>
          <p:nvPr/>
        </p:nvCxnSpPr>
        <p:spPr>
          <a:xfrm>
            <a:off x="5317198" y="1947488"/>
            <a:ext cx="1874491" cy="385879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 Box 42"/>
          <p:cNvSpPr txBox="1">
            <a:spLocks noChangeArrowheads="1"/>
          </p:cNvSpPr>
          <p:nvPr/>
        </p:nvSpPr>
        <p:spPr bwMode="auto">
          <a:xfrm>
            <a:off x="5225942" y="4005069"/>
            <a:ext cx="141737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2800" b="1" dirty="0"/>
              <a:t>Región</a:t>
            </a:r>
          </a:p>
          <a:p>
            <a:r>
              <a:rPr lang="es-ES" altLang="es-CL" sz="2800" b="1" dirty="0"/>
              <a:t>Factible</a:t>
            </a:r>
          </a:p>
        </p:txBody>
      </p:sp>
    </p:spTree>
    <p:extLst>
      <p:ext uri="{BB962C8B-B14F-4D97-AF65-F5344CB8AC3E}">
        <p14:creationId xmlns:p14="http://schemas.microsoft.com/office/powerpoint/2010/main" val="3843010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down)">
                                      <p:cBhvr>
                                        <p:cTn id="7"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alpha val="24000"/>
          </a:schemeClr>
        </a:solid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7593" y="857308"/>
            <a:ext cx="3472127" cy="4897315"/>
          </a:xfrm>
        </p:spPr>
        <p:txBody>
          <a:bodyPr>
            <a:normAutofit fontScale="90000"/>
          </a:bodyPr>
          <a:lstStyle/>
          <a:p>
            <a:br>
              <a:rPr lang="es-CL" dirty="0"/>
            </a:br>
            <a:br>
              <a:rPr lang="es-CL" dirty="0"/>
            </a:br>
            <a:br>
              <a:rPr lang="es-CL" dirty="0"/>
            </a:br>
            <a:br>
              <a:rPr lang="es-CL" dirty="0"/>
            </a:br>
            <a:r>
              <a:rPr lang="es-CL" dirty="0"/>
              <a:t>Vértices:</a:t>
            </a:r>
            <a:br>
              <a:rPr lang="es-CL" dirty="0"/>
            </a:br>
            <a:br>
              <a:rPr lang="es-ES" altLang="es-CL" sz="2200" dirty="0">
                <a:solidFill>
                  <a:schemeClr val="bg1"/>
                </a:solidFill>
              </a:rPr>
            </a:br>
            <a:r>
              <a:rPr lang="es-ES" altLang="es-CL" sz="2400" dirty="0">
                <a:solidFill>
                  <a:schemeClr val="bg1"/>
                </a:solidFill>
              </a:rPr>
              <a:t>B es solución de</a:t>
            </a:r>
            <a:br>
              <a:rPr lang="es-ES" altLang="es-CL" sz="2400" dirty="0">
                <a:solidFill>
                  <a:schemeClr val="bg1"/>
                </a:solidFill>
              </a:rPr>
            </a:br>
            <a:r>
              <a:rPr lang="es-ES" altLang="es-CL" sz="2400" dirty="0">
                <a:solidFill>
                  <a:schemeClr val="bg1"/>
                </a:solidFill>
              </a:rPr>
              <a:t>	x = 4       y = 0</a:t>
            </a:r>
            <a:br>
              <a:rPr lang="es-ES" altLang="es-CL" sz="2400" dirty="0">
                <a:solidFill>
                  <a:schemeClr val="bg1"/>
                </a:solidFill>
              </a:rPr>
            </a:br>
            <a:r>
              <a:rPr lang="es-ES" altLang="es-CL" sz="2400" dirty="0">
                <a:solidFill>
                  <a:schemeClr val="bg1"/>
                </a:solidFill>
              </a:rPr>
              <a:t>C es solución de</a:t>
            </a:r>
            <a:br>
              <a:rPr lang="es-ES" altLang="es-CL" sz="2400" dirty="0">
                <a:solidFill>
                  <a:schemeClr val="bg1"/>
                </a:solidFill>
              </a:rPr>
            </a:br>
            <a:r>
              <a:rPr lang="es-ES" altLang="es-CL" sz="2400" dirty="0">
                <a:solidFill>
                  <a:schemeClr val="bg1"/>
                </a:solidFill>
              </a:rPr>
              <a:t>	x = 4</a:t>
            </a:r>
            <a:br>
              <a:rPr lang="es-ES" altLang="es-CL" sz="2400" dirty="0">
                <a:solidFill>
                  <a:schemeClr val="bg1"/>
                </a:solidFill>
              </a:rPr>
            </a:br>
            <a:r>
              <a:rPr lang="es-ES" altLang="es-CL" sz="2400" dirty="0">
                <a:solidFill>
                  <a:schemeClr val="bg1"/>
                </a:solidFill>
              </a:rPr>
              <a:t>	20x + 10y = 100</a:t>
            </a:r>
            <a:br>
              <a:rPr lang="es-ES" altLang="es-CL" sz="2400" dirty="0">
                <a:solidFill>
                  <a:schemeClr val="bg1"/>
                </a:solidFill>
              </a:rPr>
            </a:br>
            <a:r>
              <a:rPr lang="es-ES" altLang="es-CL" sz="2400" dirty="0"/>
              <a:t>D es la intersección de </a:t>
            </a:r>
            <a:br>
              <a:rPr lang="es-ES" altLang="es-CL" sz="2400" dirty="0"/>
            </a:br>
            <a:r>
              <a:rPr lang="es-ES" altLang="es-CL" sz="2400" dirty="0"/>
              <a:t>	</a:t>
            </a:r>
            <a:r>
              <a:rPr lang="es-ES" altLang="es-CL" sz="2400" dirty="0">
                <a:solidFill>
                  <a:schemeClr val="bg1"/>
                </a:solidFill>
              </a:rPr>
              <a:t>20x + 10y = 100</a:t>
            </a:r>
            <a:br>
              <a:rPr lang="es-ES" altLang="es-CL" sz="2400" dirty="0">
                <a:solidFill>
                  <a:schemeClr val="bg1"/>
                </a:solidFill>
              </a:rPr>
            </a:br>
            <a:r>
              <a:rPr lang="es-ES" altLang="es-CL" sz="2400" dirty="0">
                <a:solidFill>
                  <a:schemeClr val="bg1"/>
                </a:solidFill>
              </a:rPr>
              <a:t>	10x + 10y = 80</a:t>
            </a:r>
            <a:br>
              <a:rPr lang="es-ES" altLang="es-CL" sz="2400" dirty="0">
                <a:solidFill>
                  <a:schemeClr val="bg1"/>
                </a:solidFill>
              </a:rPr>
            </a:br>
            <a:r>
              <a:rPr lang="es-ES" altLang="es-CL" sz="2400" dirty="0">
                <a:solidFill>
                  <a:schemeClr val="bg1"/>
                </a:solidFill>
              </a:rPr>
              <a:t>E es solución de</a:t>
            </a:r>
            <a:br>
              <a:rPr lang="es-ES" altLang="es-CL" sz="2400" dirty="0">
                <a:solidFill>
                  <a:schemeClr val="bg1"/>
                </a:solidFill>
              </a:rPr>
            </a:br>
            <a:r>
              <a:rPr lang="es-ES" altLang="es-CL" sz="2400" dirty="0">
                <a:solidFill>
                  <a:schemeClr val="bg1"/>
                </a:solidFill>
              </a:rPr>
              <a:t>	10x + 10y = 80</a:t>
            </a:r>
            <a:br>
              <a:rPr lang="es-ES" altLang="es-CL" sz="2400" dirty="0">
                <a:solidFill>
                  <a:schemeClr val="bg1"/>
                </a:solidFill>
              </a:rPr>
            </a:br>
            <a:r>
              <a:rPr lang="es-ES" altLang="es-CL" sz="2400" dirty="0">
                <a:solidFill>
                  <a:schemeClr val="bg1"/>
                </a:solidFill>
              </a:rPr>
              <a:t>	x = 0</a:t>
            </a:r>
            <a:br>
              <a:rPr lang="es-ES" altLang="es-CL" sz="2400" dirty="0">
                <a:solidFill>
                  <a:schemeClr val="bg1"/>
                </a:solidFill>
              </a:rPr>
            </a:br>
            <a:br>
              <a:rPr lang="es-ES" altLang="es-CL" sz="2400" dirty="0">
                <a:solidFill>
                  <a:srgbClr val="33CC33"/>
                </a:solidFill>
              </a:rPr>
            </a:br>
            <a:br>
              <a:rPr lang="es-ES" altLang="es-CL" sz="2200" dirty="0"/>
            </a:br>
            <a:br>
              <a:rPr lang="es-CL" dirty="0"/>
            </a:br>
            <a:br>
              <a:rPr lang="en-US" altLang="es-CL" sz="3200" dirty="0">
                <a:latin typeface="Book Antiqua" panose="02040602050305030304" pitchFamily="18" charset="0"/>
              </a:rPr>
            </a:br>
            <a:endParaRPr lang="es-CL" sz="3200" dirty="0"/>
          </a:p>
        </p:txBody>
      </p:sp>
      <p:sp>
        <p:nvSpPr>
          <p:cNvPr id="5" name="Text Box 37"/>
          <p:cNvSpPr txBox="1">
            <a:spLocks noChangeArrowheads="1"/>
          </p:cNvSpPr>
          <p:nvPr/>
        </p:nvSpPr>
        <p:spPr bwMode="auto">
          <a:xfrm>
            <a:off x="7030268" y="2282042"/>
            <a:ext cx="1459823"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20x + 10y = 100</a:t>
            </a:r>
          </a:p>
        </p:txBody>
      </p:sp>
      <p:grpSp>
        <p:nvGrpSpPr>
          <p:cNvPr id="7" name="Group 41"/>
          <p:cNvGrpSpPr>
            <a:grpSpLocks/>
          </p:cNvGrpSpPr>
          <p:nvPr/>
        </p:nvGrpSpPr>
        <p:grpSpPr bwMode="auto">
          <a:xfrm>
            <a:off x="4789715" y="699291"/>
            <a:ext cx="5279571" cy="5273675"/>
            <a:chOff x="2064" y="470"/>
            <a:chExt cx="3422" cy="3322"/>
          </a:xfrm>
        </p:grpSpPr>
        <p:sp>
          <p:nvSpPr>
            <p:cNvPr id="8" name="Text Box 42"/>
            <p:cNvSpPr txBox="1">
              <a:spLocks noChangeArrowheads="1"/>
            </p:cNvSpPr>
            <p:nvPr/>
          </p:nvSpPr>
          <p:spPr bwMode="auto">
            <a:xfrm>
              <a:off x="2112" y="2995"/>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9" name="Text Box 43"/>
            <p:cNvSpPr txBox="1">
              <a:spLocks noChangeArrowheads="1"/>
            </p:cNvSpPr>
            <p:nvPr/>
          </p:nvSpPr>
          <p:spPr bwMode="auto">
            <a:xfrm>
              <a:off x="2741" y="3571"/>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2</a:t>
              </a:r>
            </a:p>
          </p:txBody>
        </p:sp>
        <p:sp>
          <p:nvSpPr>
            <p:cNvPr id="10" name="Text Box 44"/>
            <p:cNvSpPr txBox="1">
              <a:spLocks noChangeArrowheads="1"/>
            </p:cNvSpPr>
            <p:nvPr/>
          </p:nvSpPr>
          <p:spPr bwMode="auto">
            <a:xfrm>
              <a:off x="3221" y="3565"/>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1" name="Text Box 45"/>
            <p:cNvSpPr txBox="1">
              <a:spLocks noChangeArrowheads="1"/>
            </p:cNvSpPr>
            <p:nvPr/>
          </p:nvSpPr>
          <p:spPr bwMode="auto">
            <a:xfrm>
              <a:off x="3701" y="3600"/>
              <a:ext cx="17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2" name="Text Box 46"/>
            <p:cNvSpPr txBox="1">
              <a:spLocks noChangeArrowheads="1"/>
            </p:cNvSpPr>
            <p:nvPr/>
          </p:nvSpPr>
          <p:spPr bwMode="auto">
            <a:xfrm>
              <a:off x="4181" y="3600"/>
              <a:ext cx="17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3" name="Text Box 47"/>
            <p:cNvSpPr txBox="1">
              <a:spLocks noChangeArrowheads="1"/>
            </p:cNvSpPr>
            <p:nvPr/>
          </p:nvSpPr>
          <p:spPr bwMode="auto">
            <a:xfrm>
              <a:off x="2112" y="2496"/>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4</a:t>
              </a:r>
            </a:p>
          </p:txBody>
        </p:sp>
        <p:sp>
          <p:nvSpPr>
            <p:cNvPr id="14" name="Text Box 48"/>
            <p:cNvSpPr txBox="1">
              <a:spLocks noChangeArrowheads="1"/>
            </p:cNvSpPr>
            <p:nvPr/>
          </p:nvSpPr>
          <p:spPr bwMode="auto">
            <a:xfrm>
              <a:off x="2112" y="2035"/>
              <a:ext cx="167"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6</a:t>
              </a:r>
            </a:p>
          </p:txBody>
        </p:sp>
        <p:sp>
          <p:nvSpPr>
            <p:cNvPr id="15" name="Text Box 49"/>
            <p:cNvSpPr txBox="1">
              <a:spLocks noChangeArrowheads="1"/>
            </p:cNvSpPr>
            <p:nvPr/>
          </p:nvSpPr>
          <p:spPr bwMode="auto">
            <a:xfrm>
              <a:off x="2112" y="1536"/>
              <a:ext cx="16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8</a:t>
              </a:r>
            </a:p>
          </p:txBody>
        </p:sp>
        <p:sp>
          <p:nvSpPr>
            <p:cNvPr id="16" name="Text Box 50"/>
            <p:cNvSpPr txBox="1">
              <a:spLocks noChangeArrowheads="1"/>
            </p:cNvSpPr>
            <p:nvPr/>
          </p:nvSpPr>
          <p:spPr bwMode="auto">
            <a:xfrm>
              <a:off x="2064" y="1075"/>
              <a:ext cx="20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dirty="0"/>
                <a:t>10</a:t>
              </a:r>
            </a:p>
          </p:txBody>
        </p:sp>
        <p:grpSp>
          <p:nvGrpSpPr>
            <p:cNvPr id="17" name="Group 51"/>
            <p:cNvGrpSpPr>
              <a:grpSpLocks/>
            </p:cNvGrpSpPr>
            <p:nvPr/>
          </p:nvGrpSpPr>
          <p:grpSpPr bwMode="auto">
            <a:xfrm>
              <a:off x="2098" y="470"/>
              <a:ext cx="3388" cy="3322"/>
              <a:chOff x="2098" y="470"/>
              <a:chExt cx="3388" cy="3322"/>
            </a:xfrm>
          </p:grpSpPr>
          <p:sp>
            <p:nvSpPr>
              <p:cNvPr id="18" name="Line 52"/>
              <p:cNvSpPr>
                <a:spLocks noChangeShapeType="1"/>
              </p:cNvSpPr>
              <p:nvPr/>
            </p:nvSpPr>
            <p:spPr bwMode="auto">
              <a:xfrm flipV="1">
                <a:off x="2366" y="576"/>
                <a:ext cx="0" cy="321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19" name="Line 53"/>
              <p:cNvSpPr>
                <a:spLocks noChangeShapeType="1"/>
              </p:cNvSpPr>
              <p:nvPr/>
            </p:nvSpPr>
            <p:spPr bwMode="auto">
              <a:xfrm flipH="1">
                <a:off x="2304" y="307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0" name="Line 54"/>
              <p:cNvSpPr>
                <a:spLocks noChangeShapeType="1"/>
              </p:cNvSpPr>
              <p:nvPr/>
            </p:nvSpPr>
            <p:spPr bwMode="auto">
              <a:xfrm>
                <a:off x="283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1" name="Line 55"/>
              <p:cNvSpPr>
                <a:spLocks noChangeShapeType="1"/>
              </p:cNvSpPr>
              <p:nvPr/>
            </p:nvSpPr>
            <p:spPr bwMode="auto">
              <a:xfrm>
                <a:off x="331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2" name="Line 56"/>
              <p:cNvSpPr>
                <a:spLocks noChangeShapeType="1"/>
              </p:cNvSpPr>
              <p:nvPr/>
            </p:nvSpPr>
            <p:spPr bwMode="auto">
              <a:xfrm>
                <a:off x="379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3" name="Line 57"/>
              <p:cNvSpPr>
                <a:spLocks noChangeShapeType="1"/>
              </p:cNvSpPr>
              <p:nvPr/>
            </p:nvSpPr>
            <p:spPr bwMode="auto">
              <a:xfrm>
                <a:off x="4272" y="3552"/>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4" name="Line 58"/>
              <p:cNvSpPr>
                <a:spLocks noChangeShapeType="1"/>
              </p:cNvSpPr>
              <p:nvPr/>
            </p:nvSpPr>
            <p:spPr bwMode="auto">
              <a:xfrm flipH="1">
                <a:off x="2304" y="259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5" name="Line 59"/>
              <p:cNvSpPr>
                <a:spLocks noChangeShapeType="1"/>
              </p:cNvSpPr>
              <p:nvPr/>
            </p:nvSpPr>
            <p:spPr bwMode="auto">
              <a:xfrm flipH="1">
                <a:off x="2304" y="211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6" name="Line 60"/>
              <p:cNvSpPr>
                <a:spLocks noChangeShapeType="1"/>
              </p:cNvSpPr>
              <p:nvPr/>
            </p:nvSpPr>
            <p:spPr bwMode="auto">
              <a:xfrm flipH="1">
                <a:off x="2304" y="163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7" name="Line 61"/>
              <p:cNvSpPr>
                <a:spLocks noChangeShapeType="1"/>
              </p:cNvSpPr>
              <p:nvPr/>
            </p:nvSpPr>
            <p:spPr bwMode="auto">
              <a:xfrm flipH="1">
                <a:off x="2304" y="115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28" name="Text Box 62"/>
              <p:cNvSpPr txBox="1">
                <a:spLocks noChangeArrowheads="1"/>
              </p:cNvSpPr>
              <p:nvPr/>
            </p:nvSpPr>
            <p:spPr bwMode="auto">
              <a:xfrm>
                <a:off x="2143" y="470"/>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Y</a:t>
                </a:r>
              </a:p>
            </p:txBody>
          </p:sp>
          <p:sp>
            <p:nvSpPr>
              <p:cNvPr id="29" name="Text Box 63"/>
              <p:cNvSpPr txBox="1">
                <a:spLocks noChangeArrowheads="1"/>
              </p:cNvSpPr>
              <p:nvPr/>
            </p:nvSpPr>
            <p:spPr bwMode="auto">
              <a:xfrm>
                <a:off x="5217" y="3533"/>
                <a:ext cx="22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X</a:t>
                </a:r>
              </a:p>
            </p:txBody>
          </p:sp>
          <p:sp>
            <p:nvSpPr>
              <p:cNvPr id="30" name="Line 64"/>
              <p:cNvSpPr>
                <a:spLocks noChangeShapeType="1"/>
              </p:cNvSpPr>
              <p:nvPr/>
            </p:nvSpPr>
            <p:spPr bwMode="auto">
              <a:xfrm flipV="1">
                <a:off x="2098" y="3552"/>
                <a:ext cx="3388"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grpSp>
      </p:grpSp>
      <p:sp>
        <p:nvSpPr>
          <p:cNvPr id="31" name="Line 38"/>
          <p:cNvSpPr>
            <a:spLocks noChangeShapeType="1"/>
          </p:cNvSpPr>
          <p:nvPr/>
        </p:nvSpPr>
        <p:spPr bwMode="auto">
          <a:xfrm flipH="1">
            <a:off x="5775845" y="2567163"/>
            <a:ext cx="1415843" cy="28727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32" name="Text Box 31"/>
          <p:cNvSpPr txBox="1">
            <a:spLocks noChangeArrowheads="1"/>
          </p:cNvSpPr>
          <p:nvPr/>
        </p:nvSpPr>
        <p:spPr bwMode="auto">
          <a:xfrm>
            <a:off x="7689142" y="3463919"/>
            <a:ext cx="1359668"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10x + 10y = 80</a:t>
            </a:r>
          </a:p>
        </p:txBody>
      </p:sp>
      <p:cxnSp>
        <p:nvCxnSpPr>
          <p:cNvPr id="34" name="Conector recto 33"/>
          <p:cNvCxnSpPr/>
          <p:nvPr/>
        </p:nvCxnSpPr>
        <p:spPr>
          <a:xfrm>
            <a:off x="4881972" y="2160346"/>
            <a:ext cx="3561384" cy="3728483"/>
          </a:xfrm>
          <a:prstGeom prst="line">
            <a:avLst/>
          </a:prstGeom>
          <a:ln w="15875">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Line 38"/>
          <p:cNvSpPr>
            <a:spLocks noChangeShapeType="1"/>
          </p:cNvSpPr>
          <p:nvPr/>
        </p:nvSpPr>
        <p:spPr bwMode="auto">
          <a:xfrm flipH="1">
            <a:off x="7087502" y="3811605"/>
            <a:ext cx="762000" cy="609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9" name="Line 30"/>
          <p:cNvSpPr>
            <a:spLocks noChangeShapeType="1"/>
          </p:cNvSpPr>
          <p:nvPr/>
        </p:nvSpPr>
        <p:spPr bwMode="auto">
          <a:xfrm flipV="1">
            <a:off x="6710761" y="897728"/>
            <a:ext cx="8202" cy="5173044"/>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40" name="Text Box 32"/>
          <p:cNvSpPr txBox="1">
            <a:spLocks noChangeArrowheads="1"/>
          </p:cNvSpPr>
          <p:nvPr/>
        </p:nvSpPr>
        <p:spPr bwMode="auto">
          <a:xfrm>
            <a:off x="7107083" y="1175158"/>
            <a:ext cx="74453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 altLang="es-CL" sz="1600" dirty="0"/>
              <a:t>x = 4</a:t>
            </a:r>
          </a:p>
        </p:txBody>
      </p:sp>
      <p:sp>
        <p:nvSpPr>
          <p:cNvPr id="41" name="Line 33"/>
          <p:cNvSpPr>
            <a:spLocks noChangeShapeType="1"/>
          </p:cNvSpPr>
          <p:nvPr/>
        </p:nvSpPr>
        <p:spPr bwMode="auto">
          <a:xfrm flipH="1">
            <a:off x="6714581" y="1520042"/>
            <a:ext cx="685800"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62" name="Freeform 41"/>
          <p:cNvSpPr>
            <a:spLocks/>
          </p:cNvSpPr>
          <p:nvPr/>
        </p:nvSpPr>
        <p:spPr bwMode="auto">
          <a:xfrm>
            <a:off x="5272677" y="2567164"/>
            <a:ext cx="1444706" cy="3017013"/>
          </a:xfrm>
          <a:custGeom>
            <a:avLst/>
            <a:gdLst>
              <a:gd name="T0" fmla="*/ 0 w 960"/>
              <a:gd name="T1" fmla="*/ 1920 h 1920"/>
              <a:gd name="T2" fmla="*/ 0 w 960"/>
              <a:gd name="T3" fmla="*/ 0 h 1920"/>
              <a:gd name="T4" fmla="*/ 480 w 960"/>
              <a:gd name="T5" fmla="*/ 480 h 1920"/>
              <a:gd name="T6" fmla="*/ 960 w 960"/>
              <a:gd name="T7" fmla="*/ 1440 h 1920"/>
              <a:gd name="T8" fmla="*/ 960 w 960"/>
              <a:gd name="T9" fmla="*/ 1920 h 1920"/>
              <a:gd name="T10" fmla="*/ 0 w 960"/>
              <a:gd name="T11" fmla="*/ 1920 h 1920"/>
            </a:gdLst>
            <a:ahLst/>
            <a:cxnLst>
              <a:cxn ang="0">
                <a:pos x="T0" y="T1"/>
              </a:cxn>
              <a:cxn ang="0">
                <a:pos x="T2" y="T3"/>
              </a:cxn>
              <a:cxn ang="0">
                <a:pos x="T4" y="T5"/>
              </a:cxn>
              <a:cxn ang="0">
                <a:pos x="T6" y="T7"/>
              </a:cxn>
              <a:cxn ang="0">
                <a:pos x="T8" y="T9"/>
              </a:cxn>
              <a:cxn ang="0">
                <a:pos x="T10" y="T11"/>
              </a:cxn>
            </a:cxnLst>
            <a:rect l="0" t="0" r="r" b="b"/>
            <a:pathLst>
              <a:path w="960" h="1920">
                <a:moveTo>
                  <a:pt x="0" y="1920"/>
                </a:moveTo>
                <a:lnTo>
                  <a:pt x="0" y="0"/>
                </a:lnTo>
                <a:lnTo>
                  <a:pt x="480" y="480"/>
                </a:lnTo>
                <a:lnTo>
                  <a:pt x="960" y="1440"/>
                </a:lnTo>
                <a:lnTo>
                  <a:pt x="960" y="1920"/>
                </a:lnTo>
                <a:lnTo>
                  <a:pt x="0" y="1920"/>
                </a:lnTo>
                <a:close/>
              </a:path>
            </a:pathLst>
          </a:custGeom>
          <a:solidFill>
            <a:schemeClr val="accent4">
              <a:lumMod val="60000"/>
              <a:lumOff val="40000"/>
              <a:alpha val="50000"/>
            </a:schemeClr>
          </a:solidFill>
          <a:ln>
            <a:noFill/>
          </a:ln>
          <a:effectLst/>
        </p:spPr>
        <p:txBody>
          <a:bodyPr wrap="square">
            <a:spAutoFit/>
          </a:bodyPr>
          <a:lstStyle/>
          <a:p>
            <a:endParaRPr lang="es-CL"/>
          </a:p>
        </p:txBody>
      </p:sp>
      <p:cxnSp>
        <p:nvCxnSpPr>
          <p:cNvPr id="64" name="Conector recto 63"/>
          <p:cNvCxnSpPr/>
          <p:nvPr/>
        </p:nvCxnSpPr>
        <p:spPr>
          <a:xfrm>
            <a:off x="5328225" y="1978403"/>
            <a:ext cx="1863464" cy="38278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 Box 42"/>
          <p:cNvSpPr txBox="1">
            <a:spLocks noChangeArrowheads="1"/>
          </p:cNvSpPr>
          <p:nvPr/>
        </p:nvSpPr>
        <p:spPr bwMode="auto">
          <a:xfrm>
            <a:off x="5225942" y="4005069"/>
            <a:ext cx="141737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2800" b="1" dirty="0"/>
              <a:t>Región</a:t>
            </a:r>
          </a:p>
          <a:p>
            <a:r>
              <a:rPr lang="es-ES" altLang="es-CL" sz="2800" b="1" dirty="0"/>
              <a:t>Factible</a:t>
            </a:r>
          </a:p>
        </p:txBody>
      </p:sp>
      <p:sp>
        <p:nvSpPr>
          <p:cNvPr id="42" name="Text Box 40"/>
          <p:cNvSpPr txBox="1">
            <a:spLocks noChangeArrowheads="1"/>
          </p:cNvSpPr>
          <p:nvPr/>
        </p:nvSpPr>
        <p:spPr bwMode="auto">
          <a:xfrm>
            <a:off x="5277251" y="2160346"/>
            <a:ext cx="1045390" cy="369332"/>
          </a:xfrm>
          <a:prstGeom prst="rect">
            <a:avLst/>
          </a:prstGeom>
          <a:solidFill>
            <a:schemeClr val="bg1">
              <a:alpha val="80000"/>
            </a:schemeClr>
          </a:solidFill>
          <a:ln>
            <a:noFill/>
          </a:ln>
          <a:effectLst/>
        </p:spPr>
        <p:txBody>
          <a:bodyPr wrap="square">
            <a:spAutoFit/>
          </a:bodyPr>
          <a:lstStyle/>
          <a:p>
            <a:r>
              <a:rPr lang="es-ES" altLang="es-CL" b="1" dirty="0">
                <a:latin typeface="Arial" panose="020B0604020202020204" pitchFamily="34" charset="0"/>
                <a:cs typeface="Arial" panose="020B0604020202020204" pitchFamily="34" charset="0"/>
              </a:rPr>
              <a:t>E(0, 8)</a:t>
            </a:r>
            <a:endParaRPr lang="es-ES" altLang="es-CL" sz="1800" b="1" dirty="0">
              <a:latin typeface="Arial" panose="020B0604020202020204" pitchFamily="34" charset="0"/>
              <a:cs typeface="Arial" panose="020B0604020202020204" pitchFamily="34" charset="0"/>
            </a:endParaRPr>
          </a:p>
        </p:txBody>
      </p:sp>
      <p:sp>
        <p:nvSpPr>
          <p:cNvPr id="43" name="Text Box 41"/>
          <p:cNvSpPr txBox="1">
            <a:spLocks noChangeArrowheads="1"/>
          </p:cNvSpPr>
          <p:nvPr/>
        </p:nvSpPr>
        <p:spPr bwMode="auto">
          <a:xfrm>
            <a:off x="5901690" y="2964180"/>
            <a:ext cx="90625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 altLang="es-CL" sz="1800" b="1" dirty="0">
                <a:latin typeface="Arial" panose="020B0604020202020204" pitchFamily="34" charset="0"/>
                <a:cs typeface="Arial" panose="020B0604020202020204" pitchFamily="34" charset="0"/>
              </a:rPr>
              <a:t>D(2, 6)</a:t>
            </a:r>
          </a:p>
        </p:txBody>
      </p:sp>
      <p:sp>
        <p:nvSpPr>
          <p:cNvPr id="44" name="Text Box 42"/>
          <p:cNvSpPr txBox="1">
            <a:spLocks noChangeArrowheads="1"/>
          </p:cNvSpPr>
          <p:nvPr/>
        </p:nvSpPr>
        <p:spPr bwMode="auto">
          <a:xfrm>
            <a:off x="6682710" y="4664230"/>
            <a:ext cx="889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800" b="1" dirty="0">
                <a:latin typeface="Arial" panose="020B0604020202020204" pitchFamily="34" charset="0"/>
                <a:cs typeface="Arial" panose="020B0604020202020204" pitchFamily="34" charset="0"/>
              </a:rPr>
              <a:t>C(4, 2)</a:t>
            </a:r>
          </a:p>
        </p:txBody>
      </p:sp>
      <p:sp>
        <p:nvSpPr>
          <p:cNvPr id="45" name="Text Box 43"/>
          <p:cNvSpPr txBox="1">
            <a:spLocks noChangeArrowheads="1"/>
          </p:cNvSpPr>
          <p:nvPr/>
        </p:nvSpPr>
        <p:spPr bwMode="auto">
          <a:xfrm>
            <a:off x="5975670" y="5223740"/>
            <a:ext cx="889987"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800" b="1" dirty="0">
                <a:latin typeface="Arial" panose="020B0604020202020204" pitchFamily="34" charset="0"/>
                <a:cs typeface="Arial" panose="020B0604020202020204" pitchFamily="34" charset="0"/>
              </a:rPr>
              <a:t>B(4, 0)</a:t>
            </a:r>
          </a:p>
        </p:txBody>
      </p:sp>
      <p:sp>
        <p:nvSpPr>
          <p:cNvPr id="46" name="Text Box 44"/>
          <p:cNvSpPr txBox="1">
            <a:spLocks noChangeArrowheads="1"/>
          </p:cNvSpPr>
          <p:nvPr/>
        </p:nvSpPr>
        <p:spPr bwMode="auto">
          <a:xfrm>
            <a:off x="4595723" y="5562596"/>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800" b="1" dirty="0"/>
              <a:t>A(0, 0)</a:t>
            </a:r>
          </a:p>
        </p:txBody>
      </p:sp>
      <p:sp>
        <p:nvSpPr>
          <p:cNvPr id="4" name="Conector 3"/>
          <p:cNvSpPr/>
          <p:nvPr/>
        </p:nvSpPr>
        <p:spPr>
          <a:xfrm>
            <a:off x="5265480" y="2513486"/>
            <a:ext cx="45719" cy="45719"/>
          </a:xfrm>
          <a:prstGeom prst="flowChartConnector">
            <a:avLst/>
          </a:prstGeom>
          <a:solidFill>
            <a:schemeClr val="tx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1" name="Conector 50"/>
          <p:cNvSpPr/>
          <p:nvPr/>
        </p:nvSpPr>
        <p:spPr>
          <a:xfrm>
            <a:off x="5955090" y="3271676"/>
            <a:ext cx="45719" cy="45719"/>
          </a:xfrm>
          <a:prstGeom prst="flowChartConnector">
            <a:avLst/>
          </a:prstGeom>
          <a:solidFill>
            <a:schemeClr val="tx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2" name="Conector 51"/>
          <p:cNvSpPr/>
          <p:nvPr/>
        </p:nvSpPr>
        <p:spPr>
          <a:xfrm>
            <a:off x="6701850" y="4795676"/>
            <a:ext cx="45719" cy="45719"/>
          </a:xfrm>
          <a:prstGeom prst="flowChartConnector">
            <a:avLst/>
          </a:prstGeom>
          <a:solidFill>
            <a:schemeClr val="tx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3" name="Conector 52"/>
          <p:cNvSpPr/>
          <p:nvPr/>
        </p:nvSpPr>
        <p:spPr>
          <a:xfrm>
            <a:off x="6682800" y="5565296"/>
            <a:ext cx="45719" cy="45719"/>
          </a:xfrm>
          <a:prstGeom prst="flowChartConnector">
            <a:avLst/>
          </a:prstGeom>
          <a:solidFill>
            <a:schemeClr val="tx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4" name="Conector 53"/>
          <p:cNvSpPr/>
          <p:nvPr/>
        </p:nvSpPr>
        <p:spPr>
          <a:xfrm>
            <a:off x="5247000" y="5580536"/>
            <a:ext cx="45719" cy="45719"/>
          </a:xfrm>
          <a:prstGeom prst="flowChartConnector">
            <a:avLst/>
          </a:prstGeom>
          <a:solidFill>
            <a:schemeClr val="tx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602804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wipe(down)">
                                      <p:cBhvr>
                                        <p:cTn id="7" dur="500"/>
                                        <p:tgtEl>
                                          <p:spTgt spid="39"/>
                                        </p:tgtEl>
                                      </p:cBhvr>
                                    </p:animEffect>
                                  </p:childTnLst>
                                </p:cTn>
                              </p:par>
                              <p:par>
                                <p:cTn id="8" presetID="1" presetClass="entr" presetSubtype="0" fill="hold" grpId="0" nodeType="withEffect">
                                  <p:stCondLst>
                                    <p:cond delay="0"/>
                                  </p:stCondLst>
                                  <p:childTnLst>
                                    <p:set>
                                      <p:cBhvr>
                                        <p:cTn id="9" dur="1" fill="hold">
                                          <p:stCondLst>
                                            <p:cond delay="0"/>
                                          </p:stCondLst>
                                        </p:cTn>
                                        <p:tgtEl>
                                          <p:spTgt spid="43"/>
                                        </p:tgtEl>
                                        <p:attrNameLst>
                                          <p:attrName>style.visibility</p:attrName>
                                        </p:attrNameLst>
                                      </p:cBhvr>
                                      <p:to>
                                        <p:strVal val="visible"/>
                                      </p:to>
                                    </p:set>
                                  </p:childTnLst>
                                </p:cTn>
                              </p:par>
                              <p:par>
                                <p:cTn id="10" presetID="2" presetClass="entr" presetSubtype="4" fill="hold" grpId="0" nodeType="withEffect">
                                  <p:stCondLst>
                                    <p:cond delay="0"/>
                                  </p:stCondLst>
                                  <p:childTnLst>
                                    <p:set>
                                      <p:cBhvr>
                                        <p:cTn id="11" dur="1" fill="hold">
                                          <p:stCondLst>
                                            <p:cond delay="0"/>
                                          </p:stCondLst>
                                        </p:cTn>
                                        <p:tgtEl>
                                          <p:spTgt spid="45"/>
                                        </p:tgtEl>
                                        <p:attrNameLst>
                                          <p:attrName>style.visibility</p:attrName>
                                        </p:attrNameLst>
                                      </p:cBhvr>
                                      <p:to>
                                        <p:strVal val="visible"/>
                                      </p:to>
                                    </p:set>
                                    <p:anim calcmode="lin" valueType="num">
                                      <p:cBhvr additive="base">
                                        <p:cTn id="12" dur="500" fill="hold"/>
                                        <p:tgtEl>
                                          <p:spTgt spid="45"/>
                                        </p:tgtEl>
                                        <p:attrNameLst>
                                          <p:attrName>ppt_x</p:attrName>
                                        </p:attrNameLst>
                                      </p:cBhvr>
                                      <p:tavLst>
                                        <p:tav tm="0">
                                          <p:val>
                                            <p:strVal val="#ppt_x"/>
                                          </p:val>
                                        </p:tav>
                                        <p:tav tm="100000">
                                          <p:val>
                                            <p:strVal val="#ppt_x"/>
                                          </p:val>
                                        </p:tav>
                                      </p:tavLst>
                                    </p:anim>
                                    <p:anim calcmode="lin" valueType="num">
                                      <p:cBhvr additive="base">
                                        <p:cTn id="13" dur="500" fill="hold"/>
                                        <p:tgtEl>
                                          <p:spTgt spid="45"/>
                                        </p:tgtEl>
                                        <p:attrNameLst>
                                          <p:attrName>ppt_y</p:attrName>
                                        </p:attrNameLst>
                                      </p:cBhvr>
                                      <p:tavLst>
                                        <p:tav tm="0">
                                          <p:val>
                                            <p:strVal val="1+#ppt_h/2"/>
                                          </p:val>
                                        </p:tav>
                                        <p:tav tm="100000">
                                          <p:val>
                                            <p:strVal val="#ppt_y"/>
                                          </p:val>
                                        </p:tav>
                                      </p:tavLst>
                                    </p:anim>
                                  </p:childTnLst>
                                </p:cTn>
                              </p:par>
                              <p:par>
                                <p:cTn id="14" presetID="2" presetClass="entr" presetSubtype="4" fill="hold" grpId="0" nodeType="withEffect">
                                  <p:stCondLst>
                                    <p:cond delay="0"/>
                                  </p:stCondLst>
                                  <p:childTnLst>
                                    <p:set>
                                      <p:cBhvr>
                                        <p:cTn id="15" dur="1" fill="hold">
                                          <p:stCondLst>
                                            <p:cond delay="0"/>
                                          </p:stCondLst>
                                        </p:cTn>
                                        <p:tgtEl>
                                          <p:spTgt spid="44"/>
                                        </p:tgtEl>
                                        <p:attrNameLst>
                                          <p:attrName>style.visibility</p:attrName>
                                        </p:attrNameLst>
                                      </p:cBhvr>
                                      <p:to>
                                        <p:strVal val="visible"/>
                                      </p:to>
                                    </p:set>
                                    <p:anim calcmode="lin" valueType="num">
                                      <p:cBhvr additive="base">
                                        <p:cTn id="16" dur="500" fill="hold"/>
                                        <p:tgtEl>
                                          <p:spTgt spid="44"/>
                                        </p:tgtEl>
                                        <p:attrNameLst>
                                          <p:attrName>ppt_x</p:attrName>
                                        </p:attrNameLst>
                                      </p:cBhvr>
                                      <p:tavLst>
                                        <p:tav tm="0">
                                          <p:val>
                                            <p:strVal val="#ppt_x"/>
                                          </p:val>
                                        </p:tav>
                                        <p:tav tm="100000">
                                          <p:val>
                                            <p:strVal val="#ppt_x"/>
                                          </p:val>
                                        </p:tav>
                                      </p:tavLst>
                                    </p:anim>
                                    <p:anim calcmode="lin" valueType="num">
                                      <p:cBhvr additive="base">
                                        <p:cTn id="17" dur="500" fill="hold"/>
                                        <p:tgtEl>
                                          <p:spTgt spid="44"/>
                                        </p:tgtEl>
                                        <p:attrNameLst>
                                          <p:attrName>ppt_y</p:attrName>
                                        </p:attrNameLst>
                                      </p:cBhvr>
                                      <p:tavLst>
                                        <p:tav tm="0">
                                          <p:val>
                                            <p:strVal val="1+#ppt_h/2"/>
                                          </p:val>
                                        </p:tav>
                                        <p:tav tm="100000">
                                          <p:val>
                                            <p:strVal val="#ppt_y"/>
                                          </p:val>
                                        </p:tav>
                                      </p:tavLst>
                                    </p:anim>
                                  </p:childTnLst>
                                </p:cTn>
                              </p:par>
                              <p:par>
                                <p:cTn id="18" presetID="2" presetClass="entr" presetSubtype="4" fill="hold" grpId="0" nodeType="withEffect">
                                  <p:stCondLst>
                                    <p:cond delay="0"/>
                                  </p:stCondLst>
                                  <p:childTnLst>
                                    <p:set>
                                      <p:cBhvr>
                                        <p:cTn id="19" dur="1" fill="hold">
                                          <p:stCondLst>
                                            <p:cond delay="0"/>
                                          </p:stCondLst>
                                        </p:cTn>
                                        <p:tgtEl>
                                          <p:spTgt spid="42"/>
                                        </p:tgtEl>
                                        <p:attrNameLst>
                                          <p:attrName>style.visibility</p:attrName>
                                        </p:attrNameLst>
                                      </p:cBhvr>
                                      <p:to>
                                        <p:strVal val="visible"/>
                                      </p:to>
                                    </p:set>
                                    <p:anim calcmode="lin" valueType="num">
                                      <p:cBhvr additive="base">
                                        <p:cTn id="20" dur="500" fill="hold"/>
                                        <p:tgtEl>
                                          <p:spTgt spid="42"/>
                                        </p:tgtEl>
                                        <p:attrNameLst>
                                          <p:attrName>ppt_x</p:attrName>
                                        </p:attrNameLst>
                                      </p:cBhvr>
                                      <p:tavLst>
                                        <p:tav tm="0">
                                          <p:val>
                                            <p:strVal val="#ppt_x"/>
                                          </p:val>
                                        </p:tav>
                                        <p:tav tm="100000">
                                          <p:val>
                                            <p:strVal val="#ppt_x"/>
                                          </p:val>
                                        </p:tav>
                                      </p:tavLst>
                                    </p:anim>
                                    <p:anim calcmode="lin" valueType="num">
                                      <p:cBhvr additive="base">
                                        <p:cTn id="21"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animBg="1"/>
      <p:bldP spid="42" grpId="0" animBg="1"/>
      <p:bldP spid="43" grpId="0"/>
      <p:bldP spid="44" grpId="0"/>
      <p:bldP spid="45"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alpha val="24000"/>
          </a:schemeClr>
        </a:solidFill>
        <a:effectLst/>
      </p:bgPr>
    </p:bg>
    <p:spTree>
      <p:nvGrpSpPr>
        <p:cNvPr id="1" name=""/>
        <p:cNvGrpSpPr/>
        <p:nvPr/>
      </p:nvGrpSpPr>
      <p:grpSpPr>
        <a:xfrm>
          <a:off x="0" y="0"/>
          <a:ext cx="0" cy="0"/>
          <a:chOff x="0" y="0"/>
          <a:chExt cx="0" cy="0"/>
        </a:xfrm>
      </p:grpSpPr>
      <p:pic>
        <p:nvPicPr>
          <p:cNvPr id="69" name="Imagen 68"/>
          <p:cNvPicPr>
            <a:picLocks noChangeAspect="1"/>
          </p:cNvPicPr>
          <p:nvPr/>
        </p:nvPicPr>
        <p:blipFill>
          <a:blip r:embed="rId2"/>
          <a:stretch>
            <a:fillRect/>
          </a:stretch>
        </p:blipFill>
        <p:spPr>
          <a:xfrm>
            <a:off x="4285621" y="720148"/>
            <a:ext cx="5736778" cy="5812888"/>
          </a:xfrm>
          <a:prstGeom prst="rect">
            <a:avLst/>
          </a:prstGeom>
        </p:spPr>
      </p:pic>
      <p:sp>
        <p:nvSpPr>
          <p:cNvPr id="2" name="Título 1"/>
          <p:cNvSpPr>
            <a:spLocks noGrp="1"/>
          </p:cNvSpPr>
          <p:nvPr>
            <p:ph type="title"/>
          </p:nvPr>
        </p:nvSpPr>
        <p:spPr>
          <a:xfrm>
            <a:off x="20885" y="999392"/>
            <a:ext cx="3472127" cy="5115658"/>
          </a:xfrm>
        </p:spPr>
        <p:txBody>
          <a:bodyPr>
            <a:noAutofit/>
          </a:bodyPr>
          <a:lstStyle/>
          <a:p>
            <a:br>
              <a:rPr lang="es-CL" sz="2600" dirty="0"/>
            </a:br>
            <a:br>
              <a:rPr lang="es-CL" sz="2600" dirty="0"/>
            </a:br>
            <a:br>
              <a:rPr lang="es-CL" sz="2600" dirty="0"/>
            </a:br>
            <a:br>
              <a:rPr lang="es-CL" sz="2600" dirty="0"/>
            </a:br>
            <a:br>
              <a:rPr lang="es-CL" sz="2600" dirty="0"/>
            </a:br>
            <a:r>
              <a:rPr lang="es-CL" sz="2600" dirty="0"/>
              <a:t>Se crean múltiples rectas z para diferentes valores de x e y. </a:t>
            </a:r>
            <a:br>
              <a:rPr lang="es-CL" sz="2600" dirty="0"/>
            </a:br>
            <a:r>
              <a:rPr lang="es-CL" altLang="es-CL" sz="2600" dirty="0"/>
              <a:t>La última recta de z que interseca (toca) la región factible indica la solución óptima para el PPL. </a:t>
            </a:r>
            <a:br>
              <a:rPr lang="es-CL" altLang="es-CL" sz="2600" dirty="0"/>
            </a:br>
            <a:r>
              <a:rPr lang="es-CL" altLang="es-CL" sz="2600" dirty="0"/>
              <a:t>Para el problema, esto ocurre en el punto D </a:t>
            </a:r>
            <a:br>
              <a:rPr lang="es-CL" altLang="es-CL" sz="2600" dirty="0"/>
            </a:br>
            <a:r>
              <a:rPr lang="es-CL" altLang="es-CL" sz="2600" dirty="0"/>
              <a:t>(x = 2, y = 6)</a:t>
            </a:r>
            <a:br>
              <a:rPr lang="en-US" altLang="es-CL" sz="2600" dirty="0"/>
            </a:br>
            <a:br>
              <a:rPr lang="en-US" altLang="es-CL" sz="2600" dirty="0"/>
            </a:br>
            <a:br>
              <a:rPr lang="en-US" altLang="es-CL" sz="2600" dirty="0"/>
            </a:br>
            <a:br>
              <a:rPr lang="es-ES" altLang="es-CL" sz="2600" dirty="0">
                <a:solidFill>
                  <a:schemeClr val="bg1"/>
                </a:solidFill>
              </a:rPr>
            </a:br>
            <a:br>
              <a:rPr lang="es-ES" altLang="es-CL" sz="2600" dirty="0">
                <a:solidFill>
                  <a:srgbClr val="33CC33"/>
                </a:solidFill>
              </a:rPr>
            </a:br>
            <a:br>
              <a:rPr lang="es-ES" altLang="es-CL" sz="2600" dirty="0"/>
            </a:br>
            <a:br>
              <a:rPr lang="es-CL" sz="2600" dirty="0"/>
            </a:br>
            <a:br>
              <a:rPr lang="en-US" altLang="es-CL" sz="2600" dirty="0">
                <a:latin typeface="Book Antiqua" panose="02040602050305030304" pitchFamily="18" charset="0"/>
              </a:rPr>
            </a:br>
            <a:endParaRPr lang="es-CL" sz="2600" dirty="0"/>
          </a:p>
        </p:txBody>
      </p:sp>
      <p:sp>
        <p:nvSpPr>
          <p:cNvPr id="62" name="Freeform 41"/>
          <p:cNvSpPr>
            <a:spLocks/>
          </p:cNvSpPr>
          <p:nvPr/>
        </p:nvSpPr>
        <p:spPr bwMode="auto">
          <a:xfrm>
            <a:off x="6381387" y="1527034"/>
            <a:ext cx="1444706" cy="3017013"/>
          </a:xfrm>
          <a:custGeom>
            <a:avLst/>
            <a:gdLst>
              <a:gd name="T0" fmla="*/ 0 w 960"/>
              <a:gd name="T1" fmla="*/ 1920 h 1920"/>
              <a:gd name="T2" fmla="*/ 0 w 960"/>
              <a:gd name="T3" fmla="*/ 0 h 1920"/>
              <a:gd name="T4" fmla="*/ 480 w 960"/>
              <a:gd name="T5" fmla="*/ 480 h 1920"/>
              <a:gd name="T6" fmla="*/ 960 w 960"/>
              <a:gd name="T7" fmla="*/ 1440 h 1920"/>
              <a:gd name="T8" fmla="*/ 960 w 960"/>
              <a:gd name="T9" fmla="*/ 1920 h 1920"/>
              <a:gd name="T10" fmla="*/ 0 w 960"/>
              <a:gd name="T11" fmla="*/ 1920 h 1920"/>
            </a:gdLst>
            <a:ahLst/>
            <a:cxnLst>
              <a:cxn ang="0">
                <a:pos x="T0" y="T1"/>
              </a:cxn>
              <a:cxn ang="0">
                <a:pos x="T2" y="T3"/>
              </a:cxn>
              <a:cxn ang="0">
                <a:pos x="T4" y="T5"/>
              </a:cxn>
              <a:cxn ang="0">
                <a:pos x="T6" y="T7"/>
              </a:cxn>
              <a:cxn ang="0">
                <a:pos x="T8" y="T9"/>
              </a:cxn>
              <a:cxn ang="0">
                <a:pos x="T10" y="T11"/>
              </a:cxn>
            </a:cxnLst>
            <a:rect l="0" t="0" r="r" b="b"/>
            <a:pathLst>
              <a:path w="960" h="1920">
                <a:moveTo>
                  <a:pt x="0" y="1920"/>
                </a:moveTo>
                <a:lnTo>
                  <a:pt x="0" y="0"/>
                </a:lnTo>
                <a:lnTo>
                  <a:pt x="480" y="480"/>
                </a:lnTo>
                <a:lnTo>
                  <a:pt x="960" y="1440"/>
                </a:lnTo>
                <a:lnTo>
                  <a:pt x="960" y="1920"/>
                </a:lnTo>
                <a:lnTo>
                  <a:pt x="0" y="1920"/>
                </a:lnTo>
                <a:close/>
              </a:path>
            </a:pathLst>
          </a:custGeom>
          <a:solidFill>
            <a:schemeClr val="accent4">
              <a:lumMod val="60000"/>
              <a:lumOff val="40000"/>
              <a:alpha val="50000"/>
            </a:schemeClr>
          </a:solidFill>
          <a:ln>
            <a:solidFill>
              <a:schemeClr val="tx1"/>
            </a:solidFill>
          </a:ln>
          <a:effectLst/>
        </p:spPr>
        <p:txBody>
          <a:bodyPr wrap="square">
            <a:spAutoFit/>
          </a:bodyPr>
          <a:lstStyle/>
          <a:p>
            <a:endParaRPr lang="es-CL"/>
          </a:p>
        </p:txBody>
      </p:sp>
      <p:sp>
        <p:nvSpPr>
          <p:cNvPr id="68" name="Text Box 42"/>
          <p:cNvSpPr txBox="1">
            <a:spLocks noChangeArrowheads="1"/>
          </p:cNvSpPr>
          <p:nvPr/>
        </p:nvSpPr>
        <p:spPr bwMode="auto">
          <a:xfrm>
            <a:off x="6346082" y="2964939"/>
            <a:ext cx="1417376"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2800" b="1" dirty="0"/>
              <a:t>Región</a:t>
            </a:r>
          </a:p>
          <a:p>
            <a:r>
              <a:rPr lang="es-ES" altLang="es-CL" sz="2800" b="1" dirty="0"/>
              <a:t>Factible</a:t>
            </a:r>
          </a:p>
        </p:txBody>
      </p:sp>
      <p:sp>
        <p:nvSpPr>
          <p:cNvPr id="42" name="Text Box 40"/>
          <p:cNvSpPr txBox="1">
            <a:spLocks noChangeArrowheads="1"/>
          </p:cNvSpPr>
          <p:nvPr/>
        </p:nvSpPr>
        <p:spPr bwMode="auto">
          <a:xfrm>
            <a:off x="6351671" y="1223086"/>
            <a:ext cx="837142" cy="369332"/>
          </a:xfrm>
          <a:prstGeom prst="rect">
            <a:avLst/>
          </a:prstGeom>
          <a:solidFill>
            <a:schemeClr val="bg1">
              <a:alpha val="80000"/>
            </a:schemeClr>
          </a:solidFill>
          <a:ln>
            <a:noFill/>
          </a:ln>
          <a:effectLst/>
        </p:spPr>
        <p:txBody>
          <a:bodyPr wrap="square">
            <a:spAutoFit/>
          </a:bodyPr>
          <a:lstStyle/>
          <a:p>
            <a:r>
              <a:rPr lang="es-ES" altLang="es-CL" sz="1800" b="1" dirty="0"/>
              <a:t>E(0, 8)</a:t>
            </a:r>
          </a:p>
        </p:txBody>
      </p:sp>
      <p:sp>
        <p:nvSpPr>
          <p:cNvPr id="43" name="Text Box 41"/>
          <p:cNvSpPr txBox="1">
            <a:spLocks noChangeArrowheads="1"/>
          </p:cNvSpPr>
          <p:nvPr/>
        </p:nvSpPr>
        <p:spPr bwMode="auto">
          <a:xfrm>
            <a:off x="7021830" y="1924050"/>
            <a:ext cx="840379"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 altLang="es-CL" sz="1800" b="1" dirty="0"/>
              <a:t>D(2, 6)</a:t>
            </a:r>
          </a:p>
        </p:txBody>
      </p:sp>
      <p:sp>
        <p:nvSpPr>
          <p:cNvPr id="44" name="Text Box 42"/>
          <p:cNvSpPr txBox="1">
            <a:spLocks noChangeArrowheads="1"/>
          </p:cNvSpPr>
          <p:nvPr/>
        </p:nvSpPr>
        <p:spPr bwMode="auto">
          <a:xfrm>
            <a:off x="7802850" y="3624100"/>
            <a:ext cx="8194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800" b="1" dirty="0"/>
              <a:t>C(4, 2)</a:t>
            </a:r>
          </a:p>
        </p:txBody>
      </p:sp>
      <p:sp>
        <p:nvSpPr>
          <p:cNvPr id="45" name="Text Box 43"/>
          <p:cNvSpPr txBox="1">
            <a:spLocks noChangeArrowheads="1"/>
          </p:cNvSpPr>
          <p:nvPr/>
        </p:nvSpPr>
        <p:spPr bwMode="auto">
          <a:xfrm>
            <a:off x="7816874" y="4193933"/>
            <a:ext cx="83227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800" b="1" dirty="0"/>
              <a:t>B(4, 0)</a:t>
            </a:r>
          </a:p>
        </p:txBody>
      </p:sp>
      <p:sp>
        <p:nvSpPr>
          <p:cNvPr id="46" name="Text Box 44"/>
          <p:cNvSpPr txBox="1">
            <a:spLocks noChangeArrowheads="1"/>
          </p:cNvSpPr>
          <p:nvPr/>
        </p:nvSpPr>
        <p:spPr bwMode="auto">
          <a:xfrm>
            <a:off x="5715863" y="4522466"/>
            <a:ext cx="86995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800" b="1" dirty="0"/>
              <a:t>A(0, 0)</a:t>
            </a:r>
          </a:p>
        </p:txBody>
      </p:sp>
      <p:sp>
        <p:nvSpPr>
          <p:cNvPr id="4" name="Conector 3"/>
          <p:cNvSpPr/>
          <p:nvPr/>
        </p:nvSpPr>
        <p:spPr>
          <a:xfrm>
            <a:off x="6362760" y="1496216"/>
            <a:ext cx="45719" cy="45719"/>
          </a:xfrm>
          <a:prstGeom prst="flowChartConnector">
            <a:avLst/>
          </a:prstGeom>
          <a:solidFill>
            <a:schemeClr val="tx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1" name="Conector 50"/>
          <p:cNvSpPr/>
          <p:nvPr/>
        </p:nvSpPr>
        <p:spPr>
          <a:xfrm>
            <a:off x="7075230" y="2231546"/>
            <a:ext cx="45719" cy="45719"/>
          </a:xfrm>
          <a:prstGeom prst="flowChartConnector">
            <a:avLst/>
          </a:prstGeom>
          <a:solidFill>
            <a:schemeClr val="tx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2" name="Conector 51"/>
          <p:cNvSpPr/>
          <p:nvPr/>
        </p:nvSpPr>
        <p:spPr>
          <a:xfrm>
            <a:off x="7821990" y="3755546"/>
            <a:ext cx="45719" cy="45719"/>
          </a:xfrm>
          <a:prstGeom prst="flowChartConnector">
            <a:avLst/>
          </a:prstGeom>
          <a:solidFill>
            <a:schemeClr val="tx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3" name="Conector 52"/>
          <p:cNvSpPr/>
          <p:nvPr/>
        </p:nvSpPr>
        <p:spPr>
          <a:xfrm>
            <a:off x="7802940" y="4525166"/>
            <a:ext cx="45719" cy="45719"/>
          </a:xfrm>
          <a:prstGeom prst="flowChartConnector">
            <a:avLst/>
          </a:prstGeom>
          <a:solidFill>
            <a:schemeClr val="tx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54" name="Conector 53"/>
          <p:cNvSpPr/>
          <p:nvPr/>
        </p:nvSpPr>
        <p:spPr>
          <a:xfrm>
            <a:off x="6367140" y="4540406"/>
            <a:ext cx="45719" cy="45719"/>
          </a:xfrm>
          <a:prstGeom prst="flowChartConnector">
            <a:avLst/>
          </a:prstGeom>
          <a:solidFill>
            <a:schemeClr val="tx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66" name="Conector recto 65"/>
          <p:cNvCxnSpPr/>
          <p:nvPr/>
        </p:nvCxnSpPr>
        <p:spPr>
          <a:xfrm>
            <a:off x="5077864" y="1440356"/>
            <a:ext cx="2819463" cy="4674694"/>
          </a:xfrm>
          <a:prstGeom prst="line">
            <a:avLst/>
          </a:prstGeom>
          <a:ln w="1905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0" name="Conector recto 69"/>
          <p:cNvCxnSpPr/>
          <p:nvPr/>
        </p:nvCxnSpPr>
        <p:spPr>
          <a:xfrm>
            <a:off x="5707311" y="3383294"/>
            <a:ext cx="1303020" cy="2194560"/>
          </a:xfrm>
          <a:prstGeom prst="line">
            <a:avLst/>
          </a:prstGeom>
          <a:ln w="1905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4" name="Conector recto 73"/>
          <p:cNvCxnSpPr/>
          <p:nvPr/>
        </p:nvCxnSpPr>
        <p:spPr>
          <a:xfrm>
            <a:off x="5607454" y="1249856"/>
            <a:ext cx="2819463" cy="4674694"/>
          </a:xfrm>
          <a:prstGeom prst="line">
            <a:avLst/>
          </a:prstGeom>
          <a:ln w="1905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75" name="Conector recto 74"/>
          <p:cNvCxnSpPr/>
          <p:nvPr/>
        </p:nvCxnSpPr>
        <p:spPr>
          <a:xfrm>
            <a:off x="6373264" y="1066976"/>
            <a:ext cx="2819463" cy="4674694"/>
          </a:xfrm>
          <a:prstGeom prst="line">
            <a:avLst/>
          </a:prstGeom>
          <a:ln w="19050">
            <a:solidFill>
              <a:schemeClr val="accent6">
                <a:lumMod val="75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5900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43"/>
                                        </p:tgtEl>
                                        <p:attrNameLst>
                                          <p:attrName>style.visibility</p:attrName>
                                        </p:attrNameLst>
                                      </p:cBhvr>
                                      <p:to>
                                        <p:strVal val="visible"/>
                                      </p:to>
                                    </p:set>
                                  </p:childTnLst>
                                </p:cTn>
                              </p:par>
                              <p:par>
                                <p:cTn id="7" presetID="2" presetClass="entr" presetSubtype="4" fill="hold" grpId="0" nodeType="withEffect">
                                  <p:stCondLst>
                                    <p:cond delay="0"/>
                                  </p:stCondLst>
                                  <p:childTnLst>
                                    <p:set>
                                      <p:cBhvr>
                                        <p:cTn id="8" dur="1" fill="hold">
                                          <p:stCondLst>
                                            <p:cond delay="0"/>
                                          </p:stCondLst>
                                        </p:cTn>
                                        <p:tgtEl>
                                          <p:spTgt spid="45"/>
                                        </p:tgtEl>
                                        <p:attrNameLst>
                                          <p:attrName>style.visibility</p:attrName>
                                        </p:attrNameLst>
                                      </p:cBhvr>
                                      <p:to>
                                        <p:strVal val="visible"/>
                                      </p:to>
                                    </p:set>
                                    <p:anim calcmode="lin" valueType="num">
                                      <p:cBhvr additive="base">
                                        <p:cTn id="9" dur="500" fill="hold"/>
                                        <p:tgtEl>
                                          <p:spTgt spid="45"/>
                                        </p:tgtEl>
                                        <p:attrNameLst>
                                          <p:attrName>ppt_x</p:attrName>
                                        </p:attrNameLst>
                                      </p:cBhvr>
                                      <p:tavLst>
                                        <p:tav tm="0">
                                          <p:val>
                                            <p:strVal val="#ppt_x"/>
                                          </p:val>
                                        </p:tav>
                                        <p:tav tm="100000">
                                          <p:val>
                                            <p:strVal val="#ppt_x"/>
                                          </p:val>
                                        </p:tav>
                                      </p:tavLst>
                                    </p:anim>
                                    <p:anim calcmode="lin" valueType="num">
                                      <p:cBhvr additive="base">
                                        <p:cTn id="10" dur="500" fill="hold"/>
                                        <p:tgtEl>
                                          <p:spTgt spid="45"/>
                                        </p:tgtEl>
                                        <p:attrNameLst>
                                          <p:attrName>ppt_y</p:attrName>
                                        </p:attrNameLst>
                                      </p:cBhvr>
                                      <p:tavLst>
                                        <p:tav tm="0">
                                          <p:val>
                                            <p:strVal val="1+#ppt_h/2"/>
                                          </p:val>
                                        </p:tav>
                                        <p:tav tm="100000">
                                          <p:val>
                                            <p:strVal val="#ppt_y"/>
                                          </p:val>
                                        </p:tav>
                                      </p:tavLst>
                                    </p:anim>
                                  </p:childTnLst>
                                </p:cTn>
                              </p:par>
                              <p:par>
                                <p:cTn id="11" presetID="2" presetClass="entr" presetSubtype="4" fill="hold" grpId="0" nodeType="withEffect">
                                  <p:stCondLst>
                                    <p:cond delay="0"/>
                                  </p:stCondLst>
                                  <p:childTnLst>
                                    <p:set>
                                      <p:cBhvr>
                                        <p:cTn id="12" dur="1" fill="hold">
                                          <p:stCondLst>
                                            <p:cond delay="0"/>
                                          </p:stCondLst>
                                        </p:cTn>
                                        <p:tgtEl>
                                          <p:spTgt spid="44"/>
                                        </p:tgtEl>
                                        <p:attrNameLst>
                                          <p:attrName>style.visibility</p:attrName>
                                        </p:attrNameLst>
                                      </p:cBhvr>
                                      <p:to>
                                        <p:strVal val="visible"/>
                                      </p:to>
                                    </p:set>
                                    <p:anim calcmode="lin" valueType="num">
                                      <p:cBhvr additive="base">
                                        <p:cTn id="13" dur="500" fill="hold"/>
                                        <p:tgtEl>
                                          <p:spTgt spid="44"/>
                                        </p:tgtEl>
                                        <p:attrNameLst>
                                          <p:attrName>ppt_x</p:attrName>
                                        </p:attrNameLst>
                                      </p:cBhvr>
                                      <p:tavLst>
                                        <p:tav tm="0">
                                          <p:val>
                                            <p:strVal val="#ppt_x"/>
                                          </p:val>
                                        </p:tav>
                                        <p:tav tm="100000">
                                          <p:val>
                                            <p:strVal val="#ppt_x"/>
                                          </p:val>
                                        </p:tav>
                                      </p:tavLst>
                                    </p:anim>
                                    <p:anim calcmode="lin" valueType="num">
                                      <p:cBhvr additive="base">
                                        <p:cTn id="14" dur="500" fill="hold"/>
                                        <p:tgtEl>
                                          <p:spTgt spid="44"/>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42"/>
                                        </p:tgtEl>
                                        <p:attrNameLst>
                                          <p:attrName>style.visibility</p:attrName>
                                        </p:attrNameLst>
                                      </p:cBhvr>
                                      <p:to>
                                        <p:strVal val="visible"/>
                                      </p:to>
                                    </p:set>
                                    <p:anim calcmode="lin" valueType="num">
                                      <p:cBhvr additive="base">
                                        <p:cTn id="17" dur="500" fill="hold"/>
                                        <p:tgtEl>
                                          <p:spTgt spid="42"/>
                                        </p:tgtEl>
                                        <p:attrNameLst>
                                          <p:attrName>ppt_x</p:attrName>
                                        </p:attrNameLst>
                                      </p:cBhvr>
                                      <p:tavLst>
                                        <p:tav tm="0">
                                          <p:val>
                                            <p:strVal val="#ppt_x"/>
                                          </p:val>
                                        </p:tav>
                                        <p:tav tm="100000">
                                          <p:val>
                                            <p:strVal val="#ppt_x"/>
                                          </p:val>
                                        </p:tav>
                                      </p:tavLst>
                                    </p:anim>
                                    <p:anim calcmode="lin" valueType="num">
                                      <p:cBhvr additive="base">
                                        <p:cTn id="18" dur="500" fill="hold"/>
                                        <p:tgtEl>
                                          <p:spTgt spid="4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P spid="43" grpId="0"/>
      <p:bldP spid="44" grpId="0"/>
      <p:bldP spid="4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4495800" y="381000"/>
            <a:ext cx="2895600" cy="566738"/>
          </a:xfrm>
        </p:spPr>
        <p:txBody>
          <a:bodyPr/>
          <a:lstStyle/>
          <a:p>
            <a:r>
              <a:rPr lang="en-US" altLang="es-CL" sz="2800">
                <a:latin typeface="Arial" panose="020B0604020202020204" pitchFamily="34" charset="0"/>
                <a:cs typeface="Arial" panose="020B0604020202020204" pitchFamily="34" charset="0"/>
              </a:rPr>
              <a:t>Solución óptima</a:t>
            </a:r>
          </a:p>
        </p:txBody>
      </p:sp>
      <p:sp>
        <p:nvSpPr>
          <p:cNvPr id="20491" name="Text Box 11"/>
          <p:cNvSpPr txBox="1">
            <a:spLocks noChangeArrowheads="1"/>
          </p:cNvSpPr>
          <p:nvPr/>
        </p:nvSpPr>
        <p:spPr bwMode="auto">
          <a:xfrm rot="20858504">
            <a:off x="7168967" y="4740557"/>
            <a:ext cx="4720282" cy="1631216"/>
          </a:xfrm>
          <a:prstGeom prst="rect">
            <a:avLst/>
          </a:prstGeom>
          <a:solidFill>
            <a:schemeClr val="accent6">
              <a:lumMod val="60000"/>
              <a:lumOff val="40000"/>
              <a:alpha val="30000"/>
            </a:schemeClr>
          </a:solidFill>
          <a:ln w="22225" cmpd="sng" algn="ctr">
            <a:solidFill>
              <a:schemeClr val="tx2"/>
            </a:solidFill>
            <a:miter lim="800000"/>
            <a:headEnd/>
            <a:tailEnd/>
          </a:ln>
          <a:effectLst/>
        </p:spPr>
        <p:txBody>
          <a:bodyPr wrap="square">
            <a:spAutoFit/>
          </a:bodyPr>
          <a:lstStyle/>
          <a:p>
            <a:r>
              <a:rPr lang="es-ES" altLang="es-CL" sz="2000" dirty="0"/>
              <a:t>La </a:t>
            </a:r>
            <a:r>
              <a:rPr lang="es-ES" altLang="es-CL" sz="2000" b="1" dirty="0"/>
              <a:t>solución óptima</a:t>
            </a:r>
            <a:r>
              <a:rPr lang="es-ES" altLang="es-CL" sz="2000" dirty="0"/>
              <a:t> de un PPL está siempre en la frontera de la región factible, en un vértice (si la solución es única) o en un segmento entre dos vértices contiguos (si hay infinitas soluciones)</a:t>
            </a:r>
          </a:p>
        </p:txBody>
      </p:sp>
      <p:sp>
        <p:nvSpPr>
          <p:cNvPr id="2" name="Rectángulo 1"/>
          <p:cNvSpPr/>
          <p:nvPr/>
        </p:nvSpPr>
        <p:spPr>
          <a:xfrm>
            <a:off x="30480" y="851514"/>
            <a:ext cx="3307080" cy="5016758"/>
          </a:xfrm>
          <a:prstGeom prst="rect">
            <a:avLst/>
          </a:prstGeom>
        </p:spPr>
        <p:txBody>
          <a:bodyPr wrap="square">
            <a:spAutoFit/>
          </a:bodyPr>
          <a:lstStyle/>
          <a:p>
            <a:pPr algn="just"/>
            <a:r>
              <a:rPr lang="es-CL" altLang="es-CL" sz="2800" b="1" dirty="0">
                <a:solidFill>
                  <a:schemeClr val="bg1"/>
                </a:solidFill>
              </a:rPr>
              <a:t>Solución Óptima:</a:t>
            </a:r>
          </a:p>
          <a:p>
            <a:pPr algn="just"/>
            <a:endParaRPr lang="es-CL" altLang="es-CL" sz="2800" b="1" dirty="0">
              <a:solidFill>
                <a:schemeClr val="bg1"/>
              </a:solidFill>
            </a:endParaRPr>
          </a:p>
          <a:p>
            <a:pPr algn="just"/>
            <a:r>
              <a:rPr lang="es-CL" altLang="es-CL" sz="2200" dirty="0">
                <a:solidFill>
                  <a:schemeClr val="bg1"/>
                </a:solidFill>
              </a:rPr>
              <a:t>Para un problema de maximización es un punto en la región factible en el cual la función objetivo tiene un valor máximo. Para un problema de minimización, una solución óptima es un punto en la región factible en el cual la función objetivo tiene un valor mínimo.</a:t>
            </a:r>
          </a:p>
          <a:p>
            <a:pPr algn="just"/>
            <a:endParaRPr lang="en-US" altLang="es-CL" sz="2200" dirty="0">
              <a:solidFill>
                <a:schemeClr val="bg1"/>
              </a:solidFill>
            </a:endParaRPr>
          </a:p>
        </p:txBody>
      </p:sp>
      <p:sp>
        <p:nvSpPr>
          <p:cNvPr id="4" name="Rectángulo 3"/>
          <p:cNvSpPr/>
          <p:nvPr/>
        </p:nvSpPr>
        <p:spPr>
          <a:xfrm>
            <a:off x="3917637" y="2050161"/>
            <a:ext cx="7520383" cy="2677656"/>
          </a:xfrm>
          <a:prstGeom prst="rect">
            <a:avLst/>
          </a:prstGeom>
        </p:spPr>
        <p:txBody>
          <a:bodyPr wrap="square">
            <a:spAutoFit/>
          </a:bodyPr>
          <a:lstStyle/>
          <a:p>
            <a:r>
              <a:rPr lang="en-US" altLang="es-CL" sz="3200" dirty="0"/>
              <a:t>z = 3000x + 2000y </a:t>
            </a:r>
          </a:p>
          <a:p>
            <a:r>
              <a:rPr lang="en-US" altLang="es-CL" sz="3200" dirty="0"/>
              <a:t>z = 3000·2 + 2000·6</a:t>
            </a:r>
            <a:br>
              <a:rPr lang="en-US" altLang="es-CL" sz="3200" dirty="0"/>
            </a:br>
            <a:r>
              <a:rPr lang="en-US" altLang="es-CL" sz="3200" dirty="0"/>
              <a:t>z = 18000     </a:t>
            </a:r>
            <a:endParaRPr lang="es-CL" sz="3200" dirty="0"/>
          </a:p>
          <a:p>
            <a:r>
              <a:rPr lang="es-CL" altLang="es-CL" sz="2400" dirty="0"/>
              <a:t>Se deben logar 2 hitos del Proyecto 1 y 6 hitos del Proyecto 2, para maximizar las ganancias semanales que serían de USD 18.000. </a:t>
            </a:r>
          </a:p>
        </p:txBody>
      </p:sp>
      <p:sp>
        <p:nvSpPr>
          <p:cNvPr id="12" name="Rectángulo 11"/>
          <p:cNvSpPr/>
          <p:nvPr/>
        </p:nvSpPr>
        <p:spPr>
          <a:xfrm>
            <a:off x="4009078" y="829595"/>
            <a:ext cx="4236564" cy="1015663"/>
          </a:xfrm>
          <a:prstGeom prst="rect">
            <a:avLst/>
          </a:prstGeom>
          <a:solidFill>
            <a:schemeClr val="accent1"/>
          </a:solidFill>
          <a:ln w="38100">
            <a:solidFill>
              <a:schemeClr val="tx1"/>
            </a:solidFill>
          </a:ln>
        </p:spPr>
        <p:txBody>
          <a:bodyPr wrap="square">
            <a:spAutoFit/>
          </a:bodyPr>
          <a:lstStyle/>
          <a:p>
            <a:pPr eaLnBrk="0" hangingPunct="0"/>
            <a:r>
              <a:rPr lang="es-CL" altLang="es-CL" sz="2000" dirty="0">
                <a:latin typeface="Arial Unicode MS" panose="020B0604020202020204" pitchFamily="34" charset="-128"/>
                <a:ea typeface="Arial Unicode MS" panose="020B0604020202020204" pitchFamily="34" charset="-128"/>
                <a:cs typeface="Arial Unicode MS" panose="020B0604020202020204" pitchFamily="34" charset="-128"/>
              </a:rPr>
              <a:t>Para maximizar los beneficios.</a:t>
            </a:r>
          </a:p>
          <a:p>
            <a:pPr eaLnBrk="0" hangingPunct="0"/>
            <a:r>
              <a:rPr lang="es-CL" altLang="es-CL" sz="2000" dirty="0">
                <a:latin typeface="Arial Unicode MS" panose="020B0604020202020204" pitchFamily="34" charset="-128"/>
                <a:ea typeface="Arial Unicode MS" panose="020B0604020202020204" pitchFamily="34" charset="-128"/>
                <a:cs typeface="Arial Unicode MS" panose="020B0604020202020204" pitchFamily="34" charset="-128"/>
              </a:rPr>
              <a:t>¿Cuántos hitos de cada Proyecto se deben lograr semanalmente?</a:t>
            </a:r>
          </a:p>
        </p:txBody>
      </p:sp>
    </p:spTree>
    <p:extLst>
      <p:ext uri="{BB962C8B-B14F-4D97-AF65-F5344CB8AC3E}">
        <p14:creationId xmlns:p14="http://schemas.microsoft.com/office/powerpoint/2010/main" val="234004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371850" y="765364"/>
            <a:ext cx="1908810" cy="532667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30724" name="Text Box 4"/>
          <p:cNvSpPr txBox="1">
            <a:spLocks noChangeArrowheads="1"/>
          </p:cNvSpPr>
          <p:nvPr/>
        </p:nvSpPr>
        <p:spPr bwMode="auto">
          <a:xfrm>
            <a:off x="5928360" y="3122472"/>
            <a:ext cx="4792980" cy="3231654"/>
          </a:xfrm>
          <a:prstGeom prst="rect">
            <a:avLst/>
          </a:prstGeom>
          <a:solidFill>
            <a:schemeClr val="bg1">
              <a:alpha val="20000"/>
            </a:schemeClr>
          </a:solidFill>
          <a:ln w="76200" cmpd="tri">
            <a:noFill/>
            <a:miter lim="800000"/>
            <a:headEnd type="none" w="sm" len="sm"/>
            <a:tailEnd type="none" w="sm" len="sm"/>
          </a:ln>
          <a:effectLst/>
        </p:spPr>
        <p:txBody>
          <a:bodyPr wrap="square">
            <a:spAutoFit/>
          </a:bodyPr>
          <a:lstStyle/>
          <a:p>
            <a:pPr eaLnBrk="0" hangingPunct="0">
              <a:spcBef>
                <a:spcPct val="50000"/>
              </a:spcBef>
            </a:pPr>
            <a:r>
              <a:rPr lang="es-CL" altLang="es-CL" sz="2400" b="1" dirty="0"/>
              <a:t>función objetivo</a:t>
            </a:r>
          </a:p>
          <a:p>
            <a:pPr eaLnBrk="0" hangingPunct="0">
              <a:spcBef>
                <a:spcPct val="50000"/>
              </a:spcBef>
            </a:pPr>
            <a:r>
              <a:rPr lang="es-CL" altLang="es-CL" sz="2400" dirty="0"/>
              <a:t>Min z = 5.000x + 10.000y </a:t>
            </a:r>
          </a:p>
          <a:p>
            <a:pPr eaLnBrk="0" hangingPunct="0">
              <a:spcBef>
                <a:spcPct val="50000"/>
              </a:spcBef>
            </a:pPr>
            <a:r>
              <a:rPr lang="es-CL" altLang="es-CL" sz="2400" b="1" dirty="0" err="1"/>
              <a:t>s.a</a:t>
            </a:r>
            <a:r>
              <a:rPr lang="es-CL" altLang="es-CL" sz="2400" b="1" dirty="0"/>
              <a:t>:</a:t>
            </a:r>
            <a:r>
              <a:rPr lang="es-CL" altLang="es-CL" sz="2400" dirty="0"/>
              <a:t>	</a:t>
            </a:r>
          </a:p>
          <a:p>
            <a:pPr eaLnBrk="0" hangingPunct="0">
              <a:spcBef>
                <a:spcPct val="50000"/>
              </a:spcBef>
            </a:pPr>
            <a:r>
              <a:rPr lang="es-CL" altLang="es-CL" sz="2400" dirty="0"/>
              <a:t>      6x + 3y ≥ 30		tareas Proyecto 1</a:t>
            </a:r>
          </a:p>
          <a:p>
            <a:pPr eaLnBrk="0" hangingPunct="0">
              <a:spcBef>
                <a:spcPct val="50000"/>
              </a:spcBef>
            </a:pPr>
            <a:r>
              <a:rPr lang="es-CL" altLang="es-CL" sz="2400" dirty="0"/>
              <a:t>      2x + 8y ≥ 24		tareas Proyecto 2</a:t>
            </a:r>
          </a:p>
          <a:p>
            <a:pPr eaLnBrk="0" hangingPunct="0">
              <a:spcBef>
                <a:spcPct val="50000"/>
              </a:spcBef>
            </a:pPr>
            <a:r>
              <a:rPr lang="es-CL" altLang="es-CL" sz="2400" dirty="0"/>
              <a:t>       x, y ≥ 0		</a:t>
            </a:r>
          </a:p>
        </p:txBody>
      </p:sp>
      <p:sp>
        <p:nvSpPr>
          <p:cNvPr id="30728" name="Rectangle 8"/>
          <p:cNvSpPr>
            <a:spLocks noChangeArrowheads="1"/>
          </p:cNvSpPr>
          <p:nvPr/>
        </p:nvSpPr>
        <p:spPr bwMode="auto">
          <a:xfrm>
            <a:off x="5783580" y="380999"/>
            <a:ext cx="5749290" cy="27414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lstStyle>
            <a:lvl1pPr marL="342900" indent="-342900" eaLnBrk="0" hangingPunct="0">
              <a:spcBef>
                <a:spcPct val="20000"/>
              </a:spcBef>
              <a:buClr>
                <a:schemeClr val="accent2"/>
              </a:buClr>
              <a:buSzPct val="75000"/>
              <a:buFont typeface="Monotype Sorts" pitchFamily="2" charset="2"/>
              <a:buChar char="l"/>
              <a:defRPr sz="3200">
                <a:solidFill>
                  <a:schemeClr val="tx1"/>
                </a:solidFill>
                <a:latin typeface="Book Antiqua" panose="02040602050305030304" pitchFamily="18" charset="0"/>
              </a:defRPr>
            </a:lvl1pPr>
            <a:lvl2pPr marL="742950" indent="-285750" eaLnBrk="0" hangingPunct="0">
              <a:spcBef>
                <a:spcPct val="20000"/>
              </a:spcBef>
              <a:buClr>
                <a:schemeClr val="tx2"/>
              </a:buClr>
              <a:buChar char="–"/>
              <a:defRPr sz="2800">
                <a:solidFill>
                  <a:schemeClr val="tx1"/>
                </a:solidFill>
                <a:latin typeface="Book Antiqua" panose="02040602050305030304" pitchFamily="18" charset="0"/>
              </a:defRPr>
            </a:lvl2pPr>
            <a:lvl3pPr marL="1143000" indent="-228600" eaLnBrk="0" hangingPunct="0">
              <a:spcBef>
                <a:spcPct val="20000"/>
              </a:spcBef>
              <a:buClr>
                <a:schemeClr val="accent2"/>
              </a:buClr>
              <a:buChar char="»"/>
              <a:defRPr sz="2400">
                <a:solidFill>
                  <a:schemeClr val="tx1"/>
                </a:solidFill>
                <a:latin typeface="Book Antiqua" panose="02040602050305030304" pitchFamily="18" charset="0"/>
              </a:defRPr>
            </a:lvl3pPr>
            <a:lvl4pPr marL="1600200" indent="-228600" eaLnBrk="0" hangingPunct="0">
              <a:spcBef>
                <a:spcPct val="20000"/>
              </a:spcBef>
              <a:buClr>
                <a:schemeClr val="accent2"/>
              </a:buClr>
              <a:buSzPct val="64000"/>
              <a:buFont typeface="Monotype Sorts" pitchFamily="2" charset="2"/>
              <a:buChar char="l"/>
              <a:defRPr sz="2000">
                <a:solidFill>
                  <a:schemeClr val="tx1"/>
                </a:solidFill>
                <a:latin typeface="Book Antiqua" panose="02040602050305030304" pitchFamily="18" charset="0"/>
              </a:defRPr>
            </a:lvl4pPr>
            <a:lvl5pPr marL="2057400" indent="-228600" eaLnBrk="0" hangingPunct="0">
              <a:spcBef>
                <a:spcPct val="20000"/>
              </a:spcBef>
              <a:buClr>
                <a:schemeClr val="tx2"/>
              </a:buClr>
              <a:buChar char="–"/>
              <a:defRPr sz="2000">
                <a:solidFill>
                  <a:schemeClr val="tx1"/>
                </a:solidFill>
                <a:latin typeface="Book Antiqua" panose="02040602050305030304" pitchFamily="18" charset="0"/>
              </a:defRPr>
            </a:lvl5pPr>
            <a:lvl6pPr marL="2514600" indent="-228600" eaLnBrk="0" fontAlgn="base" hangingPunct="0">
              <a:spcBef>
                <a:spcPct val="20000"/>
              </a:spcBef>
              <a:spcAft>
                <a:spcPct val="0"/>
              </a:spcAft>
              <a:buClr>
                <a:schemeClr val="tx2"/>
              </a:buClr>
              <a:buChar char="–"/>
              <a:defRPr sz="2000">
                <a:solidFill>
                  <a:schemeClr val="tx1"/>
                </a:solidFill>
                <a:latin typeface="Book Antiqua" panose="02040602050305030304" pitchFamily="18" charset="0"/>
              </a:defRPr>
            </a:lvl6pPr>
            <a:lvl7pPr marL="2971800" indent="-228600" eaLnBrk="0" fontAlgn="base" hangingPunct="0">
              <a:spcBef>
                <a:spcPct val="20000"/>
              </a:spcBef>
              <a:spcAft>
                <a:spcPct val="0"/>
              </a:spcAft>
              <a:buClr>
                <a:schemeClr val="tx2"/>
              </a:buClr>
              <a:buChar char="–"/>
              <a:defRPr sz="2000">
                <a:solidFill>
                  <a:schemeClr val="tx1"/>
                </a:solidFill>
                <a:latin typeface="Book Antiqua" panose="02040602050305030304" pitchFamily="18" charset="0"/>
              </a:defRPr>
            </a:lvl7pPr>
            <a:lvl8pPr marL="3429000" indent="-228600" eaLnBrk="0" fontAlgn="base" hangingPunct="0">
              <a:spcBef>
                <a:spcPct val="20000"/>
              </a:spcBef>
              <a:spcAft>
                <a:spcPct val="0"/>
              </a:spcAft>
              <a:buClr>
                <a:schemeClr val="tx2"/>
              </a:buClr>
              <a:buChar char="–"/>
              <a:defRPr sz="2000">
                <a:solidFill>
                  <a:schemeClr val="tx1"/>
                </a:solidFill>
                <a:latin typeface="Book Antiqua" panose="02040602050305030304" pitchFamily="18" charset="0"/>
              </a:defRPr>
            </a:lvl8pPr>
            <a:lvl9pPr marL="3886200" indent="-228600" eaLnBrk="0" fontAlgn="base" hangingPunct="0">
              <a:spcBef>
                <a:spcPct val="20000"/>
              </a:spcBef>
              <a:spcAft>
                <a:spcPct val="0"/>
              </a:spcAft>
              <a:buClr>
                <a:schemeClr val="tx2"/>
              </a:buClr>
              <a:buChar char="–"/>
              <a:defRPr sz="2000">
                <a:solidFill>
                  <a:schemeClr val="tx1"/>
                </a:solidFill>
                <a:latin typeface="Book Antiqua" panose="02040602050305030304" pitchFamily="18" charset="0"/>
              </a:defRPr>
            </a:lvl9pPr>
          </a:lstStyle>
          <a:p>
            <a:pPr>
              <a:lnSpc>
                <a:spcPct val="80000"/>
              </a:lnSpc>
              <a:buFont typeface="Monotype Sorts" pitchFamily="2" charset="2"/>
              <a:buNone/>
            </a:pPr>
            <a:r>
              <a:rPr lang="es-CL" altLang="es-CL" sz="3600" dirty="0">
                <a:latin typeface="+mn-lt"/>
              </a:rPr>
              <a:t>Formulación del problema:</a:t>
            </a:r>
          </a:p>
          <a:p>
            <a:pPr>
              <a:lnSpc>
                <a:spcPct val="80000"/>
              </a:lnSpc>
              <a:buFont typeface="Monotype Sorts" pitchFamily="2" charset="2"/>
              <a:buNone/>
            </a:pPr>
            <a:endParaRPr lang="es-CL" altLang="es-CL" dirty="0">
              <a:latin typeface="+mn-lt"/>
            </a:endParaRPr>
          </a:p>
          <a:p>
            <a:pPr>
              <a:lnSpc>
                <a:spcPct val="90000"/>
              </a:lnSpc>
              <a:buNone/>
            </a:pPr>
            <a:r>
              <a:rPr lang="es-CL" altLang="es-CL" sz="2400" b="1" dirty="0">
                <a:latin typeface="+mn-lt"/>
                <a:cs typeface="Arial" panose="020B0604020202020204" pitchFamily="34" charset="0"/>
              </a:rPr>
              <a:t>Variables de decisión:</a:t>
            </a:r>
          </a:p>
          <a:p>
            <a:pPr>
              <a:lnSpc>
                <a:spcPct val="90000"/>
              </a:lnSpc>
              <a:buNone/>
            </a:pPr>
            <a:endParaRPr lang="es-CL" altLang="es-CL" sz="1600" dirty="0">
              <a:latin typeface="+mn-lt"/>
              <a:cs typeface="Arial" panose="020B0604020202020204" pitchFamily="34" charset="0"/>
            </a:endParaRPr>
          </a:p>
          <a:p>
            <a:pPr>
              <a:lnSpc>
                <a:spcPct val="90000"/>
              </a:lnSpc>
              <a:buNone/>
            </a:pPr>
            <a:r>
              <a:rPr lang="es-CL" altLang="es-CL" sz="2400" dirty="0">
                <a:latin typeface="+mn-lt"/>
                <a:cs typeface="Arial" panose="020B0604020202020204" pitchFamily="34" charset="0"/>
              </a:rPr>
              <a:t>  x = nº de ingenieros Junior</a:t>
            </a:r>
          </a:p>
          <a:p>
            <a:pPr>
              <a:lnSpc>
                <a:spcPct val="90000"/>
              </a:lnSpc>
              <a:buNone/>
            </a:pPr>
            <a:r>
              <a:rPr lang="es-CL" altLang="es-CL" sz="2400" dirty="0">
                <a:latin typeface="+mn-lt"/>
                <a:cs typeface="Arial" panose="020B0604020202020204" pitchFamily="34" charset="0"/>
              </a:rPr>
              <a:t>  y = nº de ingenieros </a:t>
            </a:r>
            <a:r>
              <a:rPr lang="en-US" altLang="es-CL" sz="2400" dirty="0">
                <a:latin typeface="+mn-lt"/>
                <a:cs typeface="Arial" panose="020B0604020202020204" pitchFamily="34" charset="0"/>
              </a:rPr>
              <a:t>Senior</a:t>
            </a:r>
          </a:p>
        </p:txBody>
      </p:sp>
      <p:sp>
        <p:nvSpPr>
          <p:cNvPr id="5" name="Text Box 14"/>
          <p:cNvSpPr txBox="1">
            <a:spLocks noChangeArrowheads="1"/>
          </p:cNvSpPr>
          <p:nvPr/>
        </p:nvSpPr>
        <p:spPr bwMode="auto">
          <a:xfrm>
            <a:off x="47500" y="818509"/>
            <a:ext cx="5116830" cy="52629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 altLang="es-CL" sz="2400" dirty="0"/>
              <a:t>Una empresa de desarrollo de software está trabajando en 2 proyectos.  </a:t>
            </a:r>
          </a:p>
          <a:p>
            <a:pPr>
              <a:buFontTx/>
              <a:buChar char="•"/>
            </a:pPr>
            <a:r>
              <a:rPr lang="es-ES" altLang="es-CL" sz="2400" dirty="0"/>
              <a:t>Cada ingeniero Junior contribuye en 6 tareas de P1 y 2 tareas de P2.</a:t>
            </a:r>
          </a:p>
          <a:p>
            <a:pPr>
              <a:buFontTx/>
              <a:buChar char="•"/>
            </a:pPr>
            <a:r>
              <a:rPr lang="es-ES" altLang="es-CL" sz="2400" dirty="0"/>
              <a:t> Cada ingeniero Senior contribuye en 3 tareas de P1 y 8 tareas de P2.</a:t>
            </a:r>
          </a:p>
          <a:p>
            <a:pPr>
              <a:buFontTx/>
              <a:buChar char="•"/>
            </a:pPr>
            <a:r>
              <a:rPr lang="es-ES" altLang="es-CL" sz="2400" dirty="0"/>
              <a:t> Un salario de Junior cuesta 5.000 € y uno de Senior cuesta 10.000 €.</a:t>
            </a:r>
          </a:p>
          <a:p>
            <a:pPr>
              <a:buFontTx/>
              <a:buChar char="•"/>
            </a:pPr>
            <a:r>
              <a:rPr lang="es-ES" altLang="es-CL" sz="2400" dirty="0"/>
              <a:t> Se requiere por lo menos 30 tareas P1  y 24 tareas P2.</a:t>
            </a:r>
          </a:p>
          <a:p>
            <a:r>
              <a:rPr lang="es-ES" altLang="es-CL" sz="2400" dirty="0"/>
              <a:t>La empresa quiere saber cuántos ingenieros debe contratar en cada tipo para que el costo de los proyectos sea mínimo.</a:t>
            </a:r>
          </a:p>
        </p:txBody>
      </p:sp>
      <p:sp>
        <p:nvSpPr>
          <p:cNvPr id="3" name="CuadroTexto 2"/>
          <p:cNvSpPr txBox="1"/>
          <p:nvPr/>
        </p:nvSpPr>
        <p:spPr>
          <a:xfrm>
            <a:off x="0" y="0"/>
            <a:ext cx="4719562" cy="584775"/>
          </a:xfrm>
          <a:prstGeom prst="rect">
            <a:avLst/>
          </a:prstGeom>
          <a:noFill/>
        </p:spPr>
        <p:txBody>
          <a:bodyPr wrap="none" rtlCol="0">
            <a:spAutoFit/>
          </a:bodyPr>
          <a:lstStyle/>
          <a:p>
            <a:r>
              <a:rPr lang="es-CL" sz="3200" u="sng" dirty="0"/>
              <a:t>Ejemplo con minimización </a:t>
            </a:r>
          </a:p>
        </p:txBody>
      </p:sp>
    </p:spTree>
    <p:extLst>
      <p:ext uri="{BB962C8B-B14F-4D97-AF65-F5344CB8AC3E}">
        <p14:creationId xmlns:p14="http://schemas.microsoft.com/office/powerpoint/2010/main" val="42577969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p:cNvSpPr/>
          <p:nvPr/>
        </p:nvSpPr>
        <p:spPr>
          <a:xfrm>
            <a:off x="3420094" y="760021"/>
            <a:ext cx="997527" cy="533202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64542" name="Line 30"/>
          <p:cNvSpPr>
            <a:spLocks noChangeShapeType="1"/>
          </p:cNvSpPr>
          <p:nvPr/>
        </p:nvSpPr>
        <p:spPr bwMode="auto">
          <a:xfrm>
            <a:off x="6400800" y="2743200"/>
            <a:ext cx="1295400" cy="2667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43" name="Line 31"/>
          <p:cNvSpPr>
            <a:spLocks noChangeShapeType="1"/>
          </p:cNvSpPr>
          <p:nvPr/>
        </p:nvSpPr>
        <p:spPr bwMode="auto">
          <a:xfrm>
            <a:off x="6400800" y="4572000"/>
            <a:ext cx="3200400" cy="838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grpSp>
        <p:nvGrpSpPr>
          <p:cNvPr id="64547" name="Group 35"/>
          <p:cNvGrpSpPr>
            <a:grpSpLocks/>
          </p:cNvGrpSpPr>
          <p:nvPr/>
        </p:nvGrpSpPr>
        <p:grpSpPr bwMode="auto">
          <a:xfrm>
            <a:off x="5921375" y="1066800"/>
            <a:ext cx="4546600" cy="4770438"/>
            <a:chOff x="2832" y="672"/>
            <a:chExt cx="2864" cy="3005"/>
          </a:xfrm>
        </p:grpSpPr>
        <p:grpSp>
          <p:nvGrpSpPr>
            <p:cNvPr id="64548" name="Group 36"/>
            <p:cNvGrpSpPr>
              <a:grpSpLocks/>
            </p:cNvGrpSpPr>
            <p:nvPr/>
          </p:nvGrpSpPr>
          <p:grpSpPr bwMode="auto">
            <a:xfrm>
              <a:off x="2928" y="672"/>
              <a:ext cx="2768" cy="2930"/>
              <a:chOff x="2928" y="624"/>
              <a:chExt cx="2768" cy="2930"/>
            </a:xfrm>
          </p:grpSpPr>
          <p:sp>
            <p:nvSpPr>
              <p:cNvPr id="64549" name="Line 37"/>
              <p:cNvSpPr>
                <a:spLocks noChangeShapeType="1"/>
              </p:cNvSpPr>
              <p:nvPr/>
            </p:nvSpPr>
            <p:spPr bwMode="auto">
              <a:xfrm flipV="1">
                <a:off x="3120" y="816"/>
                <a:ext cx="0" cy="25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50" name="Text Box 38"/>
              <p:cNvSpPr txBox="1">
                <a:spLocks noChangeArrowheads="1"/>
              </p:cNvSpPr>
              <p:nvPr/>
            </p:nvSpPr>
            <p:spPr bwMode="auto">
              <a:xfrm>
                <a:off x="5473" y="3360"/>
                <a:ext cx="22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  X</a:t>
                </a:r>
              </a:p>
            </p:txBody>
          </p:sp>
          <p:sp>
            <p:nvSpPr>
              <p:cNvPr id="64551" name="Text Box 39"/>
              <p:cNvSpPr txBox="1">
                <a:spLocks noChangeArrowheads="1"/>
              </p:cNvSpPr>
              <p:nvPr/>
            </p:nvSpPr>
            <p:spPr bwMode="auto">
              <a:xfrm>
                <a:off x="2928" y="624"/>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Y</a:t>
                </a:r>
              </a:p>
            </p:txBody>
          </p:sp>
          <p:sp>
            <p:nvSpPr>
              <p:cNvPr id="64552" name="Line 40"/>
              <p:cNvSpPr>
                <a:spLocks noChangeShapeType="1"/>
              </p:cNvSpPr>
              <p:nvPr/>
            </p:nvSpPr>
            <p:spPr bwMode="auto">
              <a:xfrm>
                <a:off x="3792"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53" name="Line 41"/>
              <p:cNvSpPr>
                <a:spLocks noChangeShapeType="1"/>
              </p:cNvSpPr>
              <p:nvPr/>
            </p:nvSpPr>
            <p:spPr bwMode="auto">
              <a:xfrm>
                <a:off x="3072" y="1008"/>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54" name="Line 42"/>
              <p:cNvSpPr>
                <a:spLocks noChangeShapeType="1"/>
              </p:cNvSpPr>
              <p:nvPr/>
            </p:nvSpPr>
            <p:spPr bwMode="auto">
              <a:xfrm>
                <a:off x="4128"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55" name="Line 43"/>
              <p:cNvSpPr>
                <a:spLocks noChangeShapeType="1"/>
              </p:cNvSpPr>
              <p:nvPr/>
            </p:nvSpPr>
            <p:spPr bwMode="auto">
              <a:xfrm>
                <a:off x="4464"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56" name="Line 44"/>
              <p:cNvSpPr>
                <a:spLocks noChangeShapeType="1"/>
              </p:cNvSpPr>
              <p:nvPr/>
            </p:nvSpPr>
            <p:spPr bwMode="auto">
              <a:xfrm>
                <a:off x="4800"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57" name="Line 45"/>
              <p:cNvSpPr>
                <a:spLocks noChangeShapeType="1"/>
              </p:cNvSpPr>
              <p:nvPr/>
            </p:nvSpPr>
            <p:spPr bwMode="auto">
              <a:xfrm>
                <a:off x="5136"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58" name="Line 46"/>
              <p:cNvSpPr>
                <a:spLocks noChangeShapeType="1"/>
              </p:cNvSpPr>
              <p:nvPr/>
            </p:nvSpPr>
            <p:spPr bwMode="auto">
              <a:xfrm>
                <a:off x="5472"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59" name="Line 47"/>
              <p:cNvSpPr>
                <a:spLocks noChangeShapeType="1"/>
              </p:cNvSpPr>
              <p:nvPr/>
            </p:nvSpPr>
            <p:spPr bwMode="auto">
              <a:xfrm>
                <a:off x="3456"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60" name="Line 48"/>
              <p:cNvSpPr>
                <a:spLocks noChangeShapeType="1"/>
              </p:cNvSpPr>
              <p:nvPr/>
            </p:nvSpPr>
            <p:spPr bwMode="auto">
              <a:xfrm>
                <a:off x="3072" y="3024"/>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61" name="Line 49"/>
              <p:cNvSpPr>
                <a:spLocks noChangeShapeType="1"/>
              </p:cNvSpPr>
              <p:nvPr/>
            </p:nvSpPr>
            <p:spPr bwMode="auto">
              <a:xfrm>
                <a:off x="3072" y="2688"/>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62" name="Line 50"/>
              <p:cNvSpPr>
                <a:spLocks noChangeShapeType="1"/>
              </p:cNvSpPr>
              <p:nvPr/>
            </p:nvSpPr>
            <p:spPr bwMode="auto">
              <a:xfrm>
                <a:off x="3072" y="235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63" name="Line 51"/>
              <p:cNvSpPr>
                <a:spLocks noChangeShapeType="1"/>
              </p:cNvSpPr>
              <p:nvPr/>
            </p:nvSpPr>
            <p:spPr bwMode="auto">
              <a:xfrm>
                <a:off x="3072" y="2016"/>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64" name="Line 52"/>
              <p:cNvSpPr>
                <a:spLocks noChangeShapeType="1"/>
              </p:cNvSpPr>
              <p:nvPr/>
            </p:nvSpPr>
            <p:spPr bwMode="auto">
              <a:xfrm>
                <a:off x="3072" y="168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65" name="Line 53"/>
              <p:cNvSpPr>
                <a:spLocks noChangeShapeType="1"/>
              </p:cNvSpPr>
              <p:nvPr/>
            </p:nvSpPr>
            <p:spPr bwMode="auto">
              <a:xfrm>
                <a:off x="3072" y="1344"/>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66" name="Line 54"/>
              <p:cNvSpPr>
                <a:spLocks noChangeShapeType="1"/>
              </p:cNvSpPr>
              <p:nvPr/>
            </p:nvSpPr>
            <p:spPr bwMode="auto">
              <a:xfrm>
                <a:off x="3120" y="3360"/>
                <a:ext cx="249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grpSp>
        <p:sp>
          <p:nvSpPr>
            <p:cNvPr id="64567" name="Text Box 55"/>
            <p:cNvSpPr txBox="1">
              <a:spLocks noChangeArrowheads="1"/>
            </p:cNvSpPr>
            <p:nvPr/>
          </p:nvSpPr>
          <p:spPr bwMode="auto">
            <a:xfrm>
              <a:off x="3360" y="3504"/>
              <a:ext cx="221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CL" sz="1200"/>
                <a:t> 2         4           6           8         10        12        14</a:t>
              </a:r>
            </a:p>
          </p:txBody>
        </p:sp>
        <p:sp>
          <p:nvSpPr>
            <p:cNvPr id="64568" name="Text Box 56"/>
            <p:cNvSpPr txBox="1">
              <a:spLocks noChangeArrowheads="1"/>
            </p:cNvSpPr>
            <p:nvPr/>
          </p:nvSpPr>
          <p:spPr bwMode="auto">
            <a:xfrm>
              <a:off x="2832" y="960"/>
              <a:ext cx="210" cy="2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14</a:t>
              </a:r>
            </a:p>
            <a:p>
              <a:endParaRPr lang="es-ES" altLang="es-CL" sz="1200"/>
            </a:p>
            <a:p>
              <a:endParaRPr lang="es-ES" altLang="es-CL" sz="1200"/>
            </a:p>
            <a:p>
              <a:r>
                <a:rPr lang="es-ES" altLang="es-CL" sz="1200"/>
                <a:t>12</a:t>
              </a:r>
            </a:p>
            <a:p>
              <a:endParaRPr lang="es-ES" altLang="es-CL" sz="1200"/>
            </a:p>
            <a:p>
              <a:endParaRPr lang="es-ES" altLang="es-CL" sz="1200"/>
            </a:p>
            <a:p>
              <a:r>
                <a:rPr lang="es-ES" altLang="es-CL" sz="1200"/>
                <a:t>10</a:t>
              </a:r>
            </a:p>
            <a:p>
              <a:endParaRPr lang="es-ES" altLang="es-CL" sz="1200"/>
            </a:p>
            <a:p>
              <a:endParaRPr lang="es-ES" altLang="es-CL" sz="1000"/>
            </a:p>
            <a:p>
              <a:r>
                <a:rPr lang="es-ES" altLang="es-CL" sz="1200"/>
                <a:t>  8</a:t>
              </a:r>
            </a:p>
            <a:p>
              <a:endParaRPr lang="es-ES" altLang="es-CL" sz="1200"/>
            </a:p>
            <a:p>
              <a:endParaRPr lang="es-ES" altLang="es-CL" sz="1000"/>
            </a:p>
            <a:p>
              <a:r>
                <a:rPr lang="es-ES" altLang="es-CL" sz="1200"/>
                <a:t>  6</a:t>
              </a:r>
            </a:p>
            <a:p>
              <a:endParaRPr lang="es-ES" altLang="es-CL" sz="1200"/>
            </a:p>
            <a:p>
              <a:endParaRPr lang="es-ES" altLang="es-CL" sz="1200"/>
            </a:p>
            <a:p>
              <a:r>
                <a:rPr lang="es-ES" altLang="es-CL" sz="1200"/>
                <a:t>  4</a:t>
              </a:r>
            </a:p>
            <a:p>
              <a:endParaRPr lang="es-ES" altLang="es-CL" sz="1200"/>
            </a:p>
            <a:p>
              <a:endParaRPr lang="es-ES" altLang="es-CL" sz="1000"/>
            </a:p>
            <a:p>
              <a:r>
                <a:rPr lang="es-ES" altLang="es-CL" sz="1200"/>
                <a:t>  2</a:t>
              </a:r>
            </a:p>
          </p:txBody>
        </p:sp>
      </p:grpSp>
      <p:sp>
        <p:nvSpPr>
          <p:cNvPr id="64577" name="Text Box 65"/>
          <p:cNvSpPr txBox="1">
            <a:spLocks noChangeArrowheads="1"/>
          </p:cNvSpPr>
          <p:nvPr/>
        </p:nvSpPr>
        <p:spPr bwMode="auto">
          <a:xfrm>
            <a:off x="118750" y="1662596"/>
            <a:ext cx="402726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lang="en-US" altLang="es-CL" sz="2800" b="1" dirty="0">
                <a:solidFill>
                  <a:schemeClr val="bg1"/>
                </a:solidFill>
              </a:rPr>
              <a:t>Min   z = 5000 x + 10000y</a:t>
            </a:r>
          </a:p>
          <a:p>
            <a:pPr eaLnBrk="0" hangingPunct="0">
              <a:spcBef>
                <a:spcPct val="50000"/>
              </a:spcBef>
            </a:pPr>
            <a:r>
              <a:rPr lang="en-US" altLang="es-CL" sz="2800" b="1" dirty="0" err="1">
                <a:solidFill>
                  <a:schemeClr val="bg1"/>
                </a:solidFill>
              </a:rPr>
              <a:t>s.a.</a:t>
            </a:r>
            <a:r>
              <a:rPr lang="en-US" altLang="es-CL" sz="2800" b="1" dirty="0">
                <a:solidFill>
                  <a:schemeClr val="bg1"/>
                </a:solidFill>
              </a:rPr>
              <a:t>	</a:t>
            </a:r>
          </a:p>
          <a:p>
            <a:pPr eaLnBrk="0" hangingPunct="0">
              <a:spcBef>
                <a:spcPct val="50000"/>
              </a:spcBef>
            </a:pPr>
            <a:r>
              <a:rPr lang="en-US" altLang="es-CL" sz="2800" b="1" dirty="0">
                <a:solidFill>
                  <a:schemeClr val="bg1"/>
                </a:solidFill>
              </a:rPr>
              <a:t>	6x + 3y ≥ 30</a:t>
            </a:r>
          </a:p>
          <a:p>
            <a:pPr eaLnBrk="0" hangingPunct="0">
              <a:spcBef>
                <a:spcPct val="50000"/>
              </a:spcBef>
            </a:pPr>
            <a:r>
              <a:rPr lang="en-US" altLang="es-CL" sz="2800" b="1" dirty="0">
                <a:solidFill>
                  <a:schemeClr val="bg1"/>
                </a:solidFill>
              </a:rPr>
              <a:t>	2x + 8y ≥ 24</a:t>
            </a:r>
          </a:p>
          <a:p>
            <a:pPr eaLnBrk="0" hangingPunct="0">
              <a:spcBef>
                <a:spcPct val="50000"/>
              </a:spcBef>
            </a:pPr>
            <a:r>
              <a:rPr lang="en-US" altLang="es-CL" sz="2800" b="1" dirty="0">
                <a:solidFill>
                  <a:schemeClr val="bg1"/>
                </a:solidFill>
              </a:rPr>
              <a:t>	x, y ≥ 0</a:t>
            </a:r>
          </a:p>
        </p:txBody>
      </p:sp>
      <p:sp>
        <p:nvSpPr>
          <p:cNvPr id="64582" name="Freeform 70"/>
          <p:cNvSpPr>
            <a:spLocks/>
          </p:cNvSpPr>
          <p:nvPr/>
        </p:nvSpPr>
        <p:spPr bwMode="auto">
          <a:xfrm>
            <a:off x="6400800" y="1295400"/>
            <a:ext cx="4061363" cy="4126732"/>
          </a:xfrm>
          <a:custGeom>
            <a:avLst/>
            <a:gdLst>
              <a:gd name="T0" fmla="*/ 816 w 2352"/>
              <a:gd name="T1" fmla="*/ 2592 h 2592"/>
              <a:gd name="T2" fmla="*/ 0 w 2352"/>
              <a:gd name="T3" fmla="*/ 912 h 2592"/>
              <a:gd name="T4" fmla="*/ 0 w 2352"/>
              <a:gd name="T5" fmla="*/ 288 h 2592"/>
              <a:gd name="T6" fmla="*/ 1296 w 2352"/>
              <a:gd name="T7" fmla="*/ 0 h 2592"/>
              <a:gd name="T8" fmla="*/ 2352 w 2352"/>
              <a:gd name="T9" fmla="*/ 864 h 2592"/>
              <a:gd name="T10" fmla="*/ 2352 w 2352"/>
              <a:gd name="T11" fmla="*/ 1776 h 2592"/>
              <a:gd name="T12" fmla="*/ 2160 w 2352"/>
              <a:gd name="T13" fmla="*/ 2592 h 2592"/>
              <a:gd name="T14" fmla="*/ 816 w 2352"/>
              <a:gd name="T15" fmla="*/ 2592 h 2592"/>
              <a:gd name="connsiteX0" fmla="*/ 3235 w 10000"/>
              <a:gd name="connsiteY0" fmla="*/ 10029 h 10029"/>
              <a:gd name="connsiteX1" fmla="*/ 0 w 10000"/>
              <a:gd name="connsiteY1" fmla="*/ 3519 h 10029"/>
              <a:gd name="connsiteX2" fmla="*/ 0 w 10000"/>
              <a:gd name="connsiteY2" fmla="*/ 1111 h 10029"/>
              <a:gd name="connsiteX3" fmla="*/ 5510 w 10000"/>
              <a:gd name="connsiteY3" fmla="*/ 0 h 10029"/>
              <a:gd name="connsiteX4" fmla="*/ 10000 w 10000"/>
              <a:gd name="connsiteY4" fmla="*/ 3333 h 10029"/>
              <a:gd name="connsiteX5" fmla="*/ 10000 w 10000"/>
              <a:gd name="connsiteY5" fmla="*/ 6852 h 10029"/>
              <a:gd name="connsiteX6" fmla="*/ 9184 w 10000"/>
              <a:gd name="connsiteY6" fmla="*/ 10000 h 10029"/>
              <a:gd name="connsiteX7" fmla="*/ 3235 w 10000"/>
              <a:gd name="connsiteY7" fmla="*/ 10029 h 1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00" h="10029">
                <a:moveTo>
                  <a:pt x="3235" y="10029"/>
                </a:moveTo>
                <a:lnTo>
                  <a:pt x="0" y="3519"/>
                </a:lnTo>
                <a:lnTo>
                  <a:pt x="0" y="1111"/>
                </a:lnTo>
                <a:lnTo>
                  <a:pt x="5510" y="0"/>
                </a:lnTo>
                <a:lnTo>
                  <a:pt x="10000" y="3333"/>
                </a:lnTo>
                <a:lnTo>
                  <a:pt x="10000" y="6852"/>
                </a:lnTo>
                <a:lnTo>
                  <a:pt x="9184" y="10000"/>
                </a:lnTo>
                <a:lnTo>
                  <a:pt x="3235" y="10029"/>
                </a:lnTo>
                <a:close/>
              </a:path>
            </a:pathLst>
          </a:custGeom>
          <a:solidFill>
            <a:srgbClr val="FFFF00">
              <a:alpha val="30000"/>
            </a:srgbClr>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64583" name="Freeform 71"/>
          <p:cNvSpPr>
            <a:spLocks/>
          </p:cNvSpPr>
          <p:nvPr/>
        </p:nvSpPr>
        <p:spPr bwMode="auto">
          <a:xfrm>
            <a:off x="6406378" y="1278629"/>
            <a:ext cx="4055785" cy="4152494"/>
          </a:xfrm>
          <a:custGeom>
            <a:avLst/>
            <a:gdLst>
              <a:gd name="T0" fmla="*/ 2016 w 2352"/>
              <a:gd name="T1" fmla="*/ 2592 h 2592"/>
              <a:gd name="T2" fmla="*/ 0 w 2352"/>
              <a:gd name="T3" fmla="*/ 2064 h 2592"/>
              <a:gd name="T4" fmla="*/ 0 w 2352"/>
              <a:gd name="T5" fmla="*/ 288 h 2592"/>
              <a:gd name="T6" fmla="*/ 1296 w 2352"/>
              <a:gd name="T7" fmla="*/ 0 h 2592"/>
              <a:gd name="T8" fmla="*/ 2352 w 2352"/>
              <a:gd name="T9" fmla="*/ 864 h 2592"/>
              <a:gd name="T10" fmla="*/ 2352 w 2352"/>
              <a:gd name="T11" fmla="*/ 1776 h 2592"/>
              <a:gd name="T12" fmla="*/ 2160 w 2352"/>
              <a:gd name="T13" fmla="*/ 2592 h 2592"/>
              <a:gd name="T14" fmla="*/ 2016 w 2352"/>
              <a:gd name="T15" fmla="*/ 2592 h 2592"/>
              <a:gd name="connsiteX0" fmla="*/ 7870 w 10000"/>
              <a:gd name="connsiteY0" fmla="*/ 10035 h 10035"/>
              <a:gd name="connsiteX1" fmla="*/ 0 w 10000"/>
              <a:gd name="connsiteY1" fmla="*/ 7963 h 10035"/>
              <a:gd name="connsiteX2" fmla="*/ 0 w 10000"/>
              <a:gd name="connsiteY2" fmla="*/ 1111 h 10035"/>
              <a:gd name="connsiteX3" fmla="*/ 5510 w 10000"/>
              <a:gd name="connsiteY3" fmla="*/ 0 h 10035"/>
              <a:gd name="connsiteX4" fmla="*/ 10000 w 10000"/>
              <a:gd name="connsiteY4" fmla="*/ 3333 h 10035"/>
              <a:gd name="connsiteX5" fmla="*/ 10000 w 10000"/>
              <a:gd name="connsiteY5" fmla="*/ 6852 h 10035"/>
              <a:gd name="connsiteX6" fmla="*/ 9184 w 10000"/>
              <a:gd name="connsiteY6" fmla="*/ 10000 h 10035"/>
              <a:gd name="connsiteX7" fmla="*/ 7870 w 10000"/>
              <a:gd name="connsiteY7" fmla="*/ 10035 h 10035"/>
              <a:gd name="connsiteX0" fmla="*/ 7928 w 10058"/>
              <a:gd name="connsiteY0" fmla="*/ 10035 h 10035"/>
              <a:gd name="connsiteX1" fmla="*/ 0 w 10058"/>
              <a:gd name="connsiteY1" fmla="*/ 7539 h 10035"/>
              <a:gd name="connsiteX2" fmla="*/ 58 w 10058"/>
              <a:gd name="connsiteY2" fmla="*/ 1111 h 10035"/>
              <a:gd name="connsiteX3" fmla="*/ 5568 w 10058"/>
              <a:gd name="connsiteY3" fmla="*/ 0 h 10035"/>
              <a:gd name="connsiteX4" fmla="*/ 10058 w 10058"/>
              <a:gd name="connsiteY4" fmla="*/ 3333 h 10035"/>
              <a:gd name="connsiteX5" fmla="*/ 10058 w 10058"/>
              <a:gd name="connsiteY5" fmla="*/ 6852 h 10035"/>
              <a:gd name="connsiteX6" fmla="*/ 9242 w 10058"/>
              <a:gd name="connsiteY6" fmla="*/ 10000 h 10035"/>
              <a:gd name="connsiteX7" fmla="*/ 7928 w 10058"/>
              <a:gd name="connsiteY7" fmla="*/ 10035 h 10035"/>
              <a:gd name="connsiteX0" fmla="*/ 7899 w 10029"/>
              <a:gd name="connsiteY0" fmla="*/ 10035 h 10035"/>
              <a:gd name="connsiteX1" fmla="*/ 0 w 10029"/>
              <a:gd name="connsiteY1" fmla="*/ 7882 h 10035"/>
              <a:gd name="connsiteX2" fmla="*/ 29 w 10029"/>
              <a:gd name="connsiteY2" fmla="*/ 1111 h 10035"/>
              <a:gd name="connsiteX3" fmla="*/ 5539 w 10029"/>
              <a:gd name="connsiteY3" fmla="*/ 0 h 10035"/>
              <a:gd name="connsiteX4" fmla="*/ 10029 w 10029"/>
              <a:gd name="connsiteY4" fmla="*/ 3333 h 10035"/>
              <a:gd name="connsiteX5" fmla="*/ 10029 w 10029"/>
              <a:gd name="connsiteY5" fmla="*/ 6852 h 10035"/>
              <a:gd name="connsiteX6" fmla="*/ 9213 w 10029"/>
              <a:gd name="connsiteY6" fmla="*/ 10000 h 10035"/>
              <a:gd name="connsiteX7" fmla="*/ 7899 w 10029"/>
              <a:gd name="connsiteY7" fmla="*/ 10035 h 10035"/>
              <a:gd name="connsiteX0" fmla="*/ 7752 w 10029"/>
              <a:gd name="connsiteY0" fmla="*/ 9949 h 10000"/>
              <a:gd name="connsiteX1" fmla="*/ 0 w 10029"/>
              <a:gd name="connsiteY1" fmla="*/ 7882 h 10000"/>
              <a:gd name="connsiteX2" fmla="*/ 29 w 10029"/>
              <a:gd name="connsiteY2" fmla="*/ 1111 h 10000"/>
              <a:gd name="connsiteX3" fmla="*/ 5539 w 10029"/>
              <a:gd name="connsiteY3" fmla="*/ 0 h 10000"/>
              <a:gd name="connsiteX4" fmla="*/ 10029 w 10029"/>
              <a:gd name="connsiteY4" fmla="*/ 3333 h 10000"/>
              <a:gd name="connsiteX5" fmla="*/ 10029 w 10029"/>
              <a:gd name="connsiteY5" fmla="*/ 6852 h 10000"/>
              <a:gd name="connsiteX6" fmla="*/ 9213 w 10029"/>
              <a:gd name="connsiteY6" fmla="*/ 10000 h 10000"/>
              <a:gd name="connsiteX7" fmla="*/ 7752 w 10029"/>
              <a:gd name="connsiteY7" fmla="*/ 9949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29" h="10000">
                <a:moveTo>
                  <a:pt x="7752" y="9949"/>
                </a:moveTo>
                <a:lnTo>
                  <a:pt x="0" y="7882"/>
                </a:lnTo>
                <a:cubicBezTo>
                  <a:pt x="19" y="5739"/>
                  <a:pt x="10" y="3254"/>
                  <a:pt x="29" y="1111"/>
                </a:cubicBezTo>
                <a:lnTo>
                  <a:pt x="5539" y="0"/>
                </a:lnTo>
                <a:lnTo>
                  <a:pt x="10029" y="3333"/>
                </a:lnTo>
                <a:lnTo>
                  <a:pt x="10029" y="6852"/>
                </a:lnTo>
                <a:lnTo>
                  <a:pt x="9213" y="10000"/>
                </a:lnTo>
                <a:lnTo>
                  <a:pt x="7752" y="9949"/>
                </a:lnTo>
                <a:close/>
              </a:path>
            </a:pathLst>
          </a:custGeom>
          <a:solidFill>
            <a:srgbClr val="00CCFF">
              <a:alpha val="30000"/>
            </a:srgbClr>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64584" name="Text Box 72"/>
          <p:cNvSpPr txBox="1">
            <a:spLocks noChangeArrowheads="1"/>
          </p:cNvSpPr>
          <p:nvPr/>
        </p:nvSpPr>
        <p:spPr bwMode="auto">
          <a:xfrm>
            <a:off x="6934200" y="2286000"/>
            <a:ext cx="13716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s-CL" sz="1600" dirty="0"/>
              <a:t>6x + 3y = 30</a:t>
            </a:r>
          </a:p>
        </p:txBody>
      </p:sp>
      <p:sp>
        <p:nvSpPr>
          <p:cNvPr id="64585" name="Text Box 73"/>
          <p:cNvSpPr txBox="1">
            <a:spLocks noChangeArrowheads="1"/>
          </p:cNvSpPr>
          <p:nvPr/>
        </p:nvSpPr>
        <p:spPr bwMode="auto">
          <a:xfrm>
            <a:off x="8382000" y="4343400"/>
            <a:ext cx="152400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s-CL" sz="1600"/>
              <a:t>2x + 8y = 24</a:t>
            </a:r>
          </a:p>
        </p:txBody>
      </p:sp>
      <p:sp>
        <p:nvSpPr>
          <p:cNvPr id="64586" name="Line 74"/>
          <p:cNvSpPr>
            <a:spLocks noChangeShapeType="1"/>
          </p:cNvSpPr>
          <p:nvPr/>
        </p:nvSpPr>
        <p:spPr bwMode="auto">
          <a:xfrm flipH="1">
            <a:off x="6705600" y="2667000"/>
            <a:ext cx="533400" cy="5334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87" name="Line 75"/>
          <p:cNvSpPr>
            <a:spLocks noChangeShapeType="1"/>
          </p:cNvSpPr>
          <p:nvPr/>
        </p:nvSpPr>
        <p:spPr bwMode="auto">
          <a:xfrm flipH="1">
            <a:off x="8686800" y="4724400"/>
            <a:ext cx="15240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4588" name="Text Box 76"/>
          <p:cNvSpPr txBox="1">
            <a:spLocks noChangeArrowheads="1"/>
          </p:cNvSpPr>
          <p:nvPr/>
        </p:nvSpPr>
        <p:spPr bwMode="auto">
          <a:xfrm>
            <a:off x="4251779" y="119969"/>
            <a:ext cx="441960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s-CL" sz="3200" dirty="0" err="1"/>
              <a:t>Dibujar</a:t>
            </a:r>
            <a:r>
              <a:rPr lang="en-US" altLang="es-CL" sz="3200" dirty="0"/>
              <a:t> la </a:t>
            </a:r>
            <a:r>
              <a:rPr lang="en-US" altLang="es-CL" sz="3200" dirty="0" err="1"/>
              <a:t>región</a:t>
            </a:r>
            <a:r>
              <a:rPr lang="en-US" altLang="es-CL" sz="3200" dirty="0"/>
              <a:t> </a:t>
            </a:r>
            <a:r>
              <a:rPr lang="en-US" altLang="es-CL" sz="3200" dirty="0" err="1"/>
              <a:t>factible</a:t>
            </a:r>
            <a:endParaRPr lang="en-US" altLang="es-CL" sz="3200" dirty="0"/>
          </a:p>
        </p:txBody>
      </p:sp>
    </p:spTree>
    <p:extLst>
      <p:ext uri="{BB962C8B-B14F-4D97-AF65-F5344CB8AC3E}">
        <p14:creationId xmlns:p14="http://schemas.microsoft.com/office/powerpoint/2010/main" val="6984230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4542"/>
                                        </p:tgtEl>
                                        <p:attrNameLst>
                                          <p:attrName>style.visibility</p:attrName>
                                        </p:attrNameLst>
                                      </p:cBhvr>
                                      <p:to>
                                        <p:strVal val="visible"/>
                                      </p:to>
                                    </p:set>
                                    <p:animEffect transition="in" filter="wipe(down)">
                                      <p:cBhvr>
                                        <p:cTn id="7" dur="500"/>
                                        <p:tgtEl>
                                          <p:spTgt spid="645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4582"/>
                                        </p:tgtEl>
                                        <p:attrNameLst>
                                          <p:attrName>style.visibility</p:attrName>
                                        </p:attrNameLst>
                                      </p:cBhvr>
                                      <p:to>
                                        <p:strVal val="visible"/>
                                      </p:to>
                                    </p:set>
                                    <p:animEffect transition="in" filter="blinds(horizontal)">
                                      <p:cBhvr>
                                        <p:cTn id="12" dur="500"/>
                                        <p:tgtEl>
                                          <p:spTgt spid="6458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4543"/>
                                        </p:tgtEl>
                                        <p:attrNameLst>
                                          <p:attrName>style.visibility</p:attrName>
                                        </p:attrNameLst>
                                      </p:cBhvr>
                                      <p:to>
                                        <p:strVal val="visible"/>
                                      </p:to>
                                    </p:set>
                                    <p:animEffect transition="in" filter="wipe(down)">
                                      <p:cBhvr>
                                        <p:cTn id="17" dur="500"/>
                                        <p:tgtEl>
                                          <p:spTgt spid="645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4583"/>
                                        </p:tgtEl>
                                        <p:attrNameLst>
                                          <p:attrName>style.visibility</p:attrName>
                                        </p:attrNameLst>
                                      </p:cBhvr>
                                      <p:to>
                                        <p:strVal val="visible"/>
                                      </p:to>
                                    </p:set>
                                    <p:animEffect transition="in" filter="blinds(horizontal)">
                                      <p:cBhvr>
                                        <p:cTn id="22" dur="500"/>
                                        <p:tgtEl>
                                          <p:spTgt spid="645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42" grpId="0" animBg="1"/>
      <p:bldP spid="64543" grpId="0" animBg="1"/>
      <p:bldP spid="64582" grpId="0" animBg="1"/>
      <p:bldP spid="64583"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564" name="Group 4"/>
          <p:cNvGrpSpPr>
            <a:grpSpLocks/>
          </p:cNvGrpSpPr>
          <p:nvPr/>
        </p:nvGrpSpPr>
        <p:grpSpPr bwMode="auto">
          <a:xfrm>
            <a:off x="6019800" y="1219200"/>
            <a:ext cx="4546600" cy="4770438"/>
            <a:chOff x="2832" y="672"/>
            <a:chExt cx="2864" cy="3005"/>
          </a:xfrm>
        </p:grpSpPr>
        <p:grpSp>
          <p:nvGrpSpPr>
            <p:cNvPr id="66565" name="Group 5"/>
            <p:cNvGrpSpPr>
              <a:grpSpLocks/>
            </p:cNvGrpSpPr>
            <p:nvPr/>
          </p:nvGrpSpPr>
          <p:grpSpPr bwMode="auto">
            <a:xfrm>
              <a:off x="2928" y="672"/>
              <a:ext cx="2768" cy="2930"/>
              <a:chOff x="2928" y="624"/>
              <a:chExt cx="2768" cy="2930"/>
            </a:xfrm>
          </p:grpSpPr>
          <p:sp>
            <p:nvSpPr>
              <p:cNvPr id="66566" name="Line 6"/>
              <p:cNvSpPr>
                <a:spLocks noChangeShapeType="1"/>
              </p:cNvSpPr>
              <p:nvPr/>
            </p:nvSpPr>
            <p:spPr bwMode="auto">
              <a:xfrm flipV="1">
                <a:off x="3120" y="816"/>
                <a:ext cx="0" cy="25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67" name="Text Box 7"/>
              <p:cNvSpPr txBox="1">
                <a:spLocks noChangeArrowheads="1"/>
              </p:cNvSpPr>
              <p:nvPr/>
            </p:nvSpPr>
            <p:spPr bwMode="auto">
              <a:xfrm>
                <a:off x="5473" y="3360"/>
                <a:ext cx="22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  X</a:t>
                </a:r>
              </a:p>
            </p:txBody>
          </p:sp>
          <p:sp>
            <p:nvSpPr>
              <p:cNvPr id="66568" name="Text Box 8"/>
              <p:cNvSpPr txBox="1">
                <a:spLocks noChangeArrowheads="1"/>
              </p:cNvSpPr>
              <p:nvPr/>
            </p:nvSpPr>
            <p:spPr bwMode="auto">
              <a:xfrm>
                <a:off x="2928" y="624"/>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Y</a:t>
                </a:r>
              </a:p>
            </p:txBody>
          </p:sp>
          <p:sp>
            <p:nvSpPr>
              <p:cNvPr id="66569" name="Line 9"/>
              <p:cNvSpPr>
                <a:spLocks noChangeShapeType="1"/>
              </p:cNvSpPr>
              <p:nvPr/>
            </p:nvSpPr>
            <p:spPr bwMode="auto">
              <a:xfrm>
                <a:off x="3792"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70" name="Line 10"/>
              <p:cNvSpPr>
                <a:spLocks noChangeShapeType="1"/>
              </p:cNvSpPr>
              <p:nvPr/>
            </p:nvSpPr>
            <p:spPr bwMode="auto">
              <a:xfrm>
                <a:off x="3072" y="1008"/>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71" name="Line 11"/>
              <p:cNvSpPr>
                <a:spLocks noChangeShapeType="1"/>
              </p:cNvSpPr>
              <p:nvPr/>
            </p:nvSpPr>
            <p:spPr bwMode="auto">
              <a:xfrm>
                <a:off x="4128"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72" name="Line 12"/>
              <p:cNvSpPr>
                <a:spLocks noChangeShapeType="1"/>
              </p:cNvSpPr>
              <p:nvPr/>
            </p:nvSpPr>
            <p:spPr bwMode="auto">
              <a:xfrm>
                <a:off x="4464"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73" name="Line 13"/>
              <p:cNvSpPr>
                <a:spLocks noChangeShapeType="1"/>
              </p:cNvSpPr>
              <p:nvPr/>
            </p:nvSpPr>
            <p:spPr bwMode="auto">
              <a:xfrm>
                <a:off x="4800"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74" name="Line 14"/>
              <p:cNvSpPr>
                <a:spLocks noChangeShapeType="1"/>
              </p:cNvSpPr>
              <p:nvPr/>
            </p:nvSpPr>
            <p:spPr bwMode="auto">
              <a:xfrm>
                <a:off x="5136"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75" name="Line 15"/>
              <p:cNvSpPr>
                <a:spLocks noChangeShapeType="1"/>
              </p:cNvSpPr>
              <p:nvPr/>
            </p:nvSpPr>
            <p:spPr bwMode="auto">
              <a:xfrm>
                <a:off x="5472"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76" name="Line 16"/>
              <p:cNvSpPr>
                <a:spLocks noChangeShapeType="1"/>
              </p:cNvSpPr>
              <p:nvPr/>
            </p:nvSpPr>
            <p:spPr bwMode="auto">
              <a:xfrm>
                <a:off x="3456"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77" name="Line 17"/>
              <p:cNvSpPr>
                <a:spLocks noChangeShapeType="1"/>
              </p:cNvSpPr>
              <p:nvPr/>
            </p:nvSpPr>
            <p:spPr bwMode="auto">
              <a:xfrm>
                <a:off x="3072" y="3024"/>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78" name="Line 18"/>
              <p:cNvSpPr>
                <a:spLocks noChangeShapeType="1"/>
              </p:cNvSpPr>
              <p:nvPr/>
            </p:nvSpPr>
            <p:spPr bwMode="auto">
              <a:xfrm>
                <a:off x="3072" y="2688"/>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79" name="Line 19"/>
              <p:cNvSpPr>
                <a:spLocks noChangeShapeType="1"/>
              </p:cNvSpPr>
              <p:nvPr/>
            </p:nvSpPr>
            <p:spPr bwMode="auto">
              <a:xfrm>
                <a:off x="3072" y="235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80" name="Line 20"/>
              <p:cNvSpPr>
                <a:spLocks noChangeShapeType="1"/>
              </p:cNvSpPr>
              <p:nvPr/>
            </p:nvSpPr>
            <p:spPr bwMode="auto">
              <a:xfrm>
                <a:off x="3072" y="2016"/>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81" name="Line 21"/>
              <p:cNvSpPr>
                <a:spLocks noChangeShapeType="1"/>
              </p:cNvSpPr>
              <p:nvPr/>
            </p:nvSpPr>
            <p:spPr bwMode="auto">
              <a:xfrm>
                <a:off x="3072" y="168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82" name="Line 22"/>
              <p:cNvSpPr>
                <a:spLocks noChangeShapeType="1"/>
              </p:cNvSpPr>
              <p:nvPr/>
            </p:nvSpPr>
            <p:spPr bwMode="auto">
              <a:xfrm>
                <a:off x="3072" y="1344"/>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83" name="Line 23"/>
              <p:cNvSpPr>
                <a:spLocks noChangeShapeType="1"/>
              </p:cNvSpPr>
              <p:nvPr/>
            </p:nvSpPr>
            <p:spPr bwMode="auto">
              <a:xfrm>
                <a:off x="3120" y="3360"/>
                <a:ext cx="249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grpSp>
        <p:sp>
          <p:nvSpPr>
            <p:cNvPr id="66584" name="Text Box 24"/>
            <p:cNvSpPr txBox="1">
              <a:spLocks noChangeArrowheads="1"/>
            </p:cNvSpPr>
            <p:nvPr/>
          </p:nvSpPr>
          <p:spPr bwMode="auto">
            <a:xfrm>
              <a:off x="3360" y="3504"/>
              <a:ext cx="221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CL" sz="1200"/>
                <a:t> 2         4           6           8         10        12        14</a:t>
              </a:r>
            </a:p>
          </p:txBody>
        </p:sp>
        <p:sp>
          <p:nvSpPr>
            <p:cNvPr id="66585" name="Text Box 25"/>
            <p:cNvSpPr txBox="1">
              <a:spLocks noChangeArrowheads="1"/>
            </p:cNvSpPr>
            <p:nvPr/>
          </p:nvSpPr>
          <p:spPr bwMode="auto">
            <a:xfrm>
              <a:off x="2832" y="960"/>
              <a:ext cx="210" cy="2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14</a:t>
              </a:r>
            </a:p>
            <a:p>
              <a:endParaRPr lang="es-ES" altLang="es-CL" sz="1200"/>
            </a:p>
            <a:p>
              <a:endParaRPr lang="es-ES" altLang="es-CL" sz="1200"/>
            </a:p>
            <a:p>
              <a:r>
                <a:rPr lang="es-ES" altLang="es-CL" sz="1200"/>
                <a:t>12</a:t>
              </a:r>
            </a:p>
            <a:p>
              <a:endParaRPr lang="es-ES" altLang="es-CL" sz="1200"/>
            </a:p>
            <a:p>
              <a:endParaRPr lang="es-ES" altLang="es-CL" sz="1200"/>
            </a:p>
            <a:p>
              <a:r>
                <a:rPr lang="es-ES" altLang="es-CL" sz="1200"/>
                <a:t>10</a:t>
              </a:r>
            </a:p>
            <a:p>
              <a:endParaRPr lang="es-ES" altLang="es-CL" sz="1200"/>
            </a:p>
            <a:p>
              <a:endParaRPr lang="es-ES" altLang="es-CL" sz="1000"/>
            </a:p>
            <a:p>
              <a:r>
                <a:rPr lang="es-ES" altLang="es-CL" sz="1200"/>
                <a:t>  8</a:t>
              </a:r>
            </a:p>
            <a:p>
              <a:endParaRPr lang="es-ES" altLang="es-CL" sz="1200"/>
            </a:p>
            <a:p>
              <a:endParaRPr lang="es-ES" altLang="es-CL" sz="1000"/>
            </a:p>
            <a:p>
              <a:r>
                <a:rPr lang="es-ES" altLang="es-CL" sz="1200"/>
                <a:t>  6</a:t>
              </a:r>
            </a:p>
            <a:p>
              <a:endParaRPr lang="es-ES" altLang="es-CL" sz="1200"/>
            </a:p>
            <a:p>
              <a:endParaRPr lang="es-ES" altLang="es-CL" sz="1200"/>
            </a:p>
            <a:p>
              <a:r>
                <a:rPr lang="es-ES" altLang="es-CL" sz="1200"/>
                <a:t>  4</a:t>
              </a:r>
            </a:p>
            <a:p>
              <a:endParaRPr lang="es-ES" altLang="es-CL" sz="1200"/>
            </a:p>
            <a:p>
              <a:endParaRPr lang="es-ES" altLang="es-CL" sz="1000"/>
            </a:p>
            <a:p>
              <a:r>
                <a:rPr lang="es-ES" altLang="es-CL" sz="1200"/>
                <a:t>  2</a:t>
              </a:r>
            </a:p>
          </p:txBody>
        </p:sp>
      </p:grpSp>
      <p:sp>
        <p:nvSpPr>
          <p:cNvPr id="66590" name="Text Box 30"/>
          <p:cNvSpPr txBox="1">
            <a:spLocks noChangeArrowheads="1"/>
          </p:cNvSpPr>
          <p:nvPr/>
        </p:nvSpPr>
        <p:spPr bwMode="auto">
          <a:xfrm>
            <a:off x="8229601" y="1447801"/>
            <a:ext cx="2225675"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CL">
                <a:solidFill>
                  <a:srgbClr val="0099CC"/>
                </a:solidFill>
              </a:rPr>
              <a:t>La región factible</a:t>
            </a:r>
          </a:p>
          <a:p>
            <a:r>
              <a:rPr lang="es-ES" altLang="es-CL">
                <a:solidFill>
                  <a:srgbClr val="0099CC"/>
                </a:solidFill>
              </a:rPr>
              <a:t>no está acotada</a:t>
            </a:r>
          </a:p>
        </p:txBody>
      </p:sp>
      <p:sp>
        <p:nvSpPr>
          <p:cNvPr id="66591" name="Line 31"/>
          <p:cNvSpPr>
            <a:spLocks noChangeShapeType="1"/>
          </p:cNvSpPr>
          <p:nvPr/>
        </p:nvSpPr>
        <p:spPr bwMode="auto">
          <a:xfrm>
            <a:off x="6477000" y="2895600"/>
            <a:ext cx="1295400" cy="2667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92" name="Line 32"/>
          <p:cNvSpPr>
            <a:spLocks noChangeShapeType="1"/>
          </p:cNvSpPr>
          <p:nvPr/>
        </p:nvSpPr>
        <p:spPr bwMode="auto">
          <a:xfrm>
            <a:off x="6477000" y="4724400"/>
            <a:ext cx="3200400" cy="838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66593" name="Freeform 33"/>
          <p:cNvSpPr>
            <a:spLocks/>
          </p:cNvSpPr>
          <p:nvPr/>
        </p:nvSpPr>
        <p:spPr bwMode="auto">
          <a:xfrm>
            <a:off x="6477000" y="1676399"/>
            <a:ext cx="3962400" cy="3919537"/>
          </a:xfrm>
          <a:custGeom>
            <a:avLst/>
            <a:gdLst>
              <a:gd name="T0" fmla="*/ 2016 w 2352"/>
              <a:gd name="T1" fmla="*/ 2448 h 2448"/>
              <a:gd name="T2" fmla="*/ 624 w 2352"/>
              <a:gd name="T3" fmla="*/ 2064 h 2448"/>
              <a:gd name="T4" fmla="*/ 0 w 2352"/>
              <a:gd name="T5" fmla="*/ 768 h 2448"/>
              <a:gd name="T6" fmla="*/ 0 w 2352"/>
              <a:gd name="T7" fmla="*/ 240 h 2448"/>
              <a:gd name="T8" fmla="*/ 1152 w 2352"/>
              <a:gd name="T9" fmla="*/ 0 h 2448"/>
              <a:gd name="T10" fmla="*/ 2352 w 2352"/>
              <a:gd name="T11" fmla="*/ 720 h 2448"/>
              <a:gd name="T12" fmla="*/ 2352 w 2352"/>
              <a:gd name="T13" fmla="*/ 1584 h 2448"/>
              <a:gd name="T14" fmla="*/ 2208 w 2352"/>
              <a:gd name="T15" fmla="*/ 2448 h 2448"/>
              <a:gd name="T16" fmla="*/ 2016 w 2352"/>
              <a:gd name="T17" fmla="*/ 2448 h 2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2" h="2448">
                <a:moveTo>
                  <a:pt x="2016" y="2448"/>
                </a:moveTo>
                <a:lnTo>
                  <a:pt x="624" y="2064"/>
                </a:lnTo>
                <a:lnTo>
                  <a:pt x="0" y="768"/>
                </a:lnTo>
                <a:lnTo>
                  <a:pt x="0" y="240"/>
                </a:lnTo>
                <a:lnTo>
                  <a:pt x="1152" y="0"/>
                </a:lnTo>
                <a:lnTo>
                  <a:pt x="2352" y="720"/>
                </a:lnTo>
                <a:lnTo>
                  <a:pt x="2352" y="1584"/>
                </a:lnTo>
                <a:lnTo>
                  <a:pt x="2208" y="2448"/>
                </a:lnTo>
                <a:lnTo>
                  <a:pt x="2016" y="2448"/>
                </a:lnTo>
                <a:close/>
              </a:path>
            </a:pathLst>
          </a:custGeom>
          <a:solidFill>
            <a:srgbClr val="33CC33">
              <a:alpha val="30000"/>
            </a:srgbClr>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66594" name="Text Box 34"/>
          <p:cNvSpPr txBox="1">
            <a:spLocks noChangeArrowheads="1"/>
          </p:cNvSpPr>
          <p:nvPr/>
        </p:nvSpPr>
        <p:spPr bwMode="auto">
          <a:xfrm>
            <a:off x="8305801" y="2971801"/>
            <a:ext cx="9412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Región</a:t>
            </a:r>
          </a:p>
          <a:p>
            <a:r>
              <a:rPr lang="es-ES" altLang="es-CL"/>
              <a:t>Factible</a:t>
            </a:r>
          </a:p>
        </p:txBody>
      </p:sp>
      <p:sp>
        <p:nvSpPr>
          <p:cNvPr id="66595" name="Text Box 35"/>
          <p:cNvSpPr txBox="1">
            <a:spLocks noChangeArrowheads="1"/>
          </p:cNvSpPr>
          <p:nvPr/>
        </p:nvSpPr>
        <p:spPr bwMode="auto">
          <a:xfrm>
            <a:off x="2879726" y="533400"/>
            <a:ext cx="6264275"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CL" sz="2400">
                <a:solidFill>
                  <a:schemeClr val="tx2"/>
                </a:solidFill>
              </a:rPr>
              <a:t>Calculamos los vértices de la región factible:</a:t>
            </a:r>
          </a:p>
        </p:txBody>
      </p:sp>
      <p:sp>
        <p:nvSpPr>
          <p:cNvPr id="66596" name="Text Box 36"/>
          <p:cNvSpPr txBox="1">
            <a:spLocks noChangeArrowheads="1"/>
          </p:cNvSpPr>
          <p:nvPr/>
        </p:nvSpPr>
        <p:spPr bwMode="auto">
          <a:xfrm>
            <a:off x="6477000" y="2667000"/>
            <a:ext cx="319088"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a:t>A</a:t>
            </a:r>
          </a:p>
        </p:txBody>
      </p:sp>
      <p:sp>
        <p:nvSpPr>
          <p:cNvPr id="66597" name="Text Box 37"/>
          <p:cNvSpPr txBox="1">
            <a:spLocks noChangeArrowheads="1"/>
          </p:cNvSpPr>
          <p:nvPr/>
        </p:nvSpPr>
        <p:spPr bwMode="auto">
          <a:xfrm>
            <a:off x="7453313" y="4724400"/>
            <a:ext cx="306494"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a:t>B</a:t>
            </a:r>
          </a:p>
        </p:txBody>
      </p:sp>
      <p:sp>
        <p:nvSpPr>
          <p:cNvPr id="66598" name="Text Box 38"/>
          <p:cNvSpPr txBox="1">
            <a:spLocks noChangeArrowheads="1"/>
          </p:cNvSpPr>
          <p:nvPr/>
        </p:nvSpPr>
        <p:spPr bwMode="auto">
          <a:xfrm>
            <a:off x="9525000" y="5257800"/>
            <a:ext cx="304892"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a:t>C</a:t>
            </a:r>
          </a:p>
        </p:txBody>
      </p:sp>
      <p:sp>
        <p:nvSpPr>
          <p:cNvPr id="66599" name="Text Box 39"/>
          <p:cNvSpPr txBox="1">
            <a:spLocks noChangeArrowheads="1"/>
          </p:cNvSpPr>
          <p:nvPr/>
        </p:nvSpPr>
        <p:spPr bwMode="auto">
          <a:xfrm>
            <a:off x="203994" y="990600"/>
            <a:ext cx="32924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CL" dirty="0"/>
              <a:t>El vértice A es solución de</a:t>
            </a:r>
          </a:p>
          <a:p>
            <a:r>
              <a:rPr lang="es-ES" altLang="es-CL" dirty="0"/>
              <a:t>	6x + 3y = 30</a:t>
            </a:r>
          </a:p>
          <a:p>
            <a:r>
              <a:rPr lang="es-ES" altLang="es-CL" dirty="0"/>
              <a:t>	x = 0</a:t>
            </a:r>
          </a:p>
          <a:p>
            <a:r>
              <a:rPr lang="es-ES" altLang="es-CL" dirty="0"/>
              <a:t>Por tanto, A(0, 10)</a:t>
            </a:r>
          </a:p>
        </p:txBody>
      </p:sp>
      <p:sp>
        <p:nvSpPr>
          <p:cNvPr id="66600" name="Text Box 40"/>
          <p:cNvSpPr txBox="1">
            <a:spLocks noChangeArrowheads="1"/>
          </p:cNvSpPr>
          <p:nvPr/>
        </p:nvSpPr>
        <p:spPr bwMode="auto">
          <a:xfrm>
            <a:off x="203994" y="2506685"/>
            <a:ext cx="32924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CL" dirty="0"/>
              <a:t>El vértice B es solución de</a:t>
            </a:r>
          </a:p>
          <a:p>
            <a:r>
              <a:rPr lang="es-ES" altLang="es-CL" dirty="0"/>
              <a:t>	6x + 3y = 30</a:t>
            </a:r>
          </a:p>
          <a:p>
            <a:r>
              <a:rPr lang="es-ES" altLang="es-CL" dirty="0"/>
              <a:t>	2x + 8y = 24</a:t>
            </a:r>
          </a:p>
          <a:p>
            <a:r>
              <a:rPr lang="es-ES" altLang="es-CL" dirty="0"/>
              <a:t>Por tanto, B(4, 2)</a:t>
            </a:r>
          </a:p>
        </p:txBody>
      </p:sp>
      <p:sp>
        <p:nvSpPr>
          <p:cNvPr id="66601" name="Text Box 41"/>
          <p:cNvSpPr txBox="1">
            <a:spLocks noChangeArrowheads="1"/>
          </p:cNvSpPr>
          <p:nvPr/>
        </p:nvSpPr>
        <p:spPr bwMode="auto">
          <a:xfrm>
            <a:off x="203994" y="3953067"/>
            <a:ext cx="329247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CL" dirty="0"/>
              <a:t>El vértice C es solución de</a:t>
            </a:r>
          </a:p>
          <a:p>
            <a:r>
              <a:rPr lang="es-ES" altLang="es-CL" dirty="0"/>
              <a:t>	2x + 8y = 24</a:t>
            </a:r>
          </a:p>
          <a:p>
            <a:r>
              <a:rPr lang="es-ES" altLang="es-CL" dirty="0"/>
              <a:t>	y = 0</a:t>
            </a:r>
          </a:p>
          <a:p>
            <a:r>
              <a:rPr lang="es-ES" altLang="es-CL" dirty="0"/>
              <a:t>Por tanto, C(12, 0)</a:t>
            </a:r>
          </a:p>
        </p:txBody>
      </p:sp>
    </p:spTree>
    <p:extLst>
      <p:ext uri="{BB962C8B-B14F-4D97-AF65-F5344CB8AC3E}">
        <p14:creationId xmlns:p14="http://schemas.microsoft.com/office/powerpoint/2010/main" val="185029647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6591"/>
                                        </p:tgtEl>
                                        <p:attrNameLst>
                                          <p:attrName>style.visibility</p:attrName>
                                        </p:attrNameLst>
                                      </p:cBhvr>
                                      <p:to>
                                        <p:strVal val="visible"/>
                                      </p:to>
                                    </p:set>
                                    <p:animEffect transition="in" filter="wipe(down)">
                                      <p:cBhvr>
                                        <p:cTn id="7" dur="500"/>
                                        <p:tgtEl>
                                          <p:spTgt spid="665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6592"/>
                                        </p:tgtEl>
                                        <p:attrNameLst>
                                          <p:attrName>style.visibility</p:attrName>
                                        </p:attrNameLst>
                                      </p:cBhvr>
                                      <p:to>
                                        <p:strVal val="visible"/>
                                      </p:to>
                                    </p:set>
                                    <p:animEffect transition="in" filter="wipe(down)">
                                      <p:cBhvr>
                                        <p:cTn id="12" dur="500"/>
                                        <p:tgtEl>
                                          <p:spTgt spid="665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6593"/>
                                        </p:tgtEl>
                                        <p:attrNameLst>
                                          <p:attrName>style.visibility</p:attrName>
                                        </p:attrNameLst>
                                      </p:cBhvr>
                                      <p:to>
                                        <p:strVal val="visible"/>
                                      </p:to>
                                    </p:set>
                                    <p:animEffect transition="in" filter="blinds(horizontal)">
                                      <p:cBhvr>
                                        <p:cTn id="17" dur="500"/>
                                        <p:tgtEl>
                                          <p:spTgt spid="6659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 presetClass="entr" presetSubtype="4" fill="hold" grpId="0" nodeType="clickEffect">
                                  <p:stCondLst>
                                    <p:cond delay="0"/>
                                  </p:stCondLst>
                                  <p:childTnLst>
                                    <p:set>
                                      <p:cBhvr>
                                        <p:cTn id="21" dur="1" fill="hold">
                                          <p:stCondLst>
                                            <p:cond delay="0"/>
                                          </p:stCondLst>
                                        </p:cTn>
                                        <p:tgtEl>
                                          <p:spTgt spid="66594"/>
                                        </p:tgtEl>
                                        <p:attrNameLst>
                                          <p:attrName>style.visibility</p:attrName>
                                        </p:attrNameLst>
                                      </p:cBhvr>
                                      <p:to>
                                        <p:strVal val="visible"/>
                                      </p:to>
                                    </p:set>
                                    <p:anim calcmode="lin" valueType="num">
                                      <p:cBhvr additive="base">
                                        <p:cTn id="22" dur="500" fill="hold"/>
                                        <p:tgtEl>
                                          <p:spTgt spid="66594"/>
                                        </p:tgtEl>
                                        <p:attrNameLst>
                                          <p:attrName>ppt_x</p:attrName>
                                        </p:attrNameLst>
                                      </p:cBhvr>
                                      <p:tavLst>
                                        <p:tav tm="0">
                                          <p:val>
                                            <p:strVal val="#ppt_x"/>
                                          </p:val>
                                        </p:tav>
                                        <p:tav tm="100000">
                                          <p:val>
                                            <p:strVal val="#ppt_x"/>
                                          </p:val>
                                        </p:tav>
                                      </p:tavLst>
                                    </p:anim>
                                    <p:anim calcmode="lin" valueType="num">
                                      <p:cBhvr additive="base">
                                        <p:cTn id="23" dur="500" fill="hold"/>
                                        <p:tgtEl>
                                          <p:spTgt spid="66594"/>
                                        </p:tgtEl>
                                        <p:attrNameLst>
                                          <p:attrName>ppt_y</p:attrName>
                                        </p:attrNameLst>
                                      </p:cBhvr>
                                      <p:tavLst>
                                        <p:tav tm="0">
                                          <p:val>
                                            <p:strVal val="1+#ppt_h/2"/>
                                          </p:val>
                                        </p:tav>
                                        <p:tav tm="100000">
                                          <p:val>
                                            <p:strVal val="#ppt_y"/>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2" presetClass="entr" presetSubtype="4" fill="hold" grpId="0" nodeType="clickEffect">
                                  <p:stCondLst>
                                    <p:cond delay="0"/>
                                  </p:stCondLst>
                                  <p:childTnLst>
                                    <p:set>
                                      <p:cBhvr>
                                        <p:cTn id="27" dur="1" fill="hold">
                                          <p:stCondLst>
                                            <p:cond delay="0"/>
                                          </p:stCondLst>
                                        </p:cTn>
                                        <p:tgtEl>
                                          <p:spTgt spid="66590"/>
                                        </p:tgtEl>
                                        <p:attrNameLst>
                                          <p:attrName>style.visibility</p:attrName>
                                        </p:attrNameLst>
                                      </p:cBhvr>
                                      <p:to>
                                        <p:strVal val="visible"/>
                                      </p:to>
                                    </p:set>
                                    <p:anim calcmode="lin" valueType="num">
                                      <p:cBhvr additive="base">
                                        <p:cTn id="28" dur="500" fill="hold"/>
                                        <p:tgtEl>
                                          <p:spTgt spid="66590"/>
                                        </p:tgtEl>
                                        <p:attrNameLst>
                                          <p:attrName>ppt_x</p:attrName>
                                        </p:attrNameLst>
                                      </p:cBhvr>
                                      <p:tavLst>
                                        <p:tav tm="0">
                                          <p:val>
                                            <p:strVal val="#ppt_x"/>
                                          </p:val>
                                        </p:tav>
                                        <p:tav tm="100000">
                                          <p:val>
                                            <p:strVal val="#ppt_x"/>
                                          </p:val>
                                        </p:tav>
                                      </p:tavLst>
                                    </p:anim>
                                    <p:anim calcmode="lin" valueType="num">
                                      <p:cBhvr additive="base">
                                        <p:cTn id="29" dur="500" fill="hold"/>
                                        <p:tgtEl>
                                          <p:spTgt spid="66590"/>
                                        </p:tgtEl>
                                        <p:attrNameLst>
                                          <p:attrName>ppt_y</p:attrName>
                                        </p:attrNameLst>
                                      </p:cBhvr>
                                      <p:tavLst>
                                        <p:tav tm="0">
                                          <p:val>
                                            <p:strVal val="1+#ppt_h/2"/>
                                          </p:val>
                                        </p:tav>
                                        <p:tav tm="100000">
                                          <p:val>
                                            <p:strVal val="#ppt_y"/>
                                          </p:val>
                                        </p:tav>
                                      </p:tavLst>
                                    </p:anim>
                                  </p:childTnLst>
                                </p:cTn>
                              </p:par>
                            </p:childTnLst>
                          </p:cTn>
                        </p:par>
                      </p:childTnLst>
                    </p:cTn>
                  </p:par>
                  <p:par>
                    <p:cTn id="30" fill="hold" nodeType="clickPar">
                      <p:stCondLst>
                        <p:cond delay="indefinite"/>
                      </p:stCondLst>
                      <p:childTnLst>
                        <p:par>
                          <p:cTn id="31" fill="hold" nodeType="withGroup">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66599"/>
                                        </p:tgtEl>
                                        <p:attrNameLst>
                                          <p:attrName>style.visibility</p:attrName>
                                        </p:attrNameLst>
                                      </p:cBhvr>
                                      <p:to>
                                        <p:strVal val="visible"/>
                                      </p:to>
                                    </p:set>
                                    <p:anim calcmode="lin" valueType="num">
                                      <p:cBhvr additive="base">
                                        <p:cTn id="34" dur="500" fill="hold"/>
                                        <p:tgtEl>
                                          <p:spTgt spid="66599"/>
                                        </p:tgtEl>
                                        <p:attrNameLst>
                                          <p:attrName>ppt_x</p:attrName>
                                        </p:attrNameLst>
                                      </p:cBhvr>
                                      <p:tavLst>
                                        <p:tav tm="0">
                                          <p:val>
                                            <p:strVal val="#ppt_x"/>
                                          </p:val>
                                        </p:tav>
                                        <p:tav tm="100000">
                                          <p:val>
                                            <p:strVal val="#ppt_x"/>
                                          </p:val>
                                        </p:tav>
                                      </p:tavLst>
                                    </p:anim>
                                    <p:anim calcmode="lin" valueType="num">
                                      <p:cBhvr additive="base">
                                        <p:cTn id="35" dur="500" fill="hold"/>
                                        <p:tgtEl>
                                          <p:spTgt spid="66599"/>
                                        </p:tgtEl>
                                        <p:attrNameLst>
                                          <p:attrName>ppt_y</p:attrName>
                                        </p:attrNameLst>
                                      </p:cBhvr>
                                      <p:tavLst>
                                        <p:tav tm="0">
                                          <p:val>
                                            <p:strVal val="1+#ppt_h/2"/>
                                          </p:val>
                                        </p:tav>
                                        <p:tav tm="100000">
                                          <p:val>
                                            <p:strVal val="#ppt_y"/>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66600"/>
                                        </p:tgtEl>
                                        <p:attrNameLst>
                                          <p:attrName>style.visibility</p:attrName>
                                        </p:attrNameLst>
                                      </p:cBhvr>
                                      <p:to>
                                        <p:strVal val="visible"/>
                                      </p:to>
                                    </p:set>
                                    <p:anim calcmode="lin" valueType="num">
                                      <p:cBhvr additive="base">
                                        <p:cTn id="40" dur="500" fill="hold"/>
                                        <p:tgtEl>
                                          <p:spTgt spid="66600"/>
                                        </p:tgtEl>
                                        <p:attrNameLst>
                                          <p:attrName>ppt_x</p:attrName>
                                        </p:attrNameLst>
                                      </p:cBhvr>
                                      <p:tavLst>
                                        <p:tav tm="0">
                                          <p:val>
                                            <p:strVal val="#ppt_x"/>
                                          </p:val>
                                        </p:tav>
                                        <p:tav tm="100000">
                                          <p:val>
                                            <p:strVal val="#ppt_x"/>
                                          </p:val>
                                        </p:tav>
                                      </p:tavLst>
                                    </p:anim>
                                    <p:anim calcmode="lin" valueType="num">
                                      <p:cBhvr additive="base">
                                        <p:cTn id="41" dur="500" fill="hold"/>
                                        <p:tgtEl>
                                          <p:spTgt spid="66600"/>
                                        </p:tgtEl>
                                        <p:attrNameLst>
                                          <p:attrName>ppt_y</p:attrName>
                                        </p:attrNameLst>
                                      </p:cBhvr>
                                      <p:tavLst>
                                        <p:tav tm="0">
                                          <p:val>
                                            <p:strVal val="1+#ppt_h/2"/>
                                          </p:val>
                                        </p:tav>
                                        <p:tav tm="100000">
                                          <p:val>
                                            <p:strVal val="#ppt_y"/>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 presetClass="entr" presetSubtype="4" fill="hold" grpId="0" nodeType="clickEffect">
                                  <p:stCondLst>
                                    <p:cond delay="0"/>
                                  </p:stCondLst>
                                  <p:childTnLst>
                                    <p:set>
                                      <p:cBhvr>
                                        <p:cTn id="45" dur="1" fill="hold">
                                          <p:stCondLst>
                                            <p:cond delay="0"/>
                                          </p:stCondLst>
                                        </p:cTn>
                                        <p:tgtEl>
                                          <p:spTgt spid="66601"/>
                                        </p:tgtEl>
                                        <p:attrNameLst>
                                          <p:attrName>style.visibility</p:attrName>
                                        </p:attrNameLst>
                                      </p:cBhvr>
                                      <p:to>
                                        <p:strVal val="visible"/>
                                      </p:to>
                                    </p:set>
                                    <p:anim calcmode="lin" valueType="num">
                                      <p:cBhvr additive="base">
                                        <p:cTn id="46" dur="500" fill="hold"/>
                                        <p:tgtEl>
                                          <p:spTgt spid="66601"/>
                                        </p:tgtEl>
                                        <p:attrNameLst>
                                          <p:attrName>ppt_x</p:attrName>
                                        </p:attrNameLst>
                                      </p:cBhvr>
                                      <p:tavLst>
                                        <p:tav tm="0">
                                          <p:val>
                                            <p:strVal val="#ppt_x"/>
                                          </p:val>
                                        </p:tav>
                                        <p:tav tm="100000">
                                          <p:val>
                                            <p:strVal val="#ppt_x"/>
                                          </p:val>
                                        </p:tav>
                                      </p:tavLst>
                                    </p:anim>
                                    <p:anim calcmode="lin" valueType="num">
                                      <p:cBhvr additive="base">
                                        <p:cTn id="47" dur="500" fill="hold"/>
                                        <p:tgtEl>
                                          <p:spTgt spid="666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90" grpId="0"/>
      <p:bldP spid="66591" grpId="0" animBg="1"/>
      <p:bldP spid="66592" grpId="0" animBg="1"/>
      <p:bldP spid="66593" grpId="0" animBg="1"/>
      <p:bldP spid="66594" grpId="0" autoUpdateAnimBg="0"/>
      <p:bldP spid="66599" grpId="0"/>
      <p:bldP spid="66600" grpId="0"/>
      <p:bldP spid="66601"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4" name="Line 4"/>
          <p:cNvSpPr>
            <a:spLocks noChangeShapeType="1"/>
          </p:cNvSpPr>
          <p:nvPr/>
        </p:nvSpPr>
        <p:spPr bwMode="auto">
          <a:xfrm>
            <a:off x="6477000" y="2895600"/>
            <a:ext cx="1295400" cy="2667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685" name="Line 5"/>
          <p:cNvSpPr>
            <a:spLocks noChangeShapeType="1"/>
          </p:cNvSpPr>
          <p:nvPr/>
        </p:nvSpPr>
        <p:spPr bwMode="auto">
          <a:xfrm>
            <a:off x="6477000" y="4724400"/>
            <a:ext cx="3200400" cy="8382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686" name="Freeform 6"/>
          <p:cNvSpPr>
            <a:spLocks/>
          </p:cNvSpPr>
          <p:nvPr/>
        </p:nvSpPr>
        <p:spPr bwMode="auto">
          <a:xfrm>
            <a:off x="6477000" y="1676399"/>
            <a:ext cx="3643666" cy="3886199"/>
          </a:xfrm>
          <a:custGeom>
            <a:avLst/>
            <a:gdLst>
              <a:gd name="T0" fmla="*/ 2016 w 2352"/>
              <a:gd name="T1" fmla="*/ 2448 h 2448"/>
              <a:gd name="T2" fmla="*/ 624 w 2352"/>
              <a:gd name="T3" fmla="*/ 2064 h 2448"/>
              <a:gd name="T4" fmla="*/ 0 w 2352"/>
              <a:gd name="T5" fmla="*/ 768 h 2448"/>
              <a:gd name="T6" fmla="*/ 0 w 2352"/>
              <a:gd name="T7" fmla="*/ 240 h 2448"/>
              <a:gd name="T8" fmla="*/ 1152 w 2352"/>
              <a:gd name="T9" fmla="*/ 0 h 2448"/>
              <a:gd name="T10" fmla="*/ 2352 w 2352"/>
              <a:gd name="T11" fmla="*/ 720 h 2448"/>
              <a:gd name="T12" fmla="*/ 2352 w 2352"/>
              <a:gd name="T13" fmla="*/ 1584 h 2448"/>
              <a:gd name="T14" fmla="*/ 2208 w 2352"/>
              <a:gd name="T15" fmla="*/ 2448 h 2448"/>
              <a:gd name="T16" fmla="*/ 2016 w 2352"/>
              <a:gd name="T17" fmla="*/ 2448 h 24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352" h="2448">
                <a:moveTo>
                  <a:pt x="2016" y="2448"/>
                </a:moveTo>
                <a:lnTo>
                  <a:pt x="624" y="2064"/>
                </a:lnTo>
                <a:lnTo>
                  <a:pt x="0" y="768"/>
                </a:lnTo>
                <a:lnTo>
                  <a:pt x="0" y="240"/>
                </a:lnTo>
                <a:lnTo>
                  <a:pt x="1152" y="0"/>
                </a:lnTo>
                <a:lnTo>
                  <a:pt x="2352" y="720"/>
                </a:lnTo>
                <a:lnTo>
                  <a:pt x="2352" y="1584"/>
                </a:lnTo>
                <a:lnTo>
                  <a:pt x="2208" y="2448"/>
                </a:lnTo>
                <a:lnTo>
                  <a:pt x="2016" y="2448"/>
                </a:lnTo>
                <a:close/>
              </a:path>
            </a:pathLst>
          </a:custGeom>
          <a:solidFill>
            <a:srgbClr val="33CC33">
              <a:alpha val="30000"/>
            </a:srgbClr>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71687" name="Text Box 7"/>
          <p:cNvSpPr txBox="1">
            <a:spLocks noChangeArrowheads="1"/>
          </p:cNvSpPr>
          <p:nvPr/>
        </p:nvSpPr>
        <p:spPr bwMode="auto">
          <a:xfrm>
            <a:off x="8305801" y="2971801"/>
            <a:ext cx="9412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Región</a:t>
            </a:r>
          </a:p>
          <a:p>
            <a:r>
              <a:rPr lang="es-ES" altLang="es-CL"/>
              <a:t>Factible</a:t>
            </a:r>
          </a:p>
        </p:txBody>
      </p:sp>
      <p:sp>
        <p:nvSpPr>
          <p:cNvPr id="71688" name="Text Box 8"/>
          <p:cNvSpPr txBox="1">
            <a:spLocks noChangeArrowheads="1"/>
          </p:cNvSpPr>
          <p:nvPr/>
        </p:nvSpPr>
        <p:spPr bwMode="auto">
          <a:xfrm>
            <a:off x="3191668" y="177224"/>
            <a:ext cx="6264275"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CL" sz="3200" dirty="0"/>
              <a:t>Resolver por el método gráfico</a:t>
            </a:r>
          </a:p>
        </p:txBody>
      </p:sp>
      <p:sp>
        <p:nvSpPr>
          <p:cNvPr id="71689" name="Text Box 9"/>
          <p:cNvSpPr txBox="1">
            <a:spLocks noChangeArrowheads="1"/>
          </p:cNvSpPr>
          <p:nvPr/>
        </p:nvSpPr>
        <p:spPr bwMode="auto">
          <a:xfrm>
            <a:off x="6477001" y="2667000"/>
            <a:ext cx="83548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a:t>A(0, 10)</a:t>
            </a:r>
          </a:p>
        </p:txBody>
      </p:sp>
      <p:sp>
        <p:nvSpPr>
          <p:cNvPr id="71690" name="Text Box 10"/>
          <p:cNvSpPr txBox="1">
            <a:spLocks noChangeArrowheads="1"/>
          </p:cNvSpPr>
          <p:nvPr/>
        </p:nvSpPr>
        <p:spPr bwMode="auto">
          <a:xfrm>
            <a:off x="7453313" y="4724400"/>
            <a:ext cx="734496"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a:t>B(4, 2)</a:t>
            </a:r>
          </a:p>
        </p:txBody>
      </p:sp>
      <p:sp>
        <p:nvSpPr>
          <p:cNvPr id="71691" name="Text Box 11"/>
          <p:cNvSpPr txBox="1">
            <a:spLocks noChangeArrowheads="1"/>
          </p:cNvSpPr>
          <p:nvPr/>
        </p:nvSpPr>
        <p:spPr bwMode="auto">
          <a:xfrm>
            <a:off x="9525001" y="5257800"/>
            <a:ext cx="824265" cy="338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a:t>C(12, 0)</a:t>
            </a:r>
          </a:p>
        </p:txBody>
      </p:sp>
      <p:grpSp>
        <p:nvGrpSpPr>
          <p:cNvPr id="71692" name="Group 12"/>
          <p:cNvGrpSpPr>
            <a:grpSpLocks/>
          </p:cNvGrpSpPr>
          <p:nvPr/>
        </p:nvGrpSpPr>
        <p:grpSpPr bwMode="auto">
          <a:xfrm>
            <a:off x="6019800" y="1219200"/>
            <a:ext cx="4546600" cy="4770438"/>
            <a:chOff x="2832" y="672"/>
            <a:chExt cx="2864" cy="3005"/>
          </a:xfrm>
        </p:grpSpPr>
        <p:grpSp>
          <p:nvGrpSpPr>
            <p:cNvPr id="71693" name="Group 13"/>
            <p:cNvGrpSpPr>
              <a:grpSpLocks/>
            </p:cNvGrpSpPr>
            <p:nvPr/>
          </p:nvGrpSpPr>
          <p:grpSpPr bwMode="auto">
            <a:xfrm>
              <a:off x="2928" y="672"/>
              <a:ext cx="2768" cy="2930"/>
              <a:chOff x="2928" y="624"/>
              <a:chExt cx="2768" cy="2930"/>
            </a:xfrm>
          </p:grpSpPr>
          <p:sp>
            <p:nvSpPr>
              <p:cNvPr id="71694" name="Line 14"/>
              <p:cNvSpPr>
                <a:spLocks noChangeShapeType="1"/>
              </p:cNvSpPr>
              <p:nvPr/>
            </p:nvSpPr>
            <p:spPr bwMode="auto">
              <a:xfrm flipV="1">
                <a:off x="3120" y="816"/>
                <a:ext cx="0" cy="2544"/>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695" name="Text Box 15"/>
              <p:cNvSpPr txBox="1">
                <a:spLocks noChangeArrowheads="1"/>
              </p:cNvSpPr>
              <p:nvPr/>
            </p:nvSpPr>
            <p:spPr bwMode="auto">
              <a:xfrm>
                <a:off x="5473" y="3360"/>
                <a:ext cx="223" cy="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  X</a:t>
                </a:r>
              </a:p>
            </p:txBody>
          </p:sp>
          <p:sp>
            <p:nvSpPr>
              <p:cNvPr id="71696" name="Text Box 16"/>
              <p:cNvSpPr txBox="1">
                <a:spLocks noChangeArrowheads="1"/>
              </p:cNvSpPr>
              <p:nvPr/>
            </p:nvSpPr>
            <p:spPr bwMode="auto">
              <a:xfrm>
                <a:off x="2928" y="624"/>
                <a:ext cx="191" cy="1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Y</a:t>
                </a:r>
              </a:p>
            </p:txBody>
          </p:sp>
          <p:sp>
            <p:nvSpPr>
              <p:cNvPr id="71697" name="Line 17"/>
              <p:cNvSpPr>
                <a:spLocks noChangeShapeType="1"/>
              </p:cNvSpPr>
              <p:nvPr/>
            </p:nvSpPr>
            <p:spPr bwMode="auto">
              <a:xfrm>
                <a:off x="3792"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698" name="Line 18"/>
              <p:cNvSpPr>
                <a:spLocks noChangeShapeType="1"/>
              </p:cNvSpPr>
              <p:nvPr/>
            </p:nvSpPr>
            <p:spPr bwMode="auto">
              <a:xfrm>
                <a:off x="3072" y="1008"/>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699" name="Line 19"/>
              <p:cNvSpPr>
                <a:spLocks noChangeShapeType="1"/>
              </p:cNvSpPr>
              <p:nvPr/>
            </p:nvSpPr>
            <p:spPr bwMode="auto">
              <a:xfrm>
                <a:off x="4128"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00" name="Line 20"/>
              <p:cNvSpPr>
                <a:spLocks noChangeShapeType="1"/>
              </p:cNvSpPr>
              <p:nvPr/>
            </p:nvSpPr>
            <p:spPr bwMode="auto">
              <a:xfrm>
                <a:off x="4464"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01" name="Line 21"/>
              <p:cNvSpPr>
                <a:spLocks noChangeShapeType="1"/>
              </p:cNvSpPr>
              <p:nvPr/>
            </p:nvSpPr>
            <p:spPr bwMode="auto">
              <a:xfrm>
                <a:off x="4800"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02" name="Line 22"/>
              <p:cNvSpPr>
                <a:spLocks noChangeShapeType="1"/>
              </p:cNvSpPr>
              <p:nvPr/>
            </p:nvSpPr>
            <p:spPr bwMode="auto">
              <a:xfrm>
                <a:off x="5136"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03" name="Line 23"/>
              <p:cNvSpPr>
                <a:spLocks noChangeShapeType="1"/>
              </p:cNvSpPr>
              <p:nvPr/>
            </p:nvSpPr>
            <p:spPr bwMode="auto">
              <a:xfrm>
                <a:off x="5472"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04" name="Line 24"/>
              <p:cNvSpPr>
                <a:spLocks noChangeShapeType="1"/>
              </p:cNvSpPr>
              <p:nvPr/>
            </p:nvSpPr>
            <p:spPr bwMode="auto">
              <a:xfrm>
                <a:off x="3456" y="336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05" name="Line 25"/>
              <p:cNvSpPr>
                <a:spLocks noChangeShapeType="1"/>
              </p:cNvSpPr>
              <p:nvPr/>
            </p:nvSpPr>
            <p:spPr bwMode="auto">
              <a:xfrm>
                <a:off x="3072" y="3024"/>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06" name="Line 26"/>
              <p:cNvSpPr>
                <a:spLocks noChangeShapeType="1"/>
              </p:cNvSpPr>
              <p:nvPr/>
            </p:nvSpPr>
            <p:spPr bwMode="auto">
              <a:xfrm>
                <a:off x="3072" y="2688"/>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07" name="Line 27"/>
              <p:cNvSpPr>
                <a:spLocks noChangeShapeType="1"/>
              </p:cNvSpPr>
              <p:nvPr/>
            </p:nvSpPr>
            <p:spPr bwMode="auto">
              <a:xfrm>
                <a:off x="3072" y="2352"/>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08" name="Line 28"/>
              <p:cNvSpPr>
                <a:spLocks noChangeShapeType="1"/>
              </p:cNvSpPr>
              <p:nvPr/>
            </p:nvSpPr>
            <p:spPr bwMode="auto">
              <a:xfrm>
                <a:off x="3072" y="2016"/>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09" name="Line 29"/>
              <p:cNvSpPr>
                <a:spLocks noChangeShapeType="1"/>
              </p:cNvSpPr>
              <p:nvPr/>
            </p:nvSpPr>
            <p:spPr bwMode="auto">
              <a:xfrm>
                <a:off x="3072" y="168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10" name="Line 30"/>
              <p:cNvSpPr>
                <a:spLocks noChangeShapeType="1"/>
              </p:cNvSpPr>
              <p:nvPr/>
            </p:nvSpPr>
            <p:spPr bwMode="auto">
              <a:xfrm>
                <a:off x="3072" y="1344"/>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11" name="Line 31"/>
              <p:cNvSpPr>
                <a:spLocks noChangeShapeType="1"/>
              </p:cNvSpPr>
              <p:nvPr/>
            </p:nvSpPr>
            <p:spPr bwMode="auto">
              <a:xfrm>
                <a:off x="3120" y="3360"/>
                <a:ext cx="249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grpSp>
        <p:sp>
          <p:nvSpPr>
            <p:cNvPr id="71712" name="Text Box 32"/>
            <p:cNvSpPr txBox="1">
              <a:spLocks noChangeArrowheads="1"/>
            </p:cNvSpPr>
            <p:nvPr/>
          </p:nvSpPr>
          <p:spPr bwMode="auto">
            <a:xfrm>
              <a:off x="3360" y="3504"/>
              <a:ext cx="2218"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s-ES" altLang="es-CL" sz="1200"/>
                <a:t> 2         4           6           8         10        12        14</a:t>
              </a:r>
            </a:p>
          </p:txBody>
        </p:sp>
        <p:sp>
          <p:nvSpPr>
            <p:cNvPr id="71713" name="Text Box 33"/>
            <p:cNvSpPr txBox="1">
              <a:spLocks noChangeArrowheads="1"/>
            </p:cNvSpPr>
            <p:nvPr/>
          </p:nvSpPr>
          <p:spPr bwMode="auto">
            <a:xfrm>
              <a:off x="2832" y="960"/>
              <a:ext cx="210" cy="22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14</a:t>
              </a:r>
            </a:p>
            <a:p>
              <a:endParaRPr lang="es-ES" altLang="es-CL" sz="1200"/>
            </a:p>
            <a:p>
              <a:endParaRPr lang="es-ES" altLang="es-CL" sz="1200"/>
            </a:p>
            <a:p>
              <a:r>
                <a:rPr lang="es-ES" altLang="es-CL" sz="1200"/>
                <a:t>12</a:t>
              </a:r>
            </a:p>
            <a:p>
              <a:endParaRPr lang="es-ES" altLang="es-CL" sz="1200"/>
            </a:p>
            <a:p>
              <a:endParaRPr lang="es-ES" altLang="es-CL" sz="1200"/>
            </a:p>
            <a:p>
              <a:r>
                <a:rPr lang="es-ES" altLang="es-CL" sz="1200"/>
                <a:t>10</a:t>
              </a:r>
            </a:p>
            <a:p>
              <a:endParaRPr lang="es-ES" altLang="es-CL" sz="1200"/>
            </a:p>
            <a:p>
              <a:endParaRPr lang="es-ES" altLang="es-CL" sz="1000"/>
            </a:p>
            <a:p>
              <a:r>
                <a:rPr lang="es-ES" altLang="es-CL" sz="1200"/>
                <a:t>  8</a:t>
              </a:r>
            </a:p>
            <a:p>
              <a:endParaRPr lang="es-ES" altLang="es-CL" sz="1200"/>
            </a:p>
            <a:p>
              <a:endParaRPr lang="es-ES" altLang="es-CL" sz="1000"/>
            </a:p>
            <a:p>
              <a:r>
                <a:rPr lang="es-ES" altLang="es-CL" sz="1200"/>
                <a:t>  6</a:t>
              </a:r>
            </a:p>
            <a:p>
              <a:endParaRPr lang="es-ES" altLang="es-CL" sz="1200"/>
            </a:p>
            <a:p>
              <a:endParaRPr lang="es-ES" altLang="es-CL" sz="1200"/>
            </a:p>
            <a:p>
              <a:r>
                <a:rPr lang="es-ES" altLang="es-CL" sz="1200"/>
                <a:t>  4</a:t>
              </a:r>
            </a:p>
            <a:p>
              <a:endParaRPr lang="es-ES" altLang="es-CL" sz="1200"/>
            </a:p>
            <a:p>
              <a:endParaRPr lang="es-ES" altLang="es-CL" sz="1000"/>
            </a:p>
            <a:p>
              <a:r>
                <a:rPr lang="es-ES" altLang="es-CL" sz="1200"/>
                <a:t>  2</a:t>
              </a:r>
            </a:p>
          </p:txBody>
        </p:sp>
      </p:grpSp>
      <p:sp>
        <p:nvSpPr>
          <p:cNvPr id="71731" name="Text Box 51"/>
          <p:cNvSpPr txBox="1">
            <a:spLocks noChangeArrowheads="1"/>
          </p:cNvSpPr>
          <p:nvPr/>
        </p:nvSpPr>
        <p:spPr bwMode="auto">
          <a:xfrm>
            <a:off x="219871" y="3266435"/>
            <a:ext cx="2347912"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s-ES" altLang="es-CL" dirty="0"/>
              <a:t>El coste mínimo se obtiene en el punto B</a:t>
            </a:r>
          </a:p>
        </p:txBody>
      </p:sp>
      <p:sp>
        <p:nvSpPr>
          <p:cNvPr id="71732" name="Text Box 52"/>
          <p:cNvSpPr txBox="1">
            <a:spLocks noChangeArrowheads="1"/>
          </p:cNvSpPr>
          <p:nvPr/>
        </p:nvSpPr>
        <p:spPr bwMode="auto">
          <a:xfrm>
            <a:off x="249382" y="4362271"/>
            <a:ext cx="1794081" cy="1200329"/>
          </a:xfrm>
          <a:prstGeom prst="rect">
            <a:avLst/>
          </a:prstGeom>
          <a:solidFill>
            <a:schemeClr val="accent2">
              <a:alpha val="50000"/>
            </a:schemeClr>
          </a:solidFill>
          <a:ln>
            <a:noFill/>
          </a:ln>
          <a:effectLst/>
          <a:extLs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dirty="0"/>
              <a:t>Solución:</a:t>
            </a:r>
          </a:p>
          <a:p>
            <a:r>
              <a:rPr lang="es-ES" altLang="es-CL" dirty="0"/>
              <a:t>x = 4 Senior</a:t>
            </a:r>
          </a:p>
          <a:p>
            <a:r>
              <a:rPr lang="es-ES" altLang="es-CL" dirty="0"/>
              <a:t>y = 2 Junior</a:t>
            </a:r>
          </a:p>
          <a:p>
            <a:r>
              <a:rPr lang="es-ES" altLang="es-CL" dirty="0"/>
              <a:t>Coste z = 40.000 </a:t>
            </a:r>
          </a:p>
        </p:txBody>
      </p:sp>
      <p:sp>
        <p:nvSpPr>
          <p:cNvPr id="71733" name="Text Box 53"/>
          <p:cNvSpPr txBox="1">
            <a:spLocks noChangeArrowheads="1"/>
          </p:cNvSpPr>
          <p:nvPr/>
        </p:nvSpPr>
        <p:spPr bwMode="auto">
          <a:xfrm>
            <a:off x="249382" y="1371600"/>
            <a:ext cx="3103417" cy="17851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0" hangingPunct="0">
              <a:spcBef>
                <a:spcPct val="50000"/>
              </a:spcBef>
            </a:pPr>
            <a:r>
              <a:rPr lang="en-US" altLang="es-CL" sz="2000" dirty="0"/>
              <a:t>Min   z = 5.000 x + 10.000y</a:t>
            </a:r>
          </a:p>
          <a:p>
            <a:pPr eaLnBrk="0" hangingPunct="0">
              <a:spcBef>
                <a:spcPct val="50000"/>
              </a:spcBef>
            </a:pPr>
            <a:r>
              <a:rPr lang="en-US" altLang="es-CL" sz="2000" dirty="0" err="1"/>
              <a:t>s.a.</a:t>
            </a:r>
            <a:r>
              <a:rPr lang="en-US" altLang="es-CL" sz="2000" dirty="0"/>
              <a:t>	6x + 3y ≥ 30</a:t>
            </a:r>
          </a:p>
          <a:p>
            <a:pPr eaLnBrk="0" hangingPunct="0">
              <a:spcBef>
                <a:spcPct val="50000"/>
              </a:spcBef>
            </a:pPr>
            <a:r>
              <a:rPr lang="en-US" altLang="es-CL" sz="2000" dirty="0"/>
              <a:t>	2x + 8y ≥ 24</a:t>
            </a:r>
          </a:p>
          <a:p>
            <a:pPr eaLnBrk="0" hangingPunct="0">
              <a:spcBef>
                <a:spcPct val="50000"/>
              </a:spcBef>
            </a:pPr>
            <a:r>
              <a:rPr lang="en-US" altLang="es-CL" sz="2000" dirty="0"/>
              <a:t>	x, y ≥ 0</a:t>
            </a:r>
          </a:p>
        </p:txBody>
      </p:sp>
      <p:sp>
        <p:nvSpPr>
          <p:cNvPr id="71734" name="Line 54"/>
          <p:cNvSpPr>
            <a:spLocks noChangeShapeType="1"/>
          </p:cNvSpPr>
          <p:nvPr/>
        </p:nvSpPr>
        <p:spPr bwMode="auto">
          <a:xfrm flipH="1" flipV="1">
            <a:off x="5791200" y="3581400"/>
            <a:ext cx="4648200" cy="2362200"/>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35" name="Text Box 55"/>
          <p:cNvSpPr txBox="1">
            <a:spLocks noChangeArrowheads="1"/>
          </p:cNvSpPr>
          <p:nvPr/>
        </p:nvSpPr>
        <p:spPr bwMode="auto">
          <a:xfrm>
            <a:off x="4961211" y="3306924"/>
            <a:ext cx="1079142" cy="338554"/>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Z = 60.000</a:t>
            </a:r>
          </a:p>
        </p:txBody>
      </p:sp>
      <p:sp>
        <p:nvSpPr>
          <p:cNvPr id="71736" name="Line 56"/>
          <p:cNvSpPr>
            <a:spLocks noChangeShapeType="1"/>
          </p:cNvSpPr>
          <p:nvPr/>
        </p:nvSpPr>
        <p:spPr bwMode="auto">
          <a:xfrm flipH="1" flipV="1">
            <a:off x="5791200" y="4114800"/>
            <a:ext cx="4648200" cy="2362200"/>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71737" name="Text Box 57"/>
          <p:cNvSpPr txBox="1">
            <a:spLocks noChangeArrowheads="1"/>
          </p:cNvSpPr>
          <p:nvPr/>
        </p:nvSpPr>
        <p:spPr bwMode="auto">
          <a:xfrm>
            <a:off x="4972709" y="3869324"/>
            <a:ext cx="1077539" cy="338554"/>
          </a:xfrm>
          <a:prstGeom prst="rect">
            <a:avLst/>
          </a:prstGeom>
          <a:noFill/>
          <a:ln w="12700" algn="ctr">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600" dirty="0"/>
              <a:t>Z = 40.000</a:t>
            </a:r>
          </a:p>
        </p:txBody>
      </p:sp>
    </p:spTree>
    <p:extLst>
      <p:ext uri="{BB962C8B-B14F-4D97-AF65-F5344CB8AC3E}">
        <p14:creationId xmlns:p14="http://schemas.microsoft.com/office/powerpoint/2010/main" val="6571085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1734"/>
                                        </p:tgtEl>
                                        <p:attrNameLst>
                                          <p:attrName>style.visibility</p:attrName>
                                        </p:attrNameLst>
                                      </p:cBhvr>
                                      <p:to>
                                        <p:strVal val="visible"/>
                                      </p:to>
                                    </p:set>
                                    <p:animEffect transition="in" filter="wipe(down)">
                                      <p:cBhvr>
                                        <p:cTn id="7" dur="500"/>
                                        <p:tgtEl>
                                          <p:spTgt spid="71734"/>
                                        </p:tgtEl>
                                      </p:cBhvr>
                                    </p:animEffect>
                                  </p:childTnLst>
                                </p:cTn>
                              </p:par>
                              <p:par>
                                <p:cTn id="8" presetID="2" presetClass="entr" presetSubtype="4" fill="hold" grpId="0" nodeType="withEffect">
                                  <p:stCondLst>
                                    <p:cond delay="0"/>
                                  </p:stCondLst>
                                  <p:childTnLst>
                                    <p:set>
                                      <p:cBhvr>
                                        <p:cTn id="9" dur="1" fill="hold">
                                          <p:stCondLst>
                                            <p:cond delay="0"/>
                                          </p:stCondLst>
                                        </p:cTn>
                                        <p:tgtEl>
                                          <p:spTgt spid="71735"/>
                                        </p:tgtEl>
                                        <p:attrNameLst>
                                          <p:attrName>style.visibility</p:attrName>
                                        </p:attrNameLst>
                                      </p:cBhvr>
                                      <p:to>
                                        <p:strVal val="visible"/>
                                      </p:to>
                                    </p:set>
                                    <p:anim calcmode="lin" valueType="num">
                                      <p:cBhvr additive="base">
                                        <p:cTn id="10" dur="500" fill="hold"/>
                                        <p:tgtEl>
                                          <p:spTgt spid="71735"/>
                                        </p:tgtEl>
                                        <p:attrNameLst>
                                          <p:attrName>ppt_x</p:attrName>
                                        </p:attrNameLst>
                                      </p:cBhvr>
                                      <p:tavLst>
                                        <p:tav tm="0">
                                          <p:val>
                                            <p:strVal val="#ppt_x"/>
                                          </p:val>
                                        </p:tav>
                                        <p:tav tm="100000">
                                          <p:val>
                                            <p:strVal val="#ppt_x"/>
                                          </p:val>
                                        </p:tav>
                                      </p:tavLst>
                                    </p:anim>
                                    <p:anim calcmode="lin" valueType="num">
                                      <p:cBhvr additive="base">
                                        <p:cTn id="11" dur="500" fill="hold"/>
                                        <p:tgtEl>
                                          <p:spTgt spid="71735"/>
                                        </p:tgtEl>
                                        <p:attrNameLst>
                                          <p:attrName>ppt_y</p:attrName>
                                        </p:attrNameLst>
                                      </p:cBhvr>
                                      <p:tavLst>
                                        <p:tav tm="0">
                                          <p:val>
                                            <p:strVal val="1+#ppt_h/2"/>
                                          </p:val>
                                        </p:tav>
                                        <p:tav tm="100000">
                                          <p:val>
                                            <p:strVal val="#ppt_y"/>
                                          </p:val>
                                        </p:tav>
                                      </p:tavLst>
                                    </p:anim>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4" fill="hold" grpId="0" nodeType="clickEffect">
                                  <p:stCondLst>
                                    <p:cond delay="0"/>
                                  </p:stCondLst>
                                  <p:childTnLst>
                                    <p:set>
                                      <p:cBhvr>
                                        <p:cTn id="15" dur="1" fill="hold">
                                          <p:stCondLst>
                                            <p:cond delay="0"/>
                                          </p:stCondLst>
                                        </p:cTn>
                                        <p:tgtEl>
                                          <p:spTgt spid="71736"/>
                                        </p:tgtEl>
                                        <p:attrNameLst>
                                          <p:attrName>style.visibility</p:attrName>
                                        </p:attrNameLst>
                                      </p:cBhvr>
                                      <p:to>
                                        <p:strVal val="visible"/>
                                      </p:to>
                                    </p:set>
                                    <p:animEffect transition="in" filter="wipe(down)">
                                      <p:cBhvr>
                                        <p:cTn id="16" dur="500"/>
                                        <p:tgtEl>
                                          <p:spTgt spid="71736"/>
                                        </p:tgtEl>
                                      </p:cBhvr>
                                    </p:animEffect>
                                  </p:childTnLst>
                                </p:cTn>
                              </p:par>
                              <p:par>
                                <p:cTn id="17" presetID="2" presetClass="entr" presetSubtype="4" fill="hold" grpId="0" nodeType="withEffect">
                                  <p:stCondLst>
                                    <p:cond delay="0"/>
                                  </p:stCondLst>
                                  <p:childTnLst>
                                    <p:set>
                                      <p:cBhvr>
                                        <p:cTn id="18" dur="1" fill="hold">
                                          <p:stCondLst>
                                            <p:cond delay="0"/>
                                          </p:stCondLst>
                                        </p:cTn>
                                        <p:tgtEl>
                                          <p:spTgt spid="71737"/>
                                        </p:tgtEl>
                                        <p:attrNameLst>
                                          <p:attrName>style.visibility</p:attrName>
                                        </p:attrNameLst>
                                      </p:cBhvr>
                                      <p:to>
                                        <p:strVal val="visible"/>
                                      </p:to>
                                    </p:set>
                                    <p:anim calcmode="lin" valueType="num">
                                      <p:cBhvr additive="base">
                                        <p:cTn id="19" dur="500" fill="hold"/>
                                        <p:tgtEl>
                                          <p:spTgt spid="71737"/>
                                        </p:tgtEl>
                                        <p:attrNameLst>
                                          <p:attrName>ppt_x</p:attrName>
                                        </p:attrNameLst>
                                      </p:cBhvr>
                                      <p:tavLst>
                                        <p:tav tm="0">
                                          <p:val>
                                            <p:strVal val="#ppt_x"/>
                                          </p:val>
                                        </p:tav>
                                        <p:tav tm="100000">
                                          <p:val>
                                            <p:strVal val="#ppt_x"/>
                                          </p:val>
                                        </p:tav>
                                      </p:tavLst>
                                    </p:anim>
                                    <p:anim calcmode="lin" valueType="num">
                                      <p:cBhvr additive="base">
                                        <p:cTn id="20" dur="500" fill="hold"/>
                                        <p:tgtEl>
                                          <p:spTgt spid="71737"/>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1731"/>
                                        </p:tgtEl>
                                        <p:attrNameLst>
                                          <p:attrName>style.visibility</p:attrName>
                                        </p:attrNameLst>
                                      </p:cBhvr>
                                      <p:to>
                                        <p:strVal val="visible"/>
                                      </p:to>
                                    </p:set>
                                    <p:anim calcmode="lin" valueType="num">
                                      <p:cBhvr additive="base">
                                        <p:cTn id="25" dur="500" fill="hold"/>
                                        <p:tgtEl>
                                          <p:spTgt spid="71731"/>
                                        </p:tgtEl>
                                        <p:attrNameLst>
                                          <p:attrName>ppt_x</p:attrName>
                                        </p:attrNameLst>
                                      </p:cBhvr>
                                      <p:tavLst>
                                        <p:tav tm="0">
                                          <p:val>
                                            <p:strVal val="#ppt_x"/>
                                          </p:val>
                                        </p:tav>
                                        <p:tav tm="100000">
                                          <p:val>
                                            <p:strVal val="#ppt_x"/>
                                          </p:val>
                                        </p:tav>
                                      </p:tavLst>
                                    </p:anim>
                                    <p:anim calcmode="lin" valueType="num">
                                      <p:cBhvr additive="base">
                                        <p:cTn id="26" dur="500" fill="hold"/>
                                        <p:tgtEl>
                                          <p:spTgt spid="71731"/>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1732"/>
                                        </p:tgtEl>
                                        <p:attrNameLst>
                                          <p:attrName>style.visibility</p:attrName>
                                        </p:attrNameLst>
                                      </p:cBhvr>
                                      <p:to>
                                        <p:strVal val="visible"/>
                                      </p:to>
                                    </p:set>
                                    <p:anim calcmode="lin" valueType="num">
                                      <p:cBhvr additive="base">
                                        <p:cTn id="31" dur="500" fill="hold"/>
                                        <p:tgtEl>
                                          <p:spTgt spid="71732"/>
                                        </p:tgtEl>
                                        <p:attrNameLst>
                                          <p:attrName>ppt_x</p:attrName>
                                        </p:attrNameLst>
                                      </p:cBhvr>
                                      <p:tavLst>
                                        <p:tav tm="0">
                                          <p:val>
                                            <p:strVal val="#ppt_x"/>
                                          </p:val>
                                        </p:tav>
                                        <p:tav tm="100000">
                                          <p:val>
                                            <p:strVal val="#ppt_x"/>
                                          </p:val>
                                        </p:tav>
                                      </p:tavLst>
                                    </p:anim>
                                    <p:anim calcmode="lin" valueType="num">
                                      <p:cBhvr additive="base">
                                        <p:cTn id="32" dur="500" fill="hold"/>
                                        <p:tgtEl>
                                          <p:spTgt spid="7173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31" grpId="0"/>
      <p:bldP spid="71732" grpId="0" animBg="1"/>
      <p:bldP spid="71734" grpId="0" animBg="1"/>
      <p:bldP spid="71735" grpId="0" animBg="1"/>
      <p:bldP spid="71736" grpId="0" animBg="1"/>
      <p:bldP spid="7173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contenido 1"/>
          <p:cNvSpPr>
            <a:spLocks noGrp="1"/>
          </p:cNvSpPr>
          <p:nvPr>
            <p:ph/>
          </p:nvPr>
        </p:nvSpPr>
        <p:spPr>
          <a:xfrm>
            <a:off x="3538845" y="748145"/>
            <a:ext cx="8085777" cy="4073237"/>
          </a:xfrm>
        </p:spPr>
        <p:txBody>
          <a:bodyPr>
            <a:normAutofit/>
          </a:bodyPr>
          <a:lstStyle/>
          <a:p>
            <a:pPr marL="0" indent="0">
              <a:buNone/>
            </a:pPr>
            <a:r>
              <a:rPr lang="es-CL" sz="5400" dirty="0">
                <a:solidFill>
                  <a:schemeClr val="tx1"/>
                </a:solidFill>
              </a:rPr>
              <a:t>Tipos de Soluciones</a:t>
            </a:r>
          </a:p>
        </p:txBody>
      </p:sp>
    </p:spTree>
    <p:extLst>
      <p:ext uri="{BB962C8B-B14F-4D97-AF65-F5344CB8AC3E}">
        <p14:creationId xmlns:p14="http://schemas.microsoft.com/office/powerpoint/2010/main" val="956997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21136" y="1039812"/>
            <a:ext cx="3374776" cy="1386919"/>
          </a:xfrm>
        </p:spPr>
        <p:txBody>
          <a:bodyPr>
            <a:normAutofit/>
          </a:bodyPr>
          <a:lstStyle/>
          <a:p>
            <a:r>
              <a:rPr lang="es-CL" altLang="es-CL" sz="2800" dirty="0">
                <a:solidFill>
                  <a:schemeClr val="bg1"/>
                </a:solidFill>
                <a:latin typeface="Arial" panose="020B0604020202020204" pitchFamily="34" charset="0"/>
              </a:rPr>
              <a:t>Soluciones múltiples o infinitas</a:t>
            </a:r>
          </a:p>
        </p:txBody>
      </p:sp>
      <p:sp>
        <p:nvSpPr>
          <p:cNvPr id="34820" name="Text Box 4"/>
          <p:cNvSpPr txBox="1">
            <a:spLocks noChangeArrowheads="1"/>
          </p:cNvSpPr>
          <p:nvPr/>
        </p:nvSpPr>
        <p:spPr bwMode="auto">
          <a:xfrm>
            <a:off x="3663074" y="1513222"/>
            <a:ext cx="25908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s-CL" dirty="0"/>
              <a:t>max z = 3x + 2y</a:t>
            </a:r>
          </a:p>
        </p:txBody>
      </p:sp>
      <p:sp>
        <p:nvSpPr>
          <p:cNvPr id="34822" name="Text Box 6"/>
          <p:cNvSpPr txBox="1">
            <a:spLocks noChangeArrowheads="1"/>
          </p:cNvSpPr>
          <p:nvPr/>
        </p:nvSpPr>
        <p:spPr bwMode="auto">
          <a:xfrm>
            <a:off x="4070440" y="2068367"/>
            <a:ext cx="609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s-CL" dirty="0" err="1"/>
              <a:t>s.a</a:t>
            </a:r>
            <a:r>
              <a:rPr lang="en-US" altLang="es-CL" dirty="0"/>
              <a:t>:</a:t>
            </a:r>
          </a:p>
        </p:txBody>
      </p:sp>
      <p:sp>
        <p:nvSpPr>
          <p:cNvPr id="34826" name="Text Box 10"/>
          <p:cNvSpPr txBox="1">
            <a:spLocks noChangeArrowheads="1"/>
          </p:cNvSpPr>
          <p:nvPr/>
        </p:nvSpPr>
        <p:spPr bwMode="auto">
          <a:xfrm>
            <a:off x="3399690" y="4147067"/>
            <a:ext cx="3733800"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s-CL" altLang="es-CL" dirty="0"/>
              <a:t>Cualquier punto (solución) situado en el segmento </a:t>
            </a:r>
            <a:r>
              <a:rPr lang="es-CL" altLang="es-CL" b="1" dirty="0">
                <a:solidFill>
                  <a:schemeClr val="accent2"/>
                </a:solidFill>
              </a:rPr>
              <a:t>AB</a:t>
            </a:r>
            <a:r>
              <a:rPr lang="es-CL" altLang="es-CL" dirty="0"/>
              <a:t> puede ser una solución óptima de z =120.</a:t>
            </a:r>
          </a:p>
        </p:txBody>
      </p:sp>
      <p:sp>
        <p:nvSpPr>
          <p:cNvPr id="34829" name="Rectangle 13"/>
          <p:cNvSpPr>
            <a:spLocks noChangeArrowheads="1"/>
          </p:cNvSpPr>
          <p:nvPr/>
        </p:nvSpPr>
        <p:spPr bwMode="auto">
          <a:xfrm>
            <a:off x="3620591" y="744909"/>
            <a:ext cx="3276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s-CL" altLang="es-CL" dirty="0"/>
              <a:t>Consideremos el siguiente problema:</a:t>
            </a:r>
          </a:p>
        </p:txBody>
      </p:sp>
      <p:sp>
        <p:nvSpPr>
          <p:cNvPr id="34831" name="Text Box 15"/>
          <p:cNvSpPr txBox="1">
            <a:spLocks noChangeArrowheads="1"/>
          </p:cNvSpPr>
          <p:nvPr/>
        </p:nvSpPr>
        <p:spPr bwMode="auto">
          <a:xfrm>
            <a:off x="4519819" y="2329677"/>
            <a:ext cx="1384033" cy="923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dirty="0"/>
              <a:t>3x + 2y ≤ 120</a:t>
            </a:r>
          </a:p>
          <a:p>
            <a:r>
              <a:rPr lang="es-ES" altLang="es-CL" dirty="0"/>
              <a:t>x + y ≤ 50</a:t>
            </a:r>
          </a:p>
          <a:p>
            <a:r>
              <a:rPr lang="es-ES" altLang="es-CL" dirty="0"/>
              <a:t>x , y ≥ 0</a:t>
            </a:r>
          </a:p>
        </p:txBody>
      </p:sp>
      <p:grpSp>
        <p:nvGrpSpPr>
          <p:cNvPr id="34832" name="Group 16"/>
          <p:cNvGrpSpPr>
            <a:grpSpLocks/>
          </p:cNvGrpSpPr>
          <p:nvPr/>
        </p:nvGrpSpPr>
        <p:grpSpPr bwMode="auto">
          <a:xfrm>
            <a:off x="7009903" y="325657"/>
            <a:ext cx="4897437" cy="5551488"/>
            <a:chOff x="384" y="326"/>
            <a:chExt cx="3085" cy="3497"/>
          </a:xfrm>
        </p:grpSpPr>
        <p:sp>
          <p:nvSpPr>
            <p:cNvPr id="34833" name="Text Box 17"/>
            <p:cNvSpPr txBox="1">
              <a:spLocks noChangeArrowheads="1"/>
            </p:cNvSpPr>
            <p:nvPr/>
          </p:nvSpPr>
          <p:spPr bwMode="auto">
            <a:xfrm>
              <a:off x="384" y="3024"/>
              <a:ext cx="20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10</a:t>
              </a:r>
            </a:p>
          </p:txBody>
        </p:sp>
        <p:sp>
          <p:nvSpPr>
            <p:cNvPr id="34834" name="Text Box 18"/>
            <p:cNvSpPr txBox="1">
              <a:spLocks noChangeArrowheads="1"/>
            </p:cNvSpPr>
            <p:nvPr/>
          </p:nvSpPr>
          <p:spPr bwMode="auto">
            <a:xfrm>
              <a:off x="1008" y="3619"/>
              <a:ext cx="20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10</a:t>
              </a:r>
            </a:p>
          </p:txBody>
        </p:sp>
        <p:sp>
          <p:nvSpPr>
            <p:cNvPr id="34835" name="Text Box 19"/>
            <p:cNvSpPr txBox="1">
              <a:spLocks noChangeArrowheads="1"/>
            </p:cNvSpPr>
            <p:nvPr/>
          </p:nvSpPr>
          <p:spPr bwMode="auto">
            <a:xfrm>
              <a:off x="1488" y="3619"/>
              <a:ext cx="21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20</a:t>
              </a:r>
            </a:p>
          </p:txBody>
        </p:sp>
        <p:sp>
          <p:nvSpPr>
            <p:cNvPr id="34836" name="Text Box 20"/>
            <p:cNvSpPr txBox="1">
              <a:spLocks noChangeArrowheads="1"/>
            </p:cNvSpPr>
            <p:nvPr/>
          </p:nvSpPr>
          <p:spPr bwMode="auto">
            <a:xfrm>
              <a:off x="1968" y="3619"/>
              <a:ext cx="21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30</a:t>
              </a:r>
            </a:p>
          </p:txBody>
        </p:sp>
        <p:sp>
          <p:nvSpPr>
            <p:cNvPr id="34837" name="Text Box 21"/>
            <p:cNvSpPr txBox="1">
              <a:spLocks noChangeArrowheads="1"/>
            </p:cNvSpPr>
            <p:nvPr/>
          </p:nvSpPr>
          <p:spPr bwMode="auto">
            <a:xfrm>
              <a:off x="2418" y="3619"/>
              <a:ext cx="22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40</a:t>
              </a:r>
            </a:p>
          </p:txBody>
        </p:sp>
        <p:sp>
          <p:nvSpPr>
            <p:cNvPr id="34838" name="Text Box 22"/>
            <p:cNvSpPr txBox="1">
              <a:spLocks noChangeArrowheads="1"/>
            </p:cNvSpPr>
            <p:nvPr/>
          </p:nvSpPr>
          <p:spPr bwMode="auto">
            <a:xfrm>
              <a:off x="402" y="2554"/>
              <a:ext cx="21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20</a:t>
              </a:r>
            </a:p>
          </p:txBody>
        </p:sp>
        <p:sp>
          <p:nvSpPr>
            <p:cNvPr id="34839" name="Text Box 23"/>
            <p:cNvSpPr txBox="1">
              <a:spLocks noChangeArrowheads="1"/>
            </p:cNvSpPr>
            <p:nvPr/>
          </p:nvSpPr>
          <p:spPr bwMode="auto">
            <a:xfrm>
              <a:off x="402" y="2083"/>
              <a:ext cx="21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30</a:t>
              </a:r>
            </a:p>
          </p:txBody>
        </p:sp>
        <p:sp>
          <p:nvSpPr>
            <p:cNvPr id="34840" name="Text Box 24"/>
            <p:cNvSpPr txBox="1">
              <a:spLocks noChangeArrowheads="1"/>
            </p:cNvSpPr>
            <p:nvPr/>
          </p:nvSpPr>
          <p:spPr bwMode="auto">
            <a:xfrm>
              <a:off x="402" y="1594"/>
              <a:ext cx="22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40</a:t>
              </a:r>
            </a:p>
          </p:txBody>
        </p:sp>
        <p:sp>
          <p:nvSpPr>
            <p:cNvPr id="34841" name="Text Box 25"/>
            <p:cNvSpPr txBox="1">
              <a:spLocks noChangeArrowheads="1"/>
            </p:cNvSpPr>
            <p:nvPr/>
          </p:nvSpPr>
          <p:spPr bwMode="auto">
            <a:xfrm>
              <a:off x="402" y="1123"/>
              <a:ext cx="21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50</a:t>
              </a:r>
            </a:p>
          </p:txBody>
        </p:sp>
        <p:sp>
          <p:nvSpPr>
            <p:cNvPr id="34842" name="Text Box 26"/>
            <p:cNvSpPr txBox="1">
              <a:spLocks noChangeArrowheads="1"/>
            </p:cNvSpPr>
            <p:nvPr/>
          </p:nvSpPr>
          <p:spPr bwMode="auto">
            <a:xfrm>
              <a:off x="2898" y="3619"/>
              <a:ext cx="21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50</a:t>
              </a:r>
            </a:p>
          </p:txBody>
        </p:sp>
        <p:sp>
          <p:nvSpPr>
            <p:cNvPr id="34843" name="Text Box 27"/>
            <p:cNvSpPr txBox="1">
              <a:spLocks noChangeArrowheads="1"/>
            </p:cNvSpPr>
            <p:nvPr/>
          </p:nvSpPr>
          <p:spPr bwMode="auto">
            <a:xfrm>
              <a:off x="402" y="643"/>
              <a:ext cx="22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60</a:t>
              </a:r>
            </a:p>
          </p:txBody>
        </p:sp>
        <p:grpSp>
          <p:nvGrpSpPr>
            <p:cNvPr id="34844" name="Group 28"/>
            <p:cNvGrpSpPr>
              <a:grpSpLocks/>
            </p:cNvGrpSpPr>
            <p:nvPr/>
          </p:nvGrpSpPr>
          <p:grpSpPr bwMode="auto">
            <a:xfrm>
              <a:off x="432" y="326"/>
              <a:ext cx="3037" cy="3497"/>
              <a:chOff x="380" y="326"/>
              <a:chExt cx="3037" cy="3497"/>
            </a:xfrm>
          </p:grpSpPr>
          <p:sp>
            <p:nvSpPr>
              <p:cNvPr id="34845" name="Line 29"/>
              <p:cNvSpPr>
                <a:spLocks noChangeShapeType="1"/>
              </p:cNvSpPr>
              <p:nvPr/>
            </p:nvSpPr>
            <p:spPr bwMode="auto">
              <a:xfrm flipV="1">
                <a:off x="576" y="480"/>
                <a:ext cx="0" cy="321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46" name="Line 30"/>
              <p:cNvSpPr>
                <a:spLocks noChangeShapeType="1"/>
              </p:cNvSpPr>
              <p:nvPr/>
            </p:nvSpPr>
            <p:spPr bwMode="auto">
              <a:xfrm flipH="1">
                <a:off x="528" y="312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47" name="Line 31"/>
              <p:cNvSpPr>
                <a:spLocks noChangeShapeType="1"/>
              </p:cNvSpPr>
              <p:nvPr/>
            </p:nvSpPr>
            <p:spPr bwMode="auto">
              <a:xfrm>
                <a:off x="105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48" name="Line 32"/>
              <p:cNvSpPr>
                <a:spLocks noChangeShapeType="1"/>
              </p:cNvSpPr>
              <p:nvPr/>
            </p:nvSpPr>
            <p:spPr bwMode="auto">
              <a:xfrm>
                <a:off x="153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49" name="Line 33"/>
              <p:cNvSpPr>
                <a:spLocks noChangeShapeType="1"/>
              </p:cNvSpPr>
              <p:nvPr/>
            </p:nvSpPr>
            <p:spPr bwMode="auto">
              <a:xfrm>
                <a:off x="201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50" name="Line 34"/>
              <p:cNvSpPr>
                <a:spLocks noChangeShapeType="1"/>
              </p:cNvSpPr>
              <p:nvPr/>
            </p:nvSpPr>
            <p:spPr bwMode="auto">
              <a:xfrm>
                <a:off x="297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51" name="Line 35"/>
              <p:cNvSpPr>
                <a:spLocks noChangeShapeType="1"/>
              </p:cNvSpPr>
              <p:nvPr/>
            </p:nvSpPr>
            <p:spPr bwMode="auto">
              <a:xfrm flipH="1">
                <a:off x="528" y="264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52" name="Line 36"/>
              <p:cNvSpPr>
                <a:spLocks noChangeShapeType="1"/>
              </p:cNvSpPr>
              <p:nvPr/>
            </p:nvSpPr>
            <p:spPr bwMode="auto">
              <a:xfrm flipH="1">
                <a:off x="528" y="216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53" name="Line 37"/>
              <p:cNvSpPr>
                <a:spLocks noChangeShapeType="1"/>
              </p:cNvSpPr>
              <p:nvPr/>
            </p:nvSpPr>
            <p:spPr bwMode="auto">
              <a:xfrm flipH="1">
                <a:off x="528" y="120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54" name="Line 38"/>
              <p:cNvSpPr>
                <a:spLocks noChangeShapeType="1"/>
              </p:cNvSpPr>
              <p:nvPr/>
            </p:nvSpPr>
            <p:spPr bwMode="auto">
              <a:xfrm flipH="1">
                <a:off x="528" y="72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55" name="Text Box 39"/>
              <p:cNvSpPr txBox="1">
                <a:spLocks noChangeArrowheads="1"/>
              </p:cNvSpPr>
              <p:nvPr/>
            </p:nvSpPr>
            <p:spPr bwMode="auto">
              <a:xfrm>
                <a:off x="380" y="326"/>
                <a:ext cx="20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Y</a:t>
                </a:r>
              </a:p>
            </p:txBody>
          </p:sp>
          <p:sp>
            <p:nvSpPr>
              <p:cNvPr id="34856" name="Text Box 40"/>
              <p:cNvSpPr txBox="1">
                <a:spLocks noChangeArrowheads="1"/>
              </p:cNvSpPr>
              <p:nvPr/>
            </p:nvSpPr>
            <p:spPr bwMode="auto">
              <a:xfrm>
                <a:off x="3216" y="3590"/>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X</a:t>
                </a:r>
              </a:p>
            </p:txBody>
          </p:sp>
          <p:sp>
            <p:nvSpPr>
              <p:cNvPr id="34857" name="Line 41"/>
              <p:cNvSpPr>
                <a:spLocks noChangeShapeType="1"/>
              </p:cNvSpPr>
              <p:nvPr/>
            </p:nvSpPr>
            <p:spPr bwMode="auto">
              <a:xfrm>
                <a:off x="249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58" name="Line 42"/>
              <p:cNvSpPr>
                <a:spLocks noChangeShapeType="1"/>
              </p:cNvSpPr>
              <p:nvPr/>
            </p:nvSpPr>
            <p:spPr bwMode="auto">
              <a:xfrm flipH="1">
                <a:off x="528" y="168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59" name="Line 43"/>
              <p:cNvSpPr>
                <a:spLocks noChangeShapeType="1"/>
              </p:cNvSpPr>
              <p:nvPr/>
            </p:nvSpPr>
            <p:spPr bwMode="auto">
              <a:xfrm>
                <a:off x="480" y="3600"/>
                <a:ext cx="273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grpSp>
      </p:grpSp>
      <p:sp>
        <p:nvSpPr>
          <p:cNvPr id="34860" name="Line 44"/>
          <p:cNvSpPr>
            <a:spLocks noChangeShapeType="1"/>
          </p:cNvSpPr>
          <p:nvPr/>
        </p:nvSpPr>
        <p:spPr bwMode="auto">
          <a:xfrm>
            <a:off x="7370264" y="1713132"/>
            <a:ext cx="3810000" cy="3810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61" name="Line 45"/>
          <p:cNvSpPr>
            <a:spLocks noChangeShapeType="1"/>
          </p:cNvSpPr>
          <p:nvPr/>
        </p:nvSpPr>
        <p:spPr bwMode="auto">
          <a:xfrm>
            <a:off x="7370264" y="951132"/>
            <a:ext cx="3048000" cy="4572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62" name="Freeform 46"/>
          <p:cNvSpPr>
            <a:spLocks/>
          </p:cNvSpPr>
          <p:nvPr/>
        </p:nvSpPr>
        <p:spPr bwMode="auto">
          <a:xfrm>
            <a:off x="7417764" y="1725007"/>
            <a:ext cx="2944811" cy="3779838"/>
          </a:xfrm>
          <a:custGeom>
            <a:avLst/>
            <a:gdLst>
              <a:gd name="T0" fmla="*/ 0 w 1920"/>
              <a:gd name="T1" fmla="*/ 2400 h 2400"/>
              <a:gd name="T2" fmla="*/ 0 w 1920"/>
              <a:gd name="T3" fmla="*/ 0 h 2400"/>
              <a:gd name="T4" fmla="*/ 960 w 1920"/>
              <a:gd name="T5" fmla="*/ 960 h 2400"/>
              <a:gd name="T6" fmla="*/ 1920 w 1920"/>
              <a:gd name="T7" fmla="*/ 2400 h 2400"/>
              <a:gd name="T8" fmla="*/ 0 w 1920"/>
              <a:gd name="T9" fmla="*/ 2400 h 2400"/>
            </a:gdLst>
            <a:ahLst/>
            <a:cxnLst>
              <a:cxn ang="0">
                <a:pos x="T0" y="T1"/>
              </a:cxn>
              <a:cxn ang="0">
                <a:pos x="T2" y="T3"/>
              </a:cxn>
              <a:cxn ang="0">
                <a:pos x="T4" y="T5"/>
              </a:cxn>
              <a:cxn ang="0">
                <a:pos x="T6" y="T7"/>
              </a:cxn>
              <a:cxn ang="0">
                <a:pos x="T8" y="T9"/>
              </a:cxn>
            </a:cxnLst>
            <a:rect l="0" t="0" r="r" b="b"/>
            <a:pathLst>
              <a:path w="1920" h="2400">
                <a:moveTo>
                  <a:pt x="0" y="2400"/>
                </a:moveTo>
                <a:lnTo>
                  <a:pt x="0" y="0"/>
                </a:lnTo>
                <a:lnTo>
                  <a:pt x="960" y="960"/>
                </a:lnTo>
                <a:lnTo>
                  <a:pt x="1920" y="2400"/>
                </a:lnTo>
                <a:lnTo>
                  <a:pt x="0" y="2400"/>
                </a:lnTo>
                <a:close/>
              </a:path>
            </a:pathLst>
          </a:custGeom>
          <a:solidFill>
            <a:srgbClr val="808000">
              <a:alpha val="50000"/>
            </a:srgbClr>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34863" name="Text Box 47"/>
          <p:cNvSpPr txBox="1">
            <a:spLocks noChangeArrowheads="1"/>
          </p:cNvSpPr>
          <p:nvPr/>
        </p:nvSpPr>
        <p:spPr bwMode="auto">
          <a:xfrm>
            <a:off x="7668714" y="4456333"/>
            <a:ext cx="551754" cy="276999"/>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z = 60</a:t>
            </a:r>
          </a:p>
        </p:txBody>
      </p:sp>
      <p:sp>
        <p:nvSpPr>
          <p:cNvPr id="34864" name="Text Box 48"/>
          <p:cNvSpPr txBox="1">
            <a:spLocks noChangeArrowheads="1"/>
          </p:cNvSpPr>
          <p:nvPr/>
        </p:nvSpPr>
        <p:spPr bwMode="auto">
          <a:xfrm>
            <a:off x="8879977" y="4837333"/>
            <a:ext cx="619080" cy="276999"/>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z = 100</a:t>
            </a:r>
          </a:p>
        </p:txBody>
      </p:sp>
      <p:sp>
        <p:nvSpPr>
          <p:cNvPr id="34865" name="Text Box 49"/>
          <p:cNvSpPr txBox="1">
            <a:spLocks noChangeArrowheads="1"/>
          </p:cNvSpPr>
          <p:nvPr/>
        </p:nvSpPr>
        <p:spPr bwMode="auto">
          <a:xfrm>
            <a:off x="9946777" y="3618133"/>
            <a:ext cx="616066" cy="276999"/>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z = 120</a:t>
            </a:r>
          </a:p>
        </p:txBody>
      </p:sp>
      <p:sp>
        <p:nvSpPr>
          <p:cNvPr id="34866" name="Text Box 50"/>
          <p:cNvSpPr txBox="1">
            <a:spLocks noChangeArrowheads="1"/>
          </p:cNvSpPr>
          <p:nvPr/>
        </p:nvSpPr>
        <p:spPr bwMode="auto">
          <a:xfrm>
            <a:off x="10369052" y="5142132"/>
            <a:ext cx="33054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A</a:t>
            </a:r>
          </a:p>
        </p:txBody>
      </p:sp>
      <p:sp>
        <p:nvSpPr>
          <p:cNvPr id="34867" name="Line 51"/>
          <p:cNvSpPr>
            <a:spLocks noChangeShapeType="1"/>
          </p:cNvSpPr>
          <p:nvPr/>
        </p:nvSpPr>
        <p:spPr bwMode="auto">
          <a:xfrm>
            <a:off x="6303464" y="1636932"/>
            <a:ext cx="3048000" cy="4572000"/>
          </a:xfrm>
          <a:prstGeom prst="line">
            <a:avLst/>
          </a:prstGeom>
          <a:noFill/>
          <a:ln w="1270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68" name="Line 52"/>
          <p:cNvSpPr>
            <a:spLocks noChangeShapeType="1"/>
          </p:cNvSpPr>
          <p:nvPr/>
        </p:nvSpPr>
        <p:spPr bwMode="auto">
          <a:xfrm>
            <a:off x="7217864" y="1484532"/>
            <a:ext cx="3048000" cy="4572000"/>
          </a:xfrm>
          <a:prstGeom prst="line">
            <a:avLst/>
          </a:prstGeom>
          <a:noFill/>
          <a:ln w="1270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69" name="Text Box 53"/>
          <p:cNvSpPr txBox="1">
            <a:spLocks noChangeArrowheads="1"/>
          </p:cNvSpPr>
          <p:nvPr/>
        </p:nvSpPr>
        <p:spPr bwMode="auto">
          <a:xfrm>
            <a:off x="8845052" y="2856132"/>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B</a:t>
            </a:r>
          </a:p>
        </p:txBody>
      </p:sp>
      <p:sp>
        <p:nvSpPr>
          <p:cNvPr id="34870" name="Text Box 54"/>
          <p:cNvSpPr txBox="1">
            <a:spLocks noChangeArrowheads="1"/>
          </p:cNvSpPr>
          <p:nvPr/>
        </p:nvSpPr>
        <p:spPr bwMode="auto">
          <a:xfrm>
            <a:off x="7370264" y="1408332"/>
            <a:ext cx="32092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C</a:t>
            </a:r>
          </a:p>
        </p:txBody>
      </p:sp>
      <p:sp>
        <p:nvSpPr>
          <p:cNvPr id="34871" name="Text Box 55"/>
          <p:cNvSpPr txBox="1">
            <a:spLocks noChangeArrowheads="1"/>
          </p:cNvSpPr>
          <p:nvPr/>
        </p:nvSpPr>
        <p:spPr bwMode="auto">
          <a:xfrm>
            <a:off x="7681415" y="3084733"/>
            <a:ext cx="94128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Región</a:t>
            </a:r>
          </a:p>
          <a:p>
            <a:r>
              <a:rPr lang="es-ES" altLang="es-CL"/>
              <a:t>Factible</a:t>
            </a:r>
          </a:p>
        </p:txBody>
      </p:sp>
      <p:sp>
        <p:nvSpPr>
          <p:cNvPr id="34872" name="Line 56"/>
          <p:cNvSpPr>
            <a:spLocks noChangeShapeType="1"/>
          </p:cNvSpPr>
          <p:nvPr/>
        </p:nvSpPr>
        <p:spPr bwMode="auto">
          <a:xfrm>
            <a:off x="8894264" y="3237132"/>
            <a:ext cx="1524000" cy="2286000"/>
          </a:xfrm>
          <a:prstGeom prst="line">
            <a:avLst/>
          </a:prstGeom>
          <a:noFill/>
          <a:ln w="57150">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4873" name="Line 57"/>
          <p:cNvSpPr>
            <a:spLocks noChangeShapeType="1"/>
          </p:cNvSpPr>
          <p:nvPr/>
        </p:nvSpPr>
        <p:spPr bwMode="auto">
          <a:xfrm flipH="1">
            <a:off x="9656264" y="3922932"/>
            <a:ext cx="304800" cy="3810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Tree>
    <p:extLst>
      <p:ext uri="{BB962C8B-B14F-4D97-AF65-F5344CB8AC3E}">
        <p14:creationId xmlns:p14="http://schemas.microsoft.com/office/powerpoint/2010/main" val="4002233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10909" y="1199668"/>
            <a:ext cx="3370266" cy="1064360"/>
          </a:xfrm>
        </p:spPr>
        <p:txBody>
          <a:bodyPr/>
          <a:lstStyle/>
          <a:p>
            <a:r>
              <a:rPr lang="es-CL" altLang="es-CL" sz="2800" dirty="0">
                <a:latin typeface="Arial" panose="020B0604020202020204" pitchFamily="34" charset="0"/>
              </a:rPr>
              <a:t>Solución no factible</a:t>
            </a:r>
          </a:p>
        </p:txBody>
      </p:sp>
      <p:sp>
        <p:nvSpPr>
          <p:cNvPr id="35844" name="Rectangle 4"/>
          <p:cNvSpPr>
            <a:spLocks noChangeArrowheads="1"/>
          </p:cNvSpPr>
          <p:nvPr/>
        </p:nvSpPr>
        <p:spPr bwMode="auto">
          <a:xfrm>
            <a:off x="4085381" y="2790866"/>
            <a:ext cx="513282"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r>
              <a:rPr lang="en-US" altLang="es-CL" dirty="0" err="1"/>
              <a:t>s.a</a:t>
            </a:r>
            <a:r>
              <a:rPr lang="en-US" altLang="es-CL" dirty="0"/>
              <a:t>:</a:t>
            </a:r>
          </a:p>
        </p:txBody>
      </p:sp>
      <p:sp>
        <p:nvSpPr>
          <p:cNvPr id="35845" name="Text Box 5"/>
          <p:cNvSpPr txBox="1">
            <a:spLocks noChangeArrowheads="1"/>
          </p:cNvSpPr>
          <p:nvPr/>
        </p:nvSpPr>
        <p:spPr bwMode="auto">
          <a:xfrm>
            <a:off x="3909220" y="1761351"/>
            <a:ext cx="25146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s-CL" dirty="0"/>
              <a:t>max z = 3x</a:t>
            </a:r>
            <a:r>
              <a:rPr lang="en-US" altLang="es-CL" baseline="-25000" dirty="0"/>
              <a:t>1</a:t>
            </a:r>
            <a:r>
              <a:rPr lang="en-US" altLang="es-CL" dirty="0"/>
              <a:t> + 2x</a:t>
            </a:r>
            <a:r>
              <a:rPr lang="en-US" altLang="es-CL" baseline="-25000" dirty="0"/>
              <a:t>2</a:t>
            </a:r>
          </a:p>
        </p:txBody>
      </p:sp>
      <p:sp>
        <p:nvSpPr>
          <p:cNvPr id="35848" name="Text Box 8"/>
          <p:cNvSpPr txBox="1">
            <a:spLocks noChangeArrowheads="1"/>
          </p:cNvSpPr>
          <p:nvPr/>
        </p:nvSpPr>
        <p:spPr bwMode="auto">
          <a:xfrm>
            <a:off x="3603300" y="5451911"/>
            <a:ext cx="3352800" cy="369332"/>
          </a:xfrm>
          <a:prstGeom prst="rect">
            <a:avLst/>
          </a:prstGeom>
          <a:solidFill>
            <a:srgbClr val="FFFF99"/>
          </a:solidFill>
          <a:ln w="12700">
            <a:solidFill>
              <a:schemeClr val="tx1"/>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s-CL" b="1"/>
              <a:t>No existe región factible</a:t>
            </a:r>
          </a:p>
        </p:txBody>
      </p:sp>
      <p:sp>
        <p:nvSpPr>
          <p:cNvPr id="35851" name="Rectangle 11"/>
          <p:cNvSpPr>
            <a:spLocks noChangeArrowheads="1"/>
          </p:cNvSpPr>
          <p:nvPr/>
        </p:nvSpPr>
        <p:spPr bwMode="auto">
          <a:xfrm>
            <a:off x="3540125" y="871835"/>
            <a:ext cx="3276600"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r>
              <a:rPr lang="es-CL" altLang="es-CL" dirty="0"/>
              <a:t>Consideremos el siguiente problema:</a:t>
            </a:r>
          </a:p>
        </p:txBody>
      </p:sp>
      <p:sp>
        <p:nvSpPr>
          <p:cNvPr id="35852" name="Text Box 12"/>
          <p:cNvSpPr txBox="1">
            <a:spLocks noChangeArrowheads="1"/>
          </p:cNvSpPr>
          <p:nvPr/>
        </p:nvSpPr>
        <p:spPr bwMode="auto">
          <a:xfrm>
            <a:off x="4449373" y="3045679"/>
            <a:ext cx="138403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dirty="0"/>
              <a:t>3x + 2y ≤ 120</a:t>
            </a:r>
          </a:p>
          <a:p>
            <a:r>
              <a:rPr lang="es-ES" altLang="es-CL" dirty="0"/>
              <a:t>  x +  y ≤ 50</a:t>
            </a:r>
          </a:p>
          <a:p>
            <a:r>
              <a:rPr lang="es-ES" altLang="es-CL" dirty="0"/>
              <a:t>  x        ≥ 30</a:t>
            </a:r>
          </a:p>
          <a:p>
            <a:r>
              <a:rPr lang="es-ES" altLang="es-CL" dirty="0"/>
              <a:t>         y ≥ 30</a:t>
            </a:r>
          </a:p>
          <a:p>
            <a:r>
              <a:rPr lang="es-ES" altLang="es-CL" dirty="0"/>
              <a:t>    x , y ≥ 0</a:t>
            </a:r>
          </a:p>
        </p:txBody>
      </p:sp>
      <p:grpSp>
        <p:nvGrpSpPr>
          <p:cNvPr id="35853" name="Group 13"/>
          <p:cNvGrpSpPr>
            <a:grpSpLocks/>
          </p:cNvGrpSpPr>
          <p:nvPr/>
        </p:nvGrpSpPr>
        <p:grpSpPr bwMode="auto">
          <a:xfrm>
            <a:off x="6896100" y="758190"/>
            <a:ext cx="4897437" cy="5551488"/>
            <a:chOff x="384" y="326"/>
            <a:chExt cx="3085" cy="3497"/>
          </a:xfrm>
        </p:grpSpPr>
        <p:sp>
          <p:nvSpPr>
            <p:cNvPr id="35854" name="Text Box 14"/>
            <p:cNvSpPr txBox="1">
              <a:spLocks noChangeArrowheads="1"/>
            </p:cNvSpPr>
            <p:nvPr/>
          </p:nvSpPr>
          <p:spPr bwMode="auto">
            <a:xfrm>
              <a:off x="384" y="3024"/>
              <a:ext cx="20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10</a:t>
              </a:r>
            </a:p>
          </p:txBody>
        </p:sp>
        <p:sp>
          <p:nvSpPr>
            <p:cNvPr id="35855" name="Text Box 15"/>
            <p:cNvSpPr txBox="1">
              <a:spLocks noChangeArrowheads="1"/>
            </p:cNvSpPr>
            <p:nvPr/>
          </p:nvSpPr>
          <p:spPr bwMode="auto">
            <a:xfrm>
              <a:off x="1008" y="3619"/>
              <a:ext cx="20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10</a:t>
              </a:r>
            </a:p>
          </p:txBody>
        </p:sp>
        <p:sp>
          <p:nvSpPr>
            <p:cNvPr id="35856" name="Text Box 16"/>
            <p:cNvSpPr txBox="1">
              <a:spLocks noChangeArrowheads="1"/>
            </p:cNvSpPr>
            <p:nvPr/>
          </p:nvSpPr>
          <p:spPr bwMode="auto">
            <a:xfrm>
              <a:off x="1488" y="3619"/>
              <a:ext cx="21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20</a:t>
              </a:r>
            </a:p>
          </p:txBody>
        </p:sp>
        <p:sp>
          <p:nvSpPr>
            <p:cNvPr id="35857" name="Text Box 17"/>
            <p:cNvSpPr txBox="1">
              <a:spLocks noChangeArrowheads="1"/>
            </p:cNvSpPr>
            <p:nvPr/>
          </p:nvSpPr>
          <p:spPr bwMode="auto">
            <a:xfrm>
              <a:off x="1968" y="3619"/>
              <a:ext cx="21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30</a:t>
              </a:r>
            </a:p>
          </p:txBody>
        </p:sp>
        <p:sp>
          <p:nvSpPr>
            <p:cNvPr id="35858" name="Text Box 18"/>
            <p:cNvSpPr txBox="1">
              <a:spLocks noChangeArrowheads="1"/>
            </p:cNvSpPr>
            <p:nvPr/>
          </p:nvSpPr>
          <p:spPr bwMode="auto">
            <a:xfrm>
              <a:off x="2418" y="3619"/>
              <a:ext cx="22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40</a:t>
              </a:r>
            </a:p>
          </p:txBody>
        </p:sp>
        <p:sp>
          <p:nvSpPr>
            <p:cNvPr id="35859" name="Text Box 19"/>
            <p:cNvSpPr txBox="1">
              <a:spLocks noChangeArrowheads="1"/>
            </p:cNvSpPr>
            <p:nvPr/>
          </p:nvSpPr>
          <p:spPr bwMode="auto">
            <a:xfrm>
              <a:off x="402" y="2554"/>
              <a:ext cx="213"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20</a:t>
              </a:r>
            </a:p>
          </p:txBody>
        </p:sp>
        <p:sp>
          <p:nvSpPr>
            <p:cNvPr id="35860" name="Text Box 20"/>
            <p:cNvSpPr txBox="1">
              <a:spLocks noChangeArrowheads="1"/>
            </p:cNvSpPr>
            <p:nvPr/>
          </p:nvSpPr>
          <p:spPr bwMode="auto">
            <a:xfrm>
              <a:off x="402" y="2083"/>
              <a:ext cx="21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30</a:t>
              </a:r>
            </a:p>
          </p:txBody>
        </p:sp>
        <p:sp>
          <p:nvSpPr>
            <p:cNvPr id="35861" name="Text Box 21"/>
            <p:cNvSpPr txBox="1">
              <a:spLocks noChangeArrowheads="1"/>
            </p:cNvSpPr>
            <p:nvPr/>
          </p:nvSpPr>
          <p:spPr bwMode="auto">
            <a:xfrm>
              <a:off x="402" y="1594"/>
              <a:ext cx="22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40</a:t>
              </a:r>
            </a:p>
          </p:txBody>
        </p:sp>
        <p:sp>
          <p:nvSpPr>
            <p:cNvPr id="35862" name="Text Box 22"/>
            <p:cNvSpPr txBox="1">
              <a:spLocks noChangeArrowheads="1"/>
            </p:cNvSpPr>
            <p:nvPr/>
          </p:nvSpPr>
          <p:spPr bwMode="auto">
            <a:xfrm>
              <a:off x="402" y="1123"/>
              <a:ext cx="21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50</a:t>
              </a:r>
            </a:p>
          </p:txBody>
        </p:sp>
        <p:sp>
          <p:nvSpPr>
            <p:cNvPr id="35863" name="Text Box 23"/>
            <p:cNvSpPr txBox="1">
              <a:spLocks noChangeArrowheads="1"/>
            </p:cNvSpPr>
            <p:nvPr/>
          </p:nvSpPr>
          <p:spPr bwMode="auto">
            <a:xfrm>
              <a:off x="2898" y="3619"/>
              <a:ext cx="21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50</a:t>
              </a:r>
            </a:p>
          </p:txBody>
        </p:sp>
        <p:sp>
          <p:nvSpPr>
            <p:cNvPr id="35864" name="Text Box 24"/>
            <p:cNvSpPr txBox="1">
              <a:spLocks noChangeArrowheads="1"/>
            </p:cNvSpPr>
            <p:nvPr/>
          </p:nvSpPr>
          <p:spPr bwMode="auto">
            <a:xfrm>
              <a:off x="402" y="643"/>
              <a:ext cx="222"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60</a:t>
              </a:r>
            </a:p>
          </p:txBody>
        </p:sp>
        <p:grpSp>
          <p:nvGrpSpPr>
            <p:cNvPr id="35865" name="Group 25"/>
            <p:cNvGrpSpPr>
              <a:grpSpLocks/>
            </p:cNvGrpSpPr>
            <p:nvPr/>
          </p:nvGrpSpPr>
          <p:grpSpPr bwMode="auto">
            <a:xfrm>
              <a:off x="432" y="326"/>
              <a:ext cx="3037" cy="3497"/>
              <a:chOff x="380" y="326"/>
              <a:chExt cx="3037" cy="3497"/>
            </a:xfrm>
          </p:grpSpPr>
          <p:sp>
            <p:nvSpPr>
              <p:cNvPr id="35866" name="Line 26"/>
              <p:cNvSpPr>
                <a:spLocks noChangeShapeType="1"/>
              </p:cNvSpPr>
              <p:nvPr/>
            </p:nvSpPr>
            <p:spPr bwMode="auto">
              <a:xfrm flipV="1">
                <a:off x="576" y="480"/>
                <a:ext cx="0" cy="321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67" name="Line 27"/>
              <p:cNvSpPr>
                <a:spLocks noChangeShapeType="1"/>
              </p:cNvSpPr>
              <p:nvPr/>
            </p:nvSpPr>
            <p:spPr bwMode="auto">
              <a:xfrm flipH="1">
                <a:off x="528" y="312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68" name="Line 28"/>
              <p:cNvSpPr>
                <a:spLocks noChangeShapeType="1"/>
              </p:cNvSpPr>
              <p:nvPr/>
            </p:nvSpPr>
            <p:spPr bwMode="auto">
              <a:xfrm>
                <a:off x="105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69" name="Line 29"/>
              <p:cNvSpPr>
                <a:spLocks noChangeShapeType="1"/>
              </p:cNvSpPr>
              <p:nvPr/>
            </p:nvSpPr>
            <p:spPr bwMode="auto">
              <a:xfrm>
                <a:off x="153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70" name="Line 30"/>
              <p:cNvSpPr>
                <a:spLocks noChangeShapeType="1"/>
              </p:cNvSpPr>
              <p:nvPr/>
            </p:nvSpPr>
            <p:spPr bwMode="auto">
              <a:xfrm>
                <a:off x="201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71" name="Line 31"/>
              <p:cNvSpPr>
                <a:spLocks noChangeShapeType="1"/>
              </p:cNvSpPr>
              <p:nvPr/>
            </p:nvSpPr>
            <p:spPr bwMode="auto">
              <a:xfrm>
                <a:off x="297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72" name="Line 32"/>
              <p:cNvSpPr>
                <a:spLocks noChangeShapeType="1"/>
              </p:cNvSpPr>
              <p:nvPr/>
            </p:nvSpPr>
            <p:spPr bwMode="auto">
              <a:xfrm flipH="1">
                <a:off x="528" y="264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73" name="Line 33"/>
              <p:cNvSpPr>
                <a:spLocks noChangeShapeType="1"/>
              </p:cNvSpPr>
              <p:nvPr/>
            </p:nvSpPr>
            <p:spPr bwMode="auto">
              <a:xfrm flipH="1">
                <a:off x="528" y="216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74" name="Line 34"/>
              <p:cNvSpPr>
                <a:spLocks noChangeShapeType="1"/>
              </p:cNvSpPr>
              <p:nvPr/>
            </p:nvSpPr>
            <p:spPr bwMode="auto">
              <a:xfrm flipH="1">
                <a:off x="528" y="120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75" name="Line 35"/>
              <p:cNvSpPr>
                <a:spLocks noChangeShapeType="1"/>
              </p:cNvSpPr>
              <p:nvPr/>
            </p:nvSpPr>
            <p:spPr bwMode="auto">
              <a:xfrm flipH="1">
                <a:off x="528" y="72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76" name="Text Box 36"/>
              <p:cNvSpPr txBox="1">
                <a:spLocks noChangeArrowheads="1"/>
              </p:cNvSpPr>
              <p:nvPr/>
            </p:nvSpPr>
            <p:spPr bwMode="auto">
              <a:xfrm>
                <a:off x="380" y="326"/>
                <a:ext cx="20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Y</a:t>
                </a:r>
              </a:p>
            </p:txBody>
          </p:sp>
          <p:sp>
            <p:nvSpPr>
              <p:cNvPr id="35877" name="Text Box 37"/>
              <p:cNvSpPr txBox="1">
                <a:spLocks noChangeArrowheads="1"/>
              </p:cNvSpPr>
              <p:nvPr/>
            </p:nvSpPr>
            <p:spPr bwMode="auto">
              <a:xfrm>
                <a:off x="3216" y="3590"/>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X</a:t>
                </a:r>
              </a:p>
            </p:txBody>
          </p:sp>
          <p:sp>
            <p:nvSpPr>
              <p:cNvPr id="35878" name="Line 38"/>
              <p:cNvSpPr>
                <a:spLocks noChangeShapeType="1"/>
              </p:cNvSpPr>
              <p:nvPr/>
            </p:nvSpPr>
            <p:spPr bwMode="auto">
              <a:xfrm>
                <a:off x="249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79" name="Line 39"/>
              <p:cNvSpPr>
                <a:spLocks noChangeShapeType="1"/>
              </p:cNvSpPr>
              <p:nvPr/>
            </p:nvSpPr>
            <p:spPr bwMode="auto">
              <a:xfrm flipH="1">
                <a:off x="528" y="168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80" name="Line 40"/>
              <p:cNvSpPr>
                <a:spLocks noChangeShapeType="1"/>
              </p:cNvSpPr>
              <p:nvPr/>
            </p:nvSpPr>
            <p:spPr bwMode="auto">
              <a:xfrm>
                <a:off x="480" y="3600"/>
                <a:ext cx="273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grpSp>
      </p:grpSp>
      <p:sp>
        <p:nvSpPr>
          <p:cNvPr id="35881" name="Line 41"/>
          <p:cNvSpPr>
            <a:spLocks noChangeShapeType="1"/>
          </p:cNvSpPr>
          <p:nvPr/>
        </p:nvSpPr>
        <p:spPr bwMode="auto">
          <a:xfrm>
            <a:off x="7277099" y="2145665"/>
            <a:ext cx="3810000" cy="3810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82" name="Line 42"/>
          <p:cNvSpPr>
            <a:spLocks noChangeShapeType="1"/>
          </p:cNvSpPr>
          <p:nvPr/>
        </p:nvSpPr>
        <p:spPr bwMode="auto">
          <a:xfrm>
            <a:off x="7277099" y="1383665"/>
            <a:ext cx="3048000" cy="4572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83" name="Text Box 43"/>
          <p:cNvSpPr txBox="1">
            <a:spLocks noChangeArrowheads="1"/>
          </p:cNvSpPr>
          <p:nvPr/>
        </p:nvSpPr>
        <p:spPr bwMode="auto">
          <a:xfrm>
            <a:off x="7942261" y="1523365"/>
            <a:ext cx="1327286" cy="523220"/>
          </a:xfrm>
          <a:prstGeom prst="rect">
            <a:avLst/>
          </a:prstGeom>
          <a:solidFill>
            <a:srgbClr val="FFFF00">
              <a:alpha val="50000"/>
            </a:srgbClr>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No existe</a:t>
            </a:r>
          </a:p>
          <a:p>
            <a:r>
              <a:rPr lang="es-ES" altLang="es-CL" sz="1400"/>
              <a:t>Región Factible</a:t>
            </a:r>
          </a:p>
        </p:txBody>
      </p:sp>
      <p:sp>
        <p:nvSpPr>
          <p:cNvPr id="35884" name="Line 44"/>
          <p:cNvSpPr>
            <a:spLocks noChangeShapeType="1"/>
          </p:cNvSpPr>
          <p:nvPr/>
        </p:nvSpPr>
        <p:spPr bwMode="auto">
          <a:xfrm>
            <a:off x="7277099" y="3669665"/>
            <a:ext cx="42672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85" name="Line 45"/>
          <p:cNvSpPr>
            <a:spLocks noChangeShapeType="1"/>
          </p:cNvSpPr>
          <p:nvPr/>
        </p:nvSpPr>
        <p:spPr bwMode="auto">
          <a:xfrm flipV="1">
            <a:off x="9563099" y="1536065"/>
            <a:ext cx="0" cy="44196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5886" name="AutoShape 46"/>
          <p:cNvSpPr>
            <a:spLocks noChangeArrowheads="1"/>
          </p:cNvSpPr>
          <p:nvPr/>
        </p:nvSpPr>
        <p:spPr bwMode="auto">
          <a:xfrm>
            <a:off x="9639300" y="1664535"/>
            <a:ext cx="231181" cy="733663"/>
          </a:xfrm>
          <a:prstGeom prst="rightArrow">
            <a:avLst>
              <a:gd name="adj1" fmla="val 50000"/>
              <a:gd name="adj2" fmla="val 41667"/>
            </a:avLst>
          </a:prstGeom>
          <a:noFill/>
          <a:ln w="12700"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CL"/>
          </a:p>
        </p:txBody>
      </p:sp>
      <p:sp>
        <p:nvSpPr>
          <p:cNvPr id="35887" name="AutoShape 47"/>
          <p:cNvSpPr>
            <a:spLocks noChangeArrowheads="1"/>
          </p:cNvSpPr>
          <p:nvPr/>
        </p:nvSpPr>
        <p:spPr bwMode="auto">
          <a:xfrm>
            <a:off x="9639300" y="2426535"/>
            <a:ext cx="231181" cy="733663"/>
          </a:xfrm>
          <a:prstGeom prst="rightArrow">
            <a:avLst>
              <a:gd name="adj1" fmla="val 50000"/>
              <a:gd name="adj2" fmla="val 41667"/>
            </a:avLst>
          </a:prstGeom>
          <a:noFill/>
          <a:ln w="12700" algn="ctr">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CL"/>
          </a:p>
        </p:txBody>
      </p:sp>
      <p:sp>
        <p:nvSpPr>
          <p:cNvPr id="35888" name="AutoShape 48"/>
          <p:cNvSpPr>
            <a:spLocks noChangeArrowheads="1"/>
          </p:cNvSpPr>
          <p:nvPr/>
        </p:nvSpPr>
        <p:spPr bwMode="auto">
          <a:xfrm>
            <a:off x="10172699" y="3180796"/>
            <a:ext cx="366960" cy="444341"/>
          </a:xfrm>
          <a:prstGeom prst="upArrow">
            <a:avLst>
              <a:gd name="adj1" fmla="val 50000"/>
              <a:gd name="adj2" fmla="val 41667"/>
            </a:avLst>
          </a:prstGeom>
          <a:noFill/>
          <a:ln w="12700" algn="ctr">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CL"/>
          </a:p>
        </p:txBody>
      </p:sp>
      <p:sp>
        <p:nvSpPr>
          <p:cNvPr id="35889" name="AutoShape 49"/>
          <p:cNvSpPr>
            <a:spLocks noChangeArrowheads="1"/>
          </p:cNvSpPr>
          <p:nvPr/>
        </p:nvSpPr>
        <p:spPr bwMode="auto">
          <a:xfrm>
            <a:off x="11010899" y="3180796"/>
            <a:ext cx="366960" cy="444341"/>
          </a:xfrm>
          <a:prstGeom prst="upArrow">
            <a:avLst>
              <a:gd name="adj1" fmla="val 50000"/>
              <a:gd name="adj2" fmla="val 41667"/>
            </a:avLst>
          </a:prstGeom>
          <a:noFill/>
          <a:ln w="12700" algn="ctr">
            <a:solidFill>
              <a:schemeClr val="tx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CL"/>
          </a:p>
        </p:txBody>
      </p:sp>
      <p:sp>
        <p:nvSpPr>
          <p:cNvPr id="35890" name="AutoShape 50"/>
          <p:cNvSpPr>
            <a:spLocks noChangeArrowheads="1"/>
          </p:cNvSpPr>
          <p:nvPr/>
        </p:nvSpPr>
        <p:spPr bwMode="auto">
          <a:xfrm rot="-2995511">
            <a:off x="7504409" y="2502735"/>
            <a:ext cx="231181" cy="733663"/>
          </a:xfrm>
          <a:prstGeom prst="leftArrow">
            <a:avLst>
              <a:gd name="adj1" fmla="val 50000"/>
              <a:gd name="adj2" fmla="val 41667"/>
            </a:avLst>
          </a:prstGeom>
          <a:noFill/>
          <a:ln w="12700" algn="ctr">
            <a:solidFill>
              <a:srgbClr val="33CC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CL"/>
          </a:p>
        </p:txBody>
      </p:sp>
      <p:sp>
        <p:nvSpPr>
          <p:cNvPr id="35891" name="AutoShape 51"/>
          <p:cNvSpPr>
            <a:spLocks noChangeArrowheads="1"/>
          </p:cNvSpPr>
          <p:nvPr/>
        </p:nvSpPr>
        <p:spPr bwMode="auto">
          <a:xfrm rot="-2995511">
            <a:off x="8037809" y="3036135"/>
            <a:ext cx="231181" cy="733663"/>
          </a:xfrm>
          <a:prstGeom prst="leftArrow">
            <a:avLst>
              <a:gd name="adj1" fmla="val 50000"/>
              <a:gd name="adj2" fmla="val 41667"/>
            </a:avLst>
          </a:prstGeom>
          <a:noFill/>
          <a:ln w="12700" algn="ctr">
            <a:solidFill>
              <a:srgbClr val="33CC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CL"/>
          </a:p>
        </p:txBody>
      </p:sp>
      <p:sp>
        <p:nvSpPr>
          <p:cNvPr id="35892" name="AutoShape 52"/>
          <p:cNvSpPr>
            <a:spLocks noChangeArrowheads="1"/>
          </p:cNvSpPr>
          <p:nvPr/>
        </p:nvSpPr>
        <p:spPr bwMode="auto">
          <a:xfrm rot="-1785169">
            <a:off x="9059362" y="4407735"/>
            <a:ext cx="245474" cy="733663"/>
          </a:xfrm>
          <a:prstGeom prst="leftArrow">
            <a:avLst>
              <a:gd name="adj1" fmla="val 50000"/>
              <a:gd name="adj2" fmla="val 50000"/>
            </a:avLst>
          </a:prstGeom>
          <a:noFill/>
          <a:ln w="12700" algn="ctr">
            <a:solidFill>
              <a:srgbClr val="9966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CL"/>
          </a:p>
        </p:txBody>
      </p:sp>
      <p:sp>
        <p:nvSpPr>
          <p:cNvPr id="35893" name="AutoShape 53"/>
          <p:cNvSpPr>
            <a:spLocks noChangeArrowheads="1"/>
          </p:cNvSpPr>
          <p:nvPr/>
        </p:nvSpPr>
        <p:spPr bwMode="auto">
          <a:xfrm rot="-1785169">
            <a:off x="9592762" y="5169735"/>
            <a:ext cx="245474" cy="733663"/>
          </a:xfrm>
          <a:prstGeom prst="leftArrow">
            <a:avLst>
              <a:gd name="adj1" fmla="val 50000"/>
              <a:gd name="adj2" fmla="val 50000"/>
            </a:avLst>
          </a:prstGeom>
          <a:noFill/>
          <a:ln w="12700" algn="ctr">
            <a:solidFill>
              <a:srgbClr val="996633"/>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s-CL"/>
          </a:p>
        </p:txBody>
      </p:sp>
      <p:sp>
        <p:nvSpPr>
          <p:cNvPr id="35894" name="Text Box 54"/>
          <p:cNvSpPr txBox="1">
            <a:spLocks noChangeArrowheads="1"/>
          </p:cNvSpPr>
          <p:nvPr/>
        </p:nvSpPr>
        <p:spPr bwMode="auto">
          <a:xfrm>
            <a:off x="10401300" y="2891791"/>
            <a:ext cx="607859"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y ≥ 30</a:t>
            </a:r>
          </a:p>
        </p:txBody>
      </p:sp>
      <p:sp>
        <p:nvSpPr>
          <p:cNvPr id="35895" name="Text Box 55"/>
          <p:cNvSpPr txBox="1">
            <a:spLocks noChangeArrowheads="1"/>
          </p:cNvSpPr>
          <p:nvPr/>
        </p:nvSpPr>
        <p:spPr bwMode="auto">
          <a:xfrm>
            <a:off x="9563099" y="2282191"/>
            <a:ext cx="603050"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x ≥ 30</a:t>
            </a:r>
          </a:p>
        </p:txBody>
      </p:sp>
      <p:sp>
        <p:nvSpPr>
          <p:cNvPr id="35896" name="Text Box 56"/>
          <p:cNvSpPr txBox="1">
            <a:spLocks noChangeArrowheads="1"/>
          </p:cNvSpPr>
          <p:nvPr/>
        </p:nvSpPr>
        <p:spPr bwMode="auto">
          <a:xfrm>
            <a:off x="7256461" y="2967991"/>
            <a:ext cx="88806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x +  y ≤ 50</a:t>
            </a:r>
          </a:p>
        </p:txBody>
      </p:sp>
      <p:sp>
        <p:nvSpPr>
          <p:cNvPr id="35897" name="Text Box 57"/>
          <p:cNvSpPr txBox="1">
            <a:spLocks noChangeArrowheads="1"/>
          </p:cNvSpPr>
          <p:nvPr/>
        </p:nvSpPr>
        <p:spPr bwMode="auto">
          <a:xfrm>
            <a:off x="8247061" y="4949191"/>
            <a:ext cx="1110882"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3x + 2y ≤ 120</a:t>
            </a:r>
          </a:p>
        </p:txBody>
      </p:sp>
    </p:spTree>
    <p:extLst>
      <p:ext uri="{BB962C8B-B14F-4D97-AF65-F5344CB8AC3E}">
        <p14:creationId xmlns:p14="http://schemas.microsoft.com/office/powerpoint/2010/main" val="2460786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a:xfrm>
            <a:off x="-1" y="1401763"/>
            <a:ext cx="3415269" cy="642937"/>
          </a:xfrm>
        </p:spPr>
        <p:txBody>
          <a:bodyPr>
            <a:noAutofit/>
          </a:bodyPr>
          <a:lstStyle/>
          <a:p>
            <a:r>
              <a:rPr lang="es-CL" altLang="es-CL" sz="2800" dirty="0">
                <a:latin typeface="Arial" panose="020B0604020202020204" pitchFamily="34" charset="0"/>
              </a:rPr>
              <a:t>Solución no acotado</a:t>
            </a:r>
          </a:p>
        </p:txBody>
      </p:sp>
      <p:sp>
        <p:nvSpPr>
          <p:cNvPr id="36868" name="Text Box 4"/>
          <p:cNvSpPr txBox="1">
            <a:spLocks noChangeArrowheads="1"/>
          </p:cNvSpPr>
          <p:nvPr/>
        </p:nvSpPr>
        <p:spPr bwMode="auto">
          <a:xfrm>
            <a:off x="3962400" y="825500"/>
            <a:ext cx="2209800" cy="16158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hangingPunct="0">
              <a:spcBef>
                <a:spcPct val="50000"/>
              </a:spcBef>
            </a:pPr>
            <a:r>
              <a:rPr lang="en-US" altLang="es-CL" dirty="0"/>
              <a:t>max z = 2x – y</a:t>
            </a:r>
          </a:p>
          <a:p>
            <a:pPr eaLnBrk="0" hangingPunct="0">
              <a:spcBef>
                <a:spcPct val="50000"/>
              </a:spcBef>
            </a:pPr>
            <a:r>
              <a:rPr lang="en-US" altLang="es-CL" dirty="0" err="1"/>
              <a:t>s.a</a:t>
            </a:r>
            <a:r>
              <a:rPr lang="en-US" altLang="es-CL" dirty="0"/>
              <a:t>:      x – y ≤ 1</a:t>
            </a:r>
          </a:p>
          <a:p>
            <a:pPr eaLnBrk="0" hangingPunct="0">
              <a:spcBef>
                <a:spcPct val="50000"/>
              </a:spcBef>
            </a:pPr>
            <a:r>
              <a:rPr lang="en-US" altLang="es-CL" dirty="0"/>
              <a:t>          2x + y ≥ 6</a:t>
            </a:r>
          </a:p>
          <a:p>
            <a:pPr eaLnBrk="0" hangingPunct="0">
              <a:spcBef>
                <a:spcPct val="50000"/>
              </a:spcBef>
            </a:pPr>
            <a:r>
              <a:rPr lang="en-US" altLang="es-CL" dirty="0"/>
              <a:t>              x, y ≥ 0</a:t>
            </a:r>
          </a:p>
        </p:txBody>
      </p:sp>
      <p:sp>
        <p:nvSpPr>
          <p:cNvPr id="36872" name="Text Box 8"/>
          <p:cNvSpPr txBox="1">
            <a:spLocks noChangeArrowheads="1"/>
          </p:cNvSpPr>
          <p:nvPr/>
        </p:nvSpPr>
        <p:spPr bwMode="auto">
          <a:xfrm>
            <a:off x="2231469" y="2693764"/>
            <a:ext cx="4445000" cy="3000821"/>
          </a:xfrm>
          <a:prstGeom prst="rect">
            <a:avLst/>
          </a:prstGeom>
          <a:solidFill>
            <a:schemeClr val="accent1">
              <a:lumMod val="60000"/>
              <a:lumOff val="40000"/>
            </a:schemeClr>
          </a:solidFill>
          <a:ln>
            <a:noFill/>
          </a:ln>
          <a:effectLst/>
        </p:spPr>
        <p:txBody>
          <a:bodyPr wrap="square">
            <a:spAutoFit/>
          </a:bodyPr>
          <a:lstStyle/>
          <a:p>
            <a:pPr eaLnBrk="0" hangingPunct="0">
              <a:spcBef>
                <a:spcPct val="50000"/>
              </a:spcBef>
            </a:pPr>
            <a:r>
              <a:rPr lang="es-CL" altLang="es-CL" sz="2100" dirty="0"/>
              <a:t>La región factible es no acotada. </a:t>
            </a:r>
          </a:p>
          <a:p>
            <a:pPr eaLnBrk="0" hangingPunct="0">
              <a:spcBef>
                <a:spcPct val="50000"/>
              </a:spcBef>
            </a:pPr>
            <a:r>
              <a:rPr lang="es-CL" altLang="es-CL" sz="2100" dirty="0"/>
              <a:t>Se muestran en el gráfico las rectas de nivel para z = 4 y z = 6.</a:t>
            </a:r>
          </a:p>
          <a:p>
            <a:pPr eaLnBrk="0" hangingPunct="0">
              <a:spcBef>
                <a:spcPct val="50000"/>
              </a:spcBef>
            </a:pPr>
            <a:r>
              <a:rPr lang="es-CL" altLang="es-CL" sz="2100" dirty="0"/>
              <a:t>Pero podemos desplazar las rectas de nivel hacia la derecha indefinidamente sin abandonar la región factible. Por lo tanto, el valor de z puede crecer indefinidamente.</a:t>
            </a:r>
          </a:p>
        </p:txBody>
      </p:sp>
      <p:grpSp>
        <p:nvGrpSpPr>
          <p:cNvPr id="36874" name="Group 10"/>
          <p:cNvGrpSpPr>
            <a:grpSpLocks/>
          </p:cNvGrpSpPr>
          <p:nvPr/>
        </p:nvGrpSpPr>
        <p:grpSpPr bwMode="auto">
          <a:xfrm>
            <a:off x="6690756" y="657225"/>
            <a:ext cx="4897438" cy="5551488"/>
            <a:chOff x="384" y="326"/>
            <a:chExt cx="3085" cy="3497"/>
          </a:xfrm>
        </p:grpSpPr>
        <p:sp>
          <p:nvSpPr>
            <p:cNvPr id="36875" name="Text Box 11"/>
            <p:cNvSpPr txBox="1">
              <a:spLocks noChangeArrowheads="1"/>
            </p:cNvSpPr>
            <p:nvPr/>
          </p:nvSpPr>
          <p:spPr bwMode="auto">
            <a:xfrm>
              <a:off x="384" y="3024"/>
              <a:ext cx="16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1</a:t>
              </a:r>
            </a:p>
          </p:txBody>
        </p:sp>
        <p:sp>
          <p:nvSpPr>
            <p:cNvPr id="36876" name="Text Box 12"/>
            <p:cNvSpPr txBox="1">
              <a:spLocks noChangeArrowheads="1"/>
            </p:cNvSpPr>
            <p:nvPr/>
          </p:nvSpPr>
          <p:spPr bwMode="auto">
            <a:xfrm>
              <a:off x="1008" y="3619"/>
              <a:ext cx="179"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 1</a:t>
              </a:r>
            </a:p>
          </p:txBody>
        </p:sp>
        <p:sp>
          <p:nvSpPr>
            <p:cNvPr id="36877" name="Text Box 13"/>
            <p:cNvSpPr txBox="1">
              <a:spLocks noChangeArrowheads="1"/>
            </p:cNvSpPr>
            <p:nvPr/>
          </p:nvSpPr>
          <p:spPr bwMode="auto">
            <a:xfrm>
              <a:off x="1488" y="3619"/>
              <a:ext cx="185"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 2</a:t>
              </a:r>
            </a:p>
          </p:txBody>
        </p:sp>
        <p:sp>
          <p:nvSpPr>
            <p:cNvPr id="36878" name="Text Box 14"/>
            <p:cNvSpPr txBox="1">
              <a:spLocks noChangeArrowheads="1"/>
            </p:cNvSpPr>
            <p:nvPr/>
          </p:nvSpPr>
          <p:spPr bwMode="auto">
            <a:xfrm>
              <a:off x="1968" y="3619"/>
              <a:ext cx="180"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 3</a:t>
              </a:r>
            </a:p>
          </p:txBody>
        </p:sp>
        <p:sp>
          <p:nvSpPr>
            <p:cNvPr id="36879" name="Text Box 15"/>
            <p:cNvSpPr txBox="1">
              <a:spLocks noChangeArrowheads="1"/>
            </p:cNvSpPr>
            <p:nvPr/>
          </p:nvSpPr>
          <p:spPr bwMode="auto">
            <a:xfrm>
              <a:off x="2418" y="3619"/>
              <a:ext cx="205"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  4</a:t>
              </a:r>
            </a:p>
          </p:txBody>
        </p:sp>
        <p:sp>
          <p:nvSpPr>
            <p:cNvPr id="36880" name="Text Box 16"/>
            <p:cNvSpPr txBox="1">
              <a:spLocks noChangeArrowheads="1"/>
            </p:cNvSpPr>
            <p:nvPr/>
          </p:nvSpPr>
          <p:spPr bwMode="auto">
            <a:xfrm>
              <a:off x="402" y="2554"/>
              <a:ext cx="16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2</a:t>
              </a:r>
            </a:p>
          </p:txBody>
        </p:sp>
        <p:sp>
          <p:nvSpPr>
            <p:cNvPr id="36881" name="Text Box 17"/>
            <p:cNvSpPr txBox="1">
              <a:spLocks noChangeArrowheads="1"/>
            </p:cNvSpPr>
            <p:nvPr/>
          </p:nvSpPr>
          <p:spPr bwMode="auto">
            <a:xfrm>
              <a:off x="402" y="2083"/>
              <a:ext cx="16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3</a:t>
              </a:r>
            </a:p>
          </p:txBody>
        </p:sp>
        <p:sp>
          <p:nvSpPr>
            <p:cNvPr id="36882" name="Text Box 18"/>
            <p:cNvSpPr txBox="1">
              <a:spLocks noChangeArrowheads="1"/>
            </p:cNvSpPr>
            <p:nvPr/>
          </p:nvSpPr>
          <p:spPr bwMode="auto">
            <a:xfrm>
              <a:off x="402" y="1594"/>
              <a:ext cx="16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4</a:t>
              </a:r>
            </a:p>
          </p:txBody>
        </p:sp>
        <p:sp>
          <p:nvSpPr>
            <p:cNvPr id="36883" name="Text Box 19"/>
            <p:cNvSpPr txBox="1">
              <a:spLocks noChangeArrowheads="1"/>
            </p:cNvSpPr>
            <p:nvPr/>
          </p:nvSpPr>
          <p:spPr bwMode="auto">
            <a:xfrm>
              <a:off x="402" y="1123"/>
              <a:ext cx="16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5</a:t>
              </a:r>
            </a:p>
          </p:txBody>
        </p:sp>
        <p:sp>
          <p:nvSpPr>
            <p:cNvPr id="36884" name="Text Box 20"/>
            <p:cNvSpPr txBox="1">
              <a:spLocks noChangeArrowheads="1"/>
            </p:cNvSpPr>
            <p:nvPr/>
          </p:nvSpPr>
          <p:spPr bwMode="auto">
            <a:xfrm>
              <a:off x="2898" y="3619"/>
              <a:ext cx="201"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  5</a:t>
              </a:r>
            </a:p>
          </p:txBody>
        </p:sp>
        <p:sp>
          <p:nvSpPr>
            <p:cNvPr id="36885" name="Text Box 21"/>
            <p:cNvSpPr txBox="1">
              <a:spLocks noChangeArrowheads="1"/>
            </p:cNvSpPr>
            <p:nvPr/>
          </p:nvSpPr>
          <p:spPr bwMode="auto">
            <a:xfrm>
              <a:off x="402" y="643"/>
              <a:ext cx="169" cy="1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200"/>
                <a:t>6</a:t>
              </a:r>
            </a:p>
          </p:txBody>
        </p:sp>
        <p:grpSp>
          <p:nvGrpSpPr>
            <p:cNvPr id="36886" name="Group 22"/>
            <p:cNvGrpSpPr>
              <a:grpSpLocks/>
            </p:cNvGrpSpPr>
            <p:nvPr/>
          </p:nvGrpSpPr>
          <p:grpSpPr bwMode="auto">
            <a:xfrm>
              <a:off x="432" y="326"/>
              <a:ext cx="3037" cy="3497"/>
              <a:chOff x="380" y="326"/>
              <a:chExt cx="3037" cy="3497"/>
            </a:xfrm>
          </p:grpSpPr>
          <p:sp>
            <p:nvSpPr>
              <p:cNvPr id="36887" name="Line 23"/>
              <p:cNvSpPr>
                <a:spLocks noChangeShapeType="1"/>
              </p:cNvSpPr>
              <p:nvPr/>
            </p:nvSpPr>
            <p:spPr bwMode="auto">
              <a:xfrm flipV="1">
                <a:off x="576" y="480"/>
                <a:ext cx="0" cy="3216"/>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888" name="Line 24"/>
              <p:cNvSpPr>
                <a:spLocks noChangeShapeType="1"/>
              </p:cNvSpPr>
              <p:nvPr/>
            </p:nvSpPr>
            <p:spPr bwMode="auto">
              <a:xfrm flipH="1">
                <a:off x="528" y="312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889" name="Line 25"/>
              <p:cNvSpPr>
                <a:spLocks noChangeShapeType="1"/>
              </p:cNvSpPr>
              <p:nvPr/>
            </p:nvSpPr>
            <p:spPr bwMode="auto">
              <a:xfrm>
                <a:off x="105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890" name="Line 26"/>
              <p:cNvSpPr>
                <a:spLocks noChangeShapeType="1"/>
              </p:cNvSpPr>
              <p:nvPr/>
            </p:nvSpPr>
            <p:spPr bwMode="auto">
              <a:xfrm>
                <a:off x="153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891" name="Line 27"/>
              <p:cNvSpPr>
                <a:spLocks noChangeShapeType="1"/>
              </p:cNvSpPr>
              <p:nvPr/>
            </p:nvSpPr>
            <p:spPr bwMode="auto">
              <a:xfrm>
                <a:off x="201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892" name="Line 28"/>
              <p:cNvSpPr>
                <a:spLocks noChangeShapeType="1"/>
              </p:cNvSpPr>
              <p:nvPr/>
            </p:nvSpPr>
            <p:spPr bwMode="auto">
              <a:xfrm>
                <a:off x="297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893" name="Line 29"/>
              <p:cNvSpPr>
                <a:spLocks noChangeShapeType="1"/>
              </p:cNvSpPr>
              <p:nvPr/>
            </p:nvSpPr>
            <p:spPr bwMode="auto">
              <a:xfrm flipH="1">
                <a:off x="528" y="264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894" name="Line 30"/>
              <p:cNvSpPr>
                <a:spLocks noChangeShapeType="1"/>
              </p:cNvSpPr>
              <p:nvPr/>
            </p:nvSpPr>
            <p:spPr bwMode="auto">
              <a:xfrm flipH="1">
                <a:off x="528" y="216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895" name="Line 31"/>
              <p:cNvSpPr>
                <a:spLocks noChangeShapeType="1"/>
              </p:cNvSpPr>
              <p:nvPr/>
            </p:nvSpPr>
            <p:spPr bwMode="auto">
              <a:xfrm flipH="1">
                <a:off x="528" y="120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896" name="Line 32"/>
              <p:cNvSpPr>
                <a:spLocks noChangeShapeType="1"/>
              </p:cNvSpPr>
              <p:nvPr/>
            </p:nvSpPr>
            <p:spPr bwMode="auto">
              <a:xfrm flipH="1">
                <a:off x="528" y="72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897" name="Text Box 33"/>
              <p:cNvSpPr txBox="1">
                <a:spLocks noChangeArrowheads="1"/>
              </p:cNvSpPr>
              <p:nvPr/>
            </p:nvSpPr>
            <p:spPr bwMode="auto">
              <a:xfrm>
                <a:off x="380" y="326"/>
                <a:ext cx="203"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Y</a:t>
                </a:r>
              </a:p>
            </p:txBody>
          </p:sp>
          <p:sp>
            <p:nvSpPr>
              <p:cNvPr id="36898" name="Text Box 34"/>
              <p:cNvSpPr txBox="1">
                <a:spLocks noChangeArrowheads="1"/>
              </p:cNvSpPr>
              <p:nvPr/>
            </p:nvSpPr>
            <p:spPr bwMode="auto">
              <a:xfrm>
                <a:off x="3216" y="3590"/>
                <a:ext cx="201"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X</a:t>
                </a:r>
              </a:p>
            </p:txBody>
          </p:sp>
          <p:sp>
            <p:nvSpPr>
              <p:cNvPr id="36899" name="Line 35"/>
              <p:cNvSpPr>
                <a:spLocks noChangeShapeType="1"/>
              </p:cNvSpPr>
              <p:nvPr/>
            </p:nvSpPr>
            <p:spPr bwMode="auto">
              <a:xfrm>
                <a:off x="2496" y="3600"/>
                <a:ext cx="0" cy="4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900" name="Line 36"/>
              <p:cNvSpPr>
                <a:spLocks noChangeShapeType="1"/>
              </p:cNvSpPr>
              <p:nvPr/>
            </p:nvSpPr>
            <p:spPr bwMode="auto">
              <a:xfrm flipH="1">
                <a:off x="528" y="1680"/>
                <a:ext cx="48"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901" name="Line 37"/>
              <p:cNvSpPr>
                <a:spLocks noChangeShapeType="1"/>
              </p:cNvSpPr>
              <p:nvPr/>
            </p:nvSpPr>
            <p:spPr bwMode="auto">
              <a:xfrm>
                <a:off x="480" y="3600"/>
                <a:ext cx="2736" cy="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grpSp>
      </p:grpSp>
      <p:sp>
        <p:nvSpPr>
          <p:cNvPr id="36902" name="Line 38"/>
          <p:cNvSpPr>
            <a:spLocks noChangeShapeType="1"/>
          </p:cNvSpPr>
          <p:nvPr/>
        </p:nvSpPr>
        <p:spPr bwMode="auto">
          <a:xfrm>
            <a:off x="7071756" y="1282700"/>
            <a:ext cx="2286000" cy="4572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903" name="Line 39"/>
          <p:cNvSpPr>
            <a:spLocks noChangeShapeType="1"/>
          </p:cNvSpPr>
          <p:nvPr/>
        </p:nvSpPr>
        <p:spPr bwMode="auto">
          <a:xfrm flipV="1">
            <a:off x="7833756" y="2044700"/>
            <a:ext cx="3810000" cy="381000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904" name="Freeform 40"/>
          <p:cNvSpPr>
            <a:spLocks/>
          </p:cNvSpPr>
          <p:nvPr/>
        </p:nvSpPr>
        <p:spPr bwMode="auto">
          <a:xfrm>
            <a:off x="7071756" y="825500"/>
            <a:ext cx="4516438" cy="3995738"/>
          </a:xfrm>
          <a:custGeom>
            <a:avLst/>
            <a:gdLst>
              <a:gd name="T0" fmla="*/ 1104 w 2832"/>
              <a:gd name="T1" fmla="*/ 2544 h 2544"/>
              <a:gd name="T2" fmla="*/ 0 w 2832"/>
              <a:gd name="T3" fmla="*/ 288 h 2544"/>
              <a:gd name="T4" fmla="*/ 0 w 2832"/>
              <a:gd name="T5" fmla="*/ 192 h 2544"/>
              <a:gd name="T6" fmla="*/ 960 w 2832"/>
              <a:gd name="T7" fmla="*/ 0 h 2544"/>
              <a:gd name="T8" fmla="*/ 1776 w 2832"/>
              <a:gd name="T9" fmla="*/ 96 h 2544"/>
              <a:gd name="T10" fmla="*/ 2784 w 2832"/>
              <a:gd name="T11" fmla="*/ 816 h 2544"/>
              <a:gd name="T12" fmla="*/ 2832 w 2832"/>
              <a:gd name="T13" fmla="*/ 816 h 2544"/>
              <a:gd name="T14" fmla="*/ 1104 w 2832"/>
              <a:gd name="T15" fmla="*/ 2544 h 25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832" h="2544">
                <a:moveTo>
                  <a:pt x="1104" y="2544"/>
                </a:moveTo>
                <a:lnTo>
                  <a:pt x="0" y="288"/>
                </a:lnTo>
                <a:lnTo>
                  <a:pt x="0" y="192"/>
                </a:lnTo>
                <a:lnTo>
                  <a:pt x="960" y="0"/>
                </a:lnTo>
                <a:lnTo>
                  <a:pt x="1776" y="96"/>
                </a:lnTo>
                <a:lnTo>
                  <a:pt x="2784" y="816"/>
                </a:lnTo>
                <a:lnTo>
                  <a:pt x="2832" y="816"/>
                </a:lnTo>
                <a:lnTo>
                  <a:pt x="1104" y="2544"/>
                </a:lnTo>
                <a:close/>
              </a:path>
            </a:pathLst>
          </a:custGeom>
          <a:solidFill>
            <a:srgbClr val="FFCC00">
              <a:alpha val="50000"/>
            </a:srgbClr>
          </a:solidFill>
          <a:ln>
            <a:noFill/>
          </a:ln>
          <a:effectLst/>
          <a:extLst>
            <a:ext uri="{91240B29-F687-4F45-9708-019B960494DF}">
              <a14:hiddenLine xmlns:a14="http://schemas.microsoft.com/office/drawing/2010/main" w="12700" cap="flat" cmpd="sng">
                <a:solidFill>
                  <a:schemeClr val="tx1"/>
                </a:solidFill>
                <a:prstDash val="solid"/>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endParaRPr lang="es-CL"/>
          </a:p>
        </p:txBody>
      </p:sp>
      <p:sp>
        <p:nvSpPr>
          <p:cNvPr id="36905" name="Line 41"/>
          <p:cNvSpPr>
            <a:spLocks noChangeShapeType="1"/>
          </p:cNvSpPr>
          <p:nvPr/>
        </p:nvSpPr>
        <p:spPr bwMode="auto">
          <a:xfrm flipV="1">
            <a:off x="8595756" y="1282700"/>
            <a:ext cx="2286000" cy="4572000"/>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906" name="Line 42"/>
          <p:cNvSpPr>
            <a:spLocks noChangeShapeType="1"/>
          </p:cNvSpPr>
          <p:nvPr/>
        </p:nvSpPr>
        <p:spPr bwMode="auto">
          <a:xfrm flipV="1">
            <a:off x="9357756" y="1282700"/>
            <a:ext cx="2286000" cy="4572000"/>
          </a:xfrm>
          <a:prstGeom prst="line">
            <a:avLst/>
          </a:prstGeom>
          <a:noFill/>
          <a:ln w="19050">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907" name="Text Box 43"/>
          <p:cNvSpPr txBox="1">
            <a:spLocks noChangeArrowheads="1"/>
          </p:cNvSpPr>
          <p:nvPr/>
        </p:nvSpPr>
        <p:spPr bwMode="auto">
          <a:xfrm>
            <a:off x="9052956" y="3035301"/>
            <a:ext cx="519694" cy="307777"/>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z = 4</a:t>
            </a:r>
          </a:p>
        </p:txBody>
      </p:sp>
      <p:sp>
        <p:nvSpPr>
          <p:cNvPr id="36908" name="Text Box 44"/>
          <p:cNvSpPr txBox="1">
            <a:spLocks noChangeArrowheads="1"/>
          </p:cNvSpPr>
          <p:nvPr/>
        </p:nvSpPr>
        <p:spPr bwMode="auto">
          <a:xfrm>
            <a:off x="10348357" y="4559301"/>
            <a:ext cx="521297" cy="307777"/>
          </a:xfrm>
          <a:prstGeom prst="rect">
            <a:avLst/>
          </a:prstGeom>
          <a:solidFill>
            <a:schemeClr val="bg1"/>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sz="1400"/>
              <a:t>z = 6</a:t>
            </a:r>
          </a:p>
        </p:txBody>
      </p:sp>
      <p:sp>
        <p:nvSpPr>
          <p:cNvPr id="36909" name="Line 45"/>
          <p:cNvSpPr>
            <a:spLocks noChangeShapeType="1"/>
          </p:cNvSpPr>
          <p:nvPr/>
        </p:nvSpPr>
        <p:spPr bwMode="auto">
          <a:xfrm flipH="1" flipV="1">
            <a:off x="10272156" y="4102100"/>
            <a:ext cx="381000" cy="4572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910" name="Line 46"/>
          <p:cNvSpPr>
            <a:spLocks noChangeShapeType="1"/>
          </p:cNvSpPr>
          <p:nvPr/>
        </p:nvSpPr>
        <p:spPr bwMode="auto">
          <a:xfrm>
            <a:off x="9433956" y="3340100"/>
            <a:ext cx="304800" cy="228600"/>
          </a:xfrm>
          <a:prstGeom prst="line">
            <a:avLst/>
          </a:prstGeom>
          <a:noFill/>
          <a:ln w="127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s-CL"/>
          </a:p>
        </p:txBody>
      </p:sp>
      <p:sp>
        <p:nvSpPr>
          <p:cNvPr id="36911" name="Text Box 47"/>
          <p:cNvSpPr txBox="1">
            <a:spLocks noChangeArrowheads="1"/>
          </p:cNvSpPr>
          <p:nvPr/>
        </p:nvSpPr>
        <p:spPr bwMode="auto">
          <a:xfrm>
            <a:off x="8214756" y="1206500"/>
            <a:ext cx="1654940" cy="369332"/>
          </a:xfrm>
          <a:prstGeom prst="rect">
            <a:avLst/>
          </a:prstGeom>
          <a:solidFill>
            <a:srgbClr val="FFFF00">
              <a:alpha val="50000"/>
            </a:srgbClr>
          </a:solidFill>
          <a:ln w="12700" algn="ctr">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s-ES" altLang="es-CL"/>
              <a:t>Región Factible</a:t>
            </a:r>
          </a:p>
        </p:txBody>
      </p:sp>
    </p:spTree>
    <p:extLst>
      <p:ext uri="{BB962C8B-B14F-4D97-AF65-F5344CB8AC3E}">
        <p14:creationId xmlns:p14="http://schemas.microsoft.com/office/powerpoint/2010/main" val="8692981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1123836"/>
            <a:ext cx="3431969" cy="4601183"/>
          </a:xfrm>
        </p:spPr>
        <p:txBody>
          <a:bodyPr>
            <a:noAutofit/>
          </a:bodyPr>
          <a:lstStyle/>
          <a:p>
            <a:pPr algn="just"/>
            <a:r>
              <a:rPr lang="es-CL" sz="2200" dirty="0"/>
              <a:t>Es un procedimiento general para resolver problemas de programación lineal. Desarrollado por George </a:t>
            </a:r>
            <a:r>
              <a:rPr lang="es-CL" sz="2200" dirty="0" err="1"/>
              <a:t>Dantzig</a:t>
            </a:r>
            <a:r>
              <a:rPr lang="es-CL" sz="2200" dirty="0"/>
              <a:t> en 1947, se ha  comprobado su extraordinaria eficiencia, y se usa en forma rutinaria para resolver problemas grandes en computadores. Excepto en el caso de problemas muy pequeños, se ejecuta siempre en un computador y existe una amplia variedad de paquetes complejos de software para ello. </a:t>
            </a:r>
            <a:br>
              <a:rPr lang="es-CL" sz="2200" dirty="0"/>
            </a:br>
            <a:endParaRPr lang="es-CL" sz="2200" dirty="0"/>
          </a:p>
        </p:txBody>
      </p:sp>
      <p:sp>
        <p:nvSpPr>
          <p:cNvPr id="3" name="Marcador de contenido 2"/>
          <p:cNvSpPr>
            <a:spLocks noGrp="1"/>
          </p:cNvSpPr>
          <p:nvPr>
            <p:ph idx="1"/>
          </p:nvPr>
        </p:nvSpPr>
        <p:spPr>
          <a:xfrm>
            <a:off x="3869268" y="864108"/>
            <a:ext cx="7315200" cy="1682144"/>
          </a:xfrm>
        </p:spPr>
        <p:txBody>
          <a:bodyPr>
            <a:normAutofit/>
          </a:bodyPr>
          <a:lstStyle/>
          <a:p>
            <a:pPr marL="0" indent="0">
              <a:buNone/>
            </a:pPr>
            <a:r>
              <a:rPr lang="es-CL" sz="6000" dirty="0">
                <a:solidFill>
                  <a:schemeClr val="tx1"/>
                </a:solidFill>
              </a:rPr>
              <a:t>METODO SIMPLEX</a:t>
            </a:r>
          </a:p>
        </p:txBody>
      </p:sp>
      <p:pic>
        <p:nvPicPr>
          <p:cNvPr id="5" name="Imagen 4">
            <a:extLst>
              <a:ext uri="{FF2B5EF4-FFF2-40B4-BE49-F238E27FC236}">
                <a16:creationId xmlns:a16="http://schemas.microsoft.com/office/drawing/2014/main" id="{835EB628-A57C-4FC1-A49C-BA5D597533A7}"/>
              </a:ext>
            </a:extLst>
          </p:cNvPr>
          <p:cNvPicPr>
            <a:picLocks noChangeAspect="1"/>
          </p:cNvPicPr>
          <p:nvPr/>
        </p:nvPicPr>
        <p:blipFill>
          <a:blip r:embed="rId2"/>
          <a:stretch>
            <a:fillRect/>
          </a:stretch>
        </p:blipFill>
        <p:spPr>
          <a:xfrm>
            <a:off x="6296904" y="2806577"/>
            <a:ext cx="3143250" cy="1666875"/>
          </a:xfrm>
          <a:prstGeom prst="rect">
            <a:avLst/>
          </a:prstGeom>
        </p:spPr>
      </p:pic>
    </p:spTree>
    <p:extLst>
      <p:ext uri="{BB962C8B-B14F-4D97-AF65-F5344CB8AC3E}">
        <p14:creationId xmlns:p14="http://schemas.microsoft.com/office/powerpoint/2010/main" val="19026003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p:cNvSpPr/>
          <p:nvPr/>
        </p:nvSpPr>
        <p:spPr>
          <a:xfrm>
            <a:off x="6539347" y="6422752"/>
            <a:ext cx="5593278" cy="369332"/>
          </a:xfrm>
          <a:prstGeom prst="rect">
            <a:avLst/>
          </a:prstGeom>
        </p:spPr>
        <p:txBody>
          <a:bodyPr wrap="square">
            <a:spAutoFit/>
          </a:bodyPr>
          <a:lstStyle/>
          <a:p>
            <a:r>
              <a:rPr lang="es-CL" b="1" dirty="0">
                <a:solidFill>
                  <a:srgbClr val="000000"/>
                </a:solidFill>
                <a:latin typeface="TimesLTStd-Bold"/>
              </a:rPr>
              <a:t>soluciones FEV</a:t>
            </a:r>
            <a:r>
              <a:rPr lang="es-CL" dirty="0">
                <a:solidFill>
                  <a:srgbClr val="000000"/>
                </a:solidFill>
                <a:latin typeface="TimesLTStd-Roman"/>
              </a:rPr>
              <a:t>: </a:t>
            </a:r>
            <a:r>
              <a:rPr lang="es-CL" i="1" dirty="0">
                <a:solidFill>
                  <a:srgbClr val="000000"/>
                </a:solidFill>
                <a:latin typeface="TimesLTStd-Italic"/>
              </a:rPr>
              <a:t>soluciones factibles en los vértices.</a:t>
            </a:r>
            <a:endParaRPr lang="es-CL" dirty="0"/>
          </a:p>
        </p:txBody>
      </p:sp>
      <p:pic>
        <p:nvPicPr>
          <p:cNvPr id="9" name="Imagen 8"/>
          <p:cNvPicPr>
            <a:picLocks noChangeAspect="1"/>
          </p:cNvPicPr>
          <p:nvPr/>
        </p:nvPicPr>
        <p:blipFill>
          <a:blip r:embed="rId2"/>
          <a:stretch>
            <a:fillRect/>
          </a:stretch>
        </p:blipFill>
        <p:spPr>
          <a:xfrm>
            <a:off x="5762990" y="1033488"/>
            <a:ext cx="3837383" cy="2738645"/>
          </a:xfrm>
          <a:prstGeom prst="rect">
            <a:avLst/>
          </a:prstGeom>
          <a:ln w="44450">
            <a:solidFill>
              <a:schemeClr val="accent1"/>
            </a:solidFill>
          </a:ln>
        </p:spPr>
      </p:pic>
      <p:pic>
        <p:nvPicPr>
          <p:cNvPr id="10" name="Imagen 9"/>
          <p:cNvPicPr>
            <a:picLocks noChangeAspect="1"/>
          </p:cNvPicPr>
          <p:nvPr/>
        </p:nvPicPr>
        <p:blipFill>
          <a:blip r:embed="rId3"/>
          <a:stretch>
            <a:fillRect/>
          </a:stretch>
        </p:blipFill>
        <p:spPr>
          <a:xfrm>
            <a:off x="201881" y="1263241"/>
            <a:ext cx="4483579" cy="4338947"/>
          </a:xfrm>
          <a:prstGeom prst="rect">
            <a:avLst/>
          </a:prstGeom>
          <a:ln w="47625">
            <a:solidFill>
              <a:schemeClr val="accent1"/>
            </a:solidFill>
          </a:ln>
        </p:spPr>
      </p:pic>
      <p:pic>
        <p:nvPicPr>
          <p:cNvPr id="8" name="Imagen 7"/>
          <p:cNvPicPr>
            <a:picLocks noChangeAspect="1"/>
          </p:cNvPicPr>
          <p:nvPr/>
        </p:nvPicPr>
        <p:blipFill>
          <a:blip r:embed="rId4"/>
          <a:stretch>
            <a:fillRect/>
          </a:stretch>
        </p:blipFill>
        <p:spPr>
          <a:xfrm>
            <a:off x="5307650" y="3990519"/>
            <a:ext cx="4759247" cy="2280747"/>
          </a:xfrm>
          <a:prstGeom prst="rect">
            <a:avLst/>
          </a:prstGeom>
        </p:spPr>
      </p:pic>
      <p:sp>
        <p:nvSpPr>
          <p:cNvPr id="11" name="CuadroTexto 10"/>
          <p:cNvSpPr txBox="1"/>
          <p:nvPr/>
        </p:nvSpPr>
        <p:spPr>
          <a:xfrm>
            <a:off x="3227896" y="85646"/>
            <a:ext cx="5774273" cy="646331"/>
          </a:xfrm>
          <a:prstGeom prst="rect">
            <a:avLst/>
          </a:prstGeom>
          <a:noFill/>
        </p:spPr>
        <p:txBody>
          <a:bodyPr wrap="none" rtlCol="0">
            <a:spAutoFit/>
          </a:bodyPr>
          <a:lstStyle/>
          <a:p>
            <a:r>
              <a:rPr lang="es-CL" sz="3600" u="sng" dirty="0"/>
              <a:t>Esencia del método SIMPLEX</a:t>
            </a:r>
          </a:p>
        </p:txBody>
      </p:sp>
    </p:spTree>
    <p:extLst>
      <p:ext uri="{BB962C8B-B14F-4D97-AF65-F5344CB8AC3E}">
        <p14:creationId xmlns:p14="http://schemas.microsoft.com/office/powerpoint/2010/main" val="22981118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1596520-C870-480F-BEFE-27F714E26FCC}"/>
              </a:ext>
            </a:extLst>
          </p:cNvPr>
          <p:cNvPicPr>
            <a:picLocks noChangeAspect="1"/>
          </p:cNvPicPr>
          <p:nvPr/>
        </p:nvPicPr>
        <p:blipFill>
          <a:blip r:embed="rId2"/>
          <a:stretch>
            <a:fillRect/>
          </a:stretch>
        </p:blipFill>
        <p:spPr>
          <a:xfrm>
            <a:off x="276512" y="255122"/>
            <a:ext cx="7291901" cy="4718289"/>
          </a:xfrm>
          <a:prstGeom prst="rect">
            <a:avLst/>
          </a:prstGeom>
        </p:spPr>
      </p:pic>
      <p:pic>
        <p:nvPicPr>
          <p:cNvPr id="5" name="Imagen 4">
            <a:extLst>
              <a:ext uri="{FF2B5EF4-FFF2-40B4-BE49-F238E27FC236}">
                <a16:creationId xmlns:a16="http://schemas.microsoft.com/office/drawing/2014/main" id="{0DE1F373-4847-4D77-A310-72007B1966F5}"/>
              </a:ext>
            </a:extLst>
          </p:cNvPr>
          <p:cNvPicPr>
            <a:picLocks noChangeAspect="1"/>
          </p:cNvPicPr>
          <p:nvPr/>
        </p:nvPicPr>
        <p:blipFill>
          <a:blip r:embed="rId3"/>
          <a:stretch>
            <a:fillRect/>
          </a:stretch>
        </p:blipFill>
        <p:spPr>
          <a:xfrm>
            <a:off x="7737377" y="1822355"/>
            <a:ext cx="4168192" cy="3562350"/>
          </a:xfrm>
          <a:prstGeom prst="rect">
            <a:avLst/>
          </a:prstGeom>
        </p:spPr>
      </p:pic>
      <p:pic>
        <p:nvPicPr>
          <p:cNvPr id="7" name="Imagen 6">
            <a:extLst>
              <a:ext uri="{FF2B5EF4-FFF2-40B4-BE49-F238E27FC236}">
                <a16:creationId xmlns:a16="http://schemas.microsoft.com/office/drawing/2014/main" id="{40A1B536-3189-442F-B92B-7D46BD368FB2}"/>
              </a:ext>
            </a:extLst>
          </p:cNvPr>
          <p:cNvPicPr>
            <a:picLocks noChangeAspect="1"/>
          </p:cNvPicPr>
          <p:nvPr/>
        </p:nvPicPr>
        <p:blipFill>
          <a:blip r:embed="rId4"/>
          <a:stretch>
            <a:fillRect/>
          </a:stretch>
        </p:blipFill>
        <p:spPr>
          <a:xfrm>
            <a:off x="204377" y="5015208"/>
            <a:ext cx="7341601" cy="989024"/>
          </a:xfrm>
          <a:prstGeom prst="rect">
            <a:avLst/>
          </a:prstGeom>
        </p:spPr>
      </p:pic>
      <p:sp>
        <p:nvSpPr>
          <p:cNvPr id="9" name="CuadroTexto 8">
            <a:extLst>
              <a:ext uri="{FF2B5EF4-FFF2-40B4-BE49-F238E27FC236}">
                <a16:creationId xmlns:a16="http://schemas.microsoft.com/office/drawing/2014/main" id="{6B54870B-3159-40D4-9487-6FA8B6DE4FB6}"/>
              </a:ext>
            </a:extLst>
          </p:cNvPr>
          <p:cNvSpPr txBox="1"/>
          <p:nvPr/>
        </p:nvSpPr>
        <p:spPr>
          <a:xfrm>
            <a:off x="4403188" y="6415526"/>
            <a:ext cx="7788812" cy="338554"/>
          </a:xfrm>
          <a:prstGeom prst="rect">
            <a:avLst/>
          </a:prstGeom>
          <a:noFill/>
        </p:spPr>
        <p:txBody>
          <a:bodyPr wrap="square">
            <a:spAutoFit/>
          </a:bodyPr>
          <a:lstStyle/>
          <a:p>
            <a:r>
              <a:rPr lang="es-ES"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Fuente: Investigación de Operaciones  H. Taha - </a:t>
            </a:r>
            <a:r>
              <a:rPr lang="es-ES" sz="1600" dirty="0" err="1">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Edit</a:t>
            </a:r>
            <a:r>
              <a:rPr lang="es-ES"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Alfaomega, </a:t>
            </a:r>
            <a:r>
              <a:rPr lang="es-ES" sz="1600" dirty="0">
                <a:effectLst/>
                <a:latin typeface="Times New Roman" panose="02020603050405020304" pitchFamily="18" charset="0"/>
                <a:ea typeface="Arial" panose="020B0604020202020204" pitchFamily="34" charset="0"/>
                <a:cs typeface="Times New Roman" panose="02020603050405020304" pitchFamily="18" charset="0"/>
              </a:rPr>
              <a:t>2017</a:t>
            </a:r>
            <a:r>
              <a:rPr lang="es-ES" sz="1600" dirty="0">
                <a:solidFill>
                  <a:srgbClr val="000000"/>
                </a:solidFill>
                <a:effectLst/>
                <a:latin typeface="Times New Roman" panose="02020603050405020304" pitchFamily="18" charset="0"/>
                <a:ea typeface="Arial" panose="020B0604020202020204" pitchFamily="34" charset="0"/>
                <a:cs typeface="Times New Roman" panose="02020603050405020304" pitchFamily="18" charset="0"/>
              </a:rPr>
              <a:t>, </a:t>
            </a:r>
            <a:r>
              <a:rPr lang="es-ES" sz="1600" dirty="0">
                <a:effectLst/>
                <a:latin typeface="Times New Roman" panose="02020603050405020304" pitchFamily="18" charset="0"/>
                <a:ea typeface="Arial" panose="020B0604020202020204" pitchFamily="34" charset="0"/>
                <a:cs typeface="Times New Roman" panose="02020603050405020304" pitchFamily="18" charset="0"/>
              </a:rPr>
              <a:t>10° Edición</a:t>
            </a:r>
            <a:endParaRPr lang="es-CL" sz="1600" dirty="0">
              <a:latin typeface="Times New Roman" panose="02020603050405020304" pitchFamily="18" charset="0"/>
              <a:cs typeface="Times New Roman" panose="02020603050405020304" pitchFamily="18" charset="0"/>
            </a:endParaRPr>
          </a:p>
        </p:txBody>
      </p:sp>
      <p:sp>
        <p:nvSpPr>
          <p:cNvPr id="10" name="CuadroTexto 9">
            <a:extLst>
              <a:ext uri="{FF2B5EF4-FFF2-40B4-BE49-F238E27FC236}">
                <a16:creationId xmlns:a16="http://schemas.microsoft.com/office/drawing/2014/main" id="{E3DBCB32-DDB1-49E4-86C9-C926DD696CD2}"/>
              </a:ext>
            </a:extLst>
          </p:cNvPr>
          <p:cNvSpPr txBox="1"/>
          <p:nvPr/>
        </p:nvSpPr>
        <p:spPr>
          <a:xfrm rot="860854">
            <a:off x="9040188" y="701685"/>
            <a:ext cx="2569698" cy="1200329"/>
          </a:xfrm>
          <a:prstGeom prst="rect">
            <a:avLst/>
          </a:prstGeom>
          <a:noFill/>
        </p:spPr>
        <p:txBody>
          <a:bodyPr wrap="square" rtlCol="0">
            <a:spAutoFit/>
          </a:bodyPr>
          <a:lstStyle/>
          <a:p>
            <a:r>
              <a:rPr lang="es-ES" sz="1800" dirty="0">
                <a:solidFill>
                  <a:schemeClr val="accent3">
                    <a:lumMod val="75000"/>
                  </a:schemeClr>
                </a:solidFill>
                <a:effectLst/>
                <a:latin typeface="Arial" panose="020B0604020202020204" pitchFamily="34" charset="0"/>
                <a:ea typeface="Arial" panose="020B0604020202020204" pitchFamily="34" charset="0"/>
              </a:rPr>
              <a:t>De: Investigación de Operaciones  H. Taha - </a:t>
            </a:r>
            <a:r>
              <a:rPr lang="es-ES" sz="1800" dirty="0" err="1">
                <a:solidFill>
                  <a:schemeClr val="accent3">
                    <a:lumMod val="75000"/>
                  </a:schemeClr>
                </a:solidFill>
                <a:effectLst/>
                <a:latin typeface="Arial" panose="020B0604020202020204" pitchFamily="34" charset="0"/>
                <a:ea typeface="Arial" panose="020B0604020202020204" pitchFamily="34" charset="0"/>
              </a:rPr>
              <a:t>Edit</a:t>
            </a:r>
            <a:r>
              <a:rPr lang="es-ES" sz="1800" dirty="0">
                <a:solidFill>
                  <a:schemeClr val="accent3">
                    <a:lumMod val="75000"/>
                  </a:schemeClr>
                </a:solidFill>
                <a:effectLst/>
                <a:latin typeface="Arial" panose="020B0604020202020204" pitchFamily="34" charset="0"/>
                <a:ea typeface="Arial" panose="020B0604020202020204" pitchFamily="34" charset="0"/>
              </a:rPr>
              <a:t> Alfaomega, 2017, 10° Edición</a:t>
            </a:r>
            <a:endParaRPr lang="es-CL" dirty="0">
              <a:solidFill>
                <a:schemeClr val="accent3">
                  <a:lumMod val="75000"/>
                </a:schemeClr>
              </a:solidFill>
            </a:endParaRPr>
          </a:p>
        </p:txBody>
      </p:sp>
    </p:spTree>
    <p:extLst>
      <p:ext uri="{BB962C8B-B14F-4D97-AF65-F5344CB8AC3E}">
        <p14:creationId xmlns:p14="http://schemas.microsoft.com/office/powerpoint/2010/main" val="1334803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CL"/>
          </a:p>
        </p:txBody>
      </p:sp>
      <p:sp>
        <p:nvSpPr>
          <p:cNvPr id="3" name="Marcador de contenido 2"/>
          <p:cNvSpPr>
            <a:spLocks noGrp="1"/>
          </p:cNvSpPr>
          <p:nvPr>
            <p:ph idx="1"/>
          </p:nvPr>
        </p:nvSpPr>
        <p:spPr>
          <a:xfrm>
            <a:off x="3867911" y="465221"/>
            <a:ext cx="7615527" cy="2883621"/>
          </a:xfrm>
        </p:spPr>
        <p:txBody>
          <a:bodyPr>
            <a:noAutofit/>
          </a:bodyPr>
          <a:lstStyle/>
          <a:p>
            <a:pPr marL="0" indent="0">
              <a:buNone/>
            </a:pPr>
            <a:r>
              <a:rPr lang="es-CL" sz="3200" b="1" dirty="0">
                <a:solidFill>
                  <a:schemeClr val="tx1"/>
                </a:solidFill>
              </a:rPr>
              <a:t>1°</a:t>
            </a:r>
            <a:r>
              <a:rPr lang="es-CL" sz="2400" b="1" dirty="0">
                <a:solidFill>
                  <a:schemeClr val="tx1"/>
                </a:solidFill>
              </a:rPr>
              <a:t> Paso</a:t>
            </a:r>
            <a:r>
              <a:rPr lang="es-CL" sz="2400" dirty="0">
                <a:solidFill>
                  <a:schemeClr val="tx1"/>
                </a:solidFill>
              </a:rPr>
              <a:t>: convertir las </a:t>
            </a:r>
            <a:r>
              <a:rPr lang="es-CL" sz="2400" i="1" dirty="0">
                <a:solidFill>
                  <a:schemeClr val="tx1"/>
                </a:solidFill>
              </a:rPr>
              <a:t>restricciones funcionales de desigualdad </a:t>
            </a:r>
            <a:r>
              <a:rPr lang="es-CL" sz="2400" dirty="0">
                <a:solidFill>
                  <a:schemeClr val="tx1"/>
                </a:solidFill>
              </a:rPr>
              <a:t>en </a:t>
            </a:r>
            <a:r>
              <a:rPr lang="es-CL" sz="2400" i="1" dirty="0">
                <a:solidFill>
                  <a:schemeClr val="tx1"/>
                </a:solidFill>
              </a:rPr>
              <a:t>restricciones de igualdad equivalentes</a:t>
            </a:r>
            <a:r>
              <a:rPr lang="es-CL" sz="2400" dirty="0">
                <a:solidFill>
                  <a:schemeClr val="tx1"/>
                </a:solidFill>
              </a:rPr>
              <a:t>. (Las restricciones de no negatividad se dejan como desigualdades porque se manejan por separado.) Esta conversión se logra mediante la introducción de </a:t>
            </a:r>
            <a:r>
              <a:rPr lang="es-CL" sz="2400" b="1" dirty="0">
                <a:solidFill>
                  <a:schemeClr val="tx1"/>
                </a:solidFill>
              </a:rPr>
              <a:t>variables de holgura</a:t>
            </a:r>
            <a:r>
              <a:rPr lang="es-CL" sz="2400" dirty="0">
                <a:solidFill>
                  <a:schemeClr val="tx1"/>
                </a:solidFill>
              </a:rPr>
              <a:t>.</a:t>
            </a:r>
            <a:br>
              <a:rPr lang="es-CL" sz="2400" dirty="0"/>
            </a:br>
            <a:br>
              <a:rPr lang="es-CL" sz="2400" dirty="0">
                <a:solidFill>
                  <a:schemeClr val="tx1"/>
                </a:solidFill>
              </a:rPr>
            </a:br>
            <a:endParaRPr lang="es-CL" sz="2400" dirty="0">
              <a:solidFill>
                <a:schemeClr val="tx1"/>
              </a:solidFill>
            </a:endParaRPr>
          </a:p>
        </p:txBody>
      </p:sp>
      <p:sp>
        <p:nvSpPr>
          <p:cNvPr id="4" name="Marcador de texto 3"/>
          <p:cNvSpPr>
            <a:spLocks noGrp="1"/>
          </p:cNvSpPr>
          <p:nvPr>
            <p:ph type="body" sz="half" idx="2"/>
          </p:nvPr>
        </p:nvSpPr>
        <p:spPr/>
        <p:txBody>
          <a:bodyPr/>
          <a:lstStyle/>
          <a:p>
            <a:endParaRPr lang="es-CL"/>
          </a:p>
        </p:txBody>
      </p:sp>
      <p:pic>
        <p:nvPicPr>
          <p:cNvPr id="6" name="Imagen 5"/>
          <p:cNvPicPr>
            <a:picLocks noChangeAspect="1"/>
          </p:cNvPicPr>
          <p:nvPr/>
        </p:nvPicPr>
        <p:blipFill>
          <a:blip r:embed="rId2"/>
          <a:stretch>
            <a:fillRect/>
          </a:stretch>
        </p:blipFill>
        <p:spPr>
          <a:xfrm>
            <a:off x="3577054" y="2770274"/>
            <a:ext cx="8614946" cy="3769794"/>
          </a:xfrm>
          <a:prstGeom prst="rect">
            <a:avLst/>
          </a:prstGeom>
        </p:spPr>
      </p:pic>
    </p:spTree>
    <p:extLst>
      <p:ext uri="{BB962C8B-B14F-4D97-AF65-F5344CB8AC3E}">
        <p14:creationId xmlns:p14="http://schemas.microsoft.com/office/powerpoint/2010/main" val="15349915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4384781" y="2098909"/>
            <a:ext cx="6083619" cy="2983731"/>
          </a:xfrm>
          <a:prstGeom prst="rect">
            <a:avLst/>
          </a:prstGeom>
        </p:spPr>
      </p:pic>
      <p:sp>
        <p:nvSpPr>
          <p:cNvPr id="4" name="Rectángulo 3"/>
          <p:cNvSpPr/>
          <p:nvPr/>
        </p:nvSpPr>
        <p:spPr>
          <a:xfrm rot="21084342">
            <a:off x="195973" y="3564842"/>
            <a:ext cx="2947482" cy="1169551"/>
          </a:xfrm>
          <a:prstGeom prst="rect">
            <a:avLst/>
          </a:prstGeom>
          <a:solidFill>
            <a:schemeClr val="bg1"/>
          </a:solidFill>
          <a:ln>
            <a:solidFill>
              <a:schemeClr val="tx1"/>
            </a:solidFill>
          </a:ln>
        </p:spPr>
        <p:txBody>
          <a:bodyPr wrap="square">
            <a:spAutoFit/>
          </a:bodyPr>
          <a:lstStyle/>
          <a:p>
            <a:r>
              <a:rPr lang="es-CL" sz="1400" dirty="0">
                <a:solidFill>
                  <a:srgbClr val="000000"/>
                </a:solidFill>
                <a:latin typeface="TimesLTStd-Roman"/>
              </a:rPr>
              <a:t>En forma automática se sabe que las variables que no se enumeran en esta columna de </a:t>
            </a:r>
            <a:r>
              <a:rPr lang="es-CL" sz="1400" b="1" dirty="0">
                <a:solidFill>
                  <a:srgbClr val="000000"/>
                </a:solidFill>
                <a:latin typeface="TimesLTStd-Roman"/>
              </a:rPr>
              <a:t>variables básicas </a:t>
            </a:r>
            <a:r>
              <a:rPr lang="es-CL" sz="1400" dirty="0">
                <a:solidFill>
                  <a:srgbClr val="000000"/>
                </a:solidFill>
                <a:latin typeface="TimesLTStd-Roman"/>
              </a:rPr>
              <a:t>son </a:t>
            </a:r>
            <a:r>
              <a:rPr lang="es-CL" sz="1400" b="1" dirty="0">
                <a:solidFill>
                  <a:srgbClr val="000000"/>
                </a:solidFill>
                <a:latin typeface="TimesLTStd-Roman"/>
              </a:rPr>
              <a:t>variables no básicas</a:t>
            </a:r>
            <a:r>
              <a:rPr lang="es-CL" sz="1400" dirty="0">
                <a:solidFill>
                  <a:srgbClr val="000000"/>
                </a:solidFill>
                <a:latin typeface="TimesLTStd-Roman"/>
              </a:rPr>
              <a:t>. </a:t>
            </a:r>
          </a:p>
        </p:txBody>
      </p:sp>
      <p:sp>
        <p:nvSpPr>
          <p:cNvPr id="6" name="Rectángulo 5"/>
          <p:cNvSpPr/>
          <p:nvPr/>
        </p:nvSpPr>
        <p:spPr>
          <a:xfrm>
            <a:off x="3570225" y="611911"/>
            <a:ext cx="8031967" cy="1446550"/>
          </a:xfrm>
          <a:prstGeom prst="rect">
            <a:avLst/>
          </a:prstGeom>
        </p:spPr>
        <p:txBody>
          <a:bodyPr wrap="square">
            <a:spAutoFit/>
          </a:bodyPr>
          <a:lstStyle/>
          <a:p>
            <a:r>
              <a:rPr lang="es-CL" sz="2800" b="1" dirty="0"/>
              <a:t>2° </a:t>
            </a:r>
            <a:r>
              <a:rPr lang="es-CL" sz="2000" b="1" dirty="0"/>
              <a:t>Paso</a:t>
            </a:r>
            <a:r>
              <a:rPr lang="es-CL" sz="2000" dirty="0"/>
              <a:t>: completar la tabla simplex. Se seleccionan las variables de decisión como las </a:t>
            </a:r>
            <a:r>
              <a:rPr lang="es-CL" sz="2000" b="1" dirty="0"/>
              <a:t>variables no básicas </a:t>
            </a:r>
            <a:r>
              <a:rPr lang="es-CL" sz="2000" dirty="0"/>
              <a:t>iniciales</a:t>
            </a:r>
            <a:r>
              <a:rPr lang="es-CL" sz="2000" b="1" dirty="0"/>
              <a:t> </a:t>
            </a:r>
            <a:r>
              <a:rPr lang="es-CL" sz="2000" dirty="0"/>
              <a:t>y las variables de holgura como las </a:t>
            </a:r>
            <a:r>
              <a:rPr lang="es-CL" sz="2000" b="1" dirty="0"/>
              <a:t>variables básicas </a:t>
            </a:r>
            <a:r>
              <a:rPr lang="es-CL" sz="2000" dirty="0"/>
              <a:t>iniciales. </a:t>
            </a:r>
          </a:p>
          <a:p>
            <a:endParaRPr lang="es-CL" sz="2000" dirty="0"/>
          </a:p>
        </p:txBody>
      </p:sp>
      <p:cxnSp>
        <p:nvCxnSpPr>
          <p:cNvPr id="13" name="Conector curvado 12"/>
          <p:cNvCxnSpPr>
            <a:stCxn id="4" idx="3"/>
            <a:endCxn id="17" idx="3"/>
          </p:cNvCxnSpPr>
          <p:nvPr/>
        </p:nvCxnSpPr>
        <p:spPr>
          <a:xfrm flipV="1">
            <a:off x="3126907" y="3251979"/>
            <a:ext cx="929293" cy="677408"/>
          </a:xfrm>
          <a:prstGeom prst="curvedConnector2">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4" name="Rectángulo 13"/>
          <p:cNvSpPr/>
          <p:nvPr/>
        </p:nvSpPr>
        <p:spPr>
          <a:xfrm>
            <a:off x="125134" y="1046979"/>
            <a:ext cx="3245007" cy="2246769"/>
          </a:xfrm>
          <a:prstGeom prst="rect">
            <a:avLst/>
          </a:prstGeom>
        </p:spPr>
        <p:txBody>
          <a:bodyPr wrap="square">
            <a:spAutoFit/>
          </a:bodyPr>
          <a:lstStyle/>
          <a:p>
            <a:r>
              <a:rPr lang="es-CL" sz="2000" dirty="0">
                <a:solidFill>
                  <a:schemeClr val="bg1"/>
                </a:solidFill>
              </a:rPr>
              <a:t>La tabla simplex registra sólo la información esencial: 1) los coeficientes de las variables, 2) las constantes del lado derecho de las ecuaciones y 3) la variable básica que aparece en cada ecuación </a:t>
            </a:r>
          </a:p>
        </p:txBody>
      </p:sp>
      <p:sp>
        <p:nvSpPr>
          <p:cNvPr id="15" name="Elipse 14"/>
          <p:cNvSpPr/>
          <p:nvPr/>
        </p:nvSpPr>
        <p:spPr>
          <a:xfrm>
            <a:off x="6412675" y="2636323"/>
            <a:ext cx="308759" cy="3249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2800" b="1" dirty="0"/>
              <a:t>1</a:t>
            </a:r>
          </a:p>
        </p:txBody>
      </p:sp>
      <p:sp>
        <p:nvSpPr>
          <p:cNvPr id="16" name="Elipse 15"/>
          <p:cNvSpPr/>
          <p:nvPr/>
        </p:nvSpPr>
        <p:spPr>
          <a:xfrm>
            <a:off x="10314020" y="2874316"/>
            <a:ext cx="308759" cy="3249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2800" b="1" dirty="0"/>
              <a:t>2</a:t>
            </a:r>
          </a:p>
        </p:txBody>
      </p:sp>
      <p:sp>
        <p:nvSpPr>
          <p:cNvPr id="17" name="Elipse 16"/>
          <p:cNvSpPr/>
          <p:nvPr/>
        </p:nvSpPr>
        <p:spPr>
          <a:xfrm>
            <a:off x="4010983" y="2974645"/>
            <a:ext cx="308759" cy="32491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CL" sz="2000" b="1" dirty="0"/>
              <a:t>3</a:t>
            </a:r>
          </a:p>
        </p:txBody>
      </p:sp>
      <p:sp>
        <p:nvSpPr>
          <p:cNvPr id="20" name="Rectángulo 19"/>
          <p:cNvSpPr/>
          <p:nvPr/>
        </p:nvSpPr>
        <p:spPr>
          <a:xfrm rot="377704">
            <a:off x="8403111" y="5313719"/>
            <a:ext cx="2584212" cy="1169551"/>
          </a:xfrm>
          <a:prstGeom prst="rect">
            <a:avLst/>
          </a:prstGeom>
          <a:solidFill>
            <a:schemeClr val="bg1"/>
          </a:solidFill>
          <a:ln>
            <a:solidFill>
              <a:schemeClr val="accent1"/>
            </a:solidFill>
          </a:ln>
        </p:spPr>
        <p:txBody>
          <a:bodyPr wrap="square">
            <a:spAutoFit/>
          </a:bodyPr>
          <a:lstStyle/>
          <a:p>
            <a:r>
              <a:rPr lang="es-CL" sz="1400" b="1" dirty="0">
                <a:solidFill>
                  <a:srgbClr val="000000"/>
                </a:solidFill>
                <a:latin typeface="TimesLTStd-Bold"/>
              </a:rPr>
              <a:t>renglón </a:t>
            </a:r>
            <a:r>
              <a:rPr lang="es-CL" sz="1400" dirty="0">
                <a:solidFill>
                  <a:srgbClr val="000000"/>
                </a:solidFill>
                <a:latin typeface="TimesLTStd-Roman"/>
              </a:rPr>
              <a:t>se refiere a una fila horizontal de números a la derecha de la columna </a:t>
            </a:r>
            <a:r>
              <a:rPr lang="es-CL" sz="1400" i="1" dirty="0">
                <a:solidFill>
                  <a:srgbClr val="000000"/>
                </a:solidFill>
                <a:latin typeface="TimesLTStd-Italic"/>
              </a:rPr>
              <a:t>Z </a:t>
            </a:r>
            <a:r>
              <a:rPr lang="es-CL" sz="1400" dirty="0">
                <a:solidFill>
                  <a:srgbClr val="000000"/>
                </a:solidFill>
                <a:latin typeface="TimesLTStd-Roman"/>
              </a:rPr>
              <a:t>, donde el renglón </a:t>
            </a:r>
            <a:r>
              <a:rPr lang="es-CL" sz="1400" i="1" dirty="0">
                <a:solidFill>
                  <a:srgbClr val="000000"/>
                </a:solidFill>
                <a:latin typeface="TimesLTStd-Italic"/>
              </a:rPr>
              <a:t>i </a:t>
            </a:r>
            <a:r>
              <a:rPr lang="es-CL" sz="1400" dirty="0">
                <a:solidFill>
                  <a:srgbClr val="000000"/>
                </a:solidFill>
                <a:latin typeface="TimesLTStd-Roman"/>
              </a:rPr>
              <a:t>corresponde a la ecuación (</a:t>
            </a:r>
            <a:r>
              <a:rPr lang="es-CL" sz="1400" i="1" dirty="0">
                <a:solidFill>
                  <a:srgbClr val="000000"/>
                </a:solidFill>
                <a:latin typeface="TimesLTStd-Italic"/>
              </a:rPr>
              <a:t>i</a:t>
            </a:r>
            <a:r>
              <a:rPr lang="es-CL" sz="1400" dirty="0">
                <a:solidFill>
                  <a:srgbClr val="000000"/>
                </a:solidFill>
                <a:latin typeface="TimesLTStd-Roman"/>
              </a:rPr>
              <a:t>)</a:t>
            </a:r>
            <a:r>
              <a:rPr lang="es-CL" sz="1400" dirty="0"/>
              <a:t> </a:t>
            </a:r>
          </a:p>
        </p:txBody>
      </p:sp>
      <p:pic>
        <p:nvPicPr>
          <p:cNvPr id="2" name="Imagen 1"/>
          <p:cNvPicPr>
            <a:picLocks noChangeAspect="1"/>
          </p:cNvPicPr>
          <p:nvPr/>
        </p:nvPicPr>
        <p:blipFill>
          <a:blip r:embed="rId3"/>
          <a:stretch>
            <a:fillRect/>
          </a:stretch>
        </p:blipFill>
        <p:spPr>
          <a:xfrm>
            <a:off x="162262" y="5225393"/>
            <a:ext cx="3170750" cy="1419509"/>
          </a:xfrm>
          <a:prstGeom prst="rect">
            <a:avLst/>
          </a:prstGeom>
          <a:ln>
            <a:solidFill>
              <a:srgbClr val="00B0F0"/>
            </a:solidFill>
          </a:ln>
        </p:spPr>
      </p:pic>
    </p:spTree>
    <p:extLst>
      <p:ext uri="{BB962C8B-B14F-4D97-AF65-F5344CB8AC3E}">
        <p14:creationId xmlns:p14="http://schemas.microsoft.com/office/powerpoint/2010/main" val="42616157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574465" y="83125"/>
            <a:ext cx="8609611" cy="3600986"/>
          </a:xfrm>
          <a:prstGeom prst="rect">
            <a:avLst/>
          </a:prstGeom>
          <a:solidFill>
            <a:schemeClr val="bg1"/>
          </a:solidFill>
          <a:ln>
            <a:solidFill>
              <a:schemeClr val="accent1"/>
            </a:solidFill>
          </a:ln>
        </p:spPr>
        <p:txBody>
          <a:bodyPr wrap="square">
            <a:spAutoFit/>
          </a:bodyPr>
          <a:lstStyle/>
          <a:p>
            <a:r>
              <a:rPr lang="es-CL" sz="2400" b="1" dirty="0"/>
              <a:t>3° </a:t>
            </a:r>
            <a:r>
              <a:rPr lang="es-CL" b="1" dirty="0"/>
              <a:t>Paso</a:t>
            </a:r>
            <a:r>
              <a:rPr lang="es-CL" dirty="0"/>
              <a:t>: Prueba de </a:t>
            </a:r>
            <a:r>
              <a:rPr lang="es-CL" dirty="0" err="1"/>
              <a:t>optimalidad</a:t>
            </a:r>
            <a:r>
              <a:rPr lang="es-CL" dirty="0"/>
              <a:t>.</a:t>
            </a:r>
          </a:p>
          <a:p>
            <a:r>
              <a:rPr lang="es-CL" dirty="0"/>
              <a:t>La solución BF es </a:t>
            </a:r>
            <a:r>
              <a:rPr lang="es-CL" b="1" dirty="0"/>
              <a:t>óptima</a:t>
            </a:r>
            <a:r>
              <a:rPr lang="es-CL" dirty="0"/>
              <a:t> si y sólo si todos los coeficientes del renglón (</a:t>
            </a:r>
            <a:r>
              <a:rPr lang="es-CL" dirty="0">
                <a:latin typeface="Arial" panose="020B0604020202020204" pitchFamily="34" charset="0"/>
                <a:cs typeface="Arial" panose="020B0604020202020204" pitchFamily="34" charset="0"/>
              </a:rPr>
              <a:t>0</a:t>
            </a:r>
            <a:r>
              <a:rPr lang="es-CL" dirty="0"/>
              <a:t>) son no negativos. Si es así, el proceso se detiene; de otra manera, sigue a una iteración.</a:t>
            </a:r>
          </a:p>
          <a:p>
            <a:endParaRPr lang="es-CL" dirty="0"/>
          </a:p>
          <a:p>
            <a:r>
              <a:rPr lang="es-CL" sz="2400" b="1" dirty="0"/>
              <a:t>4° </a:t>
            </a:r>
            <a:r>
              <a:rPr lang="es-CL" b="1" dirty="0"/>
              <a:t>Paso</a:t>
            </a:r>
            <a:r>
              <a:rPr lang="es-CL" dirty="0"/>
              <a:t>: Iteración</a:t>
            </a:r>
          </a:p>
          <a:p>
            <a:pPr marL="712788" indent="-712788"/>
            <a:r>
              <a:rPr lang="es-CL" i="1" dirty="0"/>
              <a:t>Paso 1</a:t>
            </a:r>
            <a:r>
              <a:rPr lang="es-CL" dirty="0"/>
              <a:t>: Se determina la variable básica entrante con la selección de la variable (que de modo automático es no básica) con el coeficiente negativo que tiene el mayor valor absoluto de la ecuación (</a:t>
            </a:r>
            <a:r>
              <a:rPr lang="es-CL" dirty="0">
                <a:latin typeface="Book Antiqua" panose="02040602050305030304" pitchFamily="18" charset="0"/>
              </a:rPr>
              <a:t>0</a:t>
            </a:r>
            <a:r>
              <a:rPr lang="es-CL" dirty="0"/>
              <a:t>). Se pone un recuadro alrededor de la columna abajo de este coeficiente y se le da el nombre de </a:t>
            </a:r>
            <a:r>
              <a:rPr lang="es-CL" b="1" dirty="0"/>
              <a:t>columna pivote</a:t>
            </a:r>
            <a:r>
              <a:rPr lang="es-CL" dirty="0"/>
              <a:t>.</a:t>
            </a:r>
          </a:p>
          <a:p>
            <a:pPr marL="712788" indent="-712788"/>
            <a:r>
              <a:rPr lang="es-CL" i="1" dirty="0"/>
              <a:t>Paso 2</a:t>
            </a:r>
            <a:r>
              <a:rPr lang="es-CL" dirty="0"/>
              <a:t>: Se determina la </a:t>
            </a:r>
            <a:r>
              <a:rPr lang="es-CL" i="1" dirty="0"/>
              <a:t>variable básica que sale </a:t>
            </a:r>
            <a:r>
              <a:rPr lang="es-CL" dirty="0"/>
              <a:t>con la prueba del </a:t>
            </a:r>
            <a:r>
              <a:rPr lang="es-CL" dirty="0">
                <a:solidFill>
                  <a:srgbClr val="C00000"/>
                </a:solidFill>
              </a:rPr>
              <a:t>cociente mínimo</a:t>
            </a:r>
            <a:r>
              <a:rPr lang="es-CL" dirty="0"/>
              <a:t>. Ponga un recuadro en este renglón que se llama </a:t>
            </a:r>
            <a:r>
              <a:rPr lang="es-CL" b="1" dirty="0"/>
              <a:t>renglón pivote</a:t>
            </a:r>
            <a:r>
              <a:rPr lang="es-CL" dirty="0"/>
              <a:t>. El número que se encuentra en </a:t>
            </a:r>
            <a:r>
              <a:rPr lang="es-CL" i="1" dirty="0"/>
              <a:t>ambos </a:t>
            </a:r>
            <a:r>
              <a:rPr lang="es-CL" dirty="0"/>
              <a:t>recuadros se llama </a:t>
            </a:r>
            <a:r>
              <a:rPr lang="es-CL" b="1" dirty="0"/>
              <a:t>número pivote</a:t>
            </a:r>
            <a:r>
              <a:rPr lang="es-CL" dirty="0"/>
              <a:t>. </a:t>
            </a:r>
          </a:p>
        </p:txBody>
      </p:sp>
      <p:sp>
        <p:nvSpPr>
          <p:cNvPr id="4" name="Rectángulo 3"/>
          <p:cNvSpPr/>
          <p:nvPr/>
        </p:nvSpPr>
        <p:spPr>
          <a:xfrm>
            <a:off x="209798" y="1388331"/>
            <a:ext cx="3103417" cy="4031873"/>
          </a:xfrm>
          <a:prstGeom prst="rect">
            <a:avLst/>
          </a:prstGeom>
        </p:spPr>
        <p:txBody>
          <a:bodyPr wrap="square">
            <a:spAutoFit/>
          </a:bodyPr>
          <a:lstStyle/>
          <a:p>
            <a:r>
              <a:rPr lang="es-CL" sz="1600" b="1" dirty="0">
                <a:solidFill>
                  <a:srgbClr val="000000"/>
                </a:solidFill>
                <a:latin typeface="TimesLTStd-Bold"/>
              </a:rPr>
              <a:t>Prueba del </a:t>
            </a:r>
            <a:r>
              <a:rPr lang="es-CL" sz="1600" b="1" dirty="0">
                <a:solidFill>
                  <a:srgbClr val="C00000"/>
                </a:solidFill>
                <a:latin typeface="TimesLTStd-Bold"/>
              </a:rPr>
              <a:t>cociente mínimo</a:t>
            </a:r>
            <a:br>
              <a:rPr lang="es-CL" sz="1600" b="1" dirty="0">
                <a:solidFill>
                  <a:srgbClr val="000000"/>
                </a:solidFill>
                <a:latin typeface="TimesLTStd-Bold"/>
              </a:rPr>
            </a:br>
            <a:r>
              <a:rPr lang="es-CL" sz="1600" b="1" dirty="0">
                <a:solidFill>
                  <a:srgbClr val="000000"/>
                </a:solidFill>
                <a:latin typeface="TimesLTStd-Bold"/>
              </a:rPr>
              <a:t>1. </a:t>
            </a:r>
            <a:r>
              <a:rPr lang="es-CL" sz="1600" dirty="0">
                <a:solidFill>
                  <a:srgbClr val="000000"/>
                </a:solidFill>
                <a:latin typeface="TimesLTStd-Roman"/>
              </a:rPr>
              <a:t>Elija los coeficientes estrictamente positivos (</a:t>
            </a:r>
            <a:r>
              <a:rPr lang="es-CL" sz="1600" dirty="0">
                <a:solidFill>
                  <a:srgbClr val="000000"/>
                </a:solidFill>
                <a:latin typeface="MathematicalPiLTStd-1"/>
              </a:rPr>
              <a:t>&gt;</a:t>
            </a:r>
            <a:r>
              <a:rPr lang="es-CL" sz="1600" dirty="0">
                <a:solidFill>
                  <a:srgbClr val="000000"/>
                </a:solidFill>
                <a:latin typeface="TimesLTStd-Roman"/>
              </a:rPr>
              <a:t>0) de la columna pivote.</a:t>
            </a:r>
            <a:br>
              <a:rPr lang="es-CL" sz="1600" dirty="0">
                <a:solidFill>
                  <a:srgbClr val="000000"/>
                </a:solidFill>
                <a:latin typeface="TimesLTStd-Roman"/>
              </a:rPr>
            </a:br>
            <a:r>
              <a:rPr lang="es-CL" sz="1600" b="1" dirty="0">
                <a:solidFill>
                  <a:srgbClr val="000000"/>
                </a:solidFill>
                <a:latin typeface="TimesLTStd-Bold"/>
              </a:rPr>
              <a:t>2. </a:t>
            </a:r>
            <a:r>
              <a:rPr lang="es-CL" sz="1600" dirty="0">
                <a:solidFill>
                  <a:srgbClr val="000000"/>
                </a:solidFill>
                <a:latin typeface="TimesLTStd-Roman"/>
              </a:rPr>
              <a:t>Divida el elemento del </a:t>
            </a:r>
            <a:r>
              <a:rPr lang="es-CL" sz="1600" i="1" dirty="0">
                <a:solidFill>
                  <a:srgbClr val="000000"/>
                </a:solidFill>
                <a:latin typeface="TimesLTStd-Italic"/>
              </a:rPr>
              <a:t>lado derecho </a:t>
            </a:r>
            <a:r>
              <a:rPr lang="es-CL" sz="1600" dirty="0">
                <a:solidFill>
                  <a:srgbClr val="000000"/>
                </a:solidFill>
                <a:latin typeface="TimesLTStd-Roman"/>
              </a:rPr>
              <a:t>del mismo renglón entre dicho coeficiente.</a:t>
            </a:r>
            <a:br>
              <a:rPr lang="es-CL" sz="1600" dirty="0">
                <a:solidFill>
                  <a:srgbClr val="000000"/>
                </a:solidFill>
                <a:latin typeface="TimesLTStd-Roman"/>
              </a:rPr>
            </a:br>
            <a:r>
              <a:rPr lang="es-CL" sz="1600" b="1" dirty="0">
                <a:solidFill>
                  <a:srgbClr val="000000"/>
                </a:solidFill>
                <a:latin typeface="TimesLTStd-Bold"/>
              </a:rPr>
              <a:t>3. </a:t>
            </a:r>
            <a:r>
              <a:rPr lang="es-CL" sz="1600" dirty="0">
                <a:solidFill>
                  <a:srgbClr val="000000"/>
                </a:solidFill>
                <a:latin typeface="TimesLTStd-Roman"/>
              </a:rPr>
              <a:t>Identifique el renglón que tiene el </a:t>
            </a:r>
            <a:r>
              <a:rPr lang="es-CL" sz="1600" i="1" dirty="0">
                <a:solidFill>
                  <a:srgbClr val="000000"/>
                </a:solidFill>
                <a:latin typeface="TimesLTStd-Italic"/>
              </a:rPr>
              <a:t>menor </a:t>
            </a:r>
            <a:r>
              <a:rPr lang="es-CL" sz="1600" dirty="0">
                <a:solidFill>
                  <a:srgbClr val="000000"/>
                </a:solidFill>
                <a:latin typeface="TimesLTStd-Roman"/>
              </a:rPr>
              <a:t>de estos cocientes.</a:t>
            </a:r>
            <a:br>
              <a:rPr lang="es-CL" sz="1600" dirty="0">
                <a:solidFill>
                  <a:srgbClr val="000000"/>
                </a:solidFill>
                <a:latin typeface="TimesLTStd-Roman"/>
              </a:rPr>
            </a:br>
            <a:r>
              <a:rPr lang="es-CL" sz="1600" b="1" dirty="0">
                <a:solidFill>
                  <a:srgbClr val="000000"/>
                </a:solidFill>
                <a:latin typeface="TimesLTStd-Bold"/>
              </a:rPr>
              <a:t>4. </a:t>
            </a:r>
            <a:r>
              <a:rPr lang="es-CL" sz="1600" dirty="0">
                <a:solidFill>
                  <a:srgbClr val="000000"/>
                </a:solidFill>
                <a:latin typeface="TimesLTStd-Roman"/>
              </a:rPr>
              <a:t>La variable básica de ese renglón es la variable básica que sale; sustitúyala con la variable básica entrante en la columna de la variable básica de la siguiente tabla.</a:t>
            </a:r>
            <a:r>
              <a:rPr lang="es-CL" sz="1600" dirty="0"/>
              <a:t> </a:t>
            </a:r>
          </a:p>
        </p:txBody>
      </p:sp>
      <p:sp>
        <p:nvSpPr>
          <p:cNvPr id="5" name="Rectángulo 4"/>
          <p:cNvSpPr/>
          <p:nvPr/>
        </p:nvSpPr>
        <p:spPr>
          <a:xfrm>
            <a:off x="104898" y="6388131"/>
            <a:ext cx="3313215" cy="369332"/>
          </a:xfrm>
          <a:prstGeom prst="rect">
            <a:avLst/>
          </a:prstGeom>
        </p:spPr>
        <p:txBody>
          <a:bodyPr wrap="square">
            <a:spAutoFit/>
          </a:bodyPr>
          <a:lstStyle/>
          <a:p>
            <a:r>
              <a:rPr lang="es-CL" b="1" dirty="0">
                <a:solidFill>
                  <a:srgbClr val="000000"/>
                </a:solidFill>
                <a:latin typeface="TimesLTStd-Bold"/>
              </a:rPr>
              <a:t>solución básica factible (BF)</a:t>
            </a:r>
            <a:r>
              <a:rPr lang="es-CL" dirty="0"/>
              <a:t> </a:t>
            </a:r>
          </a:p>
        </p:txBody>
      </p:sp>
      <p:pic>
        <p:nvPicPr>
          <p:cNvPr id="9" name="Imagen 8"/>
          <p:cNvPicPr>
            <a:picLocks noChangeAspect="1"/>
          </p:cNvPicPr>
          <p:nvPr/>
        </p:nvPicPr>
        <p:blipFill>
          <a:blip r:embed="rId2"/>
          <a:stretch>
            <a:fillRect/>
          </a:stretch>
        </p:blipFill>
        <p:spPr>
          <a:xfrm>
            <a:off x="3701451" y="3856697"/>
            <a:ext cx="7890662" cy="2270971"/>
          </a:xfrm>
          <a:prstGeom prst="rect">
            <a:avLst/>
          </a:prstGeom>
        </p:spPr>
      </p:pic>
      <p:sp>
        <p:nvSpPr>
          <p:cNvPr id="10" name="Rectángulo 9"/>
          <p:cNvSpPr/>
          <p:nvPr/>
        </p:nvSpPr>
        <p:spPr>
          <a:xfrm>
            <a:off x="7433953" y="5467704"/>
            <a:ext cx="285008" cy="29182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1" name="CuadroTexto 10"/>
          <p:cNvSpPr txBox="1"/>
          <p:nvPr/>
        </p:nvSpPr>
        <p:spPr>
          <a:xfrm>
            <a:off x="8063346" y="6211669"/>
            <a:ext cx="1619354" cy="369332"/>
          </a:xfrm>
          <a:prstGeom prst="rect">
            <a:avLst/>
          </a:prstGeom>
          <a:noFill/>
        </p:spPr>
        <p:txBody>
          <a:bodyPr wrap="none" rtlCol="0">
            <a:spAutoFit/>
          </a:bodyPr>
          <a:lstStyle/>
          <a:p>
            <a:r>
              <a:rPr lang="es-CL" dirty="0">
                <a:solidFill>
                  <a:schemeClr val="accent6"/>
                </a:solidFill>
              </a:rPr>
              <a:t>Numero pivote</a:t>
            </a:r>
          </a:p>
        </p:txBody>
      </p:sp>
      <p:cxnSp>
        <p:nvCxnSpPr>
          <p:cNvPr id="13" name="Conector curvado 12"/>
          <p:cNvCxnSpPr>
            <a:stCxn id="11" idx="1"/>
            <a:endCxn id="10" idx="3"/>
          </p:cNvCxnSpPr>
          <p:nvPr/>
        </p:nvCxnSpPr>
        <p:spPr>
          <a:xfrm rot="10800000">
            <a:off x="7718962" y="5613619"/>
            <a:ext cx="344385" cy="782717"/>
          </a:xfrm>
          <a:prstGeom prst="curved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45233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3523408" y="3681559"/>
            <a:ext cx="8063346" cy="3139321"/>
          </a:xfrm>
          <a:prstGeom prst="rect">
            <a:avLst/>
          </a:prstGeom>
          <a:solidFill>
            <a:schemeClr val="bg1"/>
          </a:solidFill>
          <a:ln>
            <a:solidFill>
              <a:schemeClr val="accent1"/>
            </a:solidFill>
          </a:ln>
        </p:spPr>
        <p:txBody>
          <a:bodyPr wrap="square">
            <a:spAutoFit/>
          </a:bodyPr>
          <a:lstStyle/>
          <a:p>
            <a:pPr marL="712788" indent="-712788"/>
            <a:r>
              <a:rPr lang="es-CL" i="1" dirty="0"/>
              <a:t>Paso 3</a:t>
            </a:r>
            <a:r>
              <a:rPr lang="es-CL" dirty="0"/>
              <a:t>: Se despeja la </a:t>
            </a:r>
            <a:r>
              <a:rPr lang="es-CL" i="1" dirty="0"/>
              <a:t>nueva solución BF </a:t>
            </a:r>
            <a:r>
              <a:rPr lang="es-CL" dirty="0"/>
              <a:t>mediante </a:t>
            </a:r>
            <a:r>
              <a:rPr lang="es-CL" b="1" dirty="0"/>
              <a:t>operaciones elementales con renglones</a:t>
            </a:r>
            <a:r>
              <a:rPr lang="es-CL" dirty="0"/>
              <a:t>, y después se regresa a la prueba de </a:t>
            </a:r>
            <a:r>
              <a:rPr lang="es-CL" dirty="0" err="1"/>
              <a:t>optimalidad</a:t>
            </a:r>
            <a:r>
              <a:rPr lang="es-CL" dirty="0"/>
              <a:t>.</a:t>
            </a:r>
            <a:br>
              <a:rPr lang="es-CL" dirty="0"/>
            </a:br>
            <a:r>
              <a:rPr lang="es-CL" dirty="0"/>
              <a:t>Las operaciones elementales con renglones que deben realizarse son:</a:t>
            </a:r>
          </a:p>
          <a:p>
            <a:pPr marL="1257300" lvl="2" indent="-342900">
              <a:buFont typeface="+mj-lt"/>
              <a:buAutoNum type="arabicPeriod"/>
            </a:pPr>
            <a:r>
              <a:rPr lang="es-CL" dirty="0"/>
              <a:t>Divida el renglón pivote entre el número pivote. Use este </a:t>
            </a:r>
            <a:r>
              <a:rPr lang="es-CL" i="1" dirty="0"/>
              <a:t>nuevo </a:t>
            </a:r>
            <a:r>
              <a:rPr lang="es-CL" dirty="0"/>
              <a:t>renglón pivote en los pasos 2 y 3.</a:t>
            </a:r>
          </a:p>
          <a:p>
            <a:pPr marL="1257300" lvl="2" indent="-342900">
              <a:buFont typeface="+mj-lt"/>
              <a:buAutoNum type="arabicPeriod"/>
            </a:pPr>
            <a:r>
              <a:rPr lang="es-CL" dirty="0"/>
              <a:t>En los renglones (incluso el renglón </a:t>
            </a:r>
            <a:r>
              <a:rPr lang="es-CL" dirty="0">
                <a:latin typeface="Book Antiqua" panose="02040602050305030304" pitchFamily="18" charset="0"/>
              </a:rPr>
              <a:t>0</a:t>
            </a:r>
            <a:r>
              <a:rPr lang="es-CL" dirty="0"/>
              <a:t>) que tienen un coeficiente </a:t>
            </a:r>
            <a:r>
              <a:rPr lang="es-CL" i="1" dirty="0"/>
              <a:t>negativo </a:t>
            </a:r>
            <a:r>
              <a:rPr lang="es-CL" dirty="0"/>
              <a:t>en la columna pivote, se </a:t>
            </a:r>
            <a:r>
              <a:rPr lang="es-CL" i="1" dirty="0"/>
              <a:t>suma </a:t>
            </a:r>
            <a:r>
              <a:rPr lang="es-CL" dirty="0"/>
              <a:t>a este renglón el </a:t>
            </a:r>
            <a:r>
              <a:rPr lang="es-CL" i="1" dirty="0"/>
              <a:t>producto </a:t>
            </a:r>
            <a:r>
              <a:rPr lang="es-CL" dirty="0"/>
              <a:t>del valor absoluto de este coeficiente por el nuevo renglón pivote.</a:t>
            </a:r>
          </a:p>
          <a:p>
            <a:pPr marL="1257300" lvl="2" indent="-342900">
              <a:buFont typeface="+mj-lt"/>
              <a:buAutoNum type="arabicPeriod"/>
            </a:pPr>
            <a:r>
              <a:rPr lang="es-CL" dirty="0"/>
              <a:t>En el caso de los renglones que tienen un coeficiente </a:t>
            </a:r>
            <a:r>
              <a:rPr lang="es-CL" i="1" dirty="0"/>
              <a:t>positivo </a:t>
            </a:r>
            <a:r>
              <a:rPr lang="es-CL" dirty="0"/>
              <a:t>en la columna pivote, se les </a:t>
            </a:r>
            <a:r>
              <a:rPr lang="es-CL" i="1" dirty="0"/>
              <a:t>resta </a:t>
            </a:r>
            <a:r>
              <a:rPr lang="es-CL" dirty="0"/>
              <a:t>a este renglón el </a:t>
            </a:r>
            <a:r>
              <a:rPr lang="es-CL" i="1" dirty="0"/>
              <a:t>producto </a:t>
            </a:r>
            <a:r>
              <a:rPr lang="es-CL" dirty="0"/>
              <a:t>de este coeficiente por el nuevo renglón pivote. </a:t>
            </a:r>
          </a:p>
        </p:txBody>
      </p:sp>
      <p:sp>
        <p:nvSpPr>
          <p:cNvPr id="4" name="Rectángulo 3"/>
          <p:cNvSpPr/>
          <p:nvPr/>
        </p:nvSpPr>
        <p:spPr>
          <a:xfrm>
            <a:off x="209798" y="1388331"/>
            <a:ext cx="3103417" cy="4031873"/>
          </a:xfrm>
          <a:prstGeom prst="rect">
            <a:avLst/>
          </a:prstGeom>
        </p:spPr>
        <p:txBody>
          <a:bodyPr wrap="square">
            <a:spAutoFit/>
          </a:bodyPr>
          <a:lstStyle/>
          <a:p>
            <a:r>
              <a:rPr lang="es-CL" sz="1600" b="1" dirty="0">
                <a:solidFill>
                  <a:srgbClr val="000000"/>
                </a:solidFill>
                <a:latin typeface="TimesLTStd-Bold"/>
              </a:rPr>
              <a:t>Prueba del </a:t>
            </a:r>
            <a:r>
              <a:rPr lang="es-CL" sz="1600" b="1" dirty="0">
                <a:solidFill>
                  <a:srgbClr val="C00000"/>
                </a:solidFill>
                <a:latin typeface="TimesLTStd-Bold"/>
              </a:rPr>
              <a:t>cociente mínimo</a:t>
            </a:r>
            <a:br>
              <a:rPr lang="es-CL" sz="1600" b="1" dirty="0">
                <a:solidFill>
                  <a:srgbClr val="000000"/>
                </a:solidFill>
                <a:latin typeface="TimesLTStd-Bold"/>
              </a:rPr>
            </a:br>
            <a:r>
              <a:rPr lang="es-CL" sz="1600" b="1" dirty="0">
                <a:solidFill>
                  <a:srgbClr val="000000"/>
                </a:solidFill>
                <a:latin typeface="TimesLTStd-Bold"/>
              </a:rPr>
              <a:t>1. </a:t>
            </a:r>
            <a:r>
              <a:rPr lang="es-CL" sz="1600" dirty="0">
                <a:solidFill>
                  <a:srgbClr val="000000"/>
                </a:solidFill>
                <a:latin typeface="TimesLTStd-Roman"/>
              </a:rPr>
              <a:t>Elija los coeficientes estrictamente positivos (&gt;0) de la columna pivote.</a:t>
            </a:r>
            <a:br>
              <a:rPr lang="es-CL" sz="1600" dirty="0">
                <a:solidFill>
                  <a:srgbClr val="000000"/>
                </a:solidFill>
                <a:latin typeface="TimesLTStd-Roman"/>
              </a:rPr>
            </a:br>
            <a:r>
              <a:rPr lang="es-CL" sz="1600" b="1" dirty="0">
                <a:solidFill>
                  <a:srgbClr val="000000"/>
                </a:solidFill>
                <a:latin typeface="TimesLTStd-Bold"/>
              </a:rPr>
              <a:t>2. </a:t>
            </a:r>
            <a:r>
              <a:rPr lang="es-CL" sz="1600" dirty="0">
                <a:solidFill>
                  <a:srgbClr val="000000"/>
                </a:solidFill>
                <a:latin typeface="TimesLTStd-Roman"/>
              </a:rPr>
              <a:t>Divida el elemento del </a:t>
            </a:r>
            <a:r>
              <a:rPr lang="es-CL" sz="1600" i="1" dirty="0">
                <a:solidFill>
                  <a:srgbClr val="000000"/>
                </a:solidFill>
                <a:latin typeface="TimesLTStd-Italic"/>
              </a:rPr>
              <a:t>lado derecho </a:t>
            </a:r>
            <a:r>
              <a:rPr lang="es-CL" sz="1600" dirty="0">
                <a:solidFill>
                  <a:srgbClr val="000000"/>
                </a:solidFill>
                <a:latin typeface="TimesLTStd-Roman"/>
              </a:rPr>
              <a:t>del mismo renglón entre dicho coeficiente.</a:t>
            </a:r>
            <a:br>
              <a:rPr lang="es-CL" sz="1600" dirty="0">
                <a:solidFill>
                  <a:srgbClr val="000000"/>
                </a:solidFill>
                <a:latin typeface="TimesLTStd-Roman"/>
              </a:rPr>
            </a:br>
            <a:r>
              <a:rPr lang="es-CL" sz="1600" b="1" dirty="0">
                <a:solidFill>
                  <a:srgbClr val="000000"/>
                </a:solidFill>
                <a:latin typeface="TimesLTStd-Bold"/>
              </a:rPr>
              <a:t>3. </a:t>
            </a:r>
            <a:r>
              <a:rPr lang="es-CL" sz="1600" dirty="0">
                <a:solidFill>
                  <a:srgbClr val="000000"/>
                </a:solidFill>
                <a:latin typeface="TimesLTStd-Roman"/>
              </a:rPr>
              <a:t>Identifique el renglón que tiene el </a:t>
            </a:r>
            <a:r>
              <a:rPr lang="es-CL" sz="1600" i="1" dirty="0">
                <a:solidFill>
                  <a:srgbClr val="000000"/>
                </a:solidFill>
                <a:latin typeface="TimesLTStd-Italic"/>
              </a:rPr>
              <a:t>menor </a:t>
            </a:r>
            <a:r>
              <a:rPr lang="es-CL" sz="1600" dirty="0">
                <a:solidFill>
                  <a:srgbClr val="000000"/>
                </a:solidFill>
                <a:latin typeface="TimesLTStd-Roman"/>
              </a:rPr>
              <a:t>de estos cocientes.</a:t>
            </a:r>
            <a:br>
              <a:rPr lang="es-CL" sz="1600" dirty="0">
                <a:solidFill>
                  <a:srgbClr val="000000"/>
                </a:solidFill>
                <a:latin typeface="TimesLTStd-Roman"/>
              </a:rPr>
            </a:br>
            <a:r>
              <a:rPr lang="es-CL" sz="1600" b="1" dirty="0">
                <a:solidFill>
                  <a:srgbClr val="000000"/>
                </a:solidFill>
                <a:latin typeface="TimesLTStd-Bold"/>
              </a:rPr>
              <a:t>4. </a:t>
            </a:r>
            <a:r>
              <a:rPr lang="es-CL" sz="1600" dirty="0">
                <a:solidFill>
                  <a:srgbClr val="000000"/>
                </a:solidFill>
                <a:latin typeface="TimesLTStd-Roman"/>
              </a:rPr>
              <a:t>La variable básica de ese renglón es la variable básica que sale; sustitúyala con la variable básica entrante en la columna de la variable básica de la siguiente tabla.</a:t>
            </a:r>
            <a:r>
              <a:rPr lang="es-CL" sz="1600" dirty="0"/>
              <a:t> </a:t>
            </a:r>
          </a:p>
        </p:txBody>
      </p:sp>
      <p:sp>
        <p:nvSpPr>
          <p:cNvPr id="5" name="Rectángulo 4"/>
          <p:cNvSpPr/>
          <p:nvPr/>
        </p:nvSpPr>
        <p:spPr>
          <a:xfrm>
            <a:off x="0" y="6211669"/>
            <a:ext cx="3313215" cy="369332"/>
          </a:xfrm>
          <a:prstGeom prst="rect">
            <a:avLst/>
          </a:prstGeom>
        </p:spPr>
        <p:txBody>
          <a:bodyPr wrap="square">
            <a:spAutoFit/>
          </a:bodyPr>
          <a:lstStyle/>
          <a:p>
            <a:r>
              <a:rPr lang="es-CL" b="1" dirty="0">
                <a:solidFill>
                  <a:srgbClr val="000000"/>
                </a:solidFill>
                <a:latin typeface="TimesLTStd-Bold"/>
              </a:rPr>
              <a:t>solución básica factible (BF)</a:t>
            </a:r>
            <a:r>
              <a:rPr lang="es-CL" dirty="0"/>
              <a:t> </a:t>
            </a:r>
          </a:p>
        </p:txBody>
      </p:sp>
      <p:pic>
        <p:nvPicPr>
          <p:cNvPr id="2" name="Imagen 1"/>
          <p:cNvPicPr>
            <a:picLocks noChangeAspect="1"/>
          </p:cNvPicPr>
          <p:nvPr/>
        </p:nvPicPr>
        <p:blipFill>
          <a:blip r:embed="rId3"/>
          <a:stretch>
            <a:fillRect/>
          </a:stretch>
        </p:blipFill>
        <p:spPr>
          <a:xfrm>
            <a:off x="4428519" y="0"/>
            <a:ext cx="6260250" cy="3511848"/>
          </a:xfrm>
          <a:prstGeom prst="rect">
            <a:avLst/>
          </a:prstGeom>
        </p:spPr>
      </p:pic>
      <p:sp>
        <p:nvSpPr>
          <p:cNvPr id="6" name="Rectángulo redondeado 5"/>
          <p:cNvSpPr/>
          <p:nvPr/>
        </p:nvSpPr>
        <p:spPr>
          <a:xfrm>
            <a:off x="7392661" y="3111188"/>
            <a:ext cx="2968618" cy="190026"/>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7" name="Rectángulo 6"/>
          <p:cNvSpPr/>
          <p:nvPr/>
        </p:nvSpPr>
        <p:spPr>
          <a:xfrm>
            <a:off x="7792377" y="1265447"/>
            <a:ext cx="237506" cy="250464"/>
          </a:xfrm>
          <a:prstGeom prst="rect">
            <a:avLst/>
          </a:prstGeom>
          <a:noFill/>
          <a:ln w="15875">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
        <p:nvSpPr>
          <p:cNvPr id="10" name="Rectángulo redondeado 9"/>
          <p:cNvSpPr/>
          <p:nvPr/>
        </p:nvSpPr>
        <p:spPr>
          <a:xfrm>
            <a:off x="7432766" y="2312126"/>
            <a:ext cx="244631" cy="1041874"/>
          </a:xfrm>
          <a:prstGeom prst="round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11677220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Solución final</a:t>
            </a:r>
          </a:p>
        </p:txBody>
      </p:sp>
      <p:pic>
        <p:nvPicPr>
          <p:cNvPr id="3" name="Imagen 2"/>
          <p:cNvPicPr>
            <a:picLocks noChangeAspect="1"/>
          </p:cNvPicPr>
          <p:nvPr/>
        </p:nvPicPr>
        <p:blipFill>
          <a:blip r:embed="rId3"/>
          <a:stretch>
            <a:fillRect/>
          </a:stretch>
        </p:blipFill>
        <p:spPr>
          <a:xfrm>
            <a:off x="3200402" y="383254"/>
            <a:ext cx="8548664" cy="6247806"/>
          </a:xfrm>
          <a:prstGeom prst="rect">
            <a:avLst/>
          </a:prstGeom>
        </p:spPr>
      </p:pic>
      <p:pic>
        <p:nvPicPr>
          <p:cNvPr id="4" name="Imagen 3"/>
          <p:cNvPicPr>
            <a:picLocks noChangeAspect="1"/>
          </p:cNvPicPr>
          <p:nvPr/>
        </p:nvPicPr>
        <p:blipFill>
          <a:blip r:embed="rId4"/>
          <a:stretch>
            <a:fillRect/>
          </a:stretch>
        </p:blipFill>
        <p:spPr>
          <a:xfrm>
            <a:off x="0" y="4048777"/>
            <a:ext cx="3170750" cy="1419509"/>
          </a:xfrm>
          <a:prstGeom prst="rect">
            <a:avLst/>
          </a:prstGeom>
          <a:ln>
            <a:solidFill>
              <a:srgbClr val="00B0F0"/>
            </a:solidFill>
          </a:ln>
        </p:spPr>
      </p:pic>
    </p:spTree>
    <p:extLst>
      <p:ext uri="{BB962C8B-B14F-4D97-AF65-F5344CB8AC3E}">
        <p14:creationId xmlns:p14="http://schemas.microsoft.com/office/powerpoint/2010/main" val="39062714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30629" y="81208"/>
            <a:ext cx="2947482" cy="641267"/>
          </a:xfrm>
        </p:spPr>
        <p:txBody>
          <a:bodyPr/>
          <a:lstStyle/>
          <a:p>
            <a:r>
              <a:rPr lang="es-CL" dirty="0">
                <a:solidFill>
                  <a:srgbClr val="00B0F0"/>
                </a:solidFill>
              </a:rPr>
              <a:t>Ejercicios</a:t>
            </a:r>
          </a:p>
        </p:txBody>
      </p:sp>
      <p:grpSp>
        <p:nvGrpSpPr>
          <p:cNvPr id="5" name="Grupo 4"/>
          <p:cNvGrpSpPr/>
          <p:nvPr/>
        </p:nvGrpSpPr>
        <p:grpSpPr>
          <a:xfrm>
            <a:off x="5005218" y="532470"/>
            <a:ext cx="3142263" cy="1965726"/>
            <a:chOff x="4777739" y="846838"/>
            <a:chExt cx="3142263" cy="1965726"/>
          </a:xfrm>
        </p:grpSpPr>
        <mc:AlternateContent xmlns:mc="http://schemas.openxmlformats.org/markup-compatibility/2006" xmlns:a14="http://schemas.microsoft.com/office/drawing/2010/main">
          <mc:Choice Requires="a14">
            <p:sp>
              <p:nvSpPr>
                <p:cNvPr id="3" name="CuadroTexto 2"/>
                <p:cNvSpPr txBox="1"/>
                <p:nvPr/>
              </p:nvSpPr>
              <p:spPr>
                <a:xfrm>
                  <a:off x="5021580" y="846838"/>
                  <a:ext cx="2898422" cy="8617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L" sz="2800" b="0" i="1" smtClean="0">
                            <a:latin typeface="Cambria Math" panose="02040503050406030204" pitchFamily="18" charset="0"/>
                          </a:rPr>
                          <m:t>𝑀</m:t>
                        </m:r>
                        <m:r>
                          <a:rPr lang="es-CL" sz="2800" b="0" i="1" smtClean="0">
                            <a:latin typeface="Cambria Math" panose="02040503050406030204" pitchFamily="18" charset="0"/>
                          </a:rPr>
                          <m:t>á</m:t>
                        </m:r>
                        <m:r>
                          <a:rPr lang="es-CL" sz="2800" b="0" i="1" smtClean="0">
                            <a:latin typeface="Cambria Math" panose="02040503050406030204" pitchFamily="18" charset="0"/>
                          </a:rPr>
                          <m:t>𝑥</m:t>
                        </m:r>
                        <m:r>
                          <a:rPr lang="es-CL" sz="2800" b="0" i="1" smtClean="0">
                            <a:latin typeface="Cambria Math" panose="02040503050406030204" pitchFamily="18" charset="0"/>
                          </a:rPr>
                          <m:t> </m:t>
                        </m:r>
                        <m:r>
                          <a:rPr lang="es-CL" sz="2800" b="0" i="1" smtClean="0">
                            <a:latin typeface="Cambria Math" panose="02040503050406030204" pitchFamily="18" charset="0"/>
                          </a:rPr>
                          <m:t>𝑍</m:t>
                        </m:r>
                        <m:r>
                          <a:rPr lang="es-CL" sz="2800" b="0" i="1" smtClean="0">
                            <a:latin typeface="Cambria Math" panose="02040503050406030204" pitchFamily="18" charset="0"/>
                          </a:rPr>
                          <m:t>=</m:t>
                        </m:r>
                        <m:sSub>
                          <m:sSubPr>
                            <m:ctrlPr>
                              <a:rPr lang="es-CL" sz="2800" b="0" i="1" smtClean="0">
                                <a:latin typeface="Cambria Math" panose="02040503050406030204" pitchFamily="18" charset="0"/>
                              </a:rPr>
                            </m:ctrlPr>
                          </m:sSubPr>
                          <m:e>
                            <m:r>
                              <a:rPr lang="es-CL" sz="2800" b="0" i="1" smtClean="0">
                                <a:latin typeface="Cambria Math" panose="02040503050406030204" pitchFamily="18" charset="0"/>
                              </a:rPr>
                              <m:t>𝑥</m:t>
                            </m:r>
                          </m:e>
                          <m:sub>
                            <m:r>
                              <a:rPr lang="es-CL" sz="2800" b="0" i="1" smtClean="0">
                                <a:latin typeface="Cambria Math" panose="02040503050406030204" pitchFamily="18" charset="0"/>
                              </a:rPr>
                              <m:t>1</m:t>
                            </m:r>
                          </m:sub>
                        </m:sSub>
                        <m:r>
                          <a:rPr lang="es-CL" sz="2800" b="0" i="1" smtClean="0">
                            <a:latin typeface="Cambria Math" panose="02040503050406030204" pitchFamily="18" charset="0"/>
                          </a:rPr>
                          <m:t>+2</m:t>
                        </m:r>
                        <m:sSub>
                          <m:sSubPr>
                            <m:ctrlPr>
                              <a:rPr lang="es-CL" sz="2800" b="0" i="1" smtClean="0">
                                <a:latin typeface="Cambria Math" panose="02040503050406030204" pitchFamily="18" charset="0"/>
                              </a:rPr>
                            </m:ctrlPr>
                          </m:sSubPr>
                          <m:e>
                            <m:r>
                              <a:rPr lang="es-CL" sz="2800" b="0" i="1" smtClean="0">
                                <a:latin typeface="Cambria Math" panose="02040503050406030204" pitchFamily="18" charset="0"/>
                              </a:rPr>
                              <m:t>𝑥</m:t>
                            </m:r>
                          </m:e>
                          <m:sub>
                            <m:r>
                              <a:rPr lang="es-CL" sz="2800" b="0" i="1" smtClean="0">
                                <a:latin typeface="Cambria Math" panose="02040503050406030204" pitchFamily="18" charset="0"/>
                              </a:rPr>
                              <m:t>2</m:t>
                            </m:r>
                          </m:sub>
                        </m:sSub>
                      </m:oMath>
                    </m:oMathPara>
                  </a14:m>
                  <a:endParaRPr lang="es-CL" sz="2800" dirty="0"/>
                </a:p>
                <a:p>
                  <a:r>
                    <a:rPr lang="es-CL" sz="2800" dirty="0"/>
                    <a:t>s.a.</a:t>
                  </a:r>
                </a:p>
              </p:txBody>
            </p:sp>
          </mc:Choice>
          <mc:Fallback xmlns="">
            <p:sp>
              <p:nvSpPr>
                <p:cNvPr id="3" name="CuadroTexto 2"/>
                <p:cNvSpPr txBox="1">
                  <a:spLocks noRot="1" noChangeAspect="1" noMove="1" noResize="1" noEditPoints="1" noAdjustHandles="1" noChangeArrowheads="1" noChangeShapeType="1" noTextEdit="1"/>
                </p:cNvSpPr>
                <p:nvPr/>
              </p:nvSpPr>
              <p:spPr>
                <a:xfrm>
                  <a:off x="5021580" y="846838"/>
                  <a:ext cx="2898422" cy="861774"/>
                </a:xfrm>
                <a:prstGeom prst="rect">
                  <a:avLst/>
                </a:prstGeom>
                <a:blipFill rotWithShape="0">
                  <a:blip r:embed="rId2"/>
                  <a:stretch>
                    <a:fillRect l="-7579" b="-24823"/>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4" name="CuadroTexto 3"/>
                <p:cNvSpPr txBox="1"/>
                <p:nvPr/>
              </p:nvSpPr>
              <p:spPr>
                <a:xfrm>
                  <a:off x="4777739" y="1519902"/>
                  <a:ext cx="2933700" cy="1292662"/>
                </a:xfrm>
                <a:prstGeom prst="rect">
                  <a:avLst/>
                </a:prstGeom>
                <a:noFill/>
              </p:spPr>
              <p:txBody>
                <a:bodyPr wrap="square" lIns="0" tIns="0" rIns="0" bIns="0" rtlCol="0">
                  <a:spAutoFit/>
                </a:bodyPr>
                <a:lstStyle/>
                <a:p>
                  <a:pPr defTabSz="179388"/>
                  <a14:m>
                    <m:oMathPara xmlns:m="http://schemas.openxmlformats.org/officeDocument/2006/math">
                      <m:oMathParaPr>
                        <m:jc m:val="centerGroup"/>
                      </m:oMathParaPr>
                      <m:oMath xmlns:m="http://schemas.openxmlformats.org/officeDocument/2006/math">
                        <m:sSub>
                          <m:sSubPr>
                            <m:ctrlPr>
                              <a:rPr lang="es-CL" sz="2800" i="1" smtClean="0">
                                <a:latin typeface="Cambria Math" panose="02040503050406030204" pitchFamily="18" charset="0"/>
                              </a:rPr>
                            </m:ctrlPr>
                          </m:sSubPr>
                          <m:e>
                            <m:r>
                              <a:rPr lang="es-CL" sz="2800" b="0" i="1" smtClean="0">
                                <a:latin typeface="Cambria Math" panose="02040503050406030204" pitchFamily="18" charset="0"/>
                              </a:rPr>
                              <m:t>             </m:t>
                            </m:r>
                            <m:r>
                              <a:rPr lang="es-CL" sz="2800" i="1">
                                <a:latin typeface="Cambria Math" panose="02040503050406030204" pitchFamily="18" charset="0"/>
                              </a:rPr>
                              <m:t>𝑥</m:t>
                            </m:r>
                          </m:e>
                          <m:sub>
                            <m:r>
                              <a:rPr lang="es-CL" sz="2800" i="1">
                                <a:latin typeface="Cambria Math" panose="02040503050406030204" pitchFamily="18" charset="0"/>
                              </a:rPr>
                              <m:t>1</m:t>
                            </m:r>
                            <m:r>
                              <a:rPr lang="es-CL" sz="2800" b="0" i="1" smtClean="0">
                                <a:latin typeface="Cambria Math" panose="02040503050406030204" pitchFamily="18" charset="0"/>
                              </a:rPr>
                              <m:t>              </m:t>
                            </m:r>
                          </m:sub>
                        </m:sSub>
                        <m:r>
                          <a:rPr lang="es-CL" sz="2800" i="1">
                            <a:latin typeface="Cambria Math" panose="02040503050406030204" pitchFamily="18" charset="0"/>
                            <a:ea typeface="Cambria Math" panose="02040503050406030204" pitchFamily="18" charset="0"/>
                          </a:rPr>
                          <m:t>≤5</m:t>
                        </m:r>
                      </m:oMath>
                    </m:oMathPara>
                  </a14:m>
                  <a:endParaRPr lang="es-CL" sz="2800" i="1" dirty="0">
                    <a:latin typeface="Cambria Math" panose="02040503050406030204" pitchFamily="18" charset="0"/>
                    <a:ea typeface="Cambria Math" panose="02040503050406030204" pitchFamily="18" charset="0"/>
                  </a:endParaRPr>
                </a:p>
                <a:p>
                  <a:pPr defTabSz="179388"/>
                  <a14:m>
                    <m:oMathPara xmlns:m="http://schemas.openxmlformats.org/officeDocument/2006/math">
                      <m:oMathParaPr>
                        <m:jc m:val="centerGroup"/>
                      </m:oMathParaPr>
                      <m:oMath xmlns:m="http://schemas.openxmlformats.org/officeDocument/2006/math">
                        <m:r>
                          <a:rPr lang="es-CL" sz="2800" i="1" smtClean="0">
                            <a:latin typeface="Cambria Math" panose="02040503050406030204" pitchFamily="18" charset="0"/>
                            <a:ea typeface="Cambria Math" panose="02040503050406030204" pitchFamily="18" charset="0"/>
                          </a:rPr>
                          <m:t> </m:t>
                        </m:r>
                        <m:sSub>
                          <m:sSubPr>
                            <m:ctrlPr>
                              <a:rPr lang="es-CL" sz="2800" i="1">
                                <a:latin typeface="Cambria Math" panose="02040503050406030204" pitchFamily="18" charset="0"/>
                                <a:ea typeface="Cambria Math" panose="02040503050406030204" pitchFamily="18" charset="0"/>
                              </a:rPr>
                            </m:ctrlPr>
                          </m:sSubPr>
                          <m:e>
                            <m:r>
                              <a:rPr lang="es-CL" sz="2800" b="0" i="1" smtClean="0">
                                <a:latin typeface="Cambria Math" panose="02040503050406030204" pitchFamily="18" charset="0"/>
                                <a:ea typeface="Cambria Math" panose="02040503050406030204" pitchFamily="18" charset="0"/>
                              </a:rPr>
                              <m:t>                    </m:t>
                            </m:r>
                            <m:r>
                              <a:rPr lang="es-CL" sz="2800" i="1">
                                <a:latin typeface="Cambria Math" panose="02040503050406030204" pitchFamily="18" charset="0"/>
                                <a:ea typeface="Cambria Math" panose="02040503050406030204" pitchFamily="18" charset="0"/>
                              </a:rPr>
                              <m:t>𝑥</m:t>
                            </m:r>
                          </m:e>
                          <m:sub>
                            <m:r>
                              <a:rPr lang="es-CL" sz="2800" i="1">
                                <a:latin typeface="Cambria Math" panose="02040503050406030204" pitchFamily="18" charset="0"/>
                                <a:ea typeface="Cambria Math" panose="02040503050406030204" pitchFamily="18" charset="0"/>
                              </a:rPr>
                              <m:t>2</m:t>
                            </m:r>
                          </m:sub>
                        </m:sSub>
                        <m:r>
                          <a:rPr lang="es-CL" sz="2800" b="0" i="1" smtClean="0">
                            <a:latin typeface="Cambria Math" panose="02040503050406030204" pitchFamily="18" charset="0"/>
                            <a:ea typeface="Cambria Math" panose="02040503050406030204" pitchFamily="18" charset="0"/>
                          </a:rPr>
                          <m:t> </m:t>
                        </m:r>
                        <m:r>
                          <a:rPr lang="es-CL" sz="2800" i="1">
                            <a:latin typeface="Cambria Math" panose="02040503050406030204" pitchFamily="18" charset="0"/>
                            <a:ea typeface="Cambria Math" panose="02040503050406030204" pitchFamily="18" charset="0"/>
                          </a:rPr>
                          <m:t>≤6</m:t>
                        </m:r>
                      </m:oMath>
                    </m:oMathPara>
                  </a14:m>
                  <a:endParaRPr lang="es-CL" sz="2800" i="1" dirty="0">
                    <a:latin typeface="Cambria Math" panose="02040503050406030204" pitchFamily="18" charset="0"/>
                    <a:ea typeface="Cambria Math" panose="02040503050406030204" pitchFamily="18" charset="0"/>
                  </a:endParaRPr>
                </a:p>
                <a:p>
                  <a:pPr marL="1082675" defTabSz="179388"/>
                  <a14:m>
                    <m:oMath xmlns:m="http://schemas.openxmlformats.org/officeDocument/2006/math">
                      <m:sSub>
                        <m:sSubPr>
                          <m:ctrlPr>
                            <a:rPr lang="es-CL" sz="2800" i="1" smtClean="0">
                              <a:latin typeface="Cambria Math" panose="02040503050406030204" pitchFamily="18" charset="0"/>
                              <a:ea typeface="Cambria Math" panose="02040503050406030204" pitchFamily="18" charset="0"/>
                            </a:rPr>
                          </m:ctrlPr>
                        </m:sSubPr>
                        <m:e>
                          <m:r>
                            <a:rPr lang="es-CL" sz="2800" b="0" i="1" smtClean="0">
                              <a:latin typeface="Cambria Math" panose="02040503050406030204" pitchFamily="18" charset="0"/>
                              <a:ea typeface="Cambria Math" panose="02040503050406030204" pitchFamily="18" charset="0"/>
                            </a:rPr>
                            <m:t>𝑥</m:t>
                          </m:r>
                        </m:e>
                        <m:sub>
                          <m:r>
                            <a:rPr lang="es-CL" sz="2800" b="0" i="1" smtClean="0">
                              <a:latin typeface="Cambria Math" panose="02040503050406030204" pitchFamily="18" charset="0"/>
                              <a:ea typeface="Cambria Math" panose="02040503050406030204" pitchFamily="18" charset="0"/>
                            </a:rPr>
                            <m:t>1</m:t>
                          </m:r>
                        </m:sub>
                      </m:sSub>
                      <m:r>
                        <a:rPr lang="es-CL" sz="2800" b="0" i="1" smtClean="0">
                          <a:latin typeface="Cambria Math" panose="02040503050406030204" pitchFamily="18" charset="0"/>
                          <a:ea typeface="Cambria Math" panose="02040503050406030204" pitchFamily="18" charset="0"/>
                        </a:rPr>
                        <m:t>+</m:t>
                      </m:r>
                      <m:sSub>
                        <m:sSubPr>
                          <m:ctrlPr>
                            <a:rPr lang="es-CL" sz="2800" i="1">
                              <a:latin typeface="Cambria Math" panose="02040503050406030204" pitchFamily="18" charset="0"/>
                              <a:ea typeface="Cambria Math" panose="02040503050406030204" pitchFamily="18" charset="0"/>
                            </a:rPr>
                          </m:ctrlPr>
                        </m:sSubPr>
                        <m:e>
                          <m:r>
                            <a:rPr lang="es-CL" sz="2800" i="1">
                              <a:latin typeface="Cambria Math" panose="02040503050406030204" pitchFamily="18" charset="0"/>
                              <a:ea typeface="Cambria Math" panose="02040503050406030204" pitchFamily="18" charset="0"/>
                            </a:rPr>
                            <m:t>𝑥</m:t>
                          </m:r>
                        </m:e>
                        <m:sub>
                          <m:r>
                            <a:rPr lang="es-CL" sz="2800" i="1">
                              <a:latin typeface="Cambria Math" panose="02040503050406030204" pitchFamily="18" charset="0"/>
                              <a:ea typeface="Cambria Math" panose="02040503050406030204" pitchFamily="18" charset="0"/>
                            </a:rPr>
                            <m:t>2</m:t>
                          </m:r>
                        </m:sub>
                      </m:sSub>
                      <m:r>
                        <a:rPr lang="es-CL" sz="2800" i="1">
                          <a:latin typeface="Cambria Math" panose="02040503050406030204" pitchFamily="18" charset="0"/>
                          <a:ea typeface="Cambria Math" panose="02040503050406030204" pitchFamily="18" charset="0"/>
                        </a:rPr>
                        <m:t>≤</m:t>
                      </m:r>
                    </m:oMath>
                  </a14:m>
                  <a:r>
                    <a:rPr lang="es-CL" sz="2800" b="0" dirty="0">
                      <a:latin typeface="Cambria Math" panose="02040503050406030204" pitchFamily="18" charset="0"/>
                    </a:rPr>
                    <a:t>8</a:t>
                  </a:r>
                </a:p>
              </p:txBody>
            </p:sp>
          </mc:Choice>
          <mc:Fallback xmlns="">
            <p:sp>
              <p:nvSpPr>
                <p:cNvPr id="4" name="CuadroTexto 3"/>
                <p:cNvSpPr txBox="1">
                  <a:spLocks noRot="1" noChangeAspect="1" noMove="1" noResize="1" noEditPoints="1" noAdjustHandles="1" noChangeArrowheads="1" noChangeShapeType="1" noTextEdit="1"/>
                </p:cNvSpPr>
                <p:nvPr/>
              </p:nvSpPr>
              <p:spPr>
                <a:xfrm>
                  <a:off x="4777739" y="1519902"/>
                  <a:ext cx="2933700" cy="1292662"/>
                </a:xfrm>
                <a:prstGeom prst="rect">
                  <a:avLst/>
                </a:prstGeom>
                <a:blipFill rotWithShape="0">
                  <a:blip r:embed="rId3"/>
                  <a:stretch>
                    <a:fillRect r="-1455" b="-16038"/>
                  </a:stretch>
                </a:blipFill>
              </p:spPr>
              <p:txBody>
                <a:bodyPr/>
                <a:lstStyle/>
                <a:p>
                  <a:r>
                    <a:rPr lang="es-CL">
                      <a:noFill/>
                    </a:rPr>
                    <a:t> </a:t>
                  </a:r>
                </a:p>
              </p:txBody>
            </p:sp>
          </mc:Fallback>
        </mc:AlternateContent>
      </p:grpSp>
      <p:grpSp>
        <p:nvGrpSpPr>
          <p:cNvPr id="6" name="Grupo 5"/>
          <p:cNvGrpSpPr/>
          <p:nvPr/>
        </p:nvGrpSpPr>
        <p:grpSpPr>
          <a:xfrm>
            <a:off x="4945845" y="2864523"/>
            <a:ext cx="3291598" cy="1468046"/>
            <a:chOff x="4777739" y="846838"/>
            <a:chExt cx="3291598" cy="1468046"/>
          </a:xfrm>
        </p:grpSpPr>
        <mc:AlternateContent xmlns:mc="http://schemas.openxmlformats.org/markup-compatibility/2006" xmlns:a14="http://schemas.microsoft.com/office/drawing/2010/main">
          <mc:Choice Requires="a14">
            <p:sp>
              <p:nvSpPr>
                <p:cNvPr id="7" name="CuadroTexto 6"/>
                <p:cNvSpPr txBox="1"/>
                <p:nvPr/>
              </p:nvSpPr>
              <p:spPr>
                <a:xfrm>
                  <a:off x="5021580" y="846838"/>
                  <a:ext cx="3047757" cy="8617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s-CL" sz="2800" b="0" i="1" smtClean="0">
                            <a:latin typeface="Cambria Math" panose="02040503050406030204" pitchFamily="18" charset="0"/>
                          </a:rPr>
                          <m:t>𝑀</m:t>
                        </m:r>
                        <m:r>
                          <a:rPr lang="es-CL" sz="2800" b="0" i="1" smtClean="0">
                            <a:latin typeface="Cambria Math" panose="02040503050406030204" pitchFamily="18" charset="0"/>
                          </a:rPr>
                          <m:t>á</m:t>
                        </m:r>
                        <m:r>
                          <a:rPr lang="es-CL" sz="2800" b="0" i="1" smtClean="0">
                            <a:latin typeface="Cambria Math" panose="02040503050406030204" pitchFamily="18" charset="0"/>
                          </a:rPr>
                          <m:t>𝑥</m:t>
                        </m:r>
                        <m:r>
                          <a:rPr lang="es-CL" sz="2800" b="0" i="1" smtClean="0">
                            <a:latin typeface="Cambria Math" panose="02040503050406030204" pitchFamily="18" charset="0"/>
                          </a:rPr>
                          <m:t> </m:t>
                        </m:r>
                        <m:r>
                          <a:rPr lang="es-CL" sz="2800" b="0" i="1" smtClean="0">
                            <a:latin typeface="Cambria Math" panose="02040503050406030204" pitchFamily="18" charset="0"/>
                          </a:rPr>
                          <m:t>𝑍</m:t>
                        </m:r>
                        <m:r>
                          <a:rPr lang="es-CL" sz="2800" b="0" i="1" smtClean="0">
                            <a:latin typeface="Cambria Math" panose="02040503050406030204" pitchFamily="18" charset="0"/>
                          </a:rPr>
                          <m:t>=</m:t>
                        </m:r>
                        <m:sSub>
                          <m:sSubPr>
                            <m:ctrlPr>
                              <a:rPr lang="es-CL" sz="2800" b="0" i="1" smtClean="0">
                                <a:latin typeface="Cambria Math" panose="02040503050406030204" pitchFamily="18" charset="0"/>
                              </a:rPr>
                            </m:ctrlPr>
                          </m:sSubPr>
                          <m:e>
                            <m:r>
                              <a:rPr lang="es-CL" sz="2800" b="0" i="1" smtClean="0">
                                <a:latin typeface="Cambria Math" panose="02040503050406030204" pitchFamily="18" charset="0"/>
                              </a:rPr>
                              <m:t>3</m:t>
                            </m:r>
                            <m:r>
                              <a:rPr lang="es-CL" sz="2800" b="0" i="1" smtClean="0">
                                <a:latin typeface="Cambria Math" panose="02040503050406030204" pitchFamily="18" charset="0"/>
                              </a:rPr>
                              <m:t>𝑥</m:t>
                            </m:r>
                          </m:e>
                          <m:sub>
                            <m:r>
                              <a:rPr lang="es-CL" sz="2800" b="0" i="1" smtClean="0">
                                <a:latin typeface="Cambria Math" panose="02040503050406030204" pitchFamily="18" charset="0"/>
                              </a:rPr>
                              <m:t>1</m:t>
                            </m:r>
                          </m:sub>
                        </m:sSub>
                        <m:r>
                          <a:rPr lang="es-CL" sz="2800" b="0" i="1" smtClean="0">
                            <a:latin typeface="Cambria Math" panose="02040503050406030204" pitchFamily="18" charset="0"/>
                          </a:rPr>
                          <m:t>+2</m:t>
                        </m:r>
                        <m:sSub>
                          <m:sSubPr>
                            <m:ctrlPr>
                              <a:rPr lang="es-CL" sz="2800" b="0" i="1" smtClean="0">
                                <a:latin typeface="Cambria Math" panose="02040503050406030204" pitchFamily="18" charset="0"/>
                              </a:rPr>
                            </m:ctrlPr>
                          </m:sSubPr>
                          <m:e>
                            <m:r>
                              <a:rPr lang="es-CL" sz="2800" b="0" i="1" smtClean="0">
                                <a:latin typeface="Cambria Math" panose="02040503050406030204" pitchFamily="18" charset="0"/>
                              </a:rPr>
                              <m:t>𝑥</m:t>
                            </m:r>
                          </m:e>
                          <m:sub>
                            <m:r>
                              <a:rPr lang="es-CL" sz="2800" b="0" i="1" smtClean="0">
                                <a:latin typeface="Cambria Math" panose="02040503050406030204" pitchFamily="18" charset="0"/>
                              </a:rPr>
                              <m:t>2</m:t>
                            </m:r>
                          </m:sub>
                        </m:sSub>
                      </m:oMath>
                    </m:oMathPara>
                  </a14:m>
                  <a:endParaRPr lang="es-CL" sz="2800" dirty="0"/>
                </a:p>
                <a:p>
                  <a:r>
                    <a:rPr lang="es-CL" sz="2800" dirty="0"/>
                    <a:t>s.a.</a:t>
                  </a:r>
                </a:p>
              </p:txBody>
            </p:sp>
          </mc:Choice>
          <mc:Fallback xmlns="">
            <p:sp>
              <p:nvSpPr>
                <p:cNvPr id="7" name="CuadroTexto 6"/>
                <p:cNvSpPr txBox="1">
                  <a:spLocks noRot="1" noChangeAspect="1" noMove="1" noResize="1" noEditPoints="1" noAdjustHandles="1" noChangeArrowheads="1" noChangeShapeType="1" noTextEdit="1"/>
                </p:cNvSpPr>
                <p:nvPr/>
              </p:nvSpPr>
              <p:spPr>
                <a:xfrm>
                  <a:off x="5021580" y="846838"/>
                  <a:ext cx="3047757" cy="861774"/>
                </a:xfrm>
                <a:prstGeom prst="rect">
                  <a:avLst/>
                </a:prstGeom>
                <a:blipFill rotWithShape="0">
                  <a:blip r:embed="rId4"/>
                  <a:stretch>
                    <a:fillRect l="-7200" b="-24823"/>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8" name="CuadroTexto 7"/>
                <p:cNvSpPr txBox="1"/>
                <p:nvPr/>
              </p:nvSpPr>
              <p:spPr>
                <a:xfrm>
                  <a:off x="4777739" y="1453110"/>
                  <a:ext cx="3291597" cy="861774"/>
                </a:xfrm>
                <a:prstGeom prst="rect">
                  <a:avLst/>
                </a:prstGeom>
                <a:noFill/>
              </p:spPr>
              <p:txBody>
                <a:bodyPr wrap="square" lIns="0" tIns="0" rIns="0" bIns="0" rtlCol="0">
                  <a:spAutoFit/>
                </a:bodyPr>
                <a:lstStyle/>
                <a:p>
                  <a:pPr defTabSz="179388"/>
                  <a14:m>
                    <m:oMathPara xmlns:m="http://schemas.openxmlformats.org/officeDocument/2006/math">
                      <m:oMathParaPr>
                        <m:jc m:val="centerGroup"/>
                      </m:oMathParaPr>
                      <m:oMath xmlns:m="http://schemas.openxmlformats.org/officeDocument/2006/math">
                        <m:r>
                          <a:rPr lang="es-CL" sz="2800" b="0" i="1" smtClean="0">
                            <a:latin typeface="Cambria Math" panose="02040503050406030204" pitchFamily="18" charset="0"/>
                          </a:rPr>
                          <m:t>         </m:t>
                        </m:r>
                        <m:sSub>
                          <m:sSubPr>
                            <m:ctrlPr>
                              <a:rPr lang="es-CL" sz="2800" i="1" smtClean="0">
                                <a:latin typeface="Cambria Math" panose="02040503050406030204" pitchFamily="18" charset="0"/>
                              </a:rPr>
                            </m:ctrlPr>
                          </m:sSubPr>
                          <m:e>
                            <m:r>
                              <a:rPr lang="es-CL" sz="2800" b="0" i="1" smtClean="0">
                                <a:latin typeface="Cambria Math" panose="02040503050406030204" pitchFamily="18" charset="0"/>
                              </a:rPr>
                              <m:t>2</m:t>
                            </m:r>
                            <m:r>
                              <a:rPr lang="es-CL" sz="2800" i="1">
                                <a:latin typeface="Cambria Math" panose="02040503050406030204" pitchFamily="18" charset="0"/>
                              </a:rPr>
                              <m:t>𝑥</m:t>
                            </m:r>
                          </m:e>
                          <m:sub>
                            <m:r>
                              <a:rPr lang="es-CL" sz="2800" i="1">
                                <a:latin typeface="Cambria Math" panose="02040503050406030204" pitchFamily="18" charset="0"/>
                              </a:rPr>
                              <m:t>1</m:t>
                            </m:r>
                          </m:sub>
                        </m:sSub>
                        <m:r>
                          <a:rPr lang="es-CL" sz="2800" b="0" i="1" smtClean="0">
                            <a:latin typeface="Cambria Math" panose="02040503050406030204" pitchFamily="18" charset="0"/>
                          </a:rPr>
                          <m:t>+</m:t>
                        </m:r>
                        <m:sSub>
                          <m:sSubPr>
                            <m:ctrlPr>
                              <a:rPr lang="es-CL" sz="2800" i="1">
                                <a:latin typeface="Cambria Math" panose="02040503050406030204" pitchFamily="18" charset="0"/>
                                <a:ea typeface="Cambria Math" panose="02040503050406030204" pitchFamily="18" charset="0"/>
                              </a:rPr>
                            </m:ctrlPr>
                          </m:sSubPr>
                          <m:e>
                            <m:r>
                              <a:rPr lang="es-CL" sz="2800" b="0" i="1" smtClean="0">
                                <a:latin typeface="Cambria Math" panose="02040503050406030204" pitchFamily="18" charset="0"/>
                                <a:ea typeface="Cambria Math" panose="02040503050406030204" pitchFamily="18" charset="0"/>
                              </a:rPr>
                              <m:t> </m:t>
                            </m:r>
                            <m:r>
                              <a:rPr lang="es-CL" sz="2800" i="1">
                                <a:latin typeface="Cambria Math" panose="02040503050406030204" pitchFamily="18" charset="0"/>
                                <a:ea typeface="Cambria Math" panose="02040503050406030204" pitchFamily="18" charset="0"/>
                              </a:rPr>
                              <m:t>𝑥</m:t>
                            </m:r>
                          </m:e>
                          <m:sub>
                            <m:r>
                              <a:rPr lang="es-CL" sz="2800" i="1">
                                <a:latin typeface="Cambria Math" panose="02040503050406030204" pitchFamily="18" charset="0"/>
                                <a:ea typeface="Cambria Math" panose="02040503050406030204" pitchFamily="18" charset="0"/>
                              </a:rPr>
                              <m:t>2</m:t>
                            </m:r>
                            <m:r>
                              <a:rPr lang="es-CL" sz="2800" b="0" i="1" smtClean="0">
                                <a:latin typeface="Cambria Math" panose="02040503050406030204" pitchFamily="18" charset="0"/>
                                <a:ea typeface="Cambria Math" panose="02040503050406030204" pitchFamily="18" charset="0"/>
                              </a:rPr>
                              <m:t>     </m:t>
                            </m:r>
                          </m:sub>
                        </m:sSub>
                        <m:r>
                          <a:rPr lang="es-CL" sz="2800" i="1">
                            <a:latin typeface="Cambria Math" panose="02040503050406030204" pitchFamily="18" charset="0"/>
                            <a:ea typeface="Cambria Math" panose="02040503050406030204" pitchFamily="18" charset="0"/>
                          </a:rPr>
                          <m:t>≤6</m:t>
                        </m:r>
                      </m:oMath>
                    </m:oMathPara>
                  </a14:m>
                  <a:endParaRPr lang="es-CL" sz="2800" i="1" dirty="0">
                    <a:latin typeface="Cambria Math" panose="02040503050406030204" pitchFamily="18" charset="0"/>
                    <a:ea typeface="Cambria Math" panose="02040503050406030204" pitchFamily="18" charset="0"/>
                  </a:endParaRPr>
                </a:p>
                <a:p>
                  <a:pPr marL="1082675" defTabSz="179388"/>
                  <a14:m>
                    <m:oMath xmlns:m="http://schemas.openxmlformats.org/officeDocument/2006/math">
                      <m:sSub>
                        <m:sSubPr>
                          <m:ctrlPr>
                            <a:rPr lang="es-CL" sz="2800" i="1" smtClean="0">
                              <a:latin typeface="Cambria Math" panose="02040503050406030204" pitchFamily="18" charset="0"/>
                              <a:ea typeface="Cambria Math" panose="02040503050406030204" pitchFamily="18" charset="0"/>
                            </a:rPr>
                          </m:ctrlPr>
                        </m:sSubPr>
                        <m:e>
                          <m:r>
                            <a:rPr lang="es-CL" sz="2800" b="0" i="1" smtClean="0">
                              <a:latin typeface="Cambria Math" panose="02040503050406030204" pitchFamily="18" charset="0"/>
                              <a:ea typeface="Cambria Math" panose="02040503050406030204" pitchFamily="18" charset="0"/>
                            </a:rPr>
                            <m:t>𝑥</m:t>
                          </m:r>
                        </m:e>
                        <m:sub>
                          <m:r>
                            <a:rPr lang="es-CL" sz="2800" b="0" i="1" smtClean="0">
                              <a:latin typeface="Cambria Math" panose="02040503050406030204" pitchFamily="18" charset="0"/>
                              <a:ea typeface="Cambria Math" panose="02040503050406030204" pitchFamily="18" charset="0"/>
                            </a:rPr>
                            <m:t>1</m:t>
                          </m:r>
                        </m:sub>
                      </m:sSub>
                      <m:r>
                        <a:rPr lang="es-CL" sz="2800" b="0" i="1" smtClean="0">
                          <a:latin typeface="Cambria Math" panose="02040503050406030204" pitchFamily="18" charset="0"/>
                          <a:ea typeface="Cambria Math" panose="02040503050406030204" pitchFamily="18" charset="0"/>
                        </a:rPr>
                        <m:t>+</m:t>
                      </m:r>
                      <m:sSub>
                        <m:sSubPr>
                          <m:ctrlPr>
                            <a:rPr lang="es-CL" sz="2800" i="1">
                              <a:latin typeface="Cambria Math" panose="02040503050406030204" pitchFamily="18" charset="0"/>
                              <a:ea typeface="Cambria Math" panose="02040503050406030204" pitchFamily="18" charset="0"/>
                            </a:rPr>
                          </m:ctrlPr>
                        </m:sSubPr>
                        <m:e>
                          <m:r>
                            <a:rPr lang="es-CL" sz="2800" b="0" i="1" smtClean="0">
                              <a:latin typeface="Cambria Math" panose="02040503050406030204" pitchFamily="18" charset="0"/>
                              <a:ea typeface="Cambria Math" panose="02040503050406030204" pitchFamily="18" charset="0"/>
                            </a:rPr>
                            <m:t>2</m:t>
                          </m:r>
                          <m:r>
                            <a:rPr lang="es-CL" sz="2800" i="1">
                              <a:latin typeface="Cambria Math" panose="02040503050406030204" pitchFamily="18" charset="0"/>
                              <a:ea typeface="Cambria Math" panose="02040503050406030204" pitchFamily="18" charset="0"/>
                            </a:rPr>
                            <m:t>𝑥</m:t>
                          </m:r>
                        </m:e>
                        <m:sub>
                          <m:r>
                            <a:rPr lang="es-CL" sz="2800" i="1">
                              <a:latin typeface="Cambria Math" panose="02040503050406030204" pitchFamily="18" charset="0"/>
                              <a:ea typeface="Cambria Math" panose="02040503050406030204" pitchFamily="18" charset="0"/>
                            </a:rPr>
                            <m:t>2</m:t>
                          </m:r>
                        </m:sub>
                      </m:sSub>
                      <m:r>
                        <a:rPr lang="es-CL" sz="2800" i="1">
                          <a:latin typeface="Cambria Math" panose="02040503050406030204" pitchFamily="18" charset="0"/>
                          <a:ea typeface="Cambria Math" panose="02040503050406030204" pitchFamily="18" charset="0"/>
                        </a:rPr>
                        <m:t>≤</m:t>
                      </m:r>
                    </m:oMath>
                  </a14:m>
                  <a:r>
                    <a:rPr lang="es-CL" sz="2800" b="0" dirty="0">
                      <a:latin typeface="Cambria Math" panose="02040503050406030204" pitchFamily="18" charset="0"/>
                    </a:rPr>
                    <a:t>6</a:t>
                  </a:r>
                </a:p>
              </p:txBody>
            </p:sp>
          </mc:Choice>
          <mc:Fallback xmlns="">
            <p:sp>
              <p:nvSpPr>
                <p:cNvPr id="8" name="CuadroTexto 7"/>
                <p:cNvSpPr txBox="1">
                  <a:spLocks noRot="1" noChangeAspect="1" noMove="1" noResize="1" noEditPoints="1" noAdjustHandles="1" noChangeArrowheads="1" noChangeShapeType="1" noTextEdit="1"/>
                </p:cNvSpPr>
                <p:nvPr/>
              </p:nvSpPr>
              <p:spPr>
                <a:xfrm>
                  <a:off x="4777739" y="1453110"/>
                  <a:ext cx="3291597" cy="861774"/>
                </a:xfrm>
                <a:prstGeom prst="rect">
                  <a:avLst/>
                </a:prstGeom>
                <a:blipFill rotWithShape="0">
                  <a:blip r:embed="rId5"/>
                  <a:stretch>
                    <a:fillRect b="-24823"/>
                  </a:stretch>
                </a:blipFill>
              </p:spPr>
              <p:txBody>
                <a:bodyPr/>
                <a:lstStyle/>
                <a:p>
                  <a:r>
                    <a:rPr lang="es-CL">
                      <a:noFill/>
                    </a:rPr>
                    <a:t> </a:t>
                  </a:r>
                </a:p>
              </p:txBody>
            </p:sp>
          </mc:Fallback>
        </mc:AlternateContent>
      </p:grpSp>
      <p:sp>
        <p:nvSpPr>
          <p:cNvPr id="12" name="CuadroTexto 11"/>
          <p:cNvSpPr txBox="1"/>
          <p:nvPr/>
        </p:nvSpPr>
        <p:spPr>
          <a:xfrm>
            <a:off x="4809507" y="532470"/>
            <a:ext cx="533400" cy="4524315"/>
          </a:xfrm>
          <a:prstGeom prst="rect">
            <a:avLst/>
          </a:prstGeom>
          <a:noFill/>
        </p:spPr>
        <p:txBody>
          <a:bodyPr wrap="square" rtlCol="0">
            <a:spAutoFit/>
          </a:bodyPr>
          <a:lstStyle/>
          <a:p>
            <a:r>
              <a:rPr lang="es-CL" sz="2400" b="1" dirty="0"/>
              <a:t>1.-</a:t>
            </a:r>
          </a:p>
          <a:p>
            <a:endParaRPr lang="es-CL" sz="2400" b="1" dirty="0"/>
          </a:p>
          <a:p>
            <a:endParaRPr lang="es-CL" sz="2400" b="1" dirty="0"/>
          </a:p>
          <a:p>
            <a:endParaRPr lang="es-CL" sz="2400" b="1" dirty="0"/>
          </a:p>
          <a:p>
            <a:endParaRPr lang="es-CL" sz="2400" b="1" dirty="0"/>
          </a:p>
          <a:p>
            <a:endParaRPr lang="es-CL" sz="2400" b="1" dirty="0"/>
          </a:p>
          <a:p>
            <a:r>
              <a:rPr lang="es-CL" sz="2400" b="1" dirty="0"/>
              <a:t>2.-</a:t>
            </a:r>
          </a:p>
          <a:p>
            <a:endParaRPr lang="es-CL" sz="2400" b="1" dirty="0"/>
          </a:p>
          <a:p>
            <a:endParaRPr lang="es-CL" sz="2400" b="1" dirty="0"/>
          </a:p>
          <a:p>
            <a:endParaRPr lang="es-CL" sz="2400" b="1" dirty="0"/>
          </a:p>
          <a:p>
            <a:endParaRPr lang="es-CL" sz="2400" b="1" dirty="0"/>
          </a:p>
          <a:p>
            <a:endParaRPr lang="es-CL" sz="2400" b="1" dirty="0"/>
          </a:p>
        </p:txBody>
      </p:sp>
    </p:spTree>
    <p:extLst>
      <p:ext uri="{BB962C8B-B14F-4D97-AF65-F5344CB8AC3E}">
        <p14:creationId xmlns:p14="http://schemas.microsoft.com/office/powerpoint/2010/main" val="308908909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1"/>
          <p:cNvSpPr>
            <a:spLocks noChangeArrowheads="1"/>
          </p:cNvSpPr>
          <p:nvPr/>
        </p:nvSpPr>
        <p:spPr bwMode="auto">
          <a:xfrm>
            <a:off x="307025" y="2220608"/>
            <a:ext cx="10525097" cy="3046988"/>
          </a:xfrm>
          <a:prstGeom prst="rect">
            <a:avLst/>
          </a:prstGeom>
          <a:solidFill>
            <a:schemeClr val="bg1"/>
          </a:solidFill>
          <a:ln w="9525">
            <a:solidFill>
              <a:schemeClr val="bg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s-E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1. Una empresa elabora tres tipos de bebidas concentradas utilizando zumo de piña y zumo de durazno. El dueño de la empresa ha comprado 1.500 litros de zumo de piña y 2.000 de zumo de durazno. Los litros de zumo requeridos en la fabricación de cada litro de bebida vienen dados en la tabla siguiente. El precio de venta de cada bebida concentrada es US$15 el litro. El coste del zumo de piña es de US$1 el litro y US$2 el litro de zumo de durazno. Se conoce que la demanda de bebidas asciende a 400 litros. Determinar cuantos litros producir de cada nueva bebida de manera que maximice las utilidades.</a:t>
            </a:r>
            <a:endParaRPr kumimoji="0" lang="es-ES" sz="2400" b="0" i="0" u="none" strike="noStrike" cap="none" normalizeH="0" baseline="0" dirty="0">
              <a:ln>
                <a:noFill/>
              </a:ln>
              <a:solidFill>
                <a:schemeClr val="tx1"/>
              </a:solidFill>
              <a:effectLst/>
              <a:latin typeface="Calibri" panose="020F0502020204030204" pitchFamily="34" charset="0"/>
              <a:cs typeface="Calibri" panose="020F0502020204030204" pitchFamily="34" charset="0"/>
            </a:endParaRPr>
          </a:p>
        </p:txBody>
      </p:sp>
      <p:pic>
        <p:nvPicPr>
          <p:cNvPr id="9" name="Imagen 8"/>
          <p:cNvPicPr>
            <a:picLocks noChangeAspect="1"/>
          </p:cNvPicPr>
          <p:nvPr/>
        </p:nvPicPr>
        <p:blipFill>
          <a:blip r:embed="rId3"/>
          <a:stretch>
            <a:fillRect/>
          </a:stretch>
        </p:blipFill>
        <p:spPr>
          <a:xfrm>
            <a:off x="5014257" y="974467"/>
            <a:ext cx="5817865" cy="1231873"/>
          </a:xfrm>
          <a:prstGeom prst="rect">
            <a:avLst/>
          </a:prstGeom>
        </p:spPr>
      </p:pic>
      <p:sp>
        <p:nvSpPr>
          <p:cNvPr id="16" name="CuadroTexto 15"/>
          <p:cNvSpPr txBox="1"/>
          <p:nvPr/>
        </p:nvSpPr>
        <p:spPr>
          <a:xfrm>
            <a:off x="25670" y="118045"/>
            <a:ext cx="3927351" cy="461665"/>
          </a:xfrm>
          <a:prstGeom prst="rect">
            <a:avLst/>
          </a:prstGeom>
          <a:solidFill>
            <a:srgbClr val="00B6F6"/>
          </a:solidFill>
        </p:spPr>
        <p:txBody>
          <a:bodyPr wrap="square" rtlCol="0">
            <a:spAutoFit/>
          </a:bodyPr>
          <a:lstStyle/>
          <a:p>
            <a:r>
              <a:rPr lang="es-CL" sz="2400" b="1" dirty="0">
                <a:solidFill>
                  <a:schemeClr val="bg1"/>
                </a:solidFill>
              </a:rPr>
              <a:t>Ejercicio para interpretar</a:t>
            </a:r>
          </a:p>
        </p:txBody>
      </p:sp>
    </p:spTree>
    <p:extLst>
      <p:ext uri="{BB962C8B-B14F-4D97-AF65-F5344CB8AC3E}">
        <p14:creationId xmlns:p14="http://schemas.microsoft.com/office/powerpoint/2010/main" val="41525752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¿Y si queremos MINIMIZAR?</a:t>
            </a:r>
          </a:p>
        </p:txBody>
      </p:sp>
      <p:sp>
        <p:nvSpPr>
          <p:cNvPr id="6" name="Rectángulo 5"/>
          <p:cNvSpPr/>
          <p:nvPr/>
        </p:nvSpPr>
        <p:spPr>
          <a:xfrm>
            <a:off x="3634153" y="285107"/>
            <a:ext cx="8094334" cy="5940088"/>
          </a:xfrm>
          <a:prstGeom prst="rect">
            <a:avLst/>
          </a:prstGeom>
          <a:noFill/>
          <a:ln>
            <a:solidFill>
              <a:schemeClr val="accent1"/>
            </a:solidFill>
          </a:ln>
        </p:spPr>
        <p:txBody>
          <a:bodyPr wrap="square">
            <a:spAutoFit/>
          </a:bodyPr>
          <a:lstStyle/>
          <a:p>
            <a:r>
              <a:rPr lang="es-CL" sz="2000" b="1" dirty="0"/>
              <a:t>1° Paso: </a:t>
            </a:r>
            <a:r>
              <a:rPr lang="es-CL" sz="2000" dirty="0"/>
              <a:t>convertir a un problema de MAX multiplicando la F.O. por -1</a:t>
            </a:r>
          </a:p>
          <a:p>
            <a:r>
              <a:rPr lang="es-CL" sz="2000" dirty="0"/>
              <a:t>OJO que las restricciones deben ser del tipo &lt;=.</a:t>
            </a:r>
          </a:p>
          <a:p>
            <a:r>
              <a:rPr lang="es-CL" sz="2000" b="1" dirty="0"/>
              <a:t>2° Paso:</a:t>
            </a:r>
            <a:r>
              <a:rPr lang="es-CL" sz="2000" dirty="0"/>
              <a:t> Resolver con las instrucciones del método Simplex.</a:t>
            </a:r>
          </a:p>
          <a:p>
            <a:endParaRPr lang="es-CL" sz="2000" dirty="0"/>
          </a:p>
          <a:p>
            <a:endParaRPr lang="es-CL" sz="2000" dirty="0"/>
          </a:p>
          <a:p>
            <a:r>
              <a:rPr lang="es-CL" sz="2000" dirty="0"/>
              <a:t>Debe conservar la forma estándar o canónica.</a:t>
            </a:r>
          </a:p>
          <a:p>
            <a:endParaRPr lang="es-CL" sz="2000" dirty="0"/>
          </a:p>
          <a:p>
            <a:endParaRPr lang="es-CL" sz="2000" dirty="0"/>
          </a:p>
          <a:p>
            <a:endParaRPr lang="es-CL" sz="2000" dirty="0"/>
          </a:p>
          <a:p>
            <a:endParaRPr lang="es-CL" sz="2000" dirty="0"/>
          </a:p>
          <a:p>
            <a:endParaRPr lang="es-CL" sz="2000" dirty="0"/>
          </a:p>
          <a:p>
            <a:endParaRPr lang="es-CL" sz="2000" dirty="0"/>
          </a:p>
          <a:p>
            <a:endParaRPr lang="es-CL" sz="2000" dirty="0"/>
          </a:p>
          <a:p>
            <a:endParaRPr lang="es-CL" sz="2000" dirty="0"/>
          </a:p>
          <a:p>
            <a:endParaRPr lang="es-CL" sz="2000" dirty="0"/>
          </a:p>
          <a:p>
            <a:endParaRPr lang="es-CL" sz="2000" dirty="0"/>
          </a:p>
          <a:p>
            <a:endParaRPr lang="es-CL" sz="2000" dirty="0"/>
          </a:p>
          <a:p>
            <a:endParaRPr lang="es-CL" sz="2000" dirty="0"/>
          </a:p>
          <a:p>
            <a:r>
              <a:rPr lang="es-CL" sz="2000" dirty="0"/>
              <a:t>                                                                                                                        </a:t>
            </a:r>
            <a:endParaRPr lang="es-CL" dirty="0"/>
          </a:p>
        </p:txBody>
      </p:sp>
      <p:pic>
        <p:nvPicPr>
          <p:cNvPr id="5" name="Imagen 4">
            <a:extLst>
              <a:ext uri="{FF2B5EF4-FFF2-40B4-BE49-F238E27FC236}">
                <a16:creationId xmlns:a16="http://schemas.microsoft.com/office/drawing/2014/main" id="{7CC6F20D-1D1D-42D0-9BC7-6409F2765A43}"/>
              </a:ext>
            </a:extLst>
          </p:cNvPr>
          <p:cNvPicPr>
            <a:picLocks noChangeAspect="1"/>
          </p:cNvPicPr>
          <p:nvPr/>
        </p:nvPicPr>
        <p:blipFill>
          <a:blip r:embed="rId2"/>
          <a:stretch>
            <a:fillRect/>
          </a:stretch>
        </p:blipFill>
        <p:spPr>
          <a:xfrm>
            <a:off x="5577253" y="2429370"/>
            <a:ext cx="2413196" cy="1278419"/>
          </a:xfrm>
          <a:prstGeom prst="rect">
            <a:avLst/>
          </a:prstGeom>
        </p:spPr>
      </p:pic>
      <p:pic>
        <p:nvPicPr>
          <p:cNvPr id="8" name="Imagen 7">
            <a:extLst>
              <a:ext uri="{FF2B5EF4-FFF2-40B4-BE49-F238E27FC236}">
                <a16:creationId xmlns:a16="http://schemas.microsoft.com/office/drawing/2014/main" id="{7C1BA7F5-DA30-4E71-9E13-1020EDD15FA3}"/>
              </a:ext>
            </a:extLst>
          </p:cNvPr>
          <p:cNvPicPr>
            <a:picLocks noChangeAspect="1"/>
          </p:cNvPicPr>
          <p:nvPr/>
        </p:nvPicPr>
        <p:blipFill>
          <a:blip r:embed="rId3"/>
          <a:stretch>
            <a:fillRect/>
          </a:stretch>
        </p:blipFill>
        <p:spPr>
          <a:xfrm>
            <a:off x="4414220" y="3859145"/>
            <a:ext cx="7152458" cy="1992907"/>
          </a:xfrm>
          <a:prstGeom prst="rect">
            <a:avLst/>
          </a:prstGeom>
        </p:spPr>
      </p:pic>
    </p:spTree>
    <p:extLst>
      <p:ext uri="{BB962C8B-B14F-4D97-AF65-F5344CB8AC3E}">
        <p14:creationId xmlns:p14="http://schemas.microsoft.com/office/powerpoint/2010/main" val="6027742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Tipos de restricciones y como llevarlas a su forma aumentada</a:t>
            </a:r>
          </a:p>
        </p:txBody>
      </p:sp>
      <p:pic>
        <p:nvPicPr>
          <p:cNvPr id="4" name="Imagen 3"/>
          <p:cNvPicPr>
            <a:picLocks noChangeAspect="1"/>
          </p:cNvPicPr>
          <p:nvPr/>
        </p:nvPicPr>
        <p:blipFill>
          <a:blip r:embed="rId2"/>
          <a:stretch>
            <a:fillRect/>
          </a:stretch>
        </p:blipFill>
        <p:spPr>
          <a:xfrm>
            <a:off x="3688340" y="673121"/>
            <a:ext cx="2546206" cy="1976964"/>
          </a:xfrm>
          <a:prstGeom prst="rect">
            <a:avLst/>
          </a:prstGeom>
        </p:spPr>
      </p:pic>
      <p:pic>
        <p:nvPicPr>
          <p:cNvPr id="5" name="Imagen 4"/>
          <p:cNvPicPr>
            <a:picLocks noChangeAspect="1"/>
          </p:cNvPicPr>
          <p:nvPr/>
        </p:nvPicPr>
        <p:blipFill>
          <a:blip r:embed="rId3"/>
          <a:stretch>
            <a:fillRect/>
          </a:stretch>
        </p:blipFill>
        <p:spPr>
          <a:xfrm>
            <a:off x="6722485" y="2177019"/>
            <a:ext cx="3362325" cy="2076450"/>
          </a:xfrm>
          <a:prstGeom prst="rect">
            <a:avLst/>
          </a:prstGeom>
        </p:spPr>
      </p:pic>
      <p:pic>
        <p:nvPicPr>
          <p:cNvPr id="6" name="Imagen 5"/>
          <p:cNvPicPr>
            <a:picLocks noChangeAspect="1"/>
          </p:cNvPicPr>
          <p:nvPr/>
        </p:nvPicPr>
        <p:blipFill>
          <a:blip r:embed="rId4"/>
          <a:stretch>
            <a:fillRect/>
          </a:stretch>
        </p:blipFill>
        <p:spPr>
          <a:xfrm>
            <a:off x="3688340" y="4123273"/>
            <a:ext cx="2741591" cy="2189824"/>
          </a:xfrm>
          <a:prstGeom prst="rect">
            <a:avLst/>
          </a:prstGeom>
        </p:spPr>
      </p:pic>
    </p:spTree>
    <p:extLst>
      <p:ext uri="{BB962C8B-B14F-4D97-AF65-F5344CB8AC3E}">
        <p14:creationId xmlns:p14="http://schemas.microsoft.com/office/powerpoint/2010/main" val="1553224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fontScale="90000"/>
          </a:bodyPr>
          <a:lstStyle/>
          <a:p>
            <a:r>
              <a:rPr lang="es-CL" dirty="0"/>
              <a:t>Este método se utiliza cuando en el método simplex las variables básicas no forman una matriz identidad, o sea no hay una base factible.</a:t>
            </a:r>
          </a:p>
        </p:txBody>
      </p:sp>
      <p:sp>
        <p:nvSpPr>
          <p:cNvPr id="3" name="CuadroTexto 2"/>
          <p:cNvSpPr txBox="1"/>
          <p:nvPr/>
        </p:nvSpPr>
        <p:spPr>
          <a:xfrm>
            <a:off x="3593206" y="1123837"/>
            <a:ext cx="8087931" cy="1015663"/>
          </a:xfrm>
          <a:prstGeom prst="rect">
            <a:avLst/>
          </a:prstGeom>
          <a:noFill/>
        </p:spPr>
        <p:txBody>
          <a:bodyPr wrap="square" rtlCol="0">
            <a:spAutoFit/>
          </a:bodyPr>
          <a:lstStyle/>
          <a:p>
            <a:r>
              <a:rPr lang="es-CL" sz="6000" dirty="0"/>
              <a:t>Método de las dos Fases</a:t>
            </a:r>
          </a:p>
        </p:txBody>
      </p:sp>
      <p:pic>
        <p:nvPicPr>
          <p:cNvPr id="4" name="Imagen 3"/>
          <p:cNvPicPr>
            <a:picLocks noChangeAspect="1"/>
          </p:cNvPicPr>
          <p:nvPr/>
        </p:nvPicPr>
        <p:blipFill>
          <a:blip r:embed="rId3"/>
          <a:stretch>
            <a:fillRect/>
          </a:stretch>
        </p:blipFill>
        <p:spPr>
          <a:xfrm>
            <a:off x="4305953" y="2493046"/>
            <a:ext cx="6083619" cy="2983731"/>
          </a:xfrm>
          <a:prstGeom prst="rect">
            <a:avLst/>
          </a:prstGeom>
        </p:spPr>
      </p:pic>
      <p:sp>
        <p:nvSpPr>
          <p:cNvPr id="5" name="Elipse 4"/>
          <p:cNvSpPr/>
          <p:nvPr/>
        </p:nvSpPr>
        <p:spPr>
          <a:xfrm>
            <a:off x="7637171" y="3767959"/>
            <a:ext cx="1733176" cy="1708818"/>
          </a:xfrm>
          <a:prstGeom prst="ellipse">
            <a:avLst/>
          </a:prstGeom>
          <a:noFill/>
          <a:ln w="4762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cxnSp>
        <p:nvCxnSpPr>
          <p:cNvPr id="7" name="Conector recto de flecha 6"/>
          <p:cNvCxnSpPr>
            <a:stCxn id="5" idx="4"/>
          </p:cNvCxnSpPr>
          <p:nvPr/>
        </p:nvCxnSpPr>
        <p:spPr>
          <a:xfrm>
            <a:off x="8503759" y="5476777"/>
            <a:ext cx="866588" cy="248243"/>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 name="CuadroTexto 9"/>
          <p:cNvSpPr txBox="1"/>
          <p:nvPr/>
        </p:nvSpPr>
        <p:spPr>
          <a:xfrm>
            <a:off x="9370347" y="5600898"/>
            <a:ext cx="2310790" cy="369332"/>
          </a:xfrm>
          <a:prstGeom prst="rect">
            <a:avLst/>
          </a:prstGeom>
          <a:noFill/>
        </p:spPr>
        <p:txBody>
          <a:bodyPr wrap="square" rtlCol="0">
            <a:spAutoFit/>
          </a:bodyPr>
          <a:lstStyle/>
          <a:p>
            <a:r>
              <a:rPr lang="es-CL" b="1" dirty="0">
                <a:solidFill>
                  <a:srgbClr val="C00000"/>
                </a:solidFill>
              </a:rPr>
              <a:t>Esto no se forma</a:t>
            </a:r>
          </a:p>
        </p:txBody>
      </p:sp>
    </p:spTree>
    <p:extLst>
      <p:ext uri="{BB962C8B-B14F-4D97-AF65-F5344CB8AC3E}">
        <p14:creationId xmlns:p14="http://schemas.microsoft.com/office/powerpoint/2010/main" val="2988969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F0AD98-E624-4CF9-941B-DA024D3D5310}"/>
              </a:ext>
            </a:extLst>
          </p:cNvPr>
          <p:cNvSpPr>
            <a:spLocks noGrp="1"/>
          </p:cNvSpPr>
          <p:nvPr>
            <p:ph type="title"/>
          </p:nvPr>
        </p:nvSpPr>
        <p:spPr/>
        <p:txBody>
          <a:bodyPr/>
          <a:lstStyle/>
          <a:p>
            <a:r>
              <a:rPr lang="es-ES" dirty="0">
                <a:effectLst/>
              </a:rPr>
              <a:t>Es más conveniente usar este método en los siguientes casos:</a:t>
            </a:r>
            <a:br>
              <a:rPr lang="es-ES" dirty="0">
                <a:effectLst/>
              </a:rPr>
            </a:br>
            <a:endParaRPr lang="es-CL" dirty="0"/>
          </a:p>
        </p:txBody>
      </p:sp>
      <p:sp>
        <p:nvSpPr>
          <p:cNvPr id="4" name="CuadroTexto 3">
            <a:extLst>
              <a:ext uri="{FF2B5EF4-FFF2-40B4-BE49-F238E27FC236}">
                <a16:creationId xmlns:a16="http://schemas.microsoft.com/office/drawing/2014/main" id="{FCDBC0A8-3E3F-4D67-AEE8-E939C334F68F}"/>
              </a:ext>
            </a:extLst>
          </p:cNvPr>
          <p:cNvSpPr txBox="1"/>
          <p:nvPr/>
        </p:nvSpPr>
        <p:spPr>
          <a:xfrm>
            <a:off x="3474719" y="197346"/>
            <a:ext cx="8675077" cy="6463308"/>
          </a:xfrm>
          <a:prstGeom prst="rect">
            <a:avLst/>
          </a:prstGeom>
          <a:solidFill>
            <a:schemeClr val="bg1"/>
          </a:solidFill>
        </p:spPr>
        <p:txBody>
          <a:bodyPr wrap="square">
            <a:spAutoFit/>
          </a:bodyPr>
          <a:lstStyle/>
          <a:p>
            <a:pPr>
              <a:buFont typeface="+mj-lt"/>
              <a:buAutoNum type="arabicPeriod"/>
            </a:pPr>
            <a:r>
              <a:rPr lang="es-ES" b="1" dirty="0"/>
              <a:t>Cuando no hay una solución inicial factible obvia</a:t>
            </a:r>
            <a:r>
              <a:rPr lang="es-ES" dirty="0"/>
              <a:t>: </a:t>
            </a:r>
          </a:p>
          <a:p>
            <a:pPr marL="742950" lvl="1" indent="-285750">
              <a:buFont typeface="Arial" panose="020B0604020202020204" pitchFamily="34" charset="0"/>
              <a:buChar char="•"/>
            </a:pPr>
            <a:r>
              <a:rPr lang="es-ES" dirty="0"/>
              <a:t>En problemas de programación lineal donde las restricciones no incluyen una solución básica factible inicial (por ejemplo, cuando las restricciones son del tipo ≥ o =, y no se puede usar el método del simplex directamente porque no hay un punto de partida en el origen o en una solución trivial).</a:t>
            </a:r>
          </a:p>
          <a:p>
            <a:pPr marL="742950" lvl="1" indent="-285750">
              <a:buFont typeface="Arial" panose="020B0604020202020204" pitchFamily="34" charset="0"/>
              <a:buChar char="•"/>
            </a:pPr>
            <a:r>
              <a:rPr lang="es-ES" dirty="0"/>
              <a:t>El método introduce </a:t>
            </a:r>
            <a:r>
              <a:rPr lang="es-ES" b="1" dirty="0"/>
              <a:t>variables artificiales</a:t>
            </a:r>
            <a:r>
              <a:rPr lang="es-ES" dirty="0"/>
              <a:t> para encontrar una solución inicial factible, lo que lo hace ideal para problemas donde las restricciones complican el inicio del algoritmo simplex.</a:t>
            </a:r>
          </a:p>
          <a:p>
            <a:pPr>
              <a:buFont typeface="+mj-lt"/>
              <a:buAutoNum type="arabicPeriod"/>
            </a:pPr>
            <a:r>
              <a:rPr lang="es-ES" b="1" dirty="0"/>
              <a:t>Problemas con restricciones de igualdad o desigualdades estrictas</a:t>
            </a:r>
            <a:r>
              <a:rPr lang="es-ES" dirty="0"/>
              <a:t>: </a:t>
            </a:r>
          </a:p>
          <a:p>
            <a:pPr marL="742950" lvl="1" indent="-285750">
              <a:buFont typeface="Arial" panose="020B0604020202020204" pitchFamily="34" charset="0"/>
              <a:buChar char="•"/>
            </a:pPr>
            <a:r>
              <a:rPr lang="es-ES" dirty="0"/>
              <a:t>Si el problema tiene restricciones de tipo </a:t>
            </a:r>
            <a:r>
              <a:rPr lang="es-ES" dirty="0" err="1"/>
              <a:t>Ax</a:t>
            </a:r>
            <a:r>
              <a:rPr lang="es-ES" dirty="0"/>
              <a:t> = b o </a:t>
            </a:r>
            <a:r>
              <a:rPr lang="es-ES" dirty="0" err="1"/>
              <a:t>Ax</a:t>
            </a:r>
            <a:r>
              <a:rPr lang="es-ES" dirty="0"/>
              <a:t> ≥ b, donde no se puede asumir que el origen (x = 0) es factible, el método de las dos fases es útil. La primera fase busca una solución factible básica, y la segunda optimiza la función objetivo.</a:t>
            </a:r>
          </a:p>
          <a:p>
            <a:pPr>
              <a:buFont typeface="+mj-lt"/>
              <a:buAutoNum type="arabicPeriod"/>
            </a:pPr>
            <a:r>
              <a:rPr lang="es-ES" b="1" dirty="0"/>
              <a:t>Cuando se desea garantizar una solución factible antes de optimizar</a:t>
            </a:r>
            <a:r>
              <a:rPr lang="es-ES" dirty="0"/>
              <a:t>: </a:t>
            </a:r>
          </a:p>
          <a:p>
            <a:pPr marL="742950" lvl="1" indent="-285750">
              <a:buFont typeface="Arial" panose="020B0604020202020204" pitchFamily="34" charset="0"/>
              <a:buChar char="•"/>
            </a:pPr>
            <a:r>
              <a:rPr lang="es-ES" dirty="0"/>
              <a:t>La primera fase del método minimiza la suma de las variables artificiales para asegurar que se cumplan todas las restricciones. Si al final de la primera fase las variables artificiales no son cero, el problema no tiene solución factible. Esto es útil para diagnosticar problemas inviables.</a:t>
            </a:r>
          </a:p>
          <a:p>
            <a:pPr>
              <a:buFont typeface="+mj-lt"/>
              <a:buAutoNum type="arabicPeriod"/>
            </a:pPr>
            <a:r>
              <a:rPr lang="es-ES" b="1" dirty="0"/>
              <a:t>Problemas complejos con múltiples restricciones</a:t>
            </a:r>
            <a:r>
              <a:rPr lang="es-ES" dirty="0"/>
              <a:t>: </a:t>
            </a:r>
          </a:p>
          <a:p>
            <a:pPr marL="742950" lvl="1" indent="-285750">
              <a:buFont typeface="Arial" panose="020B0604020202020204" pitchFamily="34" charset="0"/>
              <a:buChar char="•"/>
            </a:pPr>
            <a:r>
              <a:rPr lang="es-ES" dirty="0"/>
              <a:t>En problemas con muchas restricciones o donde las restricciones no son todas del tipo ≤ (que son más fáciles de manejar con el método simplex estándar), el método de las dos fases organiza el proceso para abordar la factibilidad primero y luego la optimización.</a:t>
            </a:r>
          </a:p>
        </p:txBody>
      </p:sp>
    </p:spTree>
    <p:extLst>
      <p:ext uri="{BB962C8B-B14F-4D97-AF65-F5344CB8AC3E}">
        <p14:creationId xmlns:p14="http://schemas.microsoft.com/office/powerpoint/2010/main" val="27603623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5624" y="1896606"/>
            <a:ext cx="3183964" cy="2376108"/>
          </a:xfrm>
        </p:spPr>
        <p:txBody>
          <a:bodyPr>
            <a:noAutofit/>
          </a:bodyPr>
          <a:lstStyle/>
          <a:p>
            <a:r>
              <a:rPr lang="es-CL" sz="2800" b="1" i="1" dirty="0">
                <a:solidFill>
                  <a:srgbClr val="000000"/>
                </a:solidFill>
                <a:latin typeface="TimesLTStd-Italic"/>
              </a:rPr>
              <a:t>Fase 1</a:t>
            </a:r>
            <a:r>
              <a:rPr lang="es-CL" sz="2800" dirty="0">
                <a:solidFill>
                  <a:srgbClr val="000000"/>
                </a:solidFill>
                <a:latin typeface="TimesLTStd-Roman"/>
              </a:rPr>
              <a:t>: El objetivo de esta fase es encontrar una solución BF para el </a:t>
            </a:r>
            <a:r>
              <a:rPr lang="es-CL" sz="2800" dirty="0">
                <a:solidFill>
                  <a:srgbClr val="000000"/>
                </a:solidFill>
                <a:latin typeface="TimesLTStd-Italic"/>
              </a:rPr>
              <a:t>problema real</a:t>
            </a:r>
            <a:r>
              <a:rPr lang="es-CL" sz="2800" dirty="0">
                <a:solidFill>
                  <a:srgbClr val="000000"/>
                </a:solidFill>
                <a:latin typeface="TimesLTStd-Roman"/>
              </a:rPr>
              <a:t>. Para hacerlo, se debe: </a:t>
            </a:r>
            <a:br>
              <a:rPr lang="es-CL" sz="2800" dirty="0">
                <a:solidFill>
                  <a:srgbClr val="000000"/>
                </a:solidFill>
                <a:latin typeface="TimesLTStd-Roman"/>
              </a:rPr>
            </a:br>
            <a:endParaRPr lang="es-CL" sz="2800" dirty="0">
              <a:solidFill>
                <a:srgbClr val="000000"/>
              </a:solidFill>
              <a:latin typeface="TimesLTStd-Roman"/>
            </a:endParaRPr>
          </a:p>
        </p:txBody>
      </p:sp>
      <p:sp>
        <p:nvSpPr>
          <p:cNvPr id="3" name="Rectángulo 2"/>
          <p:cNvSpPr/>
          <p:nvPr/>
        </p:nvSpPr>
        <p:spPr>
          <a:xfrm>
            <a:off x="3547242" y="361508"/>
            <a:ext cx="7662042" cy="1569660"/>
          </a:xfrm>
          <a:prstGeom prst="rect">
            <a:avLst/>
          </a:prstGeom>
        </p:spPr>
        <p:txBody>
          <a:bodyPr wrap="square">
            <a:spAutoFit/>
          </a:bodyPr>
          <a:lstStyle/>
          <a:p>
            <a:r>
              <a:rPr lang="es-CL" sz="2400" b="1" i="1" dirty="0">
                <a:solidFill>
                  <a:srgbClr val="000000"/>
                </a:solidFill>
                <a:latin typeface="TimesLTStd-Italic"/>
              </a:rPr>
              <a:t>Paso inicial</a:t>
            </a:r>
            <a:r>
              <a:rPr lang="es-CL" sz="2400" b="1" dirty="0">
                <a:solidFill>
                  <a:srgbClr val="000000"/>
                </a:solidFill>
                <a:latin typeface="TimesLTStd-Roman"/>
              </a:rPr>
              <a:t>: </a:t>
            </a:r>
            <a:r>
              <a:rPr lang="es-CL" sz="2400" dirty="0">
                <a:solidFill>
                  <a:srgbClr val="000000"/>
                </a:solidFill>
                <a:latin typeface="TimesLTStd-Roman"/>
              </a:rPr>
              <a:t>se revisan las restricciones del problema original y se introducen variables artificiales según se necesite para obtener una solución BF inicial obvia para el </a:t>
            </a:r>
            <a:r>
              <a:rPr lang="es-CL" sz="2400" dirty="0">
                <a:solidFill>
                  <a:srgbClr val="000000"/>
                </a:solidFill>
                <a:latin typeface="TimesLTStd-Italic"/>
              </a:rPr>
              <a:t>problema artificial</a:t>
            </a:r>
            <a:r>
              <a:rPr lang="es-CL" sz="2400" dirty="0">
                <a:solidFill>
                  <a:srgbClr val="000000"/>
                </a:solidFill>
                <a:latin typeface="TimesLTStd-Roman"/>
              </a:rPr>
              <a:t>.</a:t>
            </a:r>
            <a:endParaRPr lang="es-CL" sz="2400" dirty="0"/>
          </a:p>
        </p:txBody>
      </p:sp>
      <p:pic>
        <p:nvPicPr>
          <p:cNvPr id="5" name="Imagen 4"/>
          <p:cNvPicPr>
            <a:picLocks noChangeAspect="1"/>
          </p:cNvPicPr>
          <p:nvPr/>
        </p:nvPicPr>
        <p:blipFill>
          <a:blip r:embed="rId2"/>
          <a:stretch>
            <a:fillRect/>
          </a:stretch>
        </p:blipFill>
        <p:spPr>
          <a:xfrm>
            <a:off x="4412290" y="2665906"/>
            <a:ext cx="5931945" cy="459332"/>
          </a:xfrm>
          <a:prstGeom prst="rect">
            <a:avLst/>
          </a:prstGeom>
        </p:spPr>
      </p:pic>
      <p:sp>
        <p:nvSpPr>
          <p:cNvPr id="6" name="Cerrar llave 5"/>
          <p:cNvSpPr/>
          <p:nvPr/>
        </p:nvSpPr>
        <p:spPr>
          <a:xfrm>
            <a:off x="3547242" y="1964694"/>
            <a:ext cx="740979" cy="1997734"/>
          </a:xfrm>
          <a:prstGeom prst="rightBrace">
            <a:avLst>
              <a:gd name="adj1" fmla="val 28572"/>
              <a:gd name="adj2" fmla="val 49241"/>
            </a:avLst>
          </a:prstGeom>
          <a:ln w="47625"/>
        </p:spPr>
        <p:style>
          <a:lnRef idx="1">
            <a:schemeClr val="accent1"/>
          </a:lnRef>
          <a:fillRef idx="0">
            <a:schemeClr val="accent1"/>
          </a:fillRef>
          <a:effectRef idx="0">
            <a:schemeClr val="accent1"/>
          </a:effectRef>
          <a:fontRef idx="minor">
            <a:schemeClr val="tx1"/>
          </a:fontRef>
        </p:style>
        <p:txBody>
          <a:bodyPr rtlCol="0" anchor="ctr"/>
          <a:lstStyle/>
          <a:p>
            <a:pPr algn="ctr"/>
            <a:endParaRPr lang="es-CL"/>
          </a:p>
        </p:txBody>
      </p:sp>
      <p:sp>
        <p:nvSpPr>
          <p:cNvPr id="7" name="Rectángulo 6"/>
          <p:cNvSpPr/>
          <p:nvPr/>
        </p:nvSpPr>
        <p:spPr>
          <a:xfrm>
            <a:off x="5586829" y="3429000"/>
            <a:ext cx="5931945" cy="707886"/>
          </a:xfrm>
          <a:prstGeom prst="rect">
            <a:avLst/>
          </a:prstGeom>
        </p:spPr>
        <p:txBody>
          <a:bodyPr wrap="square">
            <a:spAutoFit/>
          </a:bodyPr>
          <a:lstStyle/>
          <a:p>
            <a:r>
              <a:rPr lang="es-CL" sz="2000" dirty="0">
                <a:solidFill>
                  <a:srgbClr val="000000"/>
                </a:solidFill>
                <a:latin typeface="TimesLTStd-Roman"/>
              </a:rPr>
              <a:t>La solución óptima que se obtiene para este problema (con </a:t>
            </a:r>
            <a:r>
              <a:rPr lang="es-CL" sz="2000" i="1" dirty="0">
                <a:solidFill>
                  <a:srgbClr val="000000"/>
                </a:solidFill>
                <a:latin typeface="TimesLTStd-Italic"/>
              </a:rPr>
              <a:t>Z </a:t>
            </a:r>
            <a:r>
              <a:rPr lang="es-CL" sz="2000" dirty="0">
                <a:solidFill>
                  <a:srgbClr val="000000"/>
                </a:solidFill>
                <a:latin typeface="MathematicalPiLTStd-1"/>
              </a:rPr>
              <a:t>= </a:t>
            </a:r>
            <a:r>
              <a:rPr lang="es-CL" sz="2000" dirty="0">
                <a:solidFill>
                  <a:srgbClr val="000000"/>
                </a:solidFill>
                <a:latin typeface="TimesLTStd-Roman"/>
              </a:rPr>
              <a:t>0) será una solución BF para el problema real.</a:t>
            </a:r>
          </a:p>
        </p:txBody>
      </p:sp>
      <p:sp>
        <p:nvSpPr>
          <p:cNvPr id="8" name="Rectángulo 7">
            <a:extLst>
              <a:ext uri="{FF2B5EF4-FFF2-40B4-BE49-F238E27FC236}">
                <a16:creationId xmlns:a16="http://schemas.microsoft.com/office/drawing/2014/main" id="{AC09A5B1-3899-4B33-83CE-39DE2BA29B2E}"/>
              </a:ext>
            </a:extLst>
          </p:cNvPr>
          <p:cNvSpPr/>
          <p:nvPr/>
        </p:nvSpPr>
        <p:spPr>
          <a:xfrm>
            <a:off x="3678644" y="4480559"/>
            <a:ext cx="7941270" cy="2369880"/>
          </a:xfrm>
          <a:prstGeom prst="rect">
            <a:avLst/>
          </a:prstGeom>
        </p:spPr>
        <p:txBody>
          <a:bodyPr wrap="square">
            <a:spAutoFit/>
          </a:bodyPr>
          <a:lstStyle/>
          <a:p>
            <a:r>
              <a:rPr lang="es-CL" sz="2800" b="1" i="1" dirty="0">
                <a:solidFill>
                  <a:srgbClr val="000000"/>
                </a:solidFill>
                <a:latin typeface="TimesLTStd-Roman"/>
              </a:rPr>
              <a:t>Fase 2: </a:t>
            </a:r>
            <a:r>
              <a:rPr lang="es-CL" sz="2400" dirty="0">
                <a:solidFill>
                  <a:srgbClr val="000000"/>
                </a:solidFill>
                <a:latin typeface="TimesLTStd-Roman"/>
              </a:rPr>
              <a:t>El objetivo de esta fase es encontrar una </a:t>
            </a:r>
            <a:r>
              <a:rPr lang="es-CL" sz="2400" i="1" dirty="0">
                <a:solidFill>
                  <a:srgbClr val="000000"/>
                </a:solidFill>
                <a:latin typeface="TimesLTStd-Italic"/>
              </a:rPr>
              <a:t>solución óptima </a:t>
            </a:r>
            <a:r>
              <a:rPr lang="es-CL" sz="2400" dirty="0">
                <a:solidFill>
                  <a:srgbClr val="000000"/>
                </a:solidFill>
                <a:latin typeface="TimesLTStd-Roman"/>
              </a:rPr>
              <a:t>para el problema real. Como las variables artificiales no son parte del problema real, ahora se pueden eliminar (de cualquier manera todas tienen valor de cero). Se comienza con la solución BF que se obtuvo al final de la fase 1 y se usa el método </a:t>
            </a:r>
            <a:r>
              <a:rPr lang="es-CL" sz="2400" dirty="0" err="1">
                <a:solidFill>
                  <a:srgbClr val="000000"/>
                </a:solidFill>
                <a:latin typeface="TimesLTStd-Roman"/>
              </a:rPr>
              <a:t>símplex</a:t>
            </a:r>
            <a:r>
              <a:rPr lang="es-CL" sz="2400" dirty="0">
                <a:solidFill>
                  <a:srgbClr val="000000"/>
                </a:solidFill>
                <a:latin typeface="TimesLTStd-Roman"/>
              </a:rPr>
              <a:t> para resolver el problema real.</a:t>
            </a:r>
            <a:r>
              <a:rPr lang="es-CL" sz="2400" dirty="0"/>
              <a:t> </a:t>
            </a:r>
          </a:p>
        </p:txBody>
      </p:sp>
    </p:spTree>
    <p:extLst>
      <p:ext uri="{BB962C8B-B14F-4D97-AF65-F5344CB8AC3E}">
        <p14:creationId xmlns:p14="http://schemas.microsoft.com/office/powerpoint/2010/main" val="36934752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189857" y="1364077"/>
            <a:ext cx="2947482" cy="4678204"/>
          </a:xfrm>
          <a:prstGeom prst="rect">
            <a:avLst/>
          </a:prstGeom>
        </p:spPr>
        <p:txBody>
          <a:bodyPr wrap="square">
            <a:spAutoFit/>
          </a:bodyPr>
          <a:lstStyle/>
          <a:p>
            <a:r>
              <a:rPr lang="es-CL" sz="2800" b="1" i="1" spc="-60" dirty="0">
                <a:solidFill>
                  <a:srgbClr val="000000"/>
                </a:solidFill>
                <a:latin typeface="TimesLTStd-Italic"/>
                <a:ea typeface="+mj-ea"/>
                <a:cs typeface="+mj-cs"/>
              </a:rPr>
              <a:t>Fase 2: </a:t>
            </a:r>
            <a:r>
              <a:rPr lang="es-CL" dirty="0">
                <a:solidFill>
                  <a:srgbClr val="000000"/>
                </a:solidFill>
                <a:latin typeface="TimesLTStd-Roman"/>
              </a:rPr>
              <a:t>El objetivo de esta fase es encontrar una </a:t>
            </a:r>
            <a:r>
              <a:rPr lang="es-CL" i="1" dirty="0">
                <a:solidFill>
                  <a:srgbClr val="000000"/>
                </a:solidFill>
                <a:latin typeface="TimesLTStd-Italic"/>
              </a:rPr>
              <a:t>solución óptima </a:t>
            </a:r>
            <a:r>
              <a:rPr lang="es-CL" dirty="0">
                <a:solidFill>
                  <a:srgbClr val="000000"/>
                </a:solidFill>
                <a:latin typeface="TimesLTStd-Roman"/>
              </a:rPr>
              <a:t>para el problema real. Como las variables artificiales no son parte del problema real, ahora se pueden eliminar (de cualquier manera todas tienen valor de cero). Se comienza con la solución BF que se obtuvo al final de la fase 1 y se usa el método </a:t>
            </a:r>
            <a:r>
              <a:rPr lang="es-CL" dirty="0" err="1">
                <a:solidFill>
                  <a:srgbClr val="000000"/>
                </a:solidFill>
                <a:latin typeface="TimesLTStd-Roman"/>
              </a:rPr>
              <a:t>símplex</a:t>
            </a:r>
            <a:r>
              <a:rPr lang="es-CL" dirty="0">
                <a:solidFill>
                  <a:srgbClr val="000000"/>
                </a:solidFill>
                <a:latin typeface="TimesLTStd-Roman"/>
              </a:rPr>
              <a:t> para resolver el problema real.</a:t>
            </a:r>
            <a:r>
              <a:rPr lang="es-CL" dirty="0"/>
              <a:t> </a:t>
            </a:r>
            <a:br>
              <a:rPr lang="es-CL" dirty="0"/>
            </a:br>
            <a:endParaRPr lang="es-CL" dirty="0"/>
          </a:p>
        </p:txBody>
      </p:sp>
      <p:graphicFrame>
        <p:nvGraphicFramePr>
          <p:cNvPr id="4" name="Tabla 3"/>
          <p:cNvGraphicFramePr>
            <a:graphicFrameLocks noGrp="1"/>
          </p:cNvGraphicFramePr>
          <p:nvPr>
            <p:extLst>
              <p:ext uri="{D42A27DB-BD31-4B8C-83A1-F6EECF244321}">
                <p14:modId xmlns:p14="http://schemas.microsoft.com/office/powerpoint/2010/main" val="1634022344"/>
              </p:ext>
            </p:extLst>
          </p:nvPr>
        </p:nvGraphicFramePr>
        <p:xfrm>
          <a:off x="3743434" y="794835"/>
          <a:ext cx="6502400" cy="4394823"/>
        </p:xfrm>
        <a:graphic>
          <a:graphicData uri="http://schemas.openxmlformats.org/drawingml/2006/table">
            <a:tbl>
              <a:tblPr firstRow="1" bandRow="1">
                <a:tableStyleId>{5C22544A-7EE6-4342-B048-85BDC9FD1C3A}</a:tableStyleId>
              </a:tblPr>
              <a:tblGrid>
                <a:gridCol w="8128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gridCol w="812800">
                  <a:extLst>
                    <a:ext uri="{9D8B030D-6E8A-4147-A177-3AD203B41FA5}">
                      <a16:colId xmlns:a16="http://schemas.microsoft.com/office/drawing/2014/main" val="20002"/>
                    </a:ext>
                  </a:extLst>
                </a:gridCol>
                <a:gridCol w="812800">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gridCol w="812800">
                  <a:extLst>
                    <a:ext uri="{9D8B030D-6E8A-4147-A177-3AD203B41FA5}">
                      <a16:colId xmlns:a16="http://schemas.microsoft.com/office/drawing/2014/main" val="20005"/>
                    </a:ext>
                  </a:extLst>
                </a:gridCol>
                <a:gridCol w="812800">
                  <a:extLst>
                    <a:ext uri="{9D8B030D-6E8A-4147-A177-3AD203B41FA5}">
                      <a16:colId xmlns:a16="http://schemas.microsoft.com/office/drawing/2014/main" val="20006"/>
                    </a:ext>
                  </a:extLst>
                </a:gridCol>
                <a:gridCol w="812800">
                  <a:extLst>
                    <a:ext uri="{9D8B030D-6E8A-4147-A177-3AD203B41FA5}">
                      <a16:colId xmlns:a16="http://schemas.microsoft.com/office/drawing/2014/main" val="20007"/>
                    </a:ext>
                  </a:extLst>
                </a:gridCol>
              </a:tblGrid>
              <a:tr h="370840">
                <a:tc>
                  <a:txBody>
                    <a:bodyPr/>
                    <a:lstStyle/>
                    <a:p>
                      <a:r>
                        <a:rPr lang="es-CL" sz="1400" dirty="0">
                          <a:latin typeface="Arial" panose="020B0604020202020204" pitchFamily="34" charset="0"/>
                          <a:cs typeface="Arial" panose="020B0604020202020204" pitchFamily="34" charset="0"/>
                        </a:rPr>
                        <a:t>V.B.</a:t>
                      </a:r>
                    </a:p>
                  </a:txBody>
                  <a:tcPr/>
                </a:tc>
                <a:tc>
                  <a:txBody>
                    <a:bodyPr/>
                    <a:lstStyle/>
                    <a:p>
                      <a:r>
                        <a:rPr lang="es-CL" sz="1400" dirty="0">
                          <a:latin typeface="Arial" panose="020B0604020202020204" pitchFamily="34" charset="0"/>
                          <a:cs typeface="Arial" panose="020B0604020202020204" pitchFamily="34" charset="0"/>
                        </a:rPr>
                        <a:t>Z</a:t>
                      </a:r>
                    </a:p>
                  </a:txBody>
                  <a:tcPr/>
                </a:tc>
                <a:tc>
                  <a:txBody>
                    <a:bodyPr/>
                    <a:lstStyle/>
                    <a:p>
                      <a:r>
                        <a:rPr lang="es-CL" sz="1400" dirty="0">
                          <a:latin typeface="Arial" panose="020B0604020202020204" pitchFamily="34" charset="0"/>
                          <a:cs typeface="Arial" panose="020B0604020202020204" pitchFamily="34" charset="0"/>
                        </a:rPr>
                        <a:t>X1</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X2</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X3</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X4</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X5</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L.D.</a:t>
                      </a:r>
                    </a:p>
                  </a:txBody>
                  <a:tcPr/>
                </a:tc>
                <a:extLst>
                  <a:ext uri="{0D108BD9-81ED-4DB2-BD59-A6C34878D82A}">
                    <a16:rowId xmlns:a16="http://schemas.microsoft.com/office/drawing/2014/main" val="10000"/>
                  </a:ext>
                </a:extLst>
              </a:tr>
              <a:tr h="284356">
                <a:tc>
                  <a:txBody>
                    <a:bodyPr/>
                    <a:lstStyle/>
                    <a:p>
                      <a:r>
                        <a:rPr lang="es-CL" sz="1400" dirty="0">
                          <a:latin typeface="Arial" panose="020B0604020202020204" pitchFamily="34" charset="0"/>
                          <a:cs typeface="Arial" panose="020B0604020202020204" pitchFamily="34" charset="0"/>
                        </a:rPr>
                        <a:t>Z</a:t>
                      </a:r>
                    </a:p>
                  </a:txBody>
                  <a:tcPr/>
                </a:tc>
                <a:tc>
                  <a:txBody>
                    <a:bodyPr/>
                    <a:lstStyle/>
                    <a:p>
                      <a:r>
                        <a:rPr lang="es-CL" sz="1400" dirty="0">
                          <a:latin typeface="Arial" panose="020B0604020202020204" pitchFamily="34" charset="0"/>
                          <a:cs typeface="Arial" panose="020B0604020202020204" pitchFamily="34" charset="0"/>
                        </a:rPr>
                        <a:t>1</a:t>
                      </a:r>
                    </a:p>
                  </a:txBody>
                  <a:tcPr>
                    <a:lnR w="12700" cap="flat" cmpd="sng" algn="ctr">
                      <a:solidFill>
                        <a:schemeClr val="tx1"/>
                      </a:solidFill>
                      <a:prstDash val="solid"/>
                      <a:round/>
                      <a:headEnd type="none" w="med" len="med"/>
                      <a:tailEnd type="none" w="med" len="med"/>
                    </a:lnR>
                  </a:tcPr>
                </a:tc>
                <a:tc>
                  <a:txBody>
                    <a:bodyPr/>
                    <a:lstStyle/>
                    <a:p>
                      <a:r>
                        <a:rPr lang="es-CL" sz="1400" dirty="0">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0</a:t>
                      </a:r>
                    </a:p>
                  </a:txBody>
                  <a:tcPr>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0</a:t>
                      </a:r>
                    </a:p>
                  </a:txBody>
                  <a:tcPr>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0</a:t>
                      </a:r>
                    </a:p>
                  </a:txBody>
                  <a:tcPr>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0</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s-CL" sz="1600" b="1" dirty="0">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1"/>
                  </a:ext>
                </a:extLst>
              </a:tr>
              <a:tr h="279101">
                <a:tc>
                  <a:txBody>
                    <a:bodyPr/>
                    <a:lstStyle/>
                    <a:p>
                      <a:r>
                        <a:rPr lang="es-CL" sz="1400" b="1" dirty="0">
                          <a:latin typeface="Arial" panose="020B0604020202020204" pitchFamily="34" charset="0"/>
                          <a:cs typeface="Arial" panose="020B0604020202020204" pitchFamily="34" charset="0"/>
                        </a:rPr>
                        <a:t>X1</a:t>
                      </a:r>
                    </a:p>
                  </a:txBody>
                  <a:tcPr>
                    <a:lnB w="12700" cmpd="sng">
                      <a:noFill/>
                    </a:lnB>
                  </a:tcPr>
                </a:tc>
                <a:tc>
                  <a:txBody>
                    <a:bodyPr/>
                    <a:lstStyle/>
                    <a:p>
                      <a:r>
                        <a:rPr lang="es-CL" sz="1400" dirty="0">
                          <a:latin typeface="Arial" panose="020B0604020202020204" pitchFamily="34" charset="0"/>
                          <a:cs typeface="Arial" panose="020B0604020202020204" pitchFamily="34" charset="0"/>
                        </a:rPr>
                        <a:t>0</a:t>
                      </a:r>
                    </a:p>
                  </a:txBody>
                  <a:tcPr>
                    <a:lnR w="12700" cap="flat" cmpd="sng" algn="ctr">
                      <a:solidFill>
                        <a:schemeClr val="tx1"/>
                      </a:solidFill>
                      <a:prstDash val="solid"/>
                      <a:round/>
                      <a:headEnd type="none" w="med" len="med"/>
                      <a:tailEnd type="none" w="med" len="med"/>
                    </a:lnR>
                    <a:lnB w="12700" cmpd="sng">
                      <a:noFill/>
                    </a:lnB>
                  </a:tcPr>
                </a:tc>
                <a:tc>
                  <a:txBody>
                    <a:bodyPr/>
                    <a:lstStyle/>
                    <a:p>
                      <a:r>
                        <a:rPr lang="es-CL" sz="1400" dirty="0">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tcPr>
                </a:tc>
                <a:tc>
                  <a:txBody>
                    <a:bodyPr/>
                    <a:lstStyle/>
                    <a:p>
                      <a:r>
                        <a:rPr lang="es-CL" sz="1400" dirty="0">
                          <a:latin typeface="Arial" panose="020B0604020202020204" pitchFamily="34" charset="0"/>
                          <a:cs typeface="Arial" panose="020B0604020202020204" pitchFamily="34" charset="0"/>
                        </a:rPr>
                        <a:t>0</a:t>
                      </a:r>
                    </a:p>
                  </a:txBody>
                  <a:tcPr/>
                </a:tc>
                <a:tc>
                  <a:txBody>
                    <a:bodyPr/>
                    <a:lstStyle/>
                    <a:p>
                      <a:r>
                        <a:rPr lang="es-CL" sz="1400" dirty="0">
                          <a:latin typeface="Arial" panose="020B0604020202020204" pitchFamily="34" charset="0"/>
                          <a:cs typeface="Arial" panose="020B0604020202020204" pitchFamily="34" charset="0"/>
                        </a:rPr>
                        <a:t>3</a:t>
                      </a:r>
                    </a:p>
                  </a:txBody>
                  <a:tcPr/>
                </a:tc>
                <a:tc>
                  <a:txBody>
                    <a:bodyPr/>
                    <a:lstStyle/>
                    <a:p>
                      <a:r>
                        <a:rPr lang="es-CL" sz="1400" dirty="0">
                          <a:latin typeface="Arial" panose="020B0604020202020204" pitchFamily="34" charset="0"/>
                          <a:cs typeface="Arial" panose="020B0604020202020204" pitchFamily="34" charset="0"/>
                        </a:rPr>
                        <a:t>-1</a:t>
                      </a:r>
                    </a:p>
                  </a:txBody>
                  <a:tcPr/>
                </a:tc>
                <a:tc>
                  <a:txBody>
                    <a:bodyPr/>
                    <a:lstStyle/>
                    <a:p>
                      <a:r>
                        <a:rPr lang="es-CL" sz="1400" dirty="0">
                          <a:latin typeface="Arial" panose="020B0604020202020204" pitchFamily="34" charset="0"/>
                          <a:cs typeface="Arial" panose="020B0604020202020204" pitchFamily="34" charset="0"/>
                        </a:rPr>
                        <a:t>1/2</a:t>
                      </a:r>
                    </a:p>
                  </a:txBody>
                  <a:tcPr>
                    <a:lnR w="12700" cap="flat" cmpd="sng" algn="ctr">
                      <a:solidFill>
                        <a:schemeClr val="tx1"/>
                      </a:solidFill>
                      <a:prstDash val="solid"/>
                      <a:round/>
                      <a:headEnd type="none" w="med" len="med"/>
                      <a:tailEnd type="none" w="med" len="med"/>
                    </a:lnR>
                  </a:tcPr>
                </a:tc>
                <a:tc>
                  <a:txBody>
                    <a:bodyPr/>
                    <a:lstStyle/>
                    <a:p>
                      <a:r>
                        <a:rPr lang="es-CL" sz="1400" dirty="0">
                          <a:latin typeface="Arial" panose="020B0604020202020204" pitchFamily="34" charset="0"/>
                          <a:cs typeface="Arial" panose="020B0604020202020204" pitchFamily="34" charset="0"/>
                        </a:rPr>
                        <a:t>1/4</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2"/>
                  </a:ext>
                </a:extLst>
              </a:tr>
              <a:tr h="305377">
                <a:tc>
                  <a:txBody>
                    <a:bodyPr/>
                    <a:lstStyle/>
                    <a:p>
                      <a:r>
                        <a:rPr lang="es-CL" sz="1400" b="1" dirty="0">
                          <a:latin typeface="Arial" panose="020B0604020202020204" pitchFamily="34" charset="0"/>
                          <a:cs typeface="Arial" panose="020B0604020202020204" pitchFamily="34" charset="0"/>
                        </a:rPr>
                        <a:t>X2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0</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1</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-2</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1</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-1</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1/2</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36483">
                <a:tc gridSpan="8">
                  <a:txBody>
                    <a:bodyPr/>
                    <a:lstStyle/>
                    <a:p>
                      <a:r>
                        <a:rPr lang="es-CL" dirty="0"/>
                        <a:t>Se sustituye la</a:t>
                      </a:r>
                      <a:r>
                        <a:rPr lang="es-CL" baseline="0" dirty="0"/>
                        <a:t> F.O. original</a:t>
                      </a:r>
                      <a:endParaRPr lang="es-CL"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CL"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s-CL" dirty="0"/>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s-CL"/>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s-CL"/>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s-CL"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s-CL" dirty="0"/>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hMerge="1">
                  <a:txBody>
                    <a:bodyPr/>
                    <a:lstStyle/>
                    <a:p>
                      <a:endParaRPr lang="es-CL" dirty="0"/>
                    </a:p>
                  </a:txBody>
                  <a:tcPr>
                    <a:lnL w="12700" cap="flat" cmpd="sng" algn="ctr">
                      <a:no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4"/>
                  </a:ext>
                </a:extLst>
              </a:tr>
              <a:tr h="236483">
                <a:tc>
                  <a:txBody>
                    <a:bodyPr/>
                    <a:lstStyle/>
                    <a:p>
                      <a:r>
                        <a:rPr lang="es-CL" sz="1400" dirty="0">
                          <a:latin typeface="Arial" panose="020B0604020202020204" pitchFamily="34" charset="0"/>
                          <a:cs typeface="Arial" panose="020B0604020202020204" pitchFamily="34" charset="0"/>
                        </a:rPr>
                        <a:t>Z</a:t>
                      </a:r>
                    </a:p>
                  </a:txBody>
                  <a:tcPr>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-160</a:t>
                      </a:r>
                    </a:p>
                  </a:txBody>
                  <a:tcPr>
                    <a:lnL w="12700" cap="flat" cmpd="sng" algn="ctr">
                      <a:solidFill>
                        <a:schemeClr val="tx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-120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-280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0</a:t>
                      </a:r>
                    </a:p>
                  </a:txBody>
                  <a:tcPr>
                    <a:lnL w="12700" cmpd="sng">
                      <a:noFill/>
                    </a:lnL>
                    <a:lnR w="12700" cmpd="sng">
                      <a:noFill/>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0</a:t>
                      </a:r>
                    </a:p>
                  </a:txBody>
                  <a:tcPr>
                    <a:lnL w="12700" cmpd="sng">
                      <a:noFill/>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mpd="sng">
                      <a:noFill/>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5"/>
                  </a:ext>
                </a:extLst>
              </a:tr>
              <a:tr h="226642">
                <a:tc>
                  <a:txBody>
                    <a:bodyPr/>
                    <a:lstStyle/>
                    <a:p>
                      <a:r>
                        <a:rPr lang="es-CL" sz="1400" dirty="0">
                          <a:latin typeface="Arial" panose="020B0604020202020204" pitchFamily="34" charset="0"/>
                          <a:cs typeface="Arial" panose="020B0604020202020204" pitchFamily="34" charset="0"/>
                        </a:rPr>
                        <a:t>X1</a:t>
                      </a:r>
                    </a:p>
                  </a:txBody>
                  <a:tcPr/>
                </a:tc>
                <a:tc>
                  <a:txBody>
                    <a:bodyPr/>
                    <a:lstStyle/>
                    <a:p>
                      <a:r>
                        <a:rPr lang="es-CL" sz="1400" dirty="0">
                          <a:latin typeface="Arial" panose="020B0604020202020204" pitchFamily="34" charset="0"/>
                          <a:cs typeface="Arial" panose="020B0604020202020204" pitchFamily="34" charset="0"/>
                        </a:rPr>
                        <a:t>0</a:t>
                      </a:r>
                    </a:p>
                  </a:txBody>
                  <a:tcPr>
                    <a:lnR w="12700" cap="flat" cmpd="sng" algn="ctr">
                      <a:solidFill>
                        <a:schemeClr val="tx1"/>
                      </a:solidFill>
                      <a:prstDash val="solid"/>
                      <a:round/>
                      <a:headEnd type="none" w="med" len="med"/>
                      <a:tailEnd type="none" w="med" len="med"/>
                    </a:lnR>
                  </a:tcPr>
                </a:tc>
                <a:tc>
                  <a:txBody>
                    <a:bodyPr/>
                    <a:lstStyle/>
                    <a:p>
                      <a:r>
                        <a:rPr lang="es-CL" sz="1400" dirty="0">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0</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3</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-1</a:t>
                      </a:r>
                    </a:p>
                  </a:txBody>
                  <a:tcPr>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1/2</a:t>
                      </a:r>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1/4</a:t>
                      </a:r>
                    </a:p>
                  </a:txBody>
                  <a:tcPr>
                    <a:lnL w="12700" cap="flat" cmpd="sng" algn="ctr">
                      <a:solidFill>
                        <a:schemeClr val="tx1"/>
                      </a:solidFill>
                      <a:prstDash val="solid"/>
                      <a:round/>
                      <a:headEnd type="none" w="med" len="med"/>
                      <a:tailEnd type="none" w="med" len="med"/>
                    </a:lnL>
                  </a:tcPr>
                </a:tc>
                <a:extLst>
                  <a:ext uri="{0D108BD9-81ED-4DB2-BD59-A6C34878D82A}">
                    <a16:rowId xmlns:a16="http://schemas.microsoft.com/office/drawing/2014/main" val="10006"/>
                  </a:ext>
                </a:extLst>
              </a:tr>
              <a:tr h="416606">
                <a:tc>
                  <a:txBody>
                    <a:bodyPr/>
                    <a:lstStyle/>
                    <a:p>
                      <a:r>
                        <a:rPr lang="es-CL" sz="1400" dirty="0">
                          <a:latin typeface="Arial" panose="020B0604020202020204" pitchFamily="34" charset="0"/>
                          <a:cs typeface="Arial" panose="020B0604020202020204" pitchFamily="34" charset="0"/>
                        </a:rPr>
                        <a:t>X2</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0</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1</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-2</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1</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-1</a:t>
                      </a:r>
                    </a:p>
                  </a:txBody>
                  <a:tcPr>
                    <a:lnL w="12700" cmpd="sng">
                      <a:noFill/>
                    </a:lnL>
                    <a:lnR w="12700" cap="flat" cmpd="sng" algn="ctr">
                      <a:solidFill>
                        <a:schemeClr val="tx1"/>
                      </a:solidFill>
                      <a:prstDash val="solid"/>
                      <a:round/>
                      <a:headEnd type="none" w="med" len="med"/>
                      <a:tailEnd type="none" w="med" len="med"/>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s-CL" sz="1400" dirty="0">
                          <a:latin typeface="Arial" panose="020B0604020202020204" pitchFamily="34" charset="0"/>
                          <a:cs typeface="Arial" panose="020B0604020202020204" pitchFamily="34" charset="0"/>
                        </a:rPr>
                        <a:t>1/2</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r h="246993">
                <a:tc gridSpan="8">
                  <a:txBody>
                    <a:bodyPr/>
                    <a:lstStyle/>
                    <a:p>
                      <a:r>
                        <a:rPr lang="es-CL" dirty="0"/>
                        <a:t>Los coeficientes</a:t>
                      </a:r>
                      <a:r>
                        <a:rPr lang="es-CL" baseline="0" dirty="0"/>
                        <a:t> de X1 y X2 deben llevarse a cero mediante operaciones elementales.</a:t>
                      </a:r>
                      <a:endParaRPr lang="es-CL" dirty="0"/>
                    </a:p>
                  </a:txBody>
                  <a:tcP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s-CL" dirty="0"/>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hMerge="1">
                  <a:txBody>
                    <a:bodyPr/>
                    <a:lstStyle/>
                    <a:p>
                      <a:endParaRPr lang="es-CL"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hMerge="1">
                  <a:txBody>
                    <a:bodyPr/>
                    <a:lstStyle/>
                    <a:p>
                      <a:endParaRPr lang="es-CL" dirty="0"/>
                    </a:p>
                  </a:txBody>
                  <a:tcPr>
                    <a:lnT w="12700" cap="flat" cmpd="sng" algn="ctr">
                      <a:solidFill>
                        <a:schemeClr val="tx1"/>
                      </a:solidFill>
                      <a:prstDash val="solid"/>
                      <a:round/>
                      <a:headEnd type="none" w="med" len="med"/>
                      <a:tailEnd type="none" w="med" len="med"/>
                    </a:lnT>
                  </a:tcPr>
                </a:tc>
                <a:tc hMerge="1">
                  <a:txBody>
                    <a:bodyPr/>
                    <a:lstStyle/>
                    <a:p>
                      <a:endParaRPr lang="es-CL" dirty="0"/>
                    </a:p>
                  </a:txBody>
                  <a:tcPr>
                    <a:lnT w="12700" cap="flat" cmpd="sng" algn="ctr">
                      <a:solidFill>
                        <a:schemeClr val="tx1"/>
                      </a:solidFill>
                      <a:prstDash val="solid"/>
                      <a:round/>
                      <a:headEnd type="none" w="med" len="med"/>
                      <a:tailEnd type="none" w="med" len="med"/>
                    </a:lnT>
                  </a:tcPr>
                </a:tc>
                <a:tc hMerge="1">
                  <a:txBody>
                    <a:bodyPr/>
                    <a:lstStyle/>
                    <a:p>
                      <a:endParaRPr lang="es-CL" dirty="0"/>
                    </a:p>
                  </a:txBody>
                  <a:tcPr>
                    <a:lnT w="12700" cap="flat" cmpd="sng" algn="ctr">
                      <a:solidFill>
                        <a:schemeClr val="tx1"/>
                      </a:solidFill>
                      <a:prstDash val="solid"/>
                      <a:round/>
                      <a:headEnd type="none" w="med" len="med"/>
                      <a:tailEnd type="none" w="med" len="med"/>
                    </a:lnT>
                  </a:tcPr>
                </a:tc>
                <a:tc hMerge="1">
                  <a:txBody>
                    <a:bodyPr/>
                    <a:lstStyle/>
                    <a:p>
                      <a:endParaRPr lang="es-CL" dirty="0"/>
                    </a:p>
                  </a:txBody>
                  <a:tcPr>
                    <a:lnT w="12700" cap="flat" cmpd="sng" algn="ctr">
                      <a:solidFill>
                        <a:schemeClr val="tx1"/>
                      </a:solidFill>
                      <a:prstDash val="solid"/>
                      <a:round/>
                      <a:headEnd type="none" w="med" len="med"/>
                      <a:tailEnd type="none" w="med" len="med"/>
                    </a:lnT>
                  </a:tcPr>
                </a:tc>
                <a:tc hMerge="1">
                  <a:txBody>
                    <a:bodyPr/>
                    <a:lstStyle/>
                    <a:p>
                      <a:endParaRPr lang="es-CL" dirty="0"/>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8"/>
                  </a:ext>
                </a:extLst>
              </a:tr>
              <a:tr h="246993">
                <a:tc>
                  <a:txBody>
                    <a:bodyPr/>
                    <a:lstStyle/>
                    <a:p>
                      <a:r>
                        <a:rPr lang="es-CL" sz="1400" dirty="0">
                          <a:latin typeface="Arial" panose="020B0604020202020204" pitchFamily="34" charset="0"/>
                          <a:cs typeface="Arial" panose="020B0604020202020204" pitchFamily="34" charset="0"/>
                        </a:rPr>
                        <a:t>Z</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1</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0</a:t>
                      </a:r>
                    </a:p>
                  </a:txBody>
                  <a:tcPr>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-40</a:t>
                      </a:r>
                    </a:p>
                  </a:txBody>
                  <a:tcPr>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-40</a:t>
                      </a:r>
                    </a:p>
                  </a:txBody>
                  <a:tcPr>
                    <a:lnT w="12700" cap="flat" cmpd="sng" algn="ctr">
                      <a:solidFill>
                        <a:schemeClr val="tx1"/>
                      </a:solidFill>
                      <a:prstDash val="solid"/>
                      <a:round/>
                      <a:headEnd type="none" w="med" len="med"/>
                      <a:tailEnd type="none" w="med" len="med"/>
                    </a:lnT>
                  </a:tcPr>
                </a:tc>
                <a:tc>
                  <a:txBody>
                    <a:bodyPr/>
                    <a:lstStyle/>
                    <a:p>
                      <a:r>
                        <a:rPr lang="es-CL" sz="1400" dirty="0">
                          <a:latin typeface="Arial" panose="020B0604020202020204" pitchFamily="34" charset="0"/>
                          <a:cs typeface="Arial" panose="020B0604020202020204" pitchFamily="34" charset="0"/>
                        </a:rPr>
                        <a:t>-40</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s-CL" sz="1400">
                          <a:latin typeface="Arial" panose="020B0604020202020204" pitchFamily="34" charset="0"/>
                          <a:cs typeface="Arial" panose="020B0604020202020204" pitchFamily="34" charset="0"/>
                        </a:rPr>
                        <a:t>100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10009"/>
                  </a:ext>
                </a:extLst>
              </a:tr>
              <a:tr h="370840">
                <a:tc>
                  <a:txBody>
                    <a:bodyPr/>
                    <a:lstStyle/>
                    <a:p>
                      <a:r>
                        <a:rPr lang="es-CL" sz="1400" dirty="0">
                          <a:latin typeface="Arial" panose="020B0604020202020204" pitchFamily="34" charset="0"/>
                          <a:cs typeface="Arial" panose="020B0604020202020204" pitchFamily="34" charset="0"/>
                        </a:rPr>
                        <a:t>X1</a:t>
                      </a:r>
                    </a:p>
                  </a:txBody>
                  <a:tcPr>
                    <a:lnL w="12700" cap="flat" cmpd="sng" algn="ctr">
                      <a:solidFill>
                        <a:schemeClr val="tx1"/>
                      </a:solidFill>
                      <a:prstDash val="solid"/>
                      <a:round/>
                      <a:headEnd type="none" w="med" len="med"/>
                      <a:tailEnd type="none" w="med" len="med"/>
                    </a:lnL>
                  </a:tcPr>
                </a:tc>
                <a:tc>
                  <a:txBody>
                    <a:bodyPr/>
                    <a:lstStyle/>
                    <a:p>
                      <a:r>
                        <a:rPr lang="es-CL" sz="1400" dirty="0">
                          <a:latin typeface="Arial" panose="020B0604020202020204" pitchFamily="34" charset="0"/>
                          <a:cs typeface="Arial" panose="020B0604020202020204" pitchFamily="34" charset="0"/>
                        </a:rPr>
                        <a:t>0</a:t>
                      </a:r>
                    </a:p>
                  </a:txBody>
                  <a:tcPr>
                    <a:lnR w="12700" cap="flat" cmpd="sng" algn="ctr">
                      <a:solidFill>
                        <a:schemeClr val="tx1"/>
                      </a:solidFill>
                      <a:prstDash val="solid"/>
                      <a:round/>
                      <a:headEnd type="none" w="med" len="med"/>
                      <a:tailEnd type="none" w="med" len="med"/>
                    </a:lnR>
                  </a:tcPr>
                </a:tc>
                <a:tc>
                  <a:txBody>
                    <a:bodyPr/>
                    <a:lstStyle/>
                    <a:p>
                      <a:r>
                        <a:rPr lang="es-CL" sz="1400" dirty="0">
                          <a:latin typeface="Arial" panose="020B0604020202020204" pitchFamily="34" charset="0"/>
                          <a:cs typeface="Arial" panose="020B0604020202020204" pitchFamily="34" charset="0"/>
                        </a:rPr>
                        <a:t>1</a:t>
                      </a:r>
                    </a:p>
                  </a:txBody>
                  <a:tcPr>
                    <a:lnL w="12700" cap="flat" cmpd="sng" algn="ctr">
                      <a:solidFill>
                        <a:schemeClr val="tx1"/>
                      </a:solidFill>
                      <a:prstDash val="solid"/>
                      <a:round/>
                      <a:headEnd type="none" w="med" len="med"/>
                      <a:tailEnd type="none" w="med" len="med"/>
                    </a:lnL>
                  </a:tcPr>
                </a:tc>
                <a:tc>
                  <a:txBody>
                    <a:bodyPr/>
                    <a:lstStyle/>
                    <a:p>
                      <a:r>
                        <a:rPr lang="es-CL" sz="1400" dirty="0">
                          <a:latin typeface="Arial" panose="020B0604020202020204" pitchFamily="34" charset="0"/>
                          <a:cs typeface="Arial" panose="020B0604020202020204" pitchFamily="34" charset="0"/>
                        </a:rPr>
                        <a:t>0</a:t>
                      </a:r>
                    </a:p>
                  </a:txBody>
                  <a:tcPr/>
                </a:tc>
                <a:tc>
                  <a:txBody>
                    <a:bodyPr/>
                    <a:lstStyle/>
                    <a:p>
                      <a:r>
                        <a:rPr lang="es-CL" sz="1400" dirty="0">
                          <a:latin typeface="Arial" panose="020B0604020202020204" pitchFamily="34" charset="0"/>
                          <a:cs typeface="Arial" panose="020B0604020202020204" pitchFamily="34" charset="0"/>
                        </a:rPr>
                        <a:t>3</a:t>
                      </a:r>
                    </a:p>
                  </a:txBody>
                  <a:tcPr/>
                </a:tc>
                <a:tc>
                  <a:txBody>
                    <a:bodyPr/>
                    <a:lstStyle/>
                    <a:p>
                      <a:r>
                        <a:rPr lang="es-CL" sz="1400" dirty="0">
                          <a:latin typeface="Arial" panose="020B0604020202020204" pitchFamily="34" charset="0"/>
                          <a:cs typeface="Arial" panose="020B0604020202020204" pitchFamily="34" charset="0"/>
                        </a:rPr>
                        <a:t>-1</a:t>
                      </a:r>
                    </a:p>
                  </a:txBody>
                  <a:tcPr/>
                </a:tc>
                <a:tc>
                  <a:txBody>
                    <a:bodyPr/>
                    <a:lstStyle/>
                    <a:p>
                      <a:r>
                        <a:rPr lang="es-CL" sz="1400" dirty="0">
                          <a:latin typeface="Arial" panose="020B0604020202020204" pitchFamily="34" charset="0"/>
                          <a:cs typeface="Arial" panose="020B0604020202020204" pitchFamily="34" charset="0"/>
                        </a:rPr>
                        <a:t>1/2</a:t>
                      </a:r>
                    </a:p>
                  </a:txBody>
                  <a:tcPr>
                    <a:lnR w="12700" cap="flat" cmpd="sng" algn="ctr">
                      <a:solidFill>
                        <a:schemeClr val="tx1"/>
                      </a:solidFill>
                      <a:prstDash val="solid"/>
                      <a:round/>
                      <a:headEnd type="none" w="med" len="med"/>
                      <a:tailEnd type="none" w="med" len="med"/>
                    </a:lnR>
                  </a:tcPr>
                </a:tc>
                <a:tc>
                  <a:txBody>
                    <a:bodyPr/>
                    <a:lstStyle/>
                    <a:p>
                      <a:r>
                        <a:rPr lang="es-CL" sz="1400" dirty="0">
                          <a:latin typeface="Arial" panose="020B0604020202020204" pitchFamily="34" charset="0"/>
                          <a:cs typeface="Arial" panose="020B0604020202020204" pitchFamily="34" charset="0"/>
                        </a:rPr>
                        <a:t>1/4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extLst>
                  <a:ext uri="{0D108BD9-81ED-4DB2-BD59-A6C34878D82A}">
                    <a16:rowId xmlns:a16="http://schemas.microsoft.com/office/drawing/2014/main" val="10010"/>
                  </a:ext>
                </a:extLst>
              </a:tr>
              <a:tr h="370840">
                <a:tc>
                  <a:txBody>
                    <a:bodyPr/>
                    <a:lstStyle/>
                    <a:p>
                      <a:r>
                        <a:rPr lang="es-CL" sz="1400" dirty="0">
                          <a:latin typeface="Arial" panose="020B0604020202020204" pitchFamily="34" charset="0"/>
                          <a:cs typeface="Arial" panose="020B0604020202020204" pitchFamily="34" charset="0"/>
                        </a:rPr>
                        <a:t>X2</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0</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0</a:t>
                      </a:r>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1</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-2</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1</a:t>
                      </a:r>
                    </a:p>
                  </a:txBody>
                  <a:tcP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-1</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es-CL" sz="1400" dirty="0">
                          <a:latin typeface="Arial" panose="020B0604020202020204" pitchFamily="34" charset="0"/>
                          <a:cs typeface="Arial" panose="020B0604020202020204" pitchFamily="34" charset="0"/>
                        </a:rPr>
                        <a:t>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
        <p:nvSpPr>
          <p:cNvPr id="5" name="CuadroTexto 4"/>
          <p:cNvSpPr txBox="1"/>
          <p:nvPr/>
        </p:nvSpPr>
        <p:spPr>
          <a:xfrm>
            <a:off x="3736428" y="5565227"/>
            <a:ext cx="6999889" cy="830997"/>
          </a:xfrm>
          <a:prstGeom prst="rect">
            <a:avLst/>
          </a:prstGeom>
          <a:noFill/>
        </p:spPr>
        <p:txBody>
          <a:bodyPr wrap="square" rtlCol="0">
            <a:spAutoFit/>
          </a:bodyPr>
          <a:lstStyle/>
          <a:p>
            <a:r>
              <a:rPr lang="es-CL" sz="2400" dirty="0"/>
              <a:t>La prueba de </a:t>
            </a:r>
            <a:r>
              <a:rPr lang="es-CL" sz="2400" dirty="0" err="1"/>
              <a:t>optimalidad</a:t>
            </a:r>
            <a:r>
              <a:rPr lang="es-CL" sz="2400" dirty="0"/>
              <a:t> dice que se ha encontrado la solución, sino debería resolverse con simplex.</a:t>
            </a:r>
          </a:p>
        </p:txBody>
      </p:sp>
      <p:pic>
        <p:nvPicPr>
          <p:cNvPr id="2" name="Imagen 1"/>
          <p:cNvPicPr>
            <a:picLocks noChangeAspect="1"/>
          </p:cNvPicPr>
          <p:nvPr/>
        </p:nvPicPr>
        <p:blipFill>
          <a:blip r:embed="rId3"/>
          <a:stretch>
            <a:fillRect/>
          </a:stretch>
        </p:blipFill>
        <p:spPr>
          <a:xfrm>
            <a:off x="0" y="454464"/>
            <a:ext cx="12192000" cy="5973135"/>
          </a:xfrm>
          <a:prstGeom prst="rect">
            <a:avLst/>
          </a:prstGeom>
        </p:spPr>
      </p:pic>
    </p:spTree>
    <p:extLst>
      <p:ext uri="{BB962C8B-B14F-4D97-AF65-F5344CB8AC3E}">
        <p14:creationId xmlns:p14="http://schemas.microsoft.com/office/powerpoint/2010/main" val="78879708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34ED50-6982-4E32-8350-EB20F038C54F}"/>
              </a:ext>
            </a:extLst>
          </p:cNvPr>
          <p:cNvSpPr>
            <a:spLocks noGrp="1"/>
          </p:cNvSpPr>
          <p:nvPr>
            <p:ph type="title"/>
          </p:nvPr>
        </p:nvSpPr>
        <p:spPr/>
        <p:txBody>
          <a:bodyPr/>
          <a:lstStyle/>
          <a:p>
            <a:r>
              <a:rPr lang="es-CL" dirty="0"/>
              <a:t>Fase 1</a:t>
            </a:r>
          </a:p>
        </p:txBody>
      </p:sp>
      <p:pic>
        <p:nvPicPr>
          <p:cNvPr id="3" name="Imagen 2">
            <a:extLst>
              <a:ext uri="{FF2B5EF4-FFF2-40B4-BE49-F238E27FC236}">
                <a16:creationId xmlns:a16="http://schemas.microsoft.com/office/drawing/2014/main" id="{85C2A807-7335-4006-9F95-7C0E3853EAFA}"/>
              </a:ext>
            </a:extLst>
          </p:cNvPr>
          <p:cNvPicPr>
            <a:picLocks noChangeAspect="1"/>
          </p:cNvPicPr>
          <p:nvPr/>
        </p:nvPicPr>
        <p:blipFill>
          <a:blip r:embed="rId2"/>
          <a:stretch>
            <a:fillRect/>
          </a:stretch>
        </p:blipFill>
        <p:spPr>
          <a:xfrm>
            <a:off x="3742004" y="51307"/>
            <a:ext cx="7807569" cy="6812270"/>
          </a:xfrm>
          <a:prstGeom prst="rect">
            <a:avLst/>
          </a:prstGeom>
        </p:spPr>
      </p:pic>
    </p:spTree>
    <p:extLst>
      <p:ext uri="{BB962C8B-B14F-4D97-AF65-F5344CB8AC3E}">
        <p14:creationId xmlns:p14="http://schemas.microsoft.com/office/powerpoint/2010/main" val="294167883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F7D019-CE66-4CA1-91C2-726489956A80}"/>
              </a:ext>
            </a:extLst>
          </p:cNvPr>
          <p:cNvSpPr>
            <a:spLocks noGrp="1"/>
          </p:cNvSpPr>
          <p:nvPr>
            <p:ph type="title"/>
          </p:nvPr>
        </p:nvSpPr>
        <p:spPr/>
        <p:txBody>
          <a:bodyPr/>
          <a:lstStyle/>
          <a:p>
            <a:r>
              <a:rPr lang="es-CL" dirty="0"/>
              <a:t>Preparación de la fase 2</a:t>
            </a:r>
          </a:p>
        </p:txBody>
      </p:sp>
      <p:pic>
        <p:nvPicPr>
          <p:cNvPr id="4" name="Imagen 3">
            <a:extLst>
              <a:ext uri="{FF2B5EF4-FFF2-40B4-BE49-F238E27FC236}">
                <a16:creationId xmlns:a16="http://schemas.microsoft.com/office/drawing/2014/main" id="{4539C4B8-A762-4923-9747-0CB5795B0F6E}"/>
              </a:ext>
            </a:extLst>
          </p:cNvPr>
          <p:cNvPicPr>
            <a:picLocks noChangeAspect="1"/>
          </p:cNvPicPr>
          <p:nvPr/>
        </p:nvPicPr>
        <p:blipFill>
          <a:blip r:embed="rId2"/>
          <a:stretch>
            <a:fillRect/>
          </a:stretch>
        </p:blipFill>
        <p:spPr>
          <a:xfrm>
            <a:off x="3426925" y="528352"/>
            <a:ext cx="8512156" cy="5792152"/>
          </a:xfrm>
          <a:prstGeom prst="rect">
            <a:avLst/>
          </a:prstGeom>
        </p:spPr>
      </p:pic>
    </p:spTree>
    <p:extLst>
      <p:ext uri="{BB962C8B-B14F-4D97-AF65-F5344CB8AC3E}">
        <p14:creationId xmlns:p14="http://schemas.microsoft.com/office/powerpoint/2010/main" val="3434900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E40875D-302C-4F3A-A755-8676246E2A96}"/>
              </a:ext>
            </a:extLst>
          </p:cNvPr>
          <p:cNvSpPr>
            <a:spLocks noGrp="1"/>
          </p:cNvSpPr>
          <p:nvPr>
            <p:ph type="title"/>
          </p:nvPr>
        </p:nvSpPr>
        <p:spPr/>
        <p:txBody>
          <a:bodyPr/>
          <a:lstStyle/>
          <a:p>
            <a:r>
              <a:rPr lang="es-CL" dirty="0"/>
              <a:t>Fase 2:</a:t>
            </a:r>
          </a:p>
        </p:txBody>
      </p:sp>
      <p:pic>
        <p:nvPicPr>
          <p:cNvPr id="4" name="Imagen 3">
            <a:extLst>
              <a:ext uri="{FF2B5EF4-FFF2-40B4-BE49-F238E27FC236}">
                <a16:creationId xmlns:a16="http://schemas.microsoft.com/office/drawing/2014/main" id="{A816C165-9461-4925-971B-566C8220F6EB}"/>
              </a:ext>
            </a:extLst>
          </p:cNvPr>
          <p:cNvPicPr>
            <a:picLocks noChangeAspect="1"/>
          </p:cNvPicPr>
          <p:nvPr/>
        </p:nvPicPr>
        <p:blipFill>
          <a:blip r:embed="rId2"/>
          <a:stretch>
            <a:fillRect/>
          </a:stretch>
        </p:blipFill>
        <p:spPr>
          <a:xfrm>
            <a:off x="3512838" y="1756197"/>
            <a:ext cx="8542809" cy="3336462"/>
          </a:xfrm>
          <a:prstGeom prst="rect">
            <a:avLst/>
          </a:prstGeom>
        </p:spPr>
      </p:pic>
    </p:spTree>
    <p:extLst>
      <p:ext uri="{BB962C8B-B14F-4D97-AF65-F5344CB8AC3E}">
        <p14:creationId xmlns:p14="http://schemas.microsoft.com/office/powerpoint/2010/main" val="22628947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C5B5FDFC-496D-4951-8BF1-83063AD59612}"/>
              </a:ext>
            </a:extLst>
          </p:cNvPr>
          <p:cNvPicPr>
            <a:picLocks noChangeAspect="1"/>
          </p:cNvPicPr>
          <p:nvPr/>
        </p:nvPicPr>
        <p:blipFill>
          <a:blip r:embed="rId2"/>
          <a:stretch>
            <a:fillRect/>
          </a:stretch>
        </p:blipFill>
        <p:spPr>
          <a:xfrm>
            <a:off x="3920291" y="168812"/>
            <a:ext cx="7061499" cy="6689188"/>
          </a:xfrm>
          <a:prstGeom prst="rect">
            <a:avLst/>
          </a:prstGeom>
        </p:spPr>
      </p:pic>
      <p:pic>
        <p:nvPicPr>
          <p:cNvPr id="6" name="Imagen 5">
            <a:extLst>
              <a:ext uri="{FF2B5EF4-FFF2-40B4-BE49-F238E27FC236}">
                <a16:creationId xmlns:a16="http://schemas.microsoft.com/office/drawing/2014/main" id="{AA088D57-2448-4908-87BE-84158431EE8A}"/>
              </a:ext>
            </a:extLst>
          </p:cNvPr>
          <p:cNvPicPr>
            <a:picLocks noChangeAspect="1"/>
          </p:cNvPicPr>
          <p:nvPr/>
        </p:nvPicPr>
        <p:blipFill>
          <a:blip r:embed="rId3"/>
          <a:stretch>
            <a:fillRect/>
          </a:stretch>
        </p:blipFill>
        <p:spPr>
          <a:xfrm>
            <a:off x="109243" y="2460454"/>
            <a:ext cx="3131934" cy="1937092"/>
          </a:xfrm>
          <a:prstGeom prst="rect">
            <a:avLst/>
          </a:prstGeom>
        </p:spPr>
      </p:pic>
    </p:spTree>
    <p:extLst>
      <p:ext uri="{BB962C8B-B14F-4D97-AF65-F5344CB8AC3E}">
        <p14:creationId xmlns:p14="http://schemas.microsoft.com/office/powerpoint/2010/main" val="14077787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p:cNvPicPr>
            <a:picLocks noChangeAspect="1"/>
          </p:cNvPicPr>
          <p:nvPr/>
        </p:nvPicPr>
        <p:blipFill>
          <a:blip r:embed="rId2"/>
          <a:stretch>
            <a:fillRect/>
          </a:stretch>
        </p:blipFill>
        <p:spPr>
          <a:xfrm>
            <a:off x="2605088" y="510702"/>
            <a:ext cx="7067550" cy="1628775"/>
          </a:xfrm>
          <a:prstGeom prst="rect">
            <a:avLst/>
          </a:prstGeom>
        </p:spPr>
      </p:pic>
      <p:sp>
        <p:nvSpPr>
          <p:cNvPr id="5" name="CuadroTexto 4"/>
          <p:cNvSpPr txBox="1"/>
          <p:nvPr/>
        </p:nvSpPr>
        <p:spPr>
          <a:xfrm>
            <a:off x="714375" y="2171700"/>
            <a:ext cx="1743075" cy="461665"/>
          </a:xfrm>
          <a:prstGeom prst="rect">
            <a:avLst/>
          </a:prstGeom>
          <a:noFill/>
        </p:spPr>
        <p:txBody>
          <a:bodyPr wrap="square" rtlCol="0">
            <a:spAutoFit/>
          </a:bodyPr>
          <a:lstStyle/>
          <a:p>
            <a:r>
              <a:rPr lang="es-MX" sz="2400" b="1" u="sng" dirty="0"/>
              <a:t>Fase 1</a:t>
            </a:r>
            <a:endParaRPr lang="es-CL" sz="2400" b="1" u="sng" dirty="0"/>
          </a:p>
        </p:txBody>
      </p:sp>
      <p:sp>
        <p:nvSpPr>
          <p:cNvPr id="6" name="CuadroTexto 5"/>
          <p:cNvSpPr txBox="1"/>
          <p:nvPr/>
        </p:nvSpPr>
        <p:spPr>
          <a:xfrm>
            <a:off x="5410200" y="2165929"/>
            <a:ext cx="1743075" cy="461665"/>
          </a:xfrm>
          <a:prstGeom prst="rect">
            <a:avLst/>
          </a:prstGeom>
          <a:noFill/>
        </p:spPr>
        <p:txBody>
          <a:bodyPr wrap="square" rtlCol="0">
            <a:spAutoFit/>
          </a:bodyPr>
          <a:lstStyle/>
          <a:p>
            <a:r>
              <a:rPr lang="es-MX" sz="2400" b="1" u="sng" dirty="0"/>
              <a:t>Fase 2</a:t>
            </a:r>
            <a:endParaRPr lang="es-CL" sz="2400" b="1" u="sng" dirty="0"/>
          </a:p>
        </p:txBody>
      </p:sp>
      <p:sp>
        <p:nvSpPr>
          <p:cNvPr id="7" name="CuadroTexto 6"/>
          <p:cNvSpPr txBox="1"/>
          <p:nvPr/>
        </p:nvSpPr>
        <p:spPr>
          <a:xfrm>
            <a:off x="714374" y="122706"/>
            <a:ext cx="1743075" cy="461665"/>
          </a:xfrm>
          <a:prstGeom prst="rect">
            <a:avLst/>
          </a:prstGeom>
          <a:noFill/>
        </p:spPr>
        <p:txBody>
          <a:bodyPr wrap="square" rtlCol="0">
            <a:spAutoFit/>
          </a:bodyPr>
          <a:lstStyle/>
          <a:p>
            <a:r>
              <a:rPr lang="es-MX" sz="2400" b="1" u="sng" dirty="0"/>
              <a:t>Ejemplo 1:</a:t>
            </a:r>
            <a:endParaRPr lang="es-CL" sz="2400" b="1" u="sng" dirty="0"/>
          </a:p>
        </p:txBody>
      </p:sp>
      <p:pic>
        <p:nvPicPr>
          <p:cNvPr id="10" name="Imagen 9">
            <a:extLst>
              <a:ext uri="{FF2B5EF4-FFF2-40B4-BE49-F238E27FC236}">
                <a16:creationId xmlns:a16="http://schemas.microsoft.com/office/drawing/2014/main" id="{C140D2B2-9B6F-4C3B-9302-858B19E09948}"/>
              </a:ext>
            </a:extLst>
          </p:cNvPr>
          <p:cNvPicPr>
            <a:picLocks noChangeAspect="1"/>
          </p:cNvPicPr>
          <p:nvPr/>
        </p:nvPicPr>
        <p:blipFill>
          <a:blip r:embed="rId3"/>
          <a:stretch>
            <a:fillRect/>
          </a:stretch>
        </p:blipFill>
        <p:spPr>
          <a:xfrm>
            <a:off x="579959" y="2708748"/>
            <a:ext cx="4371975" cy="3638550"/>
          </a:xfrm>
          <a:prstGeom prst="rect">
            <a:avLst/>
          </a:prstGeom>
        </p:spPr>
      </p:pic>
      <p:pic>
        <p:nvPicPr>
          <p:cNvPr id="14" name="Imagen 13">
            <a:extLst>
              <a:ext uri="{FF2B5EF4-FFF2-40B4-BE49-F238E27FC236}">
                <a16:creationId xmlns:a16="http://schemas.microsoft.com/office/drawing/2014/main" id="{A4B8EBDE-C86C-429C-ABF8-77DD4652E716}"/>
              </a:ext>
            </a:extLst>
          </p:cNvPr>
          <p:cNvPicPr>
            <a:picLocks noChangeAspect="1"/>
          </p:cNvPicPr>
          <p:nvPr/>
        </p:nvPicPr>
        <p:blipFill>
          <a:blip r:embed="rId4"/>
          <a:stretch>
            <a:fillRect/>
          </a:stretch>
        </p:blipFill>
        <p:spPr>
          <a:xfrm>
            <a:off x="5900738" y="2708748"/>
            <a:ext cx="3771900" cy="3609975"/>
          </a:xfrm>
          <a:prstGeom prst="rect">
            <a:avLst/>
          </a:prstGeom>
        </p:spPr>
      </p:pic>
      <p:pic>
        <p:nvPicPr>
          <p:cNvPr id="4" name="Imagen 3">
            <a:extLst>
              <a:ext uri="{FF2B5EF4-FFF2-40B4-BE49-F238E27FC236}">
                <a16:creationId xmlns:a16="http://schemas.microsoft.com/office/drawing/2014/main" id="{FE57FCE8-495A-498B-84F9-38571A473892}"/>
              </a:ext>
            </a:extLst>
          </p:cNvPr>
          <p:cNvPicPr>
            <a:picLocks noChangeAspect="1"/>
          </p:cNvPicPr>
          <p:nvPr/>
        </p:nvPicPr>
        <p:blipFill>
          <a:blip r:embed="rId5"/>
          <a:stretch>
            <a:fillRect/>
          </a:stretch>
        </p:blipFill>
        <p:spPr>
          <a:xfrm>
            <a:off x="5929313" y="2734935"/>
            <a:ext cx="3743325" cy="2819400"/>
          </a:xfrm>
          <a:prstGeom prst="rect">
            <a:avLst/>
          </a:prstGeom>
        </p:spPr>
      </p:pic>
    </p:spTree>
    <p:extLst>
      <p:ext uri="{BB962C8B-B14F-4D97-AF65-F5344CB8AC3E}">
        <p14:creationId xmlns:p14="http://schemas.microsoft.com/office/powerpoint/2010/main" val="137788236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uadroTexto 4"/>
          <p:cNvSpPr txBox="1"/>
          <p:nvPr/>
        </p:nvSpPr>
        <p:spPr>
          <a:xfrm>
            <a:off x="4508279" y="112307"/>
            <a:ext cx="1026243" cy="523220"/>
          </a:xfrm>
          <a:prstGeom prst="rect">
            <a:avLst/>
          </a:prstGeom>
          <a:noFill/>
        </p:spPr>
        <p:txBody>
          <a:bodyPr wrap="none" rtlCol="0">
            <a:spAutoFit/>
          </a:bodyPr>
          <a:lstStyle/>
          <a:p>
            <a:r>
              <a:rPr lang="es-CL" sz="2800" dirty="0"/>
              <a:t>Fase I</a:t>
            </a:r>
          </a:p>
        </p:txBody>
      </p:sp>
      <p:sp>
        <p:nvSpPr>
          <p:cNvPr id="7" name="CuadroTexto 6"/>
          <p:cNvSpPr txBox="1"/>
          <p:nvPr/>
        </p:nvSpPr>
        <p:spPr>
          <a:xfrm>
            <a:off x="682752" y="4066032"/>
            <a:ext cx="1114408" cy="523220"/>
          </a:xfrm>
          <a:prstGeom prst="rect">
            <a:avLst/>
          </a:prstGeom>
          <a:noFill/>
        </p:spPr>
        <p:txBody>
          <a:bodyPr wrap="none" rtlCol="0">
            <a:spAutoFit/>
          </a:bodyPr>
          <a:lstStyle/>
          <a:p>
            <a:r>
              <a:rPr lang="es-CL" sz="2800" dirty="0"/>
              <a:t>Fase II</a:t>
            </a:r>
          </a:p>
        </p:txBody>
      </p:sp>
      <p:sp>
        <p:nvSpPr>
          <p:cNvPr id="9" name="CuadroTexto 8"/>
          <p:cNvSpPr txBox="1"/>
          <p:nvPr/>
        </p:nvSpPr>
        <p:spPr>
          <a:xfrm>
            <a:off x="6473980" y="4369730"/>
            <a:ext cx="726481" cy="1323439"/>
          </a:xfrm>
          <a:prstGeom prst="rect">
            <a:avLst/>
          </a:prstGeom>
          <a:noFill/>
        </p:spPr>
        <p:txBody>
          <a:bodyPr wrap="none" rtlCol="0">
            <a:spAutoFit/>
          </a:bodyPr>
          <a:lstStyle/>
          <a:p>
            <a:r>
              <a:rPr lang="es-CL" sz="4000" b="1" dirty="0"/>
              <a:t>=&gt;</a:t>
            </a:r>
          </a:p>
          <a:p>
            <a:endParaRPr lang="es-CL" sz="4000" b="1" dirty="0"/>
          </a:p>
        </p:txBody>
      </p:sp>
      <p:sp>
        <p:nvSpPr>
          <p:cNvPr id="11" name="CuadroTexto 10">
            <a:extLst>
              <a:ext uri="{FF2B5EF4-FFF2-40B4-BE49-F238E27FC236}">
                <a16:creationId xmlns:a16="http://schemas.microsoft.com/office/drawing/2014/main" id="{F0344920-A2AF-4451-8CA9-C7B9B376FE0A}"/>
              </a:ext>
            </a:extLst>
          </p:cNvPr>
          <p:cNvSpPr txBox="1"/>
          <p:nvPr/>
        </p:nvSpPr>
        <p:spPr>
          <a:xfrm>
            <a:off x="714374" y="122706"/>
            <a:ext cx="1743075" cy="461665"/>
          </a:xfrm>
          <a:prstGeom prst="rect">
            <a:avLst/>
          </a:prstGeom>
          <a:noFill/>
        </p:spPr>
        <p:txBody>
          <a:bodyPr wrap="square" rtlCol="0">
            <a:spAutoFit/>
          </a:bodyPr>
          <a:lstStyle/>
          <a:p>
            <a:r>
              <a:rPr lang="es-MX" sz="2400" b="1" u="sng" dirty="0"/>
              <a:t>Ejemplo 2:</a:t>
            </a:r>
            <a:endParaRPr lang="es-CL" sz="2400" b="1" u="sng" dirty="0"/>
          </a:p>
        </p:txBody>
      </p:sp>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307B62ED-0E73-4140-B807-95940B43FA2E}"/>
                  </a:ext>
                </a:extLst>
              </p:cNvPr>
              <p:cNvSpPr txBox="1"/>
              <p:nvPr/>
            </p:nvSpPr>
            <p:spPr>
              <a:xfrm>
                <a:off x="369529" y="668911"/>
                <a:ext cx="2469206" cy="1538883"/>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s-CL" sz="2000" i="1" smtClean="0">
                              <a:latin typeface="Cambria Math" panose="02040503050406030204" pitchFamily="18" charset="0"/>
                            </a:rPr>
                          </m:ctrlPr>
                        </m:sSubPr>
                        <m:e>
                          <m:r>
                            <a:rPr lang="es-CL" sz="2000" b="0" i="1" smtClean="0">
                              <a:latin typeface="Cambria Math" panose="02040503050406030204" pitchFamily="18" charset="0"/>
                            </a:rPr>
                            <m:t>𝑀𝑖𝑛</m:t>
                          </m:r>
                          <m:r>
                            <a:rPr lang="es-CL" sz="2000" b="0" i="1" smtClean="0">
                              <a:latin typeface="Cambria Math" panose="02040503050406030204" pitchFamily="18" charset="0"/>
                            </a:rPr>
                            <m:t> </m:t>
                          </m:r>
                          <m:r>
                            <a:rPr lang="es-CL" sz="2000" b="0" i="1" smtClean="0">
                              <a:latin typeface="Cambria Math" panose="02040503050406030204" pitchFamily="18" charset="0"/>
                            </a:rPr>
                            <m:t>𝑍</m:t>
                          </m:r>
                          <m:r>
                            <a:rPr lang="es-CL" sz="2000" b="0" i="1" smtClean="0">
                              <a:latin typeface="Cambria Math" panose="02040503050406030204" pitchFamily="18" charset="0"/>
                            </a:rPr>
                            <m:t>= 3</m:t>
                          </m:r>
                          <m:r>
                            <a:rPr lang="es-CL" sz="2000" i="1">
                              <a:latin typeface="Cambria Math" panose="02040503050406030204" pitchFamily="18" charset="0"/>
                            </a:rPr>
                            <m:t>𝑥</m:t>
                          </m:r>
                        </m:e>
                        <m:sub>
                          <m:r>
                            <a:rPr lang="es-CL" sz="2000" i="1">
                              <a:latin typeface="Cambria Math" panose="02040503050406030204" pitchFamily="18" charset="0"/>
                            </a:rPr>
                            <m:t>1</m:t>
                          </m:r>
                        </m:sub>
                      </m:sSub>
                      <m:r>
                        <a:rPr lang="es-CL" sz="2000" b="0" i="1" smtClean="0">
                          <a:latin typeface="Cambria Math" panose="02040503050406030204" pitchFamily="18" charset="0"/>
                        </a:rPr>
                        <m:t>+4</m:t>
                      </m:r>
                      <m:sSub>
                        <m:sSubPr>
                          <m:ctrlPr>
                            <a:rPr lang="es-CL" sz="2000" i="1">
                              <a:latin typeface="Cambria Math" panose="02040503050406030204" pitchFamily="18" charset="0"/>
                            </a:rPr>
                          </m:ctrlPr>
                        </m:sSubPr>
                        <m:e>
                          <m:r>
                            <a:rPr lang="es-CL" sz="2000" i="1">
                              <a:latin typeface="Cambria Math" panose="02040503050406030204" pitchFamily="18" charset="0"/>
                            </a:rPr>
                            <m:t>𝑥</m:t>
                          </m:r>
                        </m:e>
                        <m:sub>
                          <m:r>
                            <a:rPr lang="es-CL" sz="2000" b="0" i="1" smtClean="0">
                              <a:latin typeface="Cambria Math" panose="02040503050406030204" pitchFamily="18" charset="0"/>
                            </a:rPr>
                            <m:t>2</m:t>
                          </m:r>
                        </m:sub>
                      </m:sSub>
                    </m:oMath>
                  </m:oMathPara>
                </a14:m>
                <a:endParaRPr lang="es-CL" sz="2000" i="1" dirty="0">
                  <a:latin typeface="Cambria Math" panose="02040503050406030204" pitchFamily="18" charset="0"/>
                </a:endParaRPr>
              </a:p>
              <a:p>
                <a:r>
                  <a:rPr lang="es-CL" sz="2000" dirty="0">
                    <a:ea typeface="Cambria Math" panose="02040503050406030204" pitchFamily="18" charset="0"/>
                  </a:rPr>
                  <a:t>      s.a. </a:t>
                </a:r>
                <a:endParaRPr lang="es-CL" sz="20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CL" sz="2000" b="0" i="1" smtClean="0">
                          <a:latin typeface="Cambria Math" panose="02040503050406030204" pitchFamily="18" charset="0"/>
                        </a:rPr>
                        <m:t>        </m:t>
                      </m:r>
                      <m:sSub>
                        <m:sSubPr>
                          <m:ctrlPr>
                            <a:rPr lang="es-CL" sz="2000" i="1">
                              <a:latin typeface="Cambria Math" panose="02040503050406030204" pitchFamily="18" charset="0"/>
                            </a:rPr>
                          </m:ctrlPr>
                        </m:sSubPr>
                        <m:e>
                          <m:r>
                            <a:rPr lang="es-CL" sz="2000" i="1">
                              <a:latin typeface="Cambria Math" panose="02040503050406030204" pitchFamily="18" charset="0"/>
                            </a:rPr>
                            <m:t>𝑥</m:t>
                          </m:r>
                        </m:e>
                        <m:sub>
                          <m:r>
                            <a:rPr lang="es-CL" sz="2000" i="1">
                              <a:latin typeface="Cambria Math" panose="02040503050406030204" pitchFamily="18" charset="0"/>
                            </a:rPr>
                            <m:t>1</m:t>
                          </m:r>
                        </m:sub>
                      </m:sSub>
                      <m:r>
                        <a:rPr lang="es-CL" sz="2000" b="0" i="1" smtClean="0">
                          <a:latin typeface="Cambria Math" panose="02040503050406030204" pitchFamily="18" charset="0"/>
                        </a:rPr>
                        <m:t>+</m:t>
                      </m:r>
                      <m:sSub>
                        <m:sSubPr>
                          <m:ctrlPr>
                            <a:rPr lang="es-CL" sz="2000" i="1">
                              <a:latin typeface="Cambria Math" panose="02040503050406030204" pitchFamily="18" charset="0"/>
                            </a:rPr>
                          </m:ctrlPr>
                        </m:sSubPr>
                        <m:e>
                          <m:r>
                            <a:rPr lang="es-CL" sz="2000" i="1">
                              <a:latin typeface="Cambria Math" panose="02040503050406030204" pitchFamily="18" charset="0"/>
                            </a:rPr>
                            <m:t>𝑥</m:t>
                          </m:r>
                        </m:e>
                        <m:sub>
                          <m:r>
                            <a:rPr lang="es-CL" sz="2000" b="0" i="1" smtClean="0">
                              <a:latin typeface="Cambria Math" panose="02040503050406030204" pitchFamily="18" charset="0"/>
                            </a:rPr>
                            <m:t>2</m:t>
                          </m:r>
                        </m:sub>
                      </m:sSub>
                      <m:r>
                        <a:rPr lang="es-CL" sz="2000" i="1" smtClean="0">
                          <a:latin typeface="Cambria Math" panose="02040503050406030204" pitchFamily="18" charset="0"/>
                          <a:ea typeface="Cambria Math" panose="02040503050406030204" pitchFamily="18" charset="0"/>
                        </a:rPr>
                        <m:t>≥</m:t>
                      </m:r>
                      <m:r>
                        <a:rPr lang="es-CL" sz="2000" b="0" i="1" smtClean="0">
                          <a:latin typeface="Cambria Math" panose="02040503050406030204" pitchFamily="18" charset="0"/>
                          <a:ea typeface="Cambria Math" panose="02040503050406030204" pitchFamily="18" charset="0"/>
                        </a:rPr>
                        <m:t>5</m:t>
                      </m:r>
                    </m:oMath>
                  </m:oMathPara>
                </a14:m>
                <a:endParaRPr lang="es-CL" sz="2000" b="0" dirty="0">
                  <a:ea typeface="Cambria Math" panose="02040503050406030204" pitchFamily="18" charset="0"/>
                </a:endParaRPr>
              </a:p>
              <a:p>
                <a:r>
                  <a:rPr lang="es-CL" sz="2000" dirty="0"/>
                  <a:t> </a:t>
                </a:r>
                <a14:m>
                  <m:oMath xmlns:m="http://schemas.openxmlformats.org/officeDocument/2006/math">
                    <m:sSub>
                      <m:sSubPr>
                        <m:ctrlPr>
                          <a:rPr lang="es-CL" sz="2000" b="0" i="1" smtClean="0">
                            <a:latin typeface="Cambria Math" panose="02040503050406030204" pitchFamily="18" charset="0"/>
                          </a:rPr>
                        </m:ctrlPr>
                      </m:sSubPr>
                      <m:e>
                        <m:r>
                          <a:rPr lang="es-CL" sz="2000" b="0" i="1" smtClean="0">
                            <a:latin typeface="Cambria Math" panose="02040503050406030204" pitchFamily="18" charset="0"/>
                          </a:rPr>
                          <m:t>                        </m:t>
                        </m:r>
                        <m:r>
                          <a:rPr lang="es-CL" sz="2000" b="0" i="1" smtClean="0">
                            <a:latin typeface="Cambria Math" panose="02040503050406030204" pitchFamily="18" charset="0"/>
                          </a:rPr>
                          <m:t>𝑥</m:t>
                        </m:r>
                      </m:e>
                      <m:sub>
                        <m:r>
                          <a:rPr lang="es-CL" sz="2000" b="0" i="1" smtClean="0">
                            <a:latin typeface="Cambria Math" panose="02040503050406030204" pitchFamily="18" charset="0"/>
                          </a:rPr>
                          <m:t>1</m:t>
                        </m:r>
                      </m:sub>
                    </m:sSub>
                    <m:r>
                      <a:rPr lang="es-CL" sz="2000" b="0" i="1" smtClean="0">
                        <a:latin typeface="Cambria Math" panose="02040503050406030204" pitchFamily="18" charset="0"/>
                      </a:rPr>
                      <m:t> </m:t>
                    </m:r>
                    <m:r>
                      <a:rPr lang="es-CL" sz="2000" i="1">
                        <a:latin typeface="Cambria Math" panose="02040503050406030204" pitchFamily="18" charset="0"/>
                        <a:ea typeface="Cambria Math" panose="02040503050406030204" pitchFamily="18" charset="0"/>
                      </a:rPr>
                      <m:t>≥</m:t>
                    </m:r>
                    <m:r>
                      <a:rPr lang="es-CL" sz="2000" b="0" i="1" smtClean="0">
                        <a:latin typeface="Cambria Math" panose="02040503050406030204" pitchFamily="18" charset="0"/>
                        <a:ea typeface="Cambria Math" panose="02040503050406030204" pitchFamily="18" charset="0"/>
                      </a:rPr>
                      <m:t>3</m:t>
                    </m:r>
                  </m:oMath>
                </a14:m>
                <a:endParaRPr lang="es-CL" sz="2000" b="0" dirty="0">
                  <a:ea typeface="Cambria Math" panose="02040503050406030204" pitchFamily="18" charset="0"/>
                </a:endParaRPr>
              </a:p>
              <a:p>
                <a:r>
                  <a:rPr lang="es-CL" sz="2000" dirty="0"/>
                  <a:t>       </a:t>
                </a:r>
                <a14:m>
                  <m:oMath xmlns:m="http://schemas.openxmlformats.org/officeDocument/2006/math">
                    <m:sSub>
                      <m:sSubPr>
                        <m:ctrlPr>
                          <a:rPr lang="es-CL" sz="2000" b="0" i="1" smtClean="0">
                            <a:latin typeface="Cambria Math" panose="02040503050406030204" pitchFamily="18" charset="0"/>
                          </a:rPr>
                        </m:ctrlPr>
                      </m:sSubPr>
                      <m:e>
                        <m:r>
                          <a:rPr lang="es-CL" sz="2000" b="0" i="1" smtClean="0">
                            <a:latin typeface="Cambria Math" panose="02040503050406030204" pitchFamily="18" charset="0"/>
                          </a:rPr>
                          <m:t>𝑥</m:t>
                        </m:r>
                      </m:e>
                      <m:sub>
                        <m:r>
                          <a:rPr lang="es-CL" sz="2000" b="0" i="1" smtClean="0">
                            <a:latin typeface="Cambria Math" panose="02040503050406030204" pitchFamily="18" charset="0"/>
                          </a:rPr>
                          <m:t>1</m:t>
                        </m:r>
                      </m:sub>
                    </m:sSub>
                    <m:r>
                      <a:rPr lang="es-CL" sz="2000" b="0" i="1" smtClean="0">
                        <a:latin typeface="Cambria Math" panose="02040503050406030204" pitchFamily="18" charset="0"/>
                      </a:rPr>
                      <m:t>,</m:t>
                    </m:r>
                    <m:sSub>
                      <m:sSubPr>
                        <m:ctrlPr>
                          <a:rPr lang="es-CL" sz="2000" i="1">
                            <a:latin typeface="Cambria Math" panose="02040503050406030204" pitchFamily="18" charset="0"/>
                          </a:rPr>
                        </m:ctrlPr>
                      </m:sSubPr>
                      <m:e>
                        <m:r>
                          <a:rPr lang="es-CL" sz="2000" i="1">
                            <a:latin typeface="Cambria Math" panose="02040503050406030204" pitchFamily="18" charset="0"/>
                          </a:rPr>
                          <m:t> </m:t>
                        </m:r>
                        <m:r>
                          <a:rPr lang="es-CL" sz="2000" i="1" smtClean="0">
                            <a:latin typeface="Cambria Math" panose="02040503050406030204" pitchFamily="18" charset="0"/>
                          </a:rPr>
                          <m:t>𝑥</m:t>
                        </m:r>
                      </m:e>
                      <m:sub>
                        <m:r>
                          <a:rPr lang="es-CL" sz="2000" b="0" i="1" smtClean="0">
                            <a:latin typeface="Cambria Math" panose="02040503050406030204" pitchFamily="18" charset="0"/>
                          </a:rPr>
                          <m:t>2</m:t>
                        </m:r>
                      </m:sub>
                    </m:sSub>
                    <m:r>
                      <a:rPr lang="es-CL" sz="2000" i="1">
                        <a:latin typeface="Cambria Math" panose="02040503050406030204" pitchFamily="18" charset="0"/>
                      </a:rPr>
                      <m:t> </m:t>
                    </m:r>
                    <m:r>
                      <a:rPr lang="es-CL" sz="2000" i="1">
                        <a:latin typeface="Cambria Math" panose="02040503050406030204" pitchFamily="18" charset="0"/>
                        <a:ea typeface="Cambria Math" panose="02040503050406030204" pitchFamily="18" charset="0"/>
                      </a:rPr>
                      <m:t>≥</m:t>
                    </m:r>
                    <m:r>
                      <a:rPr lang="es-CL" sz="2000" b="0" i="0" smtClean="0">
                        <a:latin typeface="Cambria Math" panose="02040503050406030204" pitchFamily="18" charset="0"/>
                        <a:ea typeface="Cambria Math" panose="02040503050406030204" pitchFamily="18" charset="0"/>
                      </a:rPr>
                      <m:t>0</m:t>
                    </m:r>
                  </m:oMath>
                </a14:m>
                <a:endParaRPr lang="es-CL" sz="2000" b="0" dirty="0">
                  <a:ea typeface="Cambria Math" panose="02040503050406030204" pitchFamily="18" charset="0"/>
                </a:endParaRPr>
              </a:p>
            </p:txBody>
          </p:sp>
        </mc:Choice>
        <mc:Fallback xmlns="">
          <p:sp>
            <p:nvSpPr>
              <p:cNvPr id="13" name="CuadroTexto 12">
                <a:extLst>
                  <a:ext uri="{FF2B5EF4-FFF2-40B4-BE49-F238E27FC236}">
                    <a16:creationId xmlns:a16="http://schemas.microsoft.com/office/drawing/2014/main" id="{307B62ED-0E73-4140-B807-95940B43FA2E}"/>
                  </a:ext>
                </a:extLst>
              </p:cNvPr>
              <p:cNvSpPr txBox="1">
                <a:spLocks noRot="1" noChangeAspect="1" noMove="1" noResize="1" noEditPoints="1" noAdjustHandles="1" noChangeArrowheads="1" noChangeShapeType="1" noTextEdit="1"/>
              </p:cNvSpPr>
              <p:nvPr/>
            </p:nvSpPr>
            <p:spPr>
              <a:xfrm>
                <a:off x="369529" y="668911"/>
                <a:ext cx="2469206" cy="1538883"/>
              </a:xfrm>
              <a:prstGeom prst="rect">
                <a:avLst/>
              </a:prstGeom>
              <a:blipFill>
                <a:blip r:embed="rId3"/>
                <a:stretch>
                  <a:fillRect b="-2381"/>
                </a:stretch>
              </a:blipFill>
            </p:spPr>
            <p:txBody>
              <a:bodyPr/>
              <a:lstStyle/>
              <a:p>
                <a:r>
                  <a:rPr lang="es-CL">
                    <a:noFill/>
                  </a:rPr>
                  <a:t> </a:t>
                </a:r>
              </a:p>
            </p:txBody>
          </p:sp>
        </mc:Fallback>
      </mc:AlternateContent>
      <mc:AlternateContent xmlns:mc="http://schemas.openxmlformats.org/markup-compatibility/2006" xmlns:a14="http://schemas.microsoft.com/office/drawing/2010/main">
        <mc:Choice Requires="a14">
          <p:sp>
            <p:nvSpPr>
              <p:cNvPr id="14" name="CuadroTexto 12">
                <a:extLst>
                  <a:ext uri="{FF2B5EF4-FFF2-40B4-BE49-F238E27FC236}">
                    <a16:creationId xmlns:a16="http://schemas.microsoft.com/office/drawing/2014/main" id="{0485583C-9F43-4F91-A45D-ECF8C838D0CE}"/>
                  </a:ext>
                </a:extLst>
              </p:cNvPr>
              <p:cNvSpPr txBox="1"/>
              <p:nvPr/>
            </p:nvSpPr>
            <p:spPr>
              <a:xfrm>
                <a:off x="3719380" y="584371"/>
                <a:ext cx="3036262" cy="1538883"/>
              </a:xfrm>
              <a:prstGeom prst="rect">
                <a:avLst/>
              </a:prstGeom>
              <a:solidFill>
                <a:schemeClr val="bg1"/>
              </a:solidFill>
            </p:spPr>
            <p:txBody>
              <a:bodyPr wrap="square" lIns="0" tIns="0" rIns="0" bIns="0" rtlCol="0">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14:m>
                  <m:oMathPara xmlns:m="http://schemas.openxmlformats.org/officeDocument/2006/math">
                    <m:oMathParaPr>
                      <m:jc m:val="left"/>
                    </m:oMathParaPr>
                    <m:oMath xmlns:m="http://schemas.openxmlformats.org/officeDocument/2006/math">
                      <m:r>
                        <a:rPr lang="es-CL" sz="2000" b="0" i="1" smtClean="0">
                          <a:latin typeface="Cambria Math" panose="02040503050406030204" pitchFamily="18" charset="0"/>
                        </a:rPr>
                        <m:t>𝑀𝑖𝑛</m:t>
                      </m:r>
                      <m:r>
                        <a:rPr lang="es-CL" sz="2000" b="0" i="1" smtClean="0">
                          <a:latin typeface="Cambria Math" panose="02040503050406030204" pitchFamily="18" charset="0"/>
                        </a:rPr>
                        <m:t> </m:t>
                      </m:r>
                      <m:r>
                        <a:rPr lang="es-CL" sz="2000" b="0" i="1" smtClean="0">
                          <a:latin typeface="Cambria Math" panose="02040503050406030204" pitchFamily="18" charset="0"/>
                        </a:rPr>
                        <m:t>𝑍</m:t>
                      </m:r>
                      <m:r>
                        <a:rPr lang="es-CL" sz="2000" b="0" i="1" smtClean="0">
                          <a:latin typeface="Cambria Math" panose="02040503050406030204" pitchFamily="18" charset="0"/>
                        </a:rPr>
                        <m:t>=</m:t>
                      </m:r>
                      <m:acc>
                        <m:accPr>
                          <m:chr m:val="̅"/>
                          <m:ctrlPr>
                            <a:rPr lang="es-CL" sz="2000" i="1">
                              <a:latin typeface="Cambria Math" panose="02040503050406030204" pitchFamily="18" charset="0"/>
                            </a:rPr>
                          </m:ctrlPr>
                        </m:accPr>
                        <m:e>
                          <m:sSub>
                            <m:sSubPr>
                              <m:ctrlPr>
                                <a:rPr lang="es-CL" sz="2000" i="1">
                                  <a:latin typeface="Cambria Math" panose="02040503050406030204" pitchFamily="18" charset="0"/>
                                </a:rPr>
                              </m:ctrlPr>
                            </m:sSubPr>
                            <m:e>
                              <m:r>
                                <a:rPr lang="es-CL" sz="2000" i="1">
                                  <a:latin typeface="Cambria Math" panose="02040503050406030204" pitchFamily="18" charset="0"/>
                                </a:rPr>
                                <m:t>𝑥</m:t>
                              </m:r>
                            </m:e>
                            <m:sub>
                              <m:r>
                                <a:rPr lang="es-CL" sz="2000" i="1">
                                  <a:latin typeface="Cambria Math" panose="02040503050406030204" pitchFamily="18" charset="0"/>
                                </a:rPr>
                                <m:t>4</m:t>
                              </m:r>
                            </m:sub>
                          </m:sSub>
                        </m:e>
                      </m:acc>
                      <m:r>
                        <a:rPr lang="es-CL" sz="2000" b="0" i="1">
                          <a:latin typeface="Cambria Math" panose="02040503050406030204" pitchFamily="18" charset="0"/>
                        </a:rPr>
                        <m:t>+</m:t>
                      </m:r>
                      <m:acc>
                        <m:accPr>
                          <m:chr m:val="̅"/>
                          <m:ctrlPr>
                            <a:rPr lang="es-CL" sz="2000" i="1">
                              <a:latin typeface="Cambria Math" panose="02040503050406030204" pitchFamily="18" charset="0"/>
                            </a:rPr>
                          </m:ctrlPr>
                        </m:accPr>
                        <m:e>
                          <m:sSub>
                            <m:sSubPr>
                              <m:ctrlPr>
                                <a:rPr lang="es-CL" sz="2000" i="1">
                                  <a:latin typeface="Cambria Math" panose="02040503050406030204" pitchFamily="18" charset="0"/>
                                </a:rPr>
                              </m:ctrlPr>
                            </m:sSubPr>
                            <m:e>
                              <m:r>
                                <a:rPr lang="es-CL" sz="2000" i="1">
                                  <a:latin typeface="Cambria Math" panose="02040503050406030204" pitchFamily="18" charset="0"/>
                                </a:rPr>
                                <m:t>𝑥</m:t>
                              </m:r>
                            </m:e>
                            <m:sub>
                              <m:r>
                                <a:rPr lang="es-CL" sz="2000" b="0" i="1" smtClean="0">
                                  <a:latin typeface="Cambria Math" panose="02040503050406030204" pitchFamily="18" charset="0"/>
                                </a:rPr>
                                <m:t>6</m:t>
                              </m:r>
                            </m:sub>
                          </m:sSub>
                        </m:e>
                      </m:acc>
                    </m:oMath>
                  </m:oMathPara>
                </a14:m>
                <a:endParaRPr lang="es-CL" sz="2000" i="1" dirty="0">
                  <a:latin typeface="Cambria Math" panose="02040503050406030204" pitchFamily="18" charset="0"/>
                </a:endParaRPr>
              </a:p>
              <a:p>
                <a:r>
                  <a:rPr lang="es-CL" sz="2000" dirty="0">
                    <a:ea typeface="Cambria Math" panose="02040503050406030204" pitchFamily="18" charset="0"/>
                  </a:rPr>
                  <a:t>      s.a. </a:t>
                </a:r>
                <a:endParaRPr lang="es-CL" sz="2000" i="1" dirty="0">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s-CL" sz="2000" i="1" kern="1200">
                          <a:solidFill>
                            <a:schemeClr val="tx1"/>
                          </a:solidFill>
                          <a:latin typeface="Cambria Math" panose="02040503050406030204" pitchFamily="18" charset="0"/>
                        </a:rPr>
                        <m:t>        </m:t>
                      </m:r>
                      <m:sSub>
                        <m:sSubPr>
                          <m:ctrlPr>
                            <a:rPr lang="es-CL" sz="2000" i="1" kern="1200">
                              <a:solidFill>
                                <a:schemeClr val="tx1"/>
                              </a:solidFill>
                              <a:latin typeface="Cambria Math" panose="02040503050406030204" pitchFamily="18" charset="0"/>
                            </a:rPr>
                          </m:ctrlPr>
                        </m:sSubPr>
                        <m:e>
                          <m:r>
                            <a:rPr lang="es-CL" sz="2000" i="1" kern="1200">
                              <a:solidFill>
                                <a:schemeClr val="tx1"/>
                              </a:solidFill>
                              <a:latin typeface="Cambria Math" panose="02040503050406030204" pitchFamily="18" charset="0"/>
                            </a:rPr>
                            <m:t>𝑥</m:t>
                          </m:r>
                        </m:e>
                        <m:sub>
                          <m:r>
                            <a:rPr lang="es-CL" sz="2000" i="1" kern="1200">
                              <a:solidFill>
                                <a:schemeClr val="tx1"/>
                              </a:solidFill>
                              <a:latin typeface="Cambria Math" panose="02040503050406030204" pitchFamily="18" charset="0"/>
                            </a:rPr>
                            <m:t>1</m:t>
                          </m:r>
                        </m:sub>
                      </m:sSub>
                      <m:r>
                        <a:rPr lang="es-CL" sz="2000" i="1" kern="1200">
                          <a:solidFill>
                            <a:schemeClr val="tx1"/>
                          </a:solidFill>
                          <a:latin typeface="Cambria Math" panose="02040503050406030204" pitchFamily="18" charset="0"/>
                        </a:rPr>
                        <m:t>+</m:t>
                      </m:r>
                      <m:sSub>
                        <m:sSubPr>
                          <m:ctrlPr>
                            <a:rPr lang="es-CL" sz="2000" i="1" kern="1200">
                              <a:solidFill>
                                <a:schemeClr val="tx1"/>
                              </a:solidFill>
                              <a:latin typeface="Cambria Math" panose="02040503050406030204" pitchFamily="18" charset="0"/>
                            </a:rPr>
                          </m:ctrlPr>
                        </m:sSubPr>
                        <m:e>
                          <m:r>
                            <a:rPr lang="es-CL" sz="2000" i="1" kern="1200">
                              <a:solidFill>
                                <a:schemeClr val="tx1"/>
                              </a:solidFill>
                              <a:latin typeface="Cambria Math" panose="02040503050406030204" pitchFamily="18" charset="0"/>
                            </a:rPr>
                            <m:t>𝑥</m:t>
                          </m:r>
                        </m:e>
                        <m:sub>
                          <m:r>
                            <a:rPr lang="es-CL" sz="2000" i="1" kern="1200">
                              <a:solidFill>
                                <a:schemeClr val="tx1"/>
                              </a:solidFill>
                              <a:latin typeface="Cambria Math" panose="02040503050406030204" pitchFamily="18" charset="0"/>
                            </a:rPr>
                            <m:t>2</m:t>
                          </m:r>
                        </m:sub>
                      </m:sSub>
                      <m:r>
                        <a:rPr lang="es-CL" sz="2000" i="1" kern="1200">
                          <a:solidFill>
                            <a:schemeClr val="tx1"/>
                          </a:solidFill>
                          <a:latin typeface="Cambria Math" panose="02040503050406030204" pitchFamily="18" charset="0"/>
                        </a:rPr>
                        <m:t>− </m:t>
                      </m:r>
                      <m:sSub>
                        <m:sSubPr>
                          <m:ctrlPr>
                            <a:rPr lang="es-CL" sz="2000" i="1" kern="1200">
                              <a:solidFill>
                                <a:schemeClr val="tx1"/>
                              </a:solidFill>
                              <a:latin typeface="Cambria Math" panose="02040503050406030204" pitchFamily="18" charset="0"/>
                            </a:rPr>
                          </m:ctrlPr>
                        </m:sSubPr>
                        <m:e>
                          <m:r>
                            <a:rPr lang="es-CL" sz="2000" i="1" kern="1200">
                              <a:solidFill>
                                <a:schemeClr val="tx1"/>
                              </a:solidFill>
                              <a:latin typeface="Cambria Math" panose="02040503050406030204" pitchFamily="18" charset="0"/>
                            </a:rPr>
                            <m:t>𝑥</m:t>
                          </m:r>
                        </m:e>
                        <m:sub>
                          <m:r>
                            <a:rPr lang="es-CL" sz="2000" b="0" i="1" kern="1200">
                              <a:solidFill>
                                <a:schemeClr val="tx1"/>
                              </a:solidFill>
                              <a:latin typeface="Cambria Math" panose="02040503050406030204" pitchFamily="18" charset="0"/>
                            </a:rPr>
                            <m:t>3</m:t>
                          </m:r>
                        </m:sub>
                      </m:sSub>
                      <m:r>
                        <a:rPr lang="es-CL" sz="2000" i="1" kern="1200">
                          <a:solidFill>
                            <a:schemeClr val="tx1"/>
                          </a:solidFill>
                          <a:latin typeface="Cambria Math" panose="02040503050406030204" pitchFamily="18" charset="0"/>
                        </a:rPr>
                        <m:t>+</m:t>
                      </m:r>
                      <m:acc>
                        <m:accPr>
                          <m:chr m:val="̅"/>
                          <m:ctrlPr>
                            <a:rPr lang="es-CL" sz="2000" i="1" kern="1200">
                              <a:solidFill>
                                <a:schemeClr val="tx1"/>
                              </a:solidFill>
                              <a:latin typeface="Cambria Math" panose="02040503050406030204" pitchFamily="18" charset="0"/>
                            </a:rPr>
                          </m:ctrlPr>
                        </m:accPr>
                        <m:e>
                          <m:sSub>
                            <m:sSubPr>
                              <m:ctrlPr>
                                <a:rPr lang="es-CL" sz="2000" i="1" kern="1200">
                                  <a:solidFill>
                                    <a:schemeClr val="tx1"/>
                                  </a:solidFill>
                                  <a:latin typeface="Cambria Math" panose="02040503050406030204" pitchFamily="18" charset="0"/>
                                </a:rPr>
                              </m:ctrlPr>
                            </m:sSubPr>
                            <m:e>
                              <m:r>
                                <a:rPr lang="es-CL" sz="2000" b="0" i="1" kern="1200">
                                  <a:solidFill>
                                    <a:schemeClr val="tx1"/>
                                  </a:solidFill>
                                  <a:latin typeface="Cambria Math" panose="02040503050406030204" pitchFamily="18" charset="0"/>
                                </a:rPr>
                                <m:t>𝑥</m:t>
                              </m:r>
                            </m:e>
                            <m:sub>
                              <m:r>
                                <a:rPr lang="es-CL" sz="2000" b="0" i="1" kern="1200">
                                  <a:solidFill>
                                    <a:schemeClr val="tx1"/>
                                  </a:solidFill>
                                  <a:latin typeface="Cambria Math" panose="02040503050406030204" pitchFamily="18" charset="0"/>
                                </a:rPr>
                                <m:t>4</m:t>
                              </m:r>
                            </m:sub>
                          </m:sSub>
                        </m:e>
                      </m:acc>
                      <m:r>
                        <a:rPr lang="es-CL" sz="2000" b="0" i="1" kern="1200">
                          <a:solidFill>
                            <a:schemeClr val="tx1"/>
                          </a:solidFill>
                          <a:latin typeface="Cambria Math" panose="02040503050406030204" pitchFamily="18" charset="0"/>
                        </a:rPr>
                        <m:t>=</m:t>
                      </m:r>
                      <m:r>
                        <a:rPr lang="es-CL" sz="2000" i="1" kern="1200">
                          <a:solidFill>
                            <a:schemeClr val="tx1"/>
                          </a:solidFill>
                          <a:latin typeface="Cambria Math" panose="02040503050406030204" pitchFamily="18" charset="0"/>
                        </a:rPr>
                        <m:t>5</m:t>
                      </m:r>
                    </m:oMath>
                  </m:oMathPara>
                </a14:m>
                <a:endParaRPr lang="es-CL" sz="2000" i="1" kern="1200" dirty="0">
                  <a:solidFill>
                    <a:schemeClr val="tx1"/>
                  </a:solidFill>
                  <a:latin typeface="Cambria Math" panose="02040503050406030204" pitchFamily="18" charset="0"/>
                </a:endParaRPr>
              </a:p>
              <a:p>
                <a:r>
                  <a:rPr lang="es-CL" sz="2000" dirty="0"/>
                  <a:t> </a:t>
                </a:r>
                <a14:m>
                  <m:oMath xmlns:m="http://schemas.openxmlformats.org/officeDocument/2006/math">
                    <m:sSub>
                      <m:sSubPr>
                        <m:ctrlPr>
                          <a:rPr lang="es-CL" sz="2000" b="0" i="1">
                            <a:latin typeface="Cambria Math" panose="02040503050406030204" pitchFamily="18" charset="0"/>
                          </a:rPr>
                        </m:ctrlPr>
                      </m:sSubPr>
                      <m:e>
                        <m:r>
                          <a:rPr lang="es-CL" sz="2000" b="0" i="1">
                            <a:latin typeface="Cambria Math" panose="02040503050406030204" pitchFamily="18" charset="0"/>
                          </a:rPr>
                          <m:t>                    </m:t>
                        </m:r>
                        <m:r>
                          <a:rPr lang="es-CL" sz="2000" b="0" i="1">
                            <a:latin typeface="Cambria Math" panose="02040503050406030204" pitchFamily="18" charset="0"/>
                          </a:rPr>
                          <m:t>𝑥</m:t>
                        </m:r>
                      </m:e>
                      <m:sub>
                        <m:r>
                          <a:rPr lang="es-CL" sz="2000" b="0" i="1">
                            <a:latin typeface="Cambria Math" panose="02040503050406030204" pitchFamily="18" charset="0"/>
                          </a:rPr>
                          <m:t>1</m:t>
                        </m:r>
                      </m:sub>
                    </m:sSub>
                    <m:r>
                      <a:rPr lang="es-CL" sz="2000" i="1" kern="1200">
                        <a:solidFill>
                          <a:schemeClr val="tx1"/>
                        </a:solidFill>
                        <a:effectLst/>
                        <a:latin typeface="Cambria Math" panose="02040503050406030204" pitchFamily="18" charset="0"/>
                      </a:rPr>
                      <m:t>− </m:t>
                    </m:r>
                    <m:sSub>
                      <m:sSubPr>
                        <m:ctrlPr>
                          <a:rPr lang="es-CL" sz="2000" i="1" kern="1200">
                            <a:solidFill>
                              <a:schemeClr val="tx1"/>
                            </a:solidFill>
                            <a:effectLst/>
                            <a:latin typeface="Cambria Math" panose="02040503050406030204" pitchFamily="18" charset="0"/>
                          </a:rPr>
                        </m:ctrlPr>
                      </m:sSubPr>
                      <m:e>
                        <m:r>
                          <a:rPr lang="es-CL" sz="2000" i="1" kern="1200">
                            <a:solidFill>
                              <a:schemeClr val="tx1"/>
                            </a:solidFill>
                            <a:effectLst/>
                            <a:latin typeface="Cambria Math" panose="02040503050406030204" pitchFamily="18" charset="0"/>
                          </a:rPr>
                          <m:t>𝑥</m:t>
                        </m:r>
                      </m:e>
                      <m:sub>
                        <m:r>
                          <a:rPr lang="es-CL" sz="2000" b="0" i="1" kern="1200">
                            <a:solidFill>
                              <a:schemeClr val="tx1"/>
                            </a:solidFill>
                            <a:effectLst/>
                            <a:latin typeface="Cambria Math" panose="02040503050406030204" pitchFamily="18" charset="0"/>
                          </a:rPr>
                          <m:t>5</m:t>
                        </m:r>
                      </m:sub>
                    </m:sSub>
                    <m:r>
                      <a:rPr lang="es-CL" sz="2000" i="1" kern="1200">
                        <a:solidFill>
                          <a:schemeClr val="tx1"/>
                        </a:solidFill>
                        <a:effectLst/>
                        <a:latin typeface="Cambria Math" panose="02040503050406030204" pitchFamily="18" charset="0"/>
                      </a:rPr>
                      <m:t>+</m:t>
                    </m:r>
                    <m:acc>
                      <m:accPr>
                        <m:chr m:val="̅"/>
                        <m:ctrlPr>
                          <a:rPr lang="es-CL" sz="2000" i="1" kern="1200">
                            <a:solidFill>
                              <a:schemeClr val="tx1"/>
                            </a:solidFill>
                            <a:effectLst/>
                            <a:latin typeface="Cambria Math" panose="02040503050406030204" pitchFamily="18" charset="0"/>
                          </a:rPr>
                        </m:ctrlPr>
                      </m:accPr>
                      <m:e>
                        <m:sSub>
                          <m:sSubPr>
                            <m:ctrlPr>
                              <a:rPr lang="es-CL" sz="2000" i="1" kern="1200">
                                <a:solidFill>
                                  <a:schemeClr val="tx1"/>
                                </a:solidFill>
                                <a:effectLst/>
                                <a:latin typeface="Cambria Math" panose="02040503050406030204" pitchFamily="18" charset="0"/>
                              </a:rPr>
                            </m:ctrlPr>
                          </m:sSubPr>
                          <m:e>
                            <m:r>
                              <a:rPr lang="es-CL" sz="2000" b="0" i="1" kern="1200">
                                <a:solidFill>
                                  <a:schemeClr val="tx1"/>
                                </a:solidFill>
                                <a:effectLst/>
                                <a:latin typeface="Cambria Math" panose="02040503050406030204" pitchFamily="18" charset="0"/>
                              </a:rPr>
                              <m:t>𝑥</m:t>
                            </m:r>
                          </m:e>
                          <m:sub>
                            <m:r>
                              <a:rPr lang="es-CL" sz="2000" b="0" i="1" kern="1200">
                                <a:solidFill>
                                  <a:schemeClr val="tx1"/>
                                </a:solidFill>
                                <a:effectLst/>
                                <a:latin typeface="Cambria Math" panose="02040503050406030204" pitchFamily="18" charset="0"/>
                              </a:rPr>
                              <m:t>6</m:t>
                            </m:r>
                          </m:sub>
                        </m:sSub>
                      </m:e>
                    </m:acc>
                    <m:r>
                      <a:rPr lang="es-CL" sz="2000" b="0" i="1">
                        <a:latin typeface="Cambria Math" panose="02040503050406030204" pitchFamily="18" charset="0"/>
                      </a:rPr>
                      <m:t>=</m:t>
                    </m:r>
                    <m:r>
                      <a:rPr lang="es-CL" sz="2000" b="0" i="1">
                        <a:latin typeface="Cambria Math" panose="02040503050406030204" pitchFamily="18" charset="0"/>
                        <a:ea typeface="Cambria Math" panose="02040503050406030204" pitchFamily="18" charset="0"/>
                      </a:rPr>
                      <m:t>3</m:t>
                    </m:r>
                  </m:oMath>
                </a14:m>
                <a:endParaRPr lang="es-CL" sz="2000" b="0" dirty="0">
                  <a:ea typeface="Cambria Math" panose="02040503050406030204" pitchFamily="18" charset="0"/>
                </a:endParaRPr>
              </a:p>
              <a:p>
                <a:r>
                  <a:rPr lang="es-CL" sz="2000" dirty="0"/>
                  <a:t>       </a:t>
                </a:r>
                <a14:m>
                  <m:oMath xmlns:m="http://schemas.openxmlformats.org/officeDocument/2006/math">
                    <m:sSub>
                      <m:sSubPr>
                        <m:ctrlPr>
                          <a:rPr lang="es-CL" sz="2000" b="0" i="1" kern="1200">
                            <a:solidFill>
                              <a:schemeClr val="tx1"/>
                            </a:solidFill>
                            <a:latin typeface="Cambria Math" panose="02040503050406030204" pitchFamily="18" charset="0"/>
                          </a:rPr>
                        </m:ctrlPr>
                      </m:sSubPr>
                      <m:e>
                        <m:r>
                          <a:rPr lang="es-CL" sz="2000" b="0" i="1" kern="1200">
                            <a:solidFill>
                              <a:schemeClr val="tx1"/>
                            </a:solidFill>
                            <a:latin typeface="Cambria Math" panose="02040503050406030204" pitchFamily="18" charset="0"/>
                          </a:rPr>
                          <m:t>𝑥</m:t>
                        </m:r>
                      </m:e>
                      <m:sub>
                        <m:r>
                          <a:rPr lang="es-CL" sz="2000" b="0" i="1" kern="1200">
                            <a:solidFill>
                              <a:schemeClr val="tx1"/>
                            </a:solidFill>
                            <a:latin typeface="Cambria Math" panose="02040503050406030204" pitchFamily="18" charset="0"/>
                          </a:rPr>
                          <m:t>1</m:t>
                        </m:r>
                      </m:sub>
                    </m:sSub>
                    <m:r>
                      <a:rPr lang="es-CL" sz="2000" b="0" i="1" kern="1200">
                        <a:solidFill>
                          <a:schemeClr val="tx1"/>
                        </a:solidFill>
                        <a:latin typeface="Cambria Math" panose="02040503050406030204" pitchFamily="18" charset="0"/>
                      </a:rPr>
                      <m:t>,</m:t>
                    </m:r>
                    <m:sSub>
                      <m:sSubPr>
                        <m:ctrlPr>
                          <a:rPr lang="es-CL" sz="2000" b="0" i="1" kern="1200">
                            <a:solidFill>
                              <a:schemeClr val="tx1"/>
                            </a:solidFill>
                            <a:latin typeface="Cambria Math" panose="02040503050406030204" pitchFamily="18" charset="0"/>
                          </a:rPr>
                        </m:ctrlPr>
                      </m:sSubPr>
                      <m:e>
                        <m:r>
                          <a:rPr lang="es-CL" sz="2000" b="0" i="1" kern="1200">
                            <a:solidFill>
                              <a:schemeClr val="tx1"/>
                            </a:solidFill>
                            <a:latin typeface="Cambria Math" panose="02040503050406030204" pitchFamily="18" charset="0"/>
                          </a:rPr>
                          <m:t> </m:t>
                        </m:r>
                        <m:r>
                          <a:rPr lang="es-CL" sz="2000" b="0" i="1" kern="1200">
                            <a:solidFill>
                              <a:schemeClr val="tx1"/>
                            </a:solidFill>
                            <a:latin typeface="Cambria Math" panose="02040503050406030204" pitchFamily="18" charset="0"/>
                          </a:rPr>
                          <m:t>𝑥</m:t>
                        </m:r>
                      </m:e>
                      <m:sub>
                        <m:r>
                          <a:rPr lang="es-CL" sz="2000" b="0" i="1" kern="1200">
                            <a:solidFill>
                              <a:schemeClr val="tx1"/>
                            </a:solidFill>
                            <a:latin typeface="Cambria Math" panose="02040503050406030204" pitchFamily="18" charset="0"/>
                          </a:rPr>
                          <m:t>2</m:t>
                        </m:r>
                      </m:sub>
                    </m:sSub>
                    <m:r>
                      <a:rPr lang="es-CL" sz="2000" b="0" i="1" kern="1200">
                        <a:solidFill>
                          <a:schemeClr val="tx1"/>
                        </a:solidFill>
                        <a:latin typeface="Cambria Math" panose="02040503050406030204" pitchFamily="18" charset="0"/>
                      </a:rPr>
                      <m:t>, </m:t>
                    </m:r>
                    <m:sSub>
                      <m:sSubPr>
                        <m:ctrlPr>
                          <a:rPr lang="es-CL" sz="2000" b="0" i="1" kern="1200">
                            <a:solidFill>
                              <a:schemeClr val="tx1"/>
                            </a:solidFill>
                            <a:latin typeface="Cambria Math" panose="02040503050406030204" pitchFamily="18" charset="0"/>
                          </a:rPr>
                        </m:ctrlPr>
                      </m:sSubPr>
                      <m:e>
                        <m:r>
                          <a:rPr lang="es-CL" sz="2000" b="0" i="1" kern="1200">
                            <a:solidFill>
                              <a:schemeClr val="tx1"/>
                            </a:solidFill>
                            <a:latin typeface="Cambria Math" panose="02040503050406030204" pitchFamily="18" charset="0"/>
                          </a:rPr>
                          <m:t>𝑥</m:t>
                        </m:r>
                      </m:e>
                      <m:sub>
                        <m:r>
                          <a:rPr lang="es-CL" sz="2000" b="0" i="1" kern="1200">
                            <a:solidFill>
                              <a:schemeClr val="tx1"/>
                            </a:solidFill>
                            <a:latin typeface="Cambria Math" panose="02040503050406030204" pitchFamily="18" charset="0"/>
                          </a:rPr>
                          <m:t>3</m:t>
                        </m:r>
                      </m:sub>
                    </m:sSub>
                    <m:r>
                      <a:rPr lang="es-CL" sz="2000" b="0" i="1" kern="1200">
                        <a:solidFill>
                          <a:schemeClr val="tx1"/>
                        </a:solidFill>
                        <a:latin typeface="Cambria Math" panose="02040503050406030204" pitchFamily="18" charset="0"/>
                      </a:rPr>
                      <m:t>,</m:t>
                    </m:r>
                    <m:acc>
                      <m:accPr>
                        <m:chr m:val="̅"/>
                        <m:ctrlPr>
                          <a:rPr lang="es-CL" sz="2000" b="0" i="1" kern="1200">
                            <a:solidFill>
                              <a:schemeClr val="tx1"/>
                            </a:solidFill>
                            <a:latin typeface="Cambria Math" panose="02040503050406030204" pitchFamily="18" charset="0"/>
                          </a:rPr>
                        </m:ctrlPr>
                      </m:accPr>
                      <m:e>
                        <m:sSub>
                          <m:sSubPr>
                            <m:ctrlPr>
                              <a:rPr lang="es-CL" sz="2000" b="0" i="1" kern="1200">
                                <a:solidFill>
                                  <a:schemeClr val="tx1"/>
                                </a:solidFill>
                                <a:latin typeface="Cambria Math" panose="02040503050406030204" pitchFamily="18" charset="0"/>
                              </a:rPr>
                            </m:ctrlPr>
                          </m:sSubPr>
                          <m:e>
                            <m:r>
                              <a:rPr lang="es-CL" sz="2000" b="0" i="1" kern="1200">
                                <a:solidFill>
                                  <a:schemeClr val="tx1"/>
                                </a:solidFill>
                                <a:latin typeface="Cambria Math" panose="02040503050406030204" pitchFamily="18" charset="0"/>
                              </a:rPr>
                              <m:t>𝑥</m:t>
                            </m:r>
                          </m:e>
                          <m:sub>
                            <m:r>
                              <a:rPr lang="es-CL" sz="2000" b="0" i="1" kern="1200">
                                <a:solidFill>
                                  <a:schemeClr val="tx1"/>
                                </a:solidFill>
                                <a:latin typeface="Cambria Math" panose="02040503050406030204" pitchFamily="18" charset="0"/>
                              </a:rPr>
                              <m:t>4</m:t>
                            </m:r>
                          </m:sub>
                        </m:sSub>
                      </m:e>
                    </m:acc>
                    <m:r>
                      <a:rPr lang="es-CL" sz="2000" b="0" i="1" kern="1200">
                        <a:solidFill>
                          <a:schemeClr val="tx1"/>
                        </a:solidFill>
                        <a:latin typeface="Cambria Math" panose="02040503050406030204" pitchFamily="18" charset="0"/>
                      </a:rPr>
                      <m:t>, </m:t>
                    </m:r>
                    <m:sSub>
                      <m:sSubPr>
                        <m:ctrlPr>
                          <a:rPr lang="es-CL" sz="2000" b="0" i="1" kern="1200">
                            <a:solidFill>
                              <a:schemeClr val="tx1"/>
                            </a:solidFill>
                            <a:latin typeface="Cambria Math" panose="02040503050406030204" pitchFamily="18" charset="0"/>
                          </a:rPr>
                        </m:ctrlPr>
                      </m:sSubPr>
                      <m:e>
                        <m:r>
                          <a:rPr lang="es-CL" sz="2000" b="0" i="1" kern="1200">
                            <a:solidFill>
                              <a:schemeClr val="tx1"/>
                            </a:solidFill>
                            <a:latin typeface="Cambria Math" panose="02040503050406030204" pitchFamily="18" charset="0"/>
                          </a:rPr>
                          <m:t>𝑥</m:t>
                        </m:r>
                      </m:e>
                      <m:sub>
                        <m:r>
                          <a:rPr lang="es-CL" sz="2000" b="0" i="1" kern="1200">
                            <a:solidFill>
                              <a:schemeClr val="tx1"/>
                            </a:solidFill>
                            <a:latin typeface="Cambria Math" panose="02040503050406030204" pitchFamily="18" charset="0"/>
                          </a:rPr>
                          <m:t>5</m:t>
                        </m:r>
                      </m:sub>
                    </m:sSub>
                    <m:r>
                      <a:rPr lang="es-CL" sz="2000" b="0" i="1" kern="1200">
                        <a:solidFill>
                          <a:schemeClr val="tx1"/>
                        </a:solidFill>
                        <a:latin typeface="Cambria Math" panose="02040503050406030204" pitchFamily="18" charset="0"/>
                      </a:rPr>
                      <m:t>,</m:t>
                    </m:r>
                    <m:acc>
                      <m:accPr>
                        <m:chr m:val="̅"/>
                        <m:ctrlPr>
                          <a:rPr lang="es-CL" sz="2000" b="0" i="1" kern="1200">
                            <a:solidFill>
                              <a:schemeClr val="tx1"/>
                            </a:solidFill>
                            <a:latin typeface="Cambria Math" panose="02040503050406030204" pitchFamily="18" charset="0"/>
                          </a:rPr>
                        </m:ctrlPr>
                      </m:accPr>
                      <m:e>
                        <m:sSub>
                          <m:sSubPr>
                            <m:ctrlPr>
                              <a:rPr lang="es-CL" sz="2000" b="0" i="1" kern="1200">
                                <a:solidFill>
                                  <a:schemeClr val="tx1"/>
                                </a:solidFill>
                                <a:latin typeface="Cambria Math" panose="02040503050406030204" pitchFamily="18" charset="0"/>
                              </a:rPr>
                            </m:ctrlPr>
                          </m:sSubPr>
                          <m:e>
                            <m:r>
                              <a:rPr lang="es-CL" sz="2000" b="0" i="1" kern="1200">
                                <a:solidFill>
                                  <a:schemeClr val="tx1"/>
                                </a:solidFill>
                                <a:latin typeface="Cambria Math" panose="02040503050406030204" pitchFamily="18" charset="0"/>
                              </a:rPr>
                              <m:t>𝑥</m:t>
                            </m:r>
                          </m:e>
                          <m:sub>
                            <m:r>
                              <a:rPr lang="es-CL" sz="2000" b="0" i="1" kern="1200">
                                <a:solidFill>
                                  <a:schemeClr val="tx1"/>
                                </a:solidFill>
                                <a:latin typeface="Cambria Math" panose="02040503050406030204" pitchFamily="18" charset="0"/>
                              </a:rPr>
                              <m:t>6</m:t>
                            </m:r>
                          </m:sub>
                        </m:sSub>
                      </m:e>
                    </m:acc>
                    <m:r>
                      <a:rPr lang="es-CL" sz="2000" b="0" i="1" kern="1200">
                        <a:solidFill>
                          <a:schemeClr val="tx1"/>
                        </a:solidFill>
                        <a:latin typeface="Cambria Math" panose="02040503050406030204" pitchFamily="18" charset="0"/>
                      </a:rPr>
                      <m:t>  ≥0</m:t>
                    </m:r>
                  </m:oMath>
                </a14:m>
                <a:endParaRPr lang="es-CL" sz="2000" b="0" i="1" kern="1200" dirty="0">
                  <a:solidFill>
                    <a:schemeClr val="tx1"/>
                  </a:solidFill>
                  <a:latin typeface="Cambria Math" panose="02040503050406030204" pitchFamily="18" charset="0"/>
                </a:endParaRPr>
              </a:p>
            </p:txBody>
          </p:sp>
        </mc:Choice>
        <mc:Fallback xmlns="">
          <p:sp>
            <p:nvSpPr>
              <p:cNvPr id="14" name="CuadroTexto 12">
                <a:extLst>
                  <a:ext uri="{FF2B5EF4-FFF2-40B4-BE49-F238E27FC236}">
                    <a16:creationId xmlns:a16="http://schemas.microsoft.com/office/drawing/2014/main" id="{0485583C-9F43-4F91-A45D-ECF8C838D0CE}"/>
                  </a:ext>
                </a:extLst>
              </p:cNvPr>
              <p:cNvSpPr txBox="1">
                <a:spLocks noRot="1" noChangeAspect="1" noMove="1" noResize="1" noEditPoints="1" noAdjustHandles="1" noChangeArrowheads="1" noChangeShapeType="1" noTextEdit="1"/>
              </p:cNvSpPr>
              <p:nvPr/>
            </p:nvSpPr>
            <p:spPr>
              <a:xfrm>
                <a:off x="3719380" y="584371"/>
                <a:ext cx="3036262" cy="1538883"/>
              </a:xfrm>
              <a:prstGeom prst="rect">
                <a:avLst/>
              </a:prstGeom>
              <a:blipFill>
                <a:blip r:embed="rId4"/>
                <a:stretch>
                  <a:fillRect l="-2811" r="-803" b="-2381"/>
                </a:stretch>
              </a:blipFill>
            </p:spPr>
            <p:txBody>
              <a:bodyPr/>
              <a:lstStyle/>
              <a:p>
                <a:r>
                  <a:rPr lang="es-CL">
                    <a:noFill/>
                  </a:rPr>
                  <a:t> </a:t>
                </a:r>
              </a:p>
            </p:txBody>
          </p:sp>
        </mc:Fallback>
      </mc:AlternateContent>
      <p:pic>
        <p:nvPicPr>
          <p:cNvPr id="16" name="Imagen 15">
            <a:extLst>
              <a:ext uri="{FF2B5EF4-FFF2-40B4-BE49-F238E27FC236}">
                <a16:creationId xmlns:a16="http://schemas.microsoft.com/office/drawing/2014/main" id="{B62CEE38-EEF3-4F57-958D-BB0B467C9D6E}"/>
              </a:ext>
            </a:extLst>
          </p:cNvPr>
          <p:cNvPicPr>
            <a:picLocks noChangeAspect="1"/>
          </p:cNvPicPr>
          <p:nvPr/>
        </p:nvPicPr>
        <p:blipFill>
          <a:blip r:embed="rId5"/>
          <a:stretch>
            <a:fillRect/>
          </a:stretch>
        </p:blipFill>
        <p:spPr>
          <a:xfrm>
            <a:off x="7077144" y="122706"/>
            <a:ext cx="4985452" cy="3523749"/>
          </a:xfrm>
          <a:prstGeom prst="rect">
            <a:avLst/>
          </a:prstGeom>
        </p:spPr>
      </p:pic>
      <p:pic>
        <p:nvPicPr>
          <p:cNvPr id="18" name="Imagen 17">
            <a:extLst>
              <a:ext uri="{FF2B5EF4-FFF2-40B4-BE49-F238E27FC236}">
                <a16:creationId xmlns:a16="http://schemas.microsoft.com/office/drawing/2014/main" id="{80C5A22D-08F8-48BD-AE5E-B06839DD30B7}"/>
              </a:ext>
            </a:extLst>
          </p:cNvPr>
          <p:cNvPicPr>
            <a:picLocks noChangeAspect="1"/>
          </p:cNvPicPr>
          <p:nvPr/>
        </p:nvPicPr>
        <p:blipFill>
          <a:blip r:embed="rId6"/>
          <a:stretch>
            <a:fillRect/>
          </a:stretch>
        </p:blipFill>
        <p:spPr>
          <a:xfrm>
            <a:off x="1933289" y="3429000"/>
            <a:ext cx="4178720" cy="2930713"/>
          </a:xfrm>
          <a:prstGeom prst="rect">
            <a:avLst/>
          </a:prstGeom>
        </p:spPr>
      </p:pic>
      <p:sp>
        <p:nvSpPr>
          <p:cNvPr id="19" name="CuadroTexto 18">
            <a:extLst>
              <a:ext uri="{FF2B5EF4-FFF2-40B4-BE49-F238E27FC236}">
                <a16:creationId xmlns:a16="http://schemas.microsoft.com/office/drawing/2014/main" id="{D3C917FC-4686-4130-BDAB-93E746DE55B8}"/>
              </a:ext>
            </a:extLst>
          </p:cNvPr>
          <p:cNvSpPr txBox="1"/>
          <p:nvPr/>
        </p:nvSpPr>
        <p:spPr>
          <a:xfrm>
            <a:off x="7562432" y="4066032"/>
            <a:ext cx="2091476" cy="1815882"/>
          </a:xfrm>
          <a:prstGeom prst="rect">
            <a:avLst/>
          </a:prstGeom>
          <a:noFill/>
        </p:spPr>
        <p:txBody>
          <a:bodyPr wrap="square" rtlCol="0">
            <a:spAutoFit/>
          </a:bodyPr>
          <a:lstStyle/>
          <a:p>
            <a:r>
              <a:rPr lang="es-CL" sz="2800" dirty="0"/>
              <a:t>Solución </a:t>
            </a:r>
          </a:p>
          <a:p>
            <a:r>
              <a:rPr lang="es-CL" sz="2800" dirty="0"/>
              <a:t>Z= 15</a:t>
            </a:r>
          </a:p>
          <a:p>
            <a:r>
              <a:rPr lang="es-CL" sz="2800" dirty="0"/>
              <a:t>X1=5</a:t>
            </a:r>
          </a:p>
          <a:p>
            <a:r>
              <a:rPr lang="es-CL" sz="2800" dirty="0"/>
              <a:t>X2=0</a:t>
            </a:r>
          </a:p>
        </p:txBody>
      </p:sp>
    </p:spTree>
    <p:extLst>
      <p:ext uri="{BB962C8B-B14F-4D97-AF65-F5344CB8AC3E}">
        <p14:creationId xmlns:p14="http://schemas.microsoft.com/office/powerpoint/2010/main" val="8330677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texto 3"/>
          <p:cNvSpPr>
            <a:spLocks noGrp="1"/>
          </p:cNvSpPr>
          <p:nvPr>
            <p:ph type="body" sz="half" idx="2"/>
          </p:nvPr>
        </p:nvSpPr>
        <p:spPr/>
        <p:txBody>
          <a:bodyPr/>
          <a:lstStyle/>
          <a:p>
            <a:endParaRPr lang="es-CL"/>
          </a:p>
        </p:txBody>
      </p:sp>
      <p:sp>
        <p:nvSpPr>
          <p:cNvPr id="5" name="CuadroTexto 4"/>
          <p:cNvSpPr txBox="1"/>
          <p:nvPr/>
        </p:nvSpPr>
        <p:spPr>
          <a:xfrm>
            <a:off x="3727351" y="357600"/>
            <a:ext cx="7017114" cy="1015663"/>
          </a:xfrm>
          <a:prstGeom prst="rect">
            <a:avLst/>
          </a:prstGeom>
          <a:noFill/>
        </p:spPr>
        <p:txBody>
          <a:bodyPr wrap="none" rtlCol="0">
            <a:spAutoFit/>
          </a:bodyPr>
          <a:lstStyle/>
          <a:p>
            <a:r>
              <a:rPr lang="es-CL" sz="6000" dirty="0"/>
              <a:t>Método Simplex Dual</a:t>
            </a:r>
          </a:p>
        </p:txBody>
      </p:sp>
      <p:sp>
        <p:nvSpPr>
          <p:cNvPr id="2" name="Título 1"/>
          <p:cNvSpPr>
            <a:spLocks noGrp="1"/>
          </p:cNvSpPr>
          <p:nvPr>
            <p:ph type="title"/>
          </p:nvPr>
        </p:nvSpPr>
        <p:spPr>
          <a:xfrm>
            <a:off x="96983" y="1553372"/>
            <a:ext cx="11679382" cy="4875137"/>
          </a:xfrm>
          <a:solidFill>
            <a:srgbClr val="00B0EE"/>
          </a:solidFill>
        </p:spPr>
        <p:txBody>
          <a:bodyPr>
            <a:normAutofit fontScale="90000"/>
          </a:bodyPr>
          <a:lstStyle/>
          <a:p>
            <a:pPr algn="just"/>
            <a:r>
              <a:rPr lang="es-MX" dirty="0"/>
              <a:t>Se presenta el método </a:t>
            </a:r>
            <a:r>
              <a:rPr lang="es-MX" dirty="0" err="1"/>
              <a:t>símplex</a:t>
            </a:r>
            <a:r>
              <a:rPr lang="es-MX" dirty="0"/>
              <a:t> dual, que es una de las aplicaciones más</a:t>
            </a:r>
            <a:br>
              <a:rPr lang="es-MX" dirty="0"/>
            </a:br>
            <a:r>
              <a:rPr lang="es-MX" dirty="0"/>
              <a:t>importantes de la propiedad de soluciones complementarias. Este algoritmo opera sobre el problema primal como si se aplicara el método </a:t>
            </a:r>
            <a:r>
              <a:rPr lang="es-MX" dirty="0" err="1"/>
              <a:t>símplex</a:t>
            </a:r>
            <a:r>
              <a:rPr lang="es-MX" dirty="0"/>
              <a:t> en forma simultánea al problema dual, lo que puede realizarse gracias a esta propiedad. Debido a que en la tabla </a:t>
            </a:r>
            <a:r>
              <a:rPr lang="es-MX" dirty="0" err="1"/>
              <a:t>símplex</a:t>
            </a:r>
            <a:r>
              <a:rPr lang="es-MX" dirty="0"/>
              <a:t> se invierten los</a:t>
            </a:r>
            <a:br>
              <a:rPr lang="es-MX" dirty="0"/>
            </a:br>
            <a:r>
              <a:rPr lang="es-MX" dirty="0"/>
              <a:t>papeles del renglón 0 y la columna del lado derecho, el método </a:t>
            </a:r>
            <a:r>
              <a:rPr lang="es-MX" dirty="0" err="1"/>
              <a:t>símplex</a:t>
            </a:r>
            <a:r>
              <a:rPr lang="es-MX" dirty="0"/>
              <a:t> dual requiere que el renglón 0 </a:t>
            </a:r>
            <a:r>
              <a:rPr lang="es-MX" i="1" dirty="0"/>
              <a:t>comience y permanezca no negativo </a:t>
            </a:r>
            <a:r>
              <a:rPr lang="es-MX" dirty="0"/>
              <a:t>mientras que el lado derecho </a:t>
            </a:r>
            <a:r>
              <a:rPr lang="es-MX" i="1" dirty="0"/>
              <a:t>comienza </a:t>
            </a:r>
            <a:r>
              <a:rPr lang="es-MX" dirty="0"/>
              <a:t>con algunos valores </a:t>
            </a:r>
            <a:r>
              <a:rPr lang="es-MX" i="1" dirty="0"/>
              <a:t>negativos </a:t>
            </a:r>
            <a:r>
              <a:rPr lang="es-MX" dirty="0"/>
              <a:t>(en las iteraciones siguientes se procura alcanzar la no negatividad en el lado</a:t>
            </a:r>
            <a:br>
              <a:rPr lang="es-MX" dirty="0"/>
            </a:br>
            <a:r>
              <a:rPr lang="es-MX" dirty="0"/>
              <a:t>derecho). En consecuencia, algunas veces se usa este algoritmo porque es más conveniente establecer la tabla inicial en esta forma que en la que requiere el método </a:t>
            </a:r>
            <a:r>
              <a:rPr lang="es-MX" dirty="0" err="1"/>
              <a:t>símplex</a:t>
            </a:r>
            <a:r>
              <a:rPr lang="es-MX" dirty="0"/>
              <a:t>.</a:t>
            </a:r>
            <a:endParaRPr lang="es-CL" dirty="0"/>
          </a:p>
        </p:txBody>
      </p:sp>
    </p:spTree>
    <p:extLst>
      <p:ext uri="{BB962C8B-B14F-4D97-AF65-F5344CB8AC3E}">
        <p14:creationId xmlns:p14="http://schemas.microsoft.com/office/powerpoint/2010/main" val="25840830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CL" dirty="0"/>
          </a:p>
        </p:txBody>
      </p:sp>
      <p:pic>
        <p:nvPicPr>
          <p:cNvPr id="4" name="Imagen 3"/>
          <p:cNvPicPr>
            <a:picLocks noChangeAspect="1"/>
          </p:cNvPicPr>
          <p:nvPr/>
        </p:nvPicPr>
        <p:blipFill>
          <a:blip r:embed="rId2"/>
          <a:stretch>
            <a:fillRect/>
          </a:stretch>
        </p:blipFill>
        <p:spPr>
          <a:xfrm>
            <a:off x="3982388" y="339402"/>
            <a:ext cx="7273747" cy="3085026"/>
          </a:xfrm>
          <a:prstGeom prst="rect">
            <a:avLst/>
          </a:prstGeom>
        </p:spPr>
      </p:pic>
      <p:sp>
        <p:nvSpPr>
          <p:cNvPr id="5" name="Rectángulo 4"/>
          <p:cNvSpPr/>
          <p:nvPr/>
        </p:nvSpPr>
        <p:spPr>
          <a:xfrm>
            <a:off x="540913" y="3616997"/>
            <a:ext cx="10715222" cy="2862322"/>
          </a:xfrm>
          <a:prstGeom prst="rect">
            <a:avLst/>
          </a:prstGeom>
          <a:solidFill>
            <a:schemeClr val="bg1"/>
          </a:solidFill>
          <a:ln>
            <a:solidFill>
              <a:schemeClr val="accent1"/>
            </a:solidFill>
          </a:ln>
        </p:spPr>
        <p:txBody>
          <a:bodyPr wrap="square">
            <a:spAutoFit/>
          </a:bodyPr>
          <a:lstStyle/>
          <a:p>
            <a:r>
              <a:rPr lang="es-CL" dirty="0">
                <a:solidFill>
                  <a:srgbClr val="000000"/>
                </a:solidFill>
                <a:latin typeface="TimesLTStd-Roman"/>
              </a:rPr>
              <a:t>En consecuencia, con el problema primal en la forma de </a:t>
            </a:r>
            <a:r>
              <a:rPr lang="es-CL" i="1" dirty="0">
                <a:solidFill>
                  <a:srgbClr val="000000"/>
                </a:solidFill>
                <a:latin typeface="TimesLTStd-Italic"/>
              </a:rPr>
              <a:t>maximización</a:t>
            </a:r>
            <a:r>
              <a:rPr lang="es-CL" dirty="0">
                <a:solidFill>
                  <a:srgbClr val="000000"/>
                </a:solidFill>
                <a:latin typeface="TimesLTStd-Roman"/>
              </a:rPr>
              <a:t>, el problema dual está en la forma de </a:t>
            </a:r>
            <a:r>
              <a:rPr lang="es-CL" i="1" dirty="0">
                <a:solidFill>
                  <a:srgbClr val="000000"/>
                </a:solidFill>
                <a:latin typeface="TimesLTStd-Italic"/>
              </a:rPr>
              <a:t>minimización</a:t>
            </a:r>
            <a:r>
              <a:rPr lang="es-CL" dirty="0">
                <a:solidFill>
                  <a:srgbClr val="000000"/>
                </a:solidFill>
                <a:latin typeface="TimesLTStd-Roman"/>
              </a:rPr>
              <a:t>. Aún más, el problema dual usa exactamente los mismos </a:t>
            </a:r>
            <a:r>
              <a:rPr lang="es-CL" i="1" dirty="0">
                <a:solidFill>
                  <a:srgbClr val="000000"/>
                </a:solidFill>
                <a:latin typeface="TimesLTStd-Italic"/>
              </a:rPr>
              <a:t>parámetros </a:t>
            </a:r>
            <a:r>
              <a:rPr lang="es-CL" dirty="0">
                <a:solidFill>
                  <a:srgbClr val="000000"/>
                </a:solidFill>
                <a:latin typeface="TimesLTStd-Roman"/>
              </a:rPr>
              <a:t>que el problema primal, pero en diferentes lugares, tal como se resume a continuación.</a:t>
            </a:r>
          </a:p>
          <a:p>
            <a:br>
              <a:rPr lang="es-CL" dirty="0">
                <a:solidFill>
                  <a:srgbClr val="000000"/>
                </a:solidFill>
                <a:latin typeface="TimesLTStd-Roman"/>
              </a:rPr>
            </a:br>
            <a:r>
              <a:rPr lang="es-CL" b="1" dirty="0">
                <a:solidFill>
                  <a:srgbClr val="000000"/>
                </a:solidFill>
                <a:latin typeface="TimesLTStd-Bold"/>
              </a:rPr>
              <a:t>1. </a:t>
            </a:r>
            <a:r>
              <a:rPr lang="es-CL" dirty="0">
                <a:solidFill>
                  <a:srgbClr val="000000"/>
                </a:solidFill>
                <a:latin typeface="TimesLTStd-Roman"/>
              </a:rPr>
              <a:t>Los coeficientes de la función objetivo del problema primal son los </a:t>
            </a:r>
            <a:r>
              <a:rPr lang="es-CL" i="1" dirty="0">
                <a:solidFill>
                  <a:srgbClr val="000000"/>
                </a:solidFill>
                <a:latin typeface="TimesLTStd-Italic"/>
              </a:rPr>
              <a:t>lados derechos </a:t>
            </a:r>
            <a:r>
              <a:rPr lang="es-CL" dirty="0">
                <a:solidFill>
                  <a:srgbClr val="000000"/>
                </a:solidFill>
                <a:latin typeface="TimesLTStd-Roman"/>
              </a:rPr>
              <a:t>de las restricciones funcionales del problema dual.</a:t>
            </a:r>
            <a:br>
              <a:rPr lang="es-CL" dirty="0">
                <a:solidFill>
                  <a:srgbClr val="000000"/>
                </a:solidFill>
                <a:latin typeface="TimesLTStd-Roman"/>
              </a:rPr>
            </a:br>
            <a:r>
              <a:rPr lang="es-CL" b="1" dirty="0">
                <a:solidFill>
                  <a:srgbClr val="000000"/>
                </a:solidFill>
                <a:latin typeface="TimesLTStd-Bold"/>
              </a:rPr>
              <a:t>2. </a:t>
            </a:r>
            <a:r>
              <a:rPr lang="es-CL" dirty="0">
                <a:solidFill>
                  <a:srgbClr val="000000"/>
                </a:solidFill>
                <a:latin typeface="TimesLTStd-Roman"/>
              </a:rPr>
              <a:t>Los lados derechos de las restricciones funcionales del problema primal son los coeficientes de la función objetivo del problema dual.</a:t>
            </a:r>
            <a:br>
              <a:rPr lang="es-CL" dirty="0">
                <a:solidFill>
                  <a:srgbClr val="000000"/>
                </a:solidFill>
                <a:latin typeface="TimesLTStd-Roman"/>
              </a:rPr>
            </a:br>
            <a:r>
              <a:rPr lang="es-CL" b="1" dirty="0">
                <a:solidFill>
                  <a:srgbClr val="000000"/>
                </a:solidFill>
                <a:latin typeface="TimesLTStd-Bold"/>
              </a:rPr>
              <a:t>3. </a:t>
            </a:r>
            <a:r>
              <a:rPr lang="es-CL" dirty="0">
                <a:solidFill>
                  <a:srgbClr val="000000"/>
                </a:solidFill>
                <a:latin typeface="TimesLTStd-Roman"/>
              </a:rPr>
              <a:t>Los coeficientes de una variable de las restricciones funcionales del problema primal son los coeficientes de una restricción funcional del problema dual.</a:t>
            </a:r>
            <a:r>
              <a:rPr lang="es-CL" dirty="0"/>
              <a:t> </a:t>
            </a:r>
          </a:p>
        </p:txBody>
      </p:sp>
    </p:spTree>
    <p:extLst>
      <p:ext uri="{BB962C8B-B14F-4D97-AF65-F5344CB8AC3E}">
        <p14:creationId xmlns:p14="http://schemas.microsoft.com/office/powerpoint/2010/main" val="42043395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652162" y="143549"/>
            <a:ext cx="10934163" cy="6463308"/>
          </a:xfrm>
          <a:prstGeom prst="rect">
            <a:avLst/>
          </a:prstGeom>
          <a:solidFill>
            <a:schemeClr val="bg1"/>
          </a:solidFill>
          <a:ln w="25400">
            <a:solidFill>
              <a:schemeClr val="accent1"/>
            </a:solidFill>
          </a:ln>
        </p:spPr>
        <p:txBody>
          <a:bodyPr wrap="square">
            <a:spAutoFit/>
          </a:bodyPr>
          <a:lstStyle/>
          <a:p>
            <a:r>
              <a:rPr lang="es-CL" b="1" i="1" dirty="0">
                <a:solidFill>
                  <a:srgbClr val="000000"/>
                </a:solidFill>
                <a:latin typeface="TimesLTStd-Italic"/>
              </a:rPr>
              <a:t>1. Paso inicial: </a:t>
            </a:r>
            <a:r>
              <a:rPr lang="es-CL" dirty="0">
                <a:solidFill>
                  <a:srgbClr val="000000"/>
                </a:solidFill>
                <a:latin typeface="TimesLTStd-Roman"/>
              </a:rPr>
              <a:t>Después de convertir cualquier restricción funcional de la forma &gt;=</a:t>
            </a:r>
            <a:r>
              <a:rPr lang="es-CL" dirty="0">
                <a:solidFill>
                  <a:srgbClr val="000000"/>
                </a:solidFill>
                <a:latin typeface="MathematicalPiLTStd-1"/>
              </a:rPr>
              <a:t> </a:t>
            </a:r>
            <a:r>
              <a:rPr lang="es-CL" dirty="0">
                <a:solidFill>
                  <a:srgbClr val="000000"/>
                </a:solidFill>
                <a:latin typeface="TimesLTStd-Roman"/>
              </a:rPr>
              <a:t>a la forma &lt;=</a:t>
            </a:r>
            <a:r>
              <a:rPr lang="es-CL" dirty="0">
                <a:solidFill>
                  <a:srgbClr val="000000"/>
                </a:solidFill>
                <a:latin typeface="MathematicalPiLTStd-1"/>
              </a:rPr>
              <a:t> </a:t>
            </a:r>
            <a:r>
              <a:rPr lang="es-CL" dirty="0">
                <a:solidFill>
                  <a:srgbClr val="000000"/>
                </a:solidFill>
                <a:latin typeface="TimesLTStd-Roman"/>
              </a:rPr>
              <a:t>mediante la multiplicación de ambos lados por –1, se introducen las variables de holgura necesarias para construir un conjunto de ecuaciones que describan el problema. Encuentre una solución básica tal que los coeficientes de la ecuación (0) sean ceros para el caso de las variables básicas y no negativos para las variables no básicas (de manera que la solución es óptima si es factible). El método continúa en la prueba de factibilidad.</a:t>
            </a:r>
            <a:br>
              <a:rPr lang="es-CL" dirty="0">
                <a:solidFill>
                  <a:srgbClr val="000000"/>
                </a:solidFill>
                <a:latin typeface="TimesLTStd-Roman"/>
              </a:rPr>
            </a:br>
            <a:r>
              <a:rPr lang="es-CL" b="1" dirty="0">
                <a:solidFill>
                  <a:srgbClr val="000000"/>
                </a:solidFill>
                <a:latin typeface="TimesLTStd-Bold"/>
              </a:rPr>
              <a:t>2. </a:t>
            </a:r>
            <a:r>
              <a:rPr lang="es-CL" b="1" i="1" dirty="0">
                <a:solidFill>
                  <a:srgbClr val="000000"/>
                </a:solidFill>
                <a:latin typeface="TimesLTStd-Italic"/>
              </a:rPr>
              <a:t>Prueba de factibilidad</a:t>
            </a:r>
            <a:r>
              <a:rPr lang="es-CL" i="1" dirty="0">
                <a:solidFill>
                  <a:srgbClr val="000000"/>
                </a:solidFill>
                <a:latin typeface="TimesLTStd-Italic"/>
              </a:rPr>
              <a:t>: </a:t>
            </a:r>
            <a:r>
              <a:rPr lang="es-CL" dirty="0">
                <a:solidFill>
                  <a:srgbClr val="000000"/>
                </a:solidFill>
                <a:latin typeface="TimesLTStd-Roman"/>
              </a:rPr>
              <a:t>Se verifica si todas las variables básicas son </a:t>
            </a:r>
            <a:r>
              <a:rPr lang="es-CL" i="1" dirty="0">
                <a:solidFill>
                  <a:srgbClr val="000000"/>
                </a:solidFill>
                <a:latin typeface="TimesLTStd-Italic"/>
              </a:rPr>
              <a:t>no negativas</a:t>
            </a:r>
            <a:r>
              <a:rPr lang="es-CL" dirty="0">
                <a:solidFill>
                  <a:srgbClr val="000000"/>
                </a:solidFill>
                <a:latin typeface="TimesLTStd-Roman"/>
              </a:rPr>
              <a:t>. Si es así, esta solución es factible y, por tanto, óptima, y el algoritmo se detiene. De otra manera, es necesario realizar una iteración.</a:t>
            </a:r>
            <a:br>
              <a:rPr lang="es-CL" dirty="0">
                <a:solidFill>
                  <a:srgbClr val="000000"/>
                </a:solidFill>
                <a:latin typeface="TimesLTStd-Roman"/>
              </a:rPr>
            </a:br>
            <a:r>
              <a:rPr lang="es-CL" b="1" dirty="0">
                <a:solidFill>
                  <a:srgbClr val="000000"/>
                </a:solidFill>
                <a:latin typeface="TimesLTStd-Bold"/>
              </a:rPr>
              <a:t>3. </a:t>
            </a:r>
            <a:r>
              <a:rPr lang="es-CL" b="1" i="1" dirty="0">
                <a:solidFill>
                  <a:srgbClr val="000000"/>
                </a:solidFill>
                <a:latin typeface="TimesLTStd-Italic"/>
              </a:rPr>
              <a:t>Iteración</a:t>
            </a:r>
            <a:r>
              <a:rPr lang="es-CL" i="1" dirty="0">
                <a:solidFill>
                  <a:srgbClr val="000000"/>
                </a:solidFill>
                <a:latin typeface="TimesLTStd-Italic"/>
              </a:rPr>
              <a:t>:</a:t>
            </a:r>
          </a:p>
          <a:p>
            <a:br>
              <a:rPr lang="es-CL" i="1" dirty="0">
                <a:solidFill>
                  <a:srgbClr val="000000"/>
                </a:solidFill>
                <a:latin typeface="TimesLTStd-Italic"/>
              </a:rPr>
            </a:br>
            <a:endParaRPr lang="es-CL" i="1" dirty="0">
              <a:solidFill>
                <a:srgbClr val="000000"/>
              </a:solidFill>
              <a:latin typeface="TimesLTStd-Italic"/>
            </a:endParaRPr>
          </a:p>
          <a:p>
            <a:pPr marL="342900" indent="-342900">
              <a:buAutoNum type="arabicPeriod"/>
            </a:pPr>
            <a:endParaRPr lang="es-CL" i="1" dirty="0">
              <a:solidFill>
                <a:srgbClr val="000000"/>
              </a:solidFill>
              <a:latin typeface="TimesLTStd-Italic"/>
            </a:endParaRPr>
          </a:p>
          <a:p>
            <a:pPr marL="342900" indent="-342900">
              <a:buAutoNum type="arabicPeriod"/>
            </a:pPr>
            <a:endParaRPr lang="es-CL" i="1" dirty="0">
              <a:solidFill>
                <a:srgbClr val="000000"/>
              </a:solidFill>
              <a:latin typeface="TimesLTStd-Italic"/>
            </a:endParaRPr>
          </a:p>
          <a:p>
            <a:pPr marL="342900" indent="-342900">
              <a:buAutoNum type="arabicPeriod"/>
            </a:pPr>
            <a:endParaRPr lang="es-CL" i="1" dirty="0">
              <a:solidFill>
                <a:srgbClr val="000000"/>
              </a:solidFill>
              <a:latin typeface="TimesLTStd-Italic"/>
            </a:endParaRPr>
          </a:p>
          <a:p>
            <a:pPr marL="342900" indent="-342900">
              <a:buAutoNum type="arabicPeriod"/>
            </a:pPr>
            <a:endParaRPr lang="es-CL" i="1" dirty="0">
              <a:solidFill>
                <a:srgbClr val="000000"/>
              </a:solidFill>
              <a:latin typeface="TimesLTStd-Italic"/>
            </a:endParaRPr>
          </a:p>
          <a:p>
            <a:pPr marL="342900" indent="-342900">
              <a:buAutoNum type="arabicPeriod"/>
            </a:pPr>
            <a:endParaRPr lang="es-CL" i="1" dirty="0">
              <a:solidFill>
                <a:srgbClr val="000000"/>
              </a:solidFill>
              <a:latin typeface="TimesLTStd-Italic"/>
            </a:endParaRPr>
          </a:p>
          <a:p>
            <a:pPr marL="342900" indent="-342900">
              <a:buAutoNum type="arabicPeriod"/>
            </a:pPr>
            <a:endParaRPr lang="es-CL" i="1" dirty="0">
              <a:solidFill>
                <a:srgbClr val="000000"/>
              </a:solidFill>
              <a:latin typeface="TimesLTStd-Italic"/>
            </a:endParaRPr>
          </a:p>
          <a:p>
            <a:pPr marL="342900" indent="-342900">
              <a:buAutoNum type="arabicPeriod"/>
            </a:pPr>
            <a:endParaRPr lang="es-CL" i="1" dirty="0">
              <a:solidFill>
                <a:srgbClr val="000000"/>
              </a:solidFill>
              <a:latin typeface="TimesLTStd-Italic"/>
            </a:endParaRPr>
          </a:p>
          <a:p>
            <a:pPr marL="342900" indent="-342900">
              <a:buAutoNum type="arabicPeriod"/>
            </a:pPr>
            <a:endParaRPr lang="es-CL" i="1" dirty="0">
              <a:solidFill>
                <a:srgbClr val="000000"/>
              </a:solidFill>
              <a:latin typeface="TimesLTStd-Italic"/>
            </a:endParaRPr>
          </a:p>
          <a:p>
            <a:pPr marL="342900" indent="-342900">
              <a:buAutoNum type="arabicPeriod"/>
            </a:pPr>
            <a:endParaRPr lang="es-CL" i="1" dirty="0">
              <a:solidFill>
                <a:srgbClr val="000000"/>
              </a:solidFill>
              <a:latin typeface="TimesLTStd-Italic"/>
            </a:endParaRPr>
          </a:p>
          <a:p>
            <a:pPr marL="342900" indent="-342900">
              <a:buAutoNum type="arabicPeriod"/>
            </a:pPr>
            <a:endParaRPr lang="es-CL" i="1" dirty="0">
              <a:solidFill>
                <a:srgbClr val="000000"/>
              </a:solidFill>
              <a:latin typeface="TimesLTStd-Italic"/>
            </a:endParaRPr>
          </a:p>
          <a:p>
            <a:pPr marL="342900" indent="-342900">
              <a:buAutoNum type="arabicPeriod"/>
            </a:pPr>
            <a:endParaRPr lang="es-CL" dirty="0"/>
          </a:p>
        </p:txBody>
      </p:sp>
      <p:sp>
        <p:nvSpPr>
          <p:cNvPr id="4" name="CuadroTexto 3"/>
          <p:cNvSpPr txBox="1"/>
          <p:nvPr/>
        </p:nvSpPr>
        <p:spPr>
          <a:xfrm>
            <a:off x="1056068" y="2907101"/>
            <a:ext cx="10019763" cy="3693319"/>
          </a:xfrm>
          <a:prstGeom prst="rect">
            <a:avLst/>
          </a:prstGeom>
          <a:noFill/>
        </p:spPr>
        <p:txBody>
          <a:bodyPr wrap="square" rtlCol="0">
            <a:spAutoFit/>
          </a:bodyPr>
          <a:lstStyle/>
          <a:p>
            <a:r>
              <a:rPr lang="es-CL" b="1" i="1" dirty="0">
                <a:solidFill>
                  <a:srgbClr val="000000"/>
                </a:solidFill>
                <a:latin typeface="TimesLTStd-Italic"/>
              </a:rPr>
              <a:t>Paso 1</a:t>
            </a:r>
            <a:r>
              <a:rPr lang="es-CL" i="1" dirty="0">
                <a:solidFill>
                  <a:srgbClr val="000000"/>
                </a:solidFill>
                <a:latin typeface="TimesLTStd-Italic"/>
              </a:rPr>
              <a:t> </a:t>
            </a:r>
            <a:r>
              <a:rPr lang="es-CL" dirty="0">
                <a:solidFill>
                  <a:srgbClr val="000000"/>
                </a:solidFill>
                <a:latin typeface="TimesLTStd-Roman"/>
              </a:rPr>
              <a:t>Se determina la </a:t>
            </a:r>
            <a:r>
              <a:rPr lang="es-CL" i="1" dirty="0">
                <a:solidFill>
                  <a:srgbClr val="000000"/>
                </a:solidFill>
                <a:latin typeface="TimesLTStd-Italic"/>
              </a:rPr>
              <a:t>variable básica que sale </a:t>
            </a:r>
            <a:r>
              <a:rPr lang="es-CL" dirty="0">
                <a:solidFill>
                  <a:srgbClr val="000000"/>
                </a:solidFill>
                <a:latin typeface="TimesLTStd-Roman"/>
              </a:rPr>
              <a:t>mediante la selección de la variable básica </a:t>
            </a:r>
            <a:r>
              <a:rPr lang="es-CL" dirty="0">
                <a:solidFill>
                  <a:srgbClr val="7030A0"/>
                </a:solidFill>
                <a:latin typeface="TimesLTStd-Roman"/>
              </a:rPr>
              <a:t>negativa</a:t>
            </a:r>
            <a:r>
              <a:rPr lang="es-CL" dirty="0">
                <a:solidFill>
                  <a:srgbClr val="000000"/>
                </a:solidFill>
                <a:latin typeface="TimesLTStd-Roman"/>
              </a:rPr>
              <a:t> que tenga el mayor valor absoluto (lado derecho).</a:t>
            </a:r>
            <a:br>
              <a:rPr lang="es-CL" dirty="0">
                <a:solidFill>
                  <a:srgbClr val="000000"/>
                </a:solidFill>
                <a:latin typeface="TimesLTStd-Roman"/>
              </a:rPr>
            </a:br>
            <a:r>
              <a:rPr lang="es-CL" b="1" i="1" dirty="0">
                <a:solidFill>
                  <a:srgbClr val="000000"/>
                </a:solidFill>
                <a:latin typeface="TimesLTStd-Italic"/>
              </a:rPr>
              <a:t>Paso 2 </a:t>
            </a:r>
            <a:r>
              <a:rPr lang="es-CL" dirty="0">
                <a:solidFill>
                  <a:srgbClr val="000000"/>
                </a:solidFill>
                <a:latin typeface="TimesLTStd-Roman"/>
              </a:rPr>
              <a:t>Se determina la </a:t>
            </a:r>
            <a:r>
              <a:rPr lang="es-CL" i="1" dirty="0">
                <a:solidFill>
                  <a:srgbClr val="000000"/>
                </a:solidFill>
                <a:latin typeface="TimesLTStd-Italic"/>
              </a:rPr>
              <a:t>variable básica entrante </a:t>
            </a:r>
            <a:r>
              <a:rPr lang="es-CL" dirty="0">
                <a:solidFill>
                  <a:srgbClr val="000000"/>
                </a:solidFill>
                <a:latin typeface="TimesLTStd-Roman"/>
              </a:rPr>
              <a:t>a través de la selección de aquella cuyo coeficiente en la ecuación (0) llegue primero a cero al agregar a la ecuación (0) un múltiplo</a:t>
            </a:r>
            <a:r>
              <a:rPr lang="es-CL" dirty="0"/>
              <a:t> </a:t>
            </a:r>
            <a:r>
              <a:rPr lang="es-CL" dirty="0">
                <a:solidFill>
                  <a:srgbClr val="000000"/>
                </a:solidFill>
                <a:latin typeface="TimesLTStd-Roman"/>
              </a:rPr>
              <a:t>creciente de la ecuación que contiene a la variable básica que sale. Para llevar a cabo esta elección se examinan las variables no básicas con coeficientes negativos de esa ecuación —la que contiene la variable básica que sale— y se elige la que tiene el menor valor absoluto del cociente dado por el coeficiente de la ecuación (0) entre el coeficiente de esa ecuación.</a:t>
            </a:r>
            <a:br>
              <a:rPr lang="es-CL" dirty="0">
                <a:solidFill>
                  <a:srgbClr val="000000"/>
                </a:solidFill>
                <a:latin typeface="TimesLTStd-Roman"/>
              </a:rPr>
            </a:br>
            <a:r>
              <a:rPr lang="es-CL" b="1" i="1" dirty="0">
                <a:solidFill>
                  <a:srgbClr val="000000"/>
                </a:solidFill>
                <a:latin typeface="TimesLTStd-Roman"/>
              </a:rPr>
              <a:t>Paso 3 </a:t>
            </a:r>
            <a:r>
              <a:rPr lang="es-CL" dirty="0">
                <a:solidFill>
                  <a:srgbClr val="000000"/>
                </a:solidFill>
                <a:latin typeface="TimesLTStd-Roman"/>
              </a:rPr>
              <a:t>Se determina la nueva solución básica a partir del conjunto actual de ecuaciones y se despejan las variables básicas en términos de las no básicas, mediante el método de eliminación gaussiana. Cuando las variables no básicas se hacen cero, cada variable básica (y Z) es igual al nuevo valor del lado derecho de la ecuación en la que aparece (con coeficiente +1). Se repite la prueba de factibilidad. </a:t>
            </a:r>
            <a:endParaRPr lang="es-CL" dirty="0"/>
          </a:p>
        </p:txBody>
      </p:sp>
    </p:spTree>
    <p:extLst>
      <p:ext uri="{BB962C8B-B14F-4D97-AF65-F5344CB8AC3E}">
        <p14:creationId xmlns:p14="http://schemas.microsoft.com/office/powerpoint/2010/main" val="17689676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52E1C060-396E-481F-AA33-C5A14EDC8A09}"/>
              </a:ext>
            </a:extLst>
          </p:cNvPr>
          <p:cNvPicPr>
            <a:picLocks noChangeAspect="1"/>
          </p:cNvPicPr>
          <p:nvPr/>
        </p:nvPicPr>
        <p:blipFill>
          <a:blip r:embed="rId2"/>
          <a:stretch>
            <a:fillRect/>
          </a:stretch>
        </p:blipFill>
        <p:spPr>
          <a:xfrm>
            <a:off x="2947588" y="1894009"/>
            <a:ext cx="7281529" cy="4084760"/>
          </a:xfrm>
          <a:prstGeom prst="rect">
            <a:avLst/>
          </a:prstGeom>
        </p:spPr>
      </p:pic>
      <p:sp>
        <p:nvSpPr>
          <p:cNvPr id="5" name="CuadroTexto 4">
            <a:extLst>
              <a:ext uri="{FF2B5EF4-FFF2-40B4-BE49-F238E27FC236}">
                <a16:creationId xmlns:a16="http://schemas.microsoft.com/office/drawing/2014/main" id="{9CD9B4FA-CE35-46E5-8A90-67AB556D3FB6}"/>
              </a:ext>
            </a:extLst>
          </p:cNvPr>
          <p:cNvSpPr txBox="1"/>
          <p:nvPr/>
        </p:nvSpPr>
        <p:spPr>
          <a:xfrm>
            <a:off x="1336431" y="773723"/>
            <a:ext cx="10075985" cy="830997"/>
          </a:xfrm>
          <a:prstGeom prst="rect">
            <a:avLst/>
          </a:prstGeom>
          <a:noFill/>
        </p:spPr>
        <p:txBody>
          <a:bodyPr wrap="square" rtlCol="0">
            <a:spAutoFit/>
          </a:bodyPr>
          <a:lstStyle/>
          <a:p>
            <a:r>
              <a:rPr lang="es-CL" sz="2400" dirty="0">
                <a:latin typeface="Calibri" panose="020F0502020204030204" pitchFamily="34" charset="0"/>
                <a:cs typeface="Calibri" panose="020F0502020204030204" pitchFamily="34" charset="0"/>
              </a:rPr>
              <a:t>Las reglas para determinar el sentido de la optimalidad, el tipo de restricción y el signo de las variables em el problema dual se dan en la siguiente tabla:  </a:t>
            </a:r>
          </a:p>
        </p:txBody>
      </p:sp>
      <p:sp>
        <p:nvSpPr>
          <p:cNvPr id="7" name="CuadroTexto 6">
            <a:extLst>
              <a:ext uri="{FF2B5EF4-FFF2-40B4-BE49-F238E27FC236}">
                <a16:creationId xmlns:a16="http://schemas.microsoft.com/office/drawing/2014/main" id="{B463B198-EA90-41C9-BF7D-70B9CF1ED924}"/>
              </a:ext>
            </a:extLst>
          </p:cNvPr>
          <p:cNvSpPr txBox="1"/>
          <p:nvPr/>
        </p:nvSpPr>
        <p:spPr>
          <a:xfrm>
            <a:off x="1336431" y="6215304"/>
            <a:ext cx="11084509" cy="662938"/>
          </a:xfrm>
          <a:prstGeom prst="rect">
            <a:avLst/>
          </a:prstGeom>
          <a:noFill/>
        </p:spPr>
        <p:txBody>
          <a:bodyPr wrap="none" rtlCol="0">
            <a:spAutoFit/>
          </a:bodyPr>
          <a:lstStyle/>
          <a:p>
            <a:r>
              <a:rPr lang="es-CL" dirty="0"/>
              <a:t>Fuente: </a:t>
            </a:r>
            <a:r>
              <a:rPr lang="es-ES" sz="1800"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Introducción a Investigación de Operaciones”, Hillier y G. Lieberman. Edit. McGraw Hill, 2015 (texto guía)</a:t>
            </a:r>
            <a:endParaRPr lang="es-CL" sz="1800" dirty="0">
              <a:effectLst/>
              <a:latin typeface="Calibri" panose="020F0502020204030204" pitchFamily="34" charset="0"/>
              <a:ea typeface="Calibri" panose="020F0502020204030204" pitchFamily="34" charset="0"/>
              <a:cs typeface="Calibri" panose="020F0502020204030204" pitchFamily="34" charset="0"/>
            </a:endParaRPr>
          </a:p>
          <a:p>
            <a:endParaRPr lang="es-CL" dirty="0"/>
          </a:p>
        </p:txBody>
      </p:sp>
    </p:spTree>
    <p:extLst>
      <p:ext uri="{BB962C8B-B14F-4D97-AF65-F5344CB8AC3E}">
        <p14:creationId xmlns:p14="http://schemas.microsoft.com/office/powerpoint/2010/main" val="2150118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endParaRPr lang="es-CL" dirty="0"/>
          </a:p>
        </p:txBody>
      </p:sp>
      <p:pic>
        <p:nvPicPr>
          <p:cNvPr id="3" name="Imagen 2"/>
          <p:cNvPicPr>
            <a:picLocks noChangeAspect="1"/>
          </p:cNvPicPr>
          <p:nvPr/>
        </p:nvPicPr>
        <p:blipFill>
          <a:blip r:embed="rId3"/>
          <a:stretch>
            <a:fillRect/>
          </a:stretch>
        </p:blipFill>
        <p:spPr>
          <a:xfrm>
            <a:off x="3499549" y="3698448"/>
            <a:ext cx="3348448" cy="2174317"/>
          </a:xfrm>
          <a:prstGeom prst="rect">
            <a:avLst/>
          </a:prstGeom>
        </p:spPr>
      </p:pic>
      <p:pic>
        <p:nvPicPr>
          <p:cNvPr id="5" name="Imagen 4"/>
          <p:cNvPicPr>
            <a:picLocks noChangeAspect="1"/>
          </p:cNvPicPr>
          <p:nvPr/>
        </p:nvPicPr>
        <p:blipFill>
          <a:blip r:embed="rId4"/>
          <a:stretch>
            <a:fillRect/>
          </a:stretch>
        </p:blipFill>
        <p:spPr>
          <a:xfrm>
            <a:off x="8314117" y="1571423"/>
            <a:ext cx="3877883" cy="2961941"/>
          </a:xfrm>
          <a:prstGeom prst="rect">
            <a:avLst/>
          </a:prstGeom>
        </p:spPr>
      </p:pic>
      <p:pic>
        <p:nvPicPr>
          <p:cNvPr id="6" name="Imagen 5"/>
          <p:cNvPicPr>
            <a:picLocks noChangeAspect="1"/>
          </p:cNvPicPr>
          <p:nvPr/>
        </p:nvPicPr>
        <p:blipFill>
          <a:blip r:embed="rId5"/>
          <a:stretch>
            <a:fillRect/>
          </a:stretch>
        </p:blipFill>
        <p:spPr>
          <a:xfrm>
            <a:off x="3606086" y="259790"/>
            <a:ext cx="3161052" cy="3062653"/>
          </a:xfrm>
          <a:prstGeom prst="rect">
            <a:avLst/>
          </a:prstGeom>
        </p:spPr>
      </p:pic>
      <p:sp>
        <p:nvSpPr>
          <p:cNvPr id="7" name="Flecha derecha 6"/>
          <p:cNvSpPr/>
          <p:nvPr/>
        </p:nvSpPr>
        <p:spPr>
          <a:xfrm>
            <a:off x="7018986" y="2987899"/>
            <a:ext cx="1159099" cy="710549"/>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36299867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4177705" y="387339"/>
            <a:ext cx="7869607" cy="4823307"/>
          </a:xfrm>
          <a:prstGeom prst="rect">
            <a:avLst/>
          </a:prstGeom>
        </p:spPr>
      </p:pic>
      <p:pic>
        <p:nvPicPr>
          <p:cNvPr id="8" name="Imagen 7"/>
          <p:cNvPicPr>
            <a:picLocks noChangeAspect="1"/>
          </p:cNvPicPr>
          <p:nvPr/>
        </p:nvPicPr>
        <p:blipFill>
          <a:blip r:embed="rId4"/>
          <a:stretch>
            <a:fillRect/>
          </a:stretch>
        </p:blipFill>
        <p:spPr>
          <a:xfrm>
            <a:off x="98371" y="341691"/>
            <a:ext cx="3853743" cy="2457302"/>
          </a:xfrm>
          <a:prstGeom prst="rect">
            <a:avLst/>
          </a:prstGeom>
          <a:ln>
            <a:solidFill>
              <a:schemeClr val="accent1"/>
            </a:solidFill>
          </a:ln>
        </p:spPr>
      </p:pic>
      <p:sp>
        <p:nvSpPr>
          <p:cNvPr id="11" name="Flecha abajo 10"/>
          <p:cNvSpPr/>
          <p:nvPr/>
        </p:nvSpPr>
        <p:spPr>
          <a:xfrm>
            <a:off x="1774209" y="2934269"/>
            <a:ext cx="450376" cy="614149"/>
          </a:xfrm>
          <a:prstGeom prst="downArrow">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pic>
        <p:nvPicPr>
          <p:cNvPr id="12" name="Imagen 11"/>
          <p:cNvPicPr>
            <a:picLocks noChangeAspect="1"/>
          </p:cNvPicPr>
          <p:nvPr/>
        </p:nvPicPr>
        <p:blipFill>
          <a:blip r:embed="rId5"/>
          <a:stretch>
            <a:fillRect/>
          </a:stretch>
        </p:blipFill>
        <p:spPr>
          <a:xfrm>
            <a:off x="5747626" y="5210646"/>
            <a:ext cx="4338069" cy="1450673"/>
          </a:xfrm>
          <a:prstGeom prst="rect">
            <a:avLst/>
          </a:prstGeom>
        </p:spPr>
      </p:pic>
      <p:pic>
        <p:nvPicPr>
          <p:cNvPr id="2" name="Imagen 1"/>
          <p:cNvPicPr>
            <a:picLocks noChangeAspect="1"/>
          </p:cNvPicPr>
          <p:nvPr/>
        </p:nvPicPr>
        <p:blipFill>
          <a:blip r:embed="rId6"/>
          <a:stretch>
            <a:fillRect/>
          </a:stretch>
        </p:blipFill>
        <p:spPr>
          <a:xfrm>
            <a:off x="61059" y="3669032"/>
            <a:ext cx="3876675" cy="2266950"/>
          </a:xfrm>
          <a:prstGeom prst="rect">
            <a:avLst/>
          </a:prstGeom>
        </p:spPr>
      </p:pic>
    </p:spTree>
    <p:extLst>
      <p:ext uri="{BB962C8B-B14F-4D97-AF65-F5344CB8AC3E}">
        <p14:creationId xmlns:p14="http://schemas.microsoft.com/office/powerpoint/2010/main" val="16015375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ángulo 2"/>
          <p:cNvSpPr/>
          <p:nvPr/>
        </p:nvSpPr>
        <p:spPr>
          <a:xfrm>
            <a:off x="252919" y="2388999"/>
            <a:ext cx="2947482" cy="3416320"/>
          </a:xfrm>
          <a:prstGeom prst="rect">
            <a:avLst/>
          </a:prstGeom>
        </p:spPr>
        <p:txBody>
          <a:bodyPr wrap="square">
            <a:spAutoFit/>
          </a:bodyPr>
          <a:lstStyle/>
          <a:p>
            <a:pPr lvl="0" defTabSz="914400">
              <a:defRPr/>
            </a:pPr>
            <a:r>
              <a:rPr lang="es-MX" dirty="0">
                <a:solidFill>
                  <a:schemeClr val="bg1"/>
                </a:solidFill>
              </a:rPr>
              <a:t>Un fabricante de clavos y tornillos quirúrgicos los vende a US$3 y US$5 respectivamente. Requiere para su fabricación 1 hora de la maquina 1 por clavo, 2 horas de máquina 2 por tornillo; 3</a:t>
            </a:r>
          </a:p>
          <a:p>
            <a:pPr lvl="0" defTabSz="914400">
              <a:defRPr/>
            </a:pPr>
            <a:r>
              <a:rPr lang="es-MX" dirty="0">
                <a:solidFill>
                  <a:schemeClr val="bg1"/>
                </a:solidFill>
              </a:rPr>
              <a:t> horas por clavo y 2 por tornillo de la máquina 3.</a:t>
            </a:r>
            <a:endParaRPr lang="es-CL" dirty="0">
              <a:solidFill>
                <a:schemeClr val="bg1"/>
              </a:solidFill>
            </a:endParaRPr>
          </a:p>
          <a:p>
            <a:r>
              <a:rPr lang="es-CL" dirty="0">
                <a:solidFill>
                  <a:schemeClr val="bg1"/>
                </a:solidFill>
              </a:rPr>
              <a:t>X1: n° de clavos</a:t>
            </a:r>
          </a:p>
          <a:p>
            <a:r>
              <a:rPr lang="es-CL" dirty="0">
                <a:solidFill>
                  <a:schemeClr val="bg1"/>
                </a:solidFill>
              </a:rPr>
              <a:t>Y1: $/</a:t>
            </a:r>
            <a:r>
              <a:rPr lang="es-CL" dirty="0" err="1">
                <a:solidFill>
                  <a:schemeClr val="bg1"/>
                </a:solidFill>
              </a:rPr>
              <a:t>hr.maq</a:t>
            </a:r>
            <a:r>
              <a:rPr lang="es-CL" dirty="0">
                <a:solidFill>
                  <a:schemeClr val="bg1"/>
                </a:solidFill>
              </a:rPr>
              <a:t>.</a:t>
            </a:r>
          </a:p>
        </p:txBody>
      </p:sp>
      <p:pic>
        <p:nvPicPr>
          <p:cNvPr id="4" name="Imagen 3"/>
          <p:cNvPicPr>
            <a:picLocks noChangeAspect="1"/>
          </p:cNvPicPr>
          <p:nvPr/>
        </p:nvPicPr>
        <p:blipFill>
          <a:blip r:embed="rId2"/>
          <a:stretch>
            <a:fillRect/>
          </a:stretch>
        </p:blipFill>
        <p:spPr>
          <a:xfrm>
            <a:off x="3631113" y="242817"/>
            <a:ext cx="4943062" cy="2323861"/>
          </a:xfrm>
          <a:prstGeom prst="rect">
            <a:avLst/>
          </a:prstGeom>
        </p:spPr>
      </p:pic>
      <p:pic>
        <p:nvPicPr>
          <p:cNvPr id="5" name="Imagen 4"/>
          <p:cNvPicPr>
            <a:picLocks noChangeAspect="1"/>
          </p:cNvPicPr>
          <p:nvPr/>
        </p:nvPicPr>
        <p:blipFill>
          <a:blip r:embed="rId3"/>
          <a:stretch>
            <a:fillRect/>
          </a:stretch>
        </p:blipFill>
        <p:spPr>
          <a:xfrm>
            <a:off x="6924253" y="3218755"/>
            <a:ext cx="4363724" cy="2086018"/>
          </a:xfrm>
          <a:prstGeom prst="rect">
            <a:avLst/>
          </a:prstGeom>
        </p:spPr>
      </p:pic>
      <p:pic>
        <p:nvPicPr>
          <p:cNvPr id="6" name="Imagen 5"/>
          <p:cNvPicPr>
            <a:picLocks noChangeAspect="1"/>
          </p:cNvPicPr>
          <p:nvPr/>
        </p:nvPicPr>
        <p:blipFill>
          <a:blip r:embed="rId4"/>
          <a:stretch>
            <a:fillRect/>
          </a:stretch>
        </p:blipFill>
        <p:spPr>
          <a:xfrm>
            <a:off x="252919" y="969490"/>
            <a:ext cx="3170750" cy="1419509"/>
          </a:xfrm>
          <a:prstGeom prst="rect">
            <a:avLst/>
          </a:prstGeom>
          <a:ln>
            <a:solidFill>
              <a:srgbClr val="00B0F0"/>
            </a:solidFill>
          </a:ln>
        </p:spPr>
      </p:pic>
      <p:pic>
        <p:nvPicPr>
          <p:cNvPr id="7" name="Imagen 6"/>
          <p:cNvPicPr>
            <a:picLocks noChangeAspect="1"/>
          </p:cNvPicPr>
          <p:nvPr/>
        </p:nvPicPr>
        <p:blipFill>
          <a:blip r:embed="rId5"/>
          <a:stretch>
            <a:fillRect/>
          </a:stretch>
        </p:blipFill>
        <p:spPr>
          <a:xfrm>
            <a:off x="3046370" y="2616188"/>
            <a:ext cx="3877883" cy="2961941"/>
          </a:xfrm>
          <a:prstGeom prst="rect">
            <a:avLst/>
          </a:prstGeom>
        </p:spPr>
      </p:pic>
      <p:sp>
        <p:nvSpPr>
          <p:cNvPr id="2" name="CuadroTexto 1">
            <a:extLst>
              <a:ext uri="{FF2B5EF4-FFF2-40B4-BE49-F238E27FC236}">
                <a16:creationId xmlns:a16="http://schemas.microsoft.com/office/drawing/2014/main" id="{9108D82F-A1FA-439B-B7DD-230D1A4A3ECE}"/>
              </a:ext>
            </a:extLst>
          </p:cNvPr>
          <p:cNvSpPr txBox="1"/>
          <p:nvPr/>
        </p:nvSpPr>
        <p:spPr>
          <a:xfrm>
            <a:off x="8834511" y="969490"/>
            <a:ext cx="3104570" cy="1477328"/>
          </a:xfrm>
          <a:prstGeom prst="rect">
            <a:avLst/>
          </a:prstGeom>
          <a:noFill/>
        </p:spPr>
        <p:txBody>
          <a:bodyPr wrap="square" rtlCol="0">
            <a:spAutoFit/>
          </a:bodyPr>
          <a:lstStyle/>
          <a:p>
            <a:r>
              <a:rPr lang="es-CL" dirty="0"/>
              <a:t>¿Puedo regalar del recurso 2, quedar con 999?</a:t>
            </a:r>
          </a:p>
          <a:p>
            <a:r>
              <a:rPr lang="es-CL" dirty="0"/>
              <a:t>¿Qué mejora podría hacer para aumentar los ingresos, aumentar w?</a:t>
            </a:r>
          </a:p>
        </p:txBody>
      </p:sp>
    </p:spTree>
    <p:extLst>
      <p:ext uri="{BB962C8B-B14F-4D97-AF65-F5344CB8AC3E}">
        <p14:creationId xmlns:p14="http://schemas.microsoft.com/office/powerpoint/2010/main" val="368532721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n 4"/>
          <p:cNvPicPr>
            <a:picLocks noChangeAspect="1"/>
          </p:cNvPicPr>
          <p:nvPr/>
        </p:nvPicPr>
        <p:blipFill>
          <a:blip r:embed="rId3"/>
          <a:stretch>
            <a:fillRect/>
          </a:stretch>
        </p:blipFill>
        <p:spPr>
          <a:xfrm>
            <a:off x="286664" y="2448121"/>
            <a:ext cx="4943062" cy="2323861"/>
          </a:xfrm>
          <a:prstGeom prst="rect">
            <a:avLst/>
          </a:prstGeom>
        </p:spPr>
      </p:pic>
      <p:pic>
        <p:nvPicPr>
          <p:cNvPr id="6" name="Imagen 5"/>
          <p:cNvPicPr>
            <a:picLocks noChangeAspect="1"/>
          </p:cNvPicPr>
          <p:nvPr/>
        </p:nvPicPr>
        <p:blipFill>
          <a:blip r:embed="rId4"/>
          <a:stretch>
            <a:fillRect/>
          </a:stretch>
        </p:blipFill>
        <p:spPr>
          <a:xfrm>
            <a:off x="286664" y="999563"/>
            <a:ext cx="3170750" cy="1419509"/>
          </a:xfrm>
          <a:prstGeom prst="rect">
            <a:avLst/>
          </a:prstGeom>
          <a:ln>
            <a:solidFill>
              <a:srgbClr val="00B0F0"/>
            </a:solidFill>
          </a:ln>
        </p:spPr>
      </p:pic>
      <p:pic>
        <p:nvPicPr>
          <p:cNvPr id="7" name="Imagen 6"/>
          <p:cNvPicPr>
            <a:picLocks noChangeAspect="1"/>
          </p:cNvPicPr>
          <p:nvPr/>
        </p:nvPicPr>
        <p:blipFill>
          <a:blip r:embed="rId5"/>
          <a:stretch>
            <a:fillRect/>
          </a:stretch>
        </p:blipFill>
        <p:spPr>
          <a:xfrm>
            <a:off x="3457414" y="4953639"/>
            <a:ext cx="2945969" cy="1722704"/>
          </a:xfrm>
          <a:prstGeom prst="rect">
            <a:avLst/>
          </a:prstGeom>
        </p:spPr>
      </p:pic>
      <p:pic>
        <p:nvPicPr>
          <p:cNvPr id="9" name="Imagen 8"/>
          <p:cNvPicPr>
            <a:picLocks noChangeAspect="1"/>
          </p:cNvPicPr>
          <p:nvPr/>
        </p:nvPicPr>
        <p:blipFill>
          <a:blip r:embed="rId6"/>
          <a:stretch>
            <a:fillRect/>
          </a:stretch>
        </p:blipFill>
        <p:spPr>
          <a:xfrm>
            <a:off x="6239682" y="988013"/>
            <a:ext cx="5330329" cy="3144511"/>
          </a:xfrm>
          <a:prstGeom prst="rect">
            <a:avLst/>
          </a:prstGeom>
        </p:spPr>
      </p:pic>
      <p:sp>
        <p:nvSpPr>
          <p:cNvPr id="10" name="CuadroTexto 9"/>
          <p:cNvSpPr txBox="1"/>
          <p:nvPr/>
        </p:nvSpPr>
        <p:spPr>
          <a:xfrm>
            <a:off x="455416" y="160163"/>
            <a:ext cx="6105582" cy="523220"/>
          </a:xfrm>
          <a:prstGeom prst="rect">
            <a:avLst/>
          </a:prstGeom>
          <a:noFill/>
        </p:spPr>
        <p:txBody>
          <a:bodyPr wrap="none" rtlCol="0">
            <a:spAutoFit/>
          </a:bodyPr>
          <a:lstStyle/>
          <a:p>
            <a:r>
              <a:rPr lang="es-MX" sz="2800" dirty="0"/>
              <a:t>Relación entre las variables en el óptimo</a:t>
            </a:r>
            <a:endParaRPr lang="es-CL" sz="2800" dirty="0"/>
          </a:p>
        </p:txBody>
      </p:sp>
      <p:cxnSp>
        <p:nvCxnSpPr>
          <p:cNvPr id="12" name="Conector recto 11"/>
          <p:cNvCxnSpPr/>
          <p:nvPr/>
        </p:nvCxnSpPr>
        <p:spPr>
          <a:xfrm>
            <a:off x="78657" y="683383"/>
            <a:ext cx="6757514" cy="0"/>
          </a:xfrm>
          <a:prstGeom prst="line">
            <a:avLst/>
          </a:prstGeom>
          <a:ln w="50800"/>
        </p:spPr>
        <p:style>
          <a:lnRef idx="1">
            <a:schemeClr val="accent1"/>
          </a:lnRef>
          <a:fillRef idx="0">
            <a:schemeClr val="accent1"/>
          </a:fillRef>
          <a:effectRef idx="0">
            <a:schemeClr val="accent1"/>
          </a:effectRef>
          <a:fontRef idx="minor">
            <a:schemeClr val="tx1"/>
          </a:fontRef>
        </p:style>
      </p:cxnSp>
      <p:pic>
        <p:nvPicPr>
          <p:cNvPr id="13" name="Imagen 12"/>
          <p:cNvPicPr>
            <a:picLocks noChangeAspect="1"/>
          </p:cNvPicPr>
          <p:nvPr/>
        </p:nvPicPr>
        <p:blipFill>
          <a:blip r:embed="rId7"/>
          <a:stretch>
            <a:fillRect/>
          </a:stretch>
        </p:blipFill>
        <p:spPr>
          <a:xfrm>
            <a:off x="6560998" y="4771982"/>
            <a:ext cx="4363724" cy="2086018"/>
          </a:xfrm>
          <a:prstGeom prst="rect">
            <a:avLst/>
          </a:prstGeom>
        </p:spPr>
      </p:pic>
      <p:sp>
        <p:nvSpPr>
          <p:cNvPr id="15" name="Flecha derecha 14"/>
          <p:cNvSpPr/>
          <p:nvPr/>
        </p:nvSpPr>
        <p:spPr>
          <a:xfrm>
            <a:off x="1283369" y="5455325"/>
            <a:ext cx="1491916" cy="577516"/>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69643083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CL" dirty="0"/>
              <a:t>Ejercicios en clases</a:t>
            </a:r>
          </a:p>
        </p:txBody>
      </p:sp>
      <p:sp>
        <p:nvSpPr>
          <p:cNvPr id="3" name="Rectángulo 2"/>
          <p:cNvSpPr/>
          <p:nvPr/>
        </p:nvSpPr>
        <p:spPr>
          <a:xfrm>
            <a:off x="3465095" y="178783"/>
            <a:ext cx="6096000" cy="595932"/>
          </a:xfrm>
          <a:prstGeom prst="rect">
            <a:avLst/>
          </a:prstGeom>
        </p:spPr>
        <p:txBody>
          <a:bodyPr>
            <a:spAutoFit/>
          </a:bodyPr>
          <a:lstStyle/>
          <a:p>
            <a:pPr>
              <a:lnSpc>
                <a:spcPct val="107000"/>
              </a:lnSpc>
              <a:spcAft>
                <a:spcPts val="800"/>
              </a:spcAft>
            </a:pPr>
            <a:r>
              <a:rPr lang="es-CL" sz="3200" u="sng" dirty="0">
                <a:latin typeface="Calibri" panose="020F0502020204030204" pitchFamily="34" charset="0"/>
                <a:ea typeface="Calibri" panose="020F0502020204030204" pitchFamily="34" charset="0"/>
                <a:cs typeface="Times New Roman" panose="02020603050405020304" pitchFamily="18" charset="0"/>
              </a:rPr>
              <a:t>Resolver con Simplex Dual</a:t>
            </a:r>
            <a:r>
              <a:rPr lang="es-CL" i="1" dirty="0">
                <a:effectLst/>
                <a:latin typeface="Cambria Math" panose="02040503050406030204" pitchFamily="18" charset="0"/>
                <a:ea typeface="Times New Roman" panose="02020603050405020304" pitchFamily="18" charset="0"/>
                <a:cs typeface="Times New Roman" panose="02020603050405020304" pitchFamily="18" charset="0"/>
              </a:rPr>
              <a:t>                 </a:t>
            </a:r>
            <a:endParaRPr lang="es-CL" dirty="0">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Imagen 3"/>
          <p:cNvPicPr>
            <a:picLocks noChangeAspect="1"/>
          </p:cNvPicPr>
          <p:nvPr/>
        </p:nvPicPr>
        <p:blipFill>
          <a:blip r:embed="rId2"/>
          <a:stretch>
            <a:fillRect/>
          </a:stretch>
        </p:blipFill>
        <p:spPr>
          <a:xfrm>
            <a:off x="4201025" y="1123837"/>
            <a:ext cx="4413585" cy="5268176"/>
          </a:xfrm>
          <a:prstGeom prst="rect">
            <a:avLst/>
          </a:prstGeom>
        </p:spPr>
      </p:pic>
      <p:sp>
        <p:nvSpPr>
          <p:cNvPr id="5" name="CuadroTexto 4">
            <a:extLst>
              <a:ext uri="{FF2B5EF4-FFF2-40B4-BE49-F238E27FC236}">
                <a16:creationId xmlns:a16="http://schemas.microsoft.com/office/drawing/2014/main" id="{8ED5C029-94B6-4C6E-82D5-7AD6AAD53525}"/>
              </a:ext>
            </a:extLst>
          </p:cNvPr>
          <p:cNvSpPr txBox="1"/>
          <p:nvPr/>
        </p:nvSpPr>
        <p:spPr>
          <a:xfrm>
            <a:off x="7484013" y="1433724"/>
            <a:ext cx="5172521" cy="923330"/>
          </a:xfrm>
          <a:prstGeom prst="rect">
            <a:avLst/>
          </a:prstGeom>
          <a:noFill/>
        </p:spPr>
        <p:txBody>
          <a:bodyPr wrap="square" rtlCol="0">
            <a:spAutoFit/>
          </a:bodyPr>
          <a:lstStyle/>
          <a:p>
            <a:r>
              <a:rPr lang="es-CL" dirty="0"/>
              <a:t>¿Puedo regalar del recurso 2, quedar con 999?</a:t>
            </a:r>
          </a:p>
          <a:p>
            <a:r>
              <a:rPr lang="es-CL" dirty="0"/>
              <a:t>¿Qué mejora podría hacer para aumentar los ingresos, aumentar w?</a:t>
            </a:r>
          </a:p>
        </p:txBody>
      </p:sp>
    </p:spTree>
    <p:extLst>
      <p:ext uri="{BB962C8B-B14F-4D97-AF65-F5344CB8AC3E}">
        <p14:creationId xmlns:p14="http://schemas.microsoft.com/office/powerpoint/2010/main" val="3399970586"/>
      </p:ext>
    </p:extLst>
  </p:cSld>
  <p:clrMapOvr>
    <a:masterClrMapping/>
  </p:clrMapOvr>
</p:sld>
</file>

<file path=ppt/theme/theme1.xml><?xml version="1.0" encoding="utf-8"?>
<a:theme xmlns:a="http://schemas.openxmlformats.org/drawingml/2006/main" name="Marco">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TM03457475[[fn=Marco]]</Template>
  <TotalTime>104317</TotalTime>
  <Words>5336</Words>
  <Application>Microsoft Office PowerPoint</Application>
  <PresentationFormat>Panorámica</PresentationFormat>
  <Paragraphs>653</Paragraphs>
  <Slides>56</Slides>
  <Notes>10</Notes>
  <HiddenSlides>0</HiddenSlides>
  <MMClips>0</MMClips>
  <ScaleCrop>false</ScaleCrop>
  <HeadingPairs>
    <vt:vector size="6" baseType="variant">
      <vt:variant>
        <vt:lpstr>Fuentes usadas</vt:lpstr>
      </vt:variant>
      <vt:variant>
        <vt:i4>13</vt:i4>
      </vt:variant>
      <vt:variant>
        <vt:lpstr>Tema</vt:lpstr>
      </vt:variant>
      <vt:variant>
        <vt:i4>1</vt:i4>
      </vt:variant>
      <vt:variant>
        <vt:lpstr>Títulos de diapositiva</vt:lpstr>
      </vt:variant>
      <vt:variant>
        <vt:i4>56</vt:i4>
      </vt:variant>
    </vt:vector>
  </HeadingPairs>
  <TitlesOfParts>
    <vt:vector size="70" baseType="lpstr">
      <vt:lpstr>Arial Unicode MS</vt:lpstr>
      <vt:lpstr>Arial</vt:lpstr>
      <vt:lpstr>Book Antiqua</vt:lpstr>
      <vt:lpstr>Calibri</vt:lpstr>
      <vt:lpstr>Cambria Math</vt:lpstr>
      <vt:lpstr>Corbel</vt:lpstr>
      <vt:lpstr>MathematicalPiLTStd-1</vt:lpstr>
      <vt:lpstr>Monotype Sorts</vt:lpstr>
      <vt:lpstr>Times New Roman</vt:lpstr>
      <vt:lpstr>TimesLTStd-Bold</vt:lpstr>
      <vt:lpstr>TimesLTStd-Italic</vt:lpstr>
      <vt:lpstr>TimesLTStd-Roman</vt:lpstr>
      <vt:lpstr>Wingdings 2</vt:lpstr>
      <vt:lpstr>Marco</vt:lpstr>
      <vt:lpstr>Programación Lineal</vt:lpstr>
      <vt:lpstr>PROGRAMACIÓN   LINEAL</vt:lpstr>
      <vt:lpstr>Presentación de PowerPoint</vt:lpstr>
      <vt:lpstr>Formulación del problema</vt:lpstr>
      <vt:lpstr>Formulación del problema</vt:lpstr>
      <vt:lpstr>Formulación del problema</vt:lpstr>
      <vt:lpstr>Formulación Matemática</vt:lpstr>
      <vt:lpstr>Ejercicios de formulación matemática</vt:lpstr>
      <vt:lpstr>Método gráfico:  Cualquier PPL con sólo dos variables puede resolverse gráficamente. </vt:lpstr>
      <vt:lpstr>Restricción 20 x + 10y  ≤ 100 10 x + 10y  ≤  80     x       ≤  4     x       ≥ 0          y  ≥ 0 </vt:lpstr>
      <vt:lpstr>Restricción 20 x + 10y  ≤ 100 10 x + 10y  ≤  80     x       ≤  4     x       ≥ 0          y  ≥ 0 </vt:lpstr>
      <vt:lpstr>Restricción 20 x + 10y  ≤ 100 10 x + 10y  ≤  80     x       ≤  4     x       ≥ 0          y  ≥ 0 </vt:lpstr>
      <vt:lpstr>Restricción 20 x + 10y  ≤ 100 10 x + 10y  ≤  80     x       ≤  4     x       ≥ 0          y  ≥ 0 </vt:lpstr>
      <vt:lpstr>Región Factible:  región de valores permisibles de x e y  </vt:lpstr>
      <vt:lpstr>    Vértices:  B es solución de  x = 4       y = 0 C es solución de  x = 4  20x + 10y = 100 D es la intersección de   20x + 10y = 100  10x + 10y = 80 E es solución de  10x + 10y = 80  x = 0     </vt:lpstr>
      <vt:lpstr>     Se crean múltiples rectas z para diferentes valores de x e y.  La última recta de z que interseca (toca) la región factible indica la solución óptima para el PPL.  Para el problema, esto ocurre en el punto D  (x = 2, y = 6)        </vt:lpstr>
      <vt:lpstr>Solución óptima</vt:lpstr>
      <vt:lpstr>Presentación de PowerPoint</vt:lpstr>
      <vt:lpstr>Presentación de PowerPoint</vt:lpstr>
      <vt:lpstr>Presentación de PowerPoint</vt:lpstr>
      <vt:lpstr>Presentación de PowerPoint</vt:lpstr>
      <vt:lpstr>Presentación de PowerPoint</vt:lpstr>
      <vt:lpstr>Soluciones múltiples o infinitas</vt:lpstr>
      <vt:lpstr>Solución no factible</vt:lpstr>
      <vt:lpstr>Solución no acotado</vt:lpstr>
      <vt:lpstr>Es un procedimiento general para resolver problemas de programación lineal. Desarrollado por George Dantzig en 1947, se ha  comprobado su extraordinaria eficiencia, y se usa en forma rutinaria para resolver problemas grandes en computadores. Excepto en el caso de problemas muy pequeños, se ejecuta siempre en un computador y existe una amplia variedad de paquetes complejos de software para ello.  </vt:lpstr>
      <vt:lpstr>Presentación de PowerPoint</vt:lpstr>
      <vt:lpstr>Presentación de PowerPoint</vt:lpstr>
      <vt:lpstr>Presentación de PowerPoint</vt:lpstr>
      <vt:lpstr>Presentación de PowerPoint</vt:lpstr>
      <vt:lpstr>Presentación de PowerPoint</vt:lpstr>
      <vt:lpstr>Presentación de PowerPoint</vt:lpstr>
      <vt:lpstr>Solución final</vt:lpstr>
      <vt:lpstr>Ejercicios</vt:lpstr>
      <vt:lpstr>Presentación de PowerPoint</vt:lpstr>
      <vt:lpstr>¿Y si queremos MINIMIZAR?</vt:lpstr>
      <vt:lpstr>Tipos de restricciones y como llevarlas a su forma aumentada</vt:lpstr>
      <vt:lpstr>Este método se utiliza cuando en el método simplex las variables básicas no forman una matriz identidad, o sea no hay una base factible.</vt:lpstr>
      <vt:lpstr>Es más conveniente usar este método en los siguientes casos: </vt:lpstr>
      <vt:lpstr>Fase 1: El objetivo de esta fase es encontrar una solución BF para el problema real. Para hacerlo, se debe:  </vt:lpstr>
      <vt:lpstr>Presentación de PowerPoint</vt:lpstr>
      <vt:lpstr>Fase 1</vt:lpstr>
      <vt:lpstr>Preparación de la fase 2</vt:lpstr>
      <vt:lpstr>Fase 2:</vt:lpstr>
      <vt:lpstr>Presentación de PowerPoint</vt:lpstr>
      <vt:lpstr>Presentación de PowerPoint</vt:lpstr>
      <vt:lpstr>Presentación de PowerPoint</vt:lpstr>
      <vt:lpstr>Se presenta el método símplex dual, que es una de las aplicaciones más importantes de la propiedad de soluciones complementarias. Este algoritmo opera sobre el problema primal como si se aplicara el método símplex en forma simultánea al problema dual, lo que puede realizarse gracias a esta propiedad. Debido a que en la tabla símplex se invierten los papeles del renglón 0 y la columna del lado derecho, el método símplex dual requiere que el renglón 0 comience y permanezca no negativo mientras que el lado derecho comienza con algunos valores negativos (en las iteraciones siguientes se procura alcanzar la no negatividad en el lado derecho). En consecuencia, algunas veces se usa este algoritmo porque es más conveniente establecer la tabla inicial en esta forma que en la que requiere el método símplex.</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Ejercicios en clases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Programación Lineal</dc:title>
  <dc:creator>Tania</dc:creator>
  <cp:lastModifiedBy>Tania Letelier S.</cp:lastModifiedBy>
  <cp:revision>244</cp:revision>
  <cp:lastPrinted>2023-08-22T14:04:51Z</cp:lastPrinted>
  <dcterms:created xsi:type="dcterms:W3CDTF">2019-08-20T16:31:19Z</dcterms:created>
  <dcterms:modified xsi:type="dcterms:W3CDTF">2025-08-26T20:55:15Z</dcterms:modified>
</cp:coreProperties>
</file>
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8"/>
  </p:notesMasterIdLst>
  <p:sldIdLst>
    <p:sldId id="256" r:id="rId2"/>
    <p:sldId id="263" r:id="rId3"/>
    <p:sldId id="257" r:id="rId4"/>
    <p:sldId id="258" r:id="rId5"/>
    <p:sldId id="259" r:id="rId6"/>
    <p:sldId id="260" r:id="rId7"/>
    <p:sldId id="264" r:id="rId8"/>
    <p:sldId id="261" r:id="rId9"/>
    <p:sldId id="266" r:id="rId10"/>
    <p:sldId id="270" r:id="rId11"/>
    <p:sldId id="290" r:id="rId12"/>
    <p:sldId id="305" r:id="rId13"/>
    <p:sldId id="267" r:id="rId14"/>
    <p:sldId id="271" r:id="rId15"/>
    <p:sldId id="291" r:id="rId16"/>
    <p:sldId id="268" r:id="rId17"/>
    <p:sldId id="272" r:id="rId18"/>
    <p:sldId id="292" r:id="rId19"/>
    <p:sldId id="269" r:id="rId20"/>
    <p:sldId id="273" r:id="rId21"/>
    <p:sldId id="293" r:id="rId22"/>
    <p:sldId id="299" r:id="rId23"/>
    <p:sldId id="298" r:id="rId24"/>
    <p:sldId id="265" r:id="rId25"/>
    <p:sldId id="274" r:id="rId26"/>
    <p:sldId id="275" r:id="rId27"/>
    <p:sldId id="276" r:id="rId28"/>
    <p:sldId id="294" r:id="rId29"/>
    <p:sldId id="278" r:id="rId30"/>
    <p:sldId id="277" r:id="rId31"/>
    <p:sldId id="279" r:id="rId32"/>
    <p:sldId id="295" r:id="rId33"/>
    <p:sldId id="300" r:id="rId34"/>
    <p:sldId id="280" r:id="rId35"/>
    <p:sldId id="281" r:id="rId36"/>
    <p:sldId id="282" r:id="rId37"/>
    <p:sldId id="296" r:id="rId38"/>
    <p:sldId id="297" r:id="rId39"/>
    <p:sldId id="283" r:id="rId40"/>
    <p:sldId id="284" r:id="rId41"/>
    <p:sldId id="287" r:id="rId42"/>
    <p:sldId id="288" r:id="rId43"/>
    <p:sldId id="303" r:id="rId44"/>
    <p:sldId id="301" r:id="rId45"/>
    <p:sldId id="302" r:id="rId46"/>
    <p:sldId id="304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251" autoAdjust="0"/>
  </p:normalViewPr>
  <p:slideViewPr>
    <p:cSldViewPr snapToGrid="0">
      <p:cViewPr varScale="1">
        <p:scale>
          <a:sx n="56" d="100"/>
          <a:sy n="56" d="100"/>
        </p:scale>
        <p:origin x="12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6.62116" units="1/cm"/>
          <inkml:channelProperty channel="Y" name="resolution" value="46.82927" units="1/cm"/>
        </inkml:channelProperties>
      </inkml:inkSource>
      <inkml:timestamp xml:id="ts0" timeString="2020-10-27T13:44:12.1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13047 11435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6.62116" units="1/cm"/>
          <inkml:channelProperty channel="Y" name="resolution" value="46.82927" units="1/cm"/>
        </inkml:channelProperties>
      </inkml:inkSource>
      <inkml:timestamp xml:id="ts0" timeString="2020-10-27T14:33:19.78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31130 5655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EC766-9842-4EFA-B50F-1BB30781593C}" type="datetimeFigureOut">
              <a:rPr lang="es-CL" smtClean="0"/>
              <a:t>30-09-2024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4C036-B5AB-489E-BAF1-6CA3F42715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547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smtClean="0"/>
              <a:t>La sumatoria de Y+U hasta 220 de pc Y</a:t>
            </a:r>
            <a:r>
              <a:rPr lang="es-CL" baseline="0" dirty="0" smtClean="0"/>
              <a:t> p(x) se hace 1con la sumatoria de 0 a Y de pc Y p(x)….por eso se reduce </a:t>
            </a:r>
            <a:r>
              <a:rPr lang="es-CL" baseline="0" smtClean="0"/>
              <a:t>a –pc*Y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14C036-B5AB-489E-BAF1-6CA3F42715FD}" type="slidenum">
              <a:rPr lang="es-CL" smtClean="0"/>
              <a:t>42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344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emf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0.png"/><Relationship Id="rId5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 smtClean="0"/>
              <a:t>Modelos de inventarios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 smtClean="0"/>
              <a:t>INFO200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5169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Introducción</a:t>
            </a:r>
            <a:endParaRPr lang="es-CL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007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1804" y="781500"/>
            <a:ext cx="6274214" cy="1634154"/>
          </a:xfrm>
        </p:spPr>
        <p:txBody>
          <a:bodyPr>
            <a:noAutofit/>
          </a:bodyPr>
          <a:lstStyle/>
          <a:p>
            <a:r>
              <a:rPr lang="es-CL" sz="3200" dirty="0" smtClean="0"/>
              <a:t> </a:t>
            </a:r>
            <a:r>
              <a:rPr lang="es-CL" sz="3200" b="1" dirty="0" smtClean="0"/>
              <a:t>Inventario o stock</a:t>
            </a:r>
            <a:r>
              <a:rPr lang="es-CL" sz="3200" dirty="0"/>
              <a:t>: es cualquier recurso útil que se encuentra ocioso en algún momento. </a:t>
            </a:r>
          </a:p>
        </p:txBody>
      </p:sp>
      <p:sp>
        <p:nvSpPr>
          <p:cNvPr id="5" name="Rectángulo 4"/>
          <p:cNvSpPr/>
          <p:nvPr/>
        </p:nvSpPr>
        <p:spPr>
          <a:xfrm>
            <a:off x="5631691" y="2772951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CL" sz="2400" b="1" dirty="0"/>
              <a:t>Es necesario contar con inventario para: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400" dirty="0"/>
              <a:t>Hacer frente a demanda productos finales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400" dirty="0"/>
              <a:t>Evitar interrupciones </a:t>
            </a:r>
            <a:r>
              <a:rPr lang="es-CL" sz="2400" dirty="0" smtClean="0"/>
              <a:t>del proceso productivo </a:t>
            </a:r>
            <a:endParaRPr lang="es-CL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400" dirty="0" smtClean="0"/>
              <a:t>Nivelar </a:t>
            </a:r>
            <a:r>
              <a:rPr lang="es-CL" sz="2400" dirty="0"/>
              <a:t>flujo de producción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400" dirty="0"/>
              <a:t>Obtener ventajas económicas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400" dirty="0"/>
              <a:t>Falta acoplamiento entre producción y consumo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400" dirty="0"/>
              <a:t>Ahorro y especulación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400" dirty="0"/>
              <a:t>…entre otras razones</a:t>
            </a:r>
          </a:p>
        </p:txBody>
      </p:sp>
    </p:spTree>
    <p:extLst>
      <p:ext uri="{BB962C8B-B14F-4D97-AF65-F5344CB8AC3E}">
        <p14:creationId xmlns:p14="http://schemas.microsoft.com/office/powerpoint/2010/main" val="187190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características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L" sz="2800" u="sng" dirty="0" smtClean="0"/>
              <a:t>Demanda</a:t>
            </a:r>
            <a:r>
              <a:rPr lang="es-CL" sz="2800" u="sng" dirty="0"/>
              <a:t>: </a:t>
            </a:r>
            <a:endParaRPr lang="es-CL" sz="2800" u="sng" dirty="0" smtClean="0"/>
          </a:p>
          <a:p>
            <a:r>
              <a:rPr lang="es-CL" sz="2800" dirty="0" smtClean="0"/>
              <a:t>Su </a:t>
            </a:r>
            <a:r>
              <a:rPr lang="es-CL" sz="2800" dirty="0"/>
              <a:t>comportamiento determina el tipo de modelo a utilizar, se expresa en [unidad/unidad de tiempo] </a:t>
            </a:r>
          </a:p>
          <a:p>
            <a:r>
              <a:rPr lang="es-CL" sz="2800" dirty="0"/>
              <a:t>Dependiendo de los valores que toma, puede ser </a:t>
            </a:r>
            <a:r>
              <a:rPr lang="es-CL" sz="2800" i="1" dirty="0"/>
              <a:t>determinístico</a:t>
            </a:r>
            <a:r>
              <a:rPr lang="es-CL" sz="2800" dirty="0"/>
              <a:t> o </a:t>
            </a:r>
            <a:r>
              <a:rPr lang="es-CL" sz="2800" i="1" dirty="0"/>
              <a:t>probabilístico</a:t>
            </a:r>
            <a:r>
              <a:rPr lang="es-CL" sz="2800" dirty="0"/>
              <a:t>. </a:t>
            </a:r>
          </a:p>
          <a:p>
            <a:r>
              <a:rPr lang="es-CL" sz="2800" dirty="0" smtClean="0"/>
              <a:t>Dependiendo </a:t>
            </a:r>
            <a:r>
              <a:rPr lang="es-CL" sz="2800" dirty="0"/>
              <a:t>de su periodicidad, puede ser </a:t>
            </a:r>
            <a:r>
              <a:rPr lang="es-CL" sz="2800" i="1" dirty="0"/>
              <a:t>estático</a:t>
            </a:r>
            <a:r>
              <a:rPr lang="es-CL" sz="2800" dirty="0"/>
              <a:t> o </a:t>
            </a:r>
            <a:r>
              <a:rPr lang="es-CL" sz="2800" i="1" dirty="0"/>
              <a:t>dinámico</a:t>
            </a:r>
            <a:r>
              <a:rPr lang="es-CL" sz="2800" dirty="0"/>
              <a:t>. </a:t>
            </a:r>
          </a:p>
          <a:p>
            <a:r>
              <a:rPr lang="es-CL" sz="2800" dirty="0"/>
              <a:t>Dependiendo de su </a:t>
            </a:r>
            <a:r>
              <a:rPr lang="es-CL" sz="2800" dirty="0" smtClean="0"/>
              <a:t>consumo, puede </a:t>
            </a:r>
            <a:r>
              <a:rPr lang="es-CL" sz="2800" dirty="0"/>
              <a:t>ser uniforme o constante, exponencial, instantáneo, etc. </a:t>
            </a:r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98387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4128" y="627794"/>
            <a:ext cx="9720071" cy="6168788"/>
          </a:xfrm>
        </p:spPr>
        <p:txBody>
          <a:bodyPr>
            <a:noAutofit/>
          </a:bodyPr>
          <a:lstStyle/>
          <a:p>
            <a:r>
              <a:rPr lang="es-CL" sz="2800" u="sng" dirty="0" smtClean="0"/>
              <a:t>Formación Inventario</a:t>
            </a:r>
            <a:endParaRPr lang="es-CL" sz="2800" dirty="0"/>
          </a:p>
          <a:p>
            <a:r>
              <a:rPr lang="es-CL" sz="2800" dirty="0" smtClean="0"/>
              <a:t>Se </a:t>
            </a:r>
            <a:r>
              <a:rPr lang="es-CL" sz="2800" dirty="0"/>
              <a:t>debe considerar : </a:t>
            </a:r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es-CL" sz="2800" i="1" dirty="0" smtClean="0"/>
              <a:t>Período </a:t>
            </a:r>
            <a:r>
              <a:rPr lang="es-CL" sz="2800" i="1" dirty="0"/>
              <a:t>de </a:t>
            </a:r>
            <a:r>
              <a:rPr lang="es-CL" sz="2800" i="1" dirty="0" smtClean="0"/>
              <a:t>programación (t),</a:t>
            </a:r>
            <a:r>
              <a:rPr lang="es-CL" sz="2800" dirty="0" smtClean="0"/>
              <a:t> </a:t>
            </a:r>
            <a:r>
              <a:rPr lang="es-CL" sz="2800" dirty="0"/>
              <a:t>es el tiempo transcurrido entre llegada de </a:t>
            </a:r>
            <a:r>
              <a:rPr lang="es-CL" sz="2800" dirty="0" smtClean="0"/>
              <a:t>stock , su valor puede ser prefijado, si no puede ser fijo o variable. </a:t>
            </a:r>
            <a:endParaRPr lang="es-CL" sz="2800" dirty="0"/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es-CL" sz="2800" i="1" dirty="0" smtClean="0"/>
              <a:t>Tamaño </a:t>
            </a:r>
            <a:r>
              <a:rPr lang="es-CL" sz="2800" i="1" dirty="0"/>
              <a:t>del lote </a:t>
            </a:r>
            <a:r>
              <a:rPr lang="es-CL" sz="2800" dirty="0"/>
              <a:t>(Q) se expresa en </a:t>
            </a:r>
            <a:r>
              <a:rPr lang="es-CL" sz="2800" dirty="0" smtClean="0"/>
              <a:t>unidades físicas. </a:t>
            </a:r>
            <a:endParaRPr lang="es-CL" sz="2800" dirty="0"/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es-CL" sz="2800" i="1" dirty="0" smtClean="0"/>
              <a:t>Tasa </a:t>
            </a:r>
            <a:r>
              <a:rPr lang="es-CL" sz="2800" i="1" dirty="0"/>
              <a:t>de reordenamiento</a:t>
            </a:r>
            <a:r>
              <a:rPr lang="es-CL" sz="2800" dirty="0"/>
              <a:t>, </a:t>
            </a:r>
            <a:r>
              <a:rPr lang="es-CL" sz="2800" dirty="0" smtClean="0"/>
              <a:t>es el tiempo que demora la cantidad Q en agregarse al inventario. </a:t>
            </a:r>
            <a:endParaRPr lang="es-CL" sz="2800" dirty="0"/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es-CL" sz="2800" i="1" dirty="0" smtClean="0"/>
              <a:t>Periodo de retraso</a:t>
            </a:r>
            <a:r>
              <a:rPr lang="es-CL" sz="2800" dirty="0" smtClean="0"/>
              <a:t> (L), es el tiempo transcurrido entre que se coloca una orden y la llegada a la bodega.</a:t>
            </a:r>
            <a:endParaRPr lang="es-CL" sz="2800" dirty="0"/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55734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4128" y="368491"/>
            <a:ext cx="10835776" cy="648951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CL" sz="2800" dirty="0" smtClean="0"/>
              <a:t>Costos </a:t>
            </a:r>
            <a:endParaRPr lang="es-CL" sz="2800" dirty="0"/>
          </a:p>
          <a:p>
            <a:r>
              <a:rPr lang="es-CL" sz="2400" b="1" dirty="0" smtClean="0"/>
              <a:t>C1 </a:t>
            </a:r>
            <a:r>
              <a:rPr lang="es-CL" sz="2400" b="1" dirty="0"/>
              <a:t>Precio compra o costo manufactura </a:t>
            </a:r>
            <a:r>
              <a:rPr lang="es-CL" sz="2400" dirty="0"/>
              <a:t>, se considera mano de obra directa o indirecta, costo materiales directos o indirectos, gastos generales, se expresa en [unidad monetaria]. </a:t>
            </a:r>
          </a:p>
          <a:p>
            <a:r>
              <a:rPr lang="es-CL" sz="2400" b="1" dirty="0" smtClean="0"/>
              <a:t>C2 </a:t>
            </a:r>
            <a:r>
              <a:rPr lang="es-CL" sz="2400" b="1" dirty="0"/>
              <a:t>Costo administrativo </a:t>
            </a:r>
            <a:r>
              <a:rPr lang="es-CL" sz="2400" dirty="0"/>
              <a:t>y de oficina involucrado en procesar una orden compra, despacho, trámite pedido, transporte o costo de iniciar tanda producción, se expresa en [unidad monetaria/orden ]. </a:t>
            </a:r>
          </a:p>
          <a:p>
            <a:r>
              <a:rPr lang="es-CL" sz="2400" b="1" dirty="0" smtClean="0"/>
              <a:t>C3 </a:t>
            </a:r>
            <a:r>
              <a:rPr lang="es-CL" sz="2400" b="1" dirty="0"/>
              <a:t>Costo </a:t>
            </a:r>
            <a:r>
              <a:rPr lang="es-CL" sz="2400" b="1" dirty="0" smtClean="0"/>
              <a:t>almacenamiento</a:t>
            </a:r>
            <a:r>
              <a:rPr lang="es-CL" sz="2400" dirty="0" smtClean="0"/>
              <a:t>, es </a:t>
            </a:r>
            <a:r>
              <a:rPr lang="es-CL" sz="2400" dirty="0"/>
              <a:t>el dinero inmovilizado en inventario, costo espacio, manipulación, seguro obsolescencia, deterioro calidad, costo registro, se expresa en [unidad monetaria/unidad/unidad</a:t>
            </a:r>
            <a:r>
              <a:rPr lang="es-CL" sz="2000" dirty="0"/>
              <a:t> tiempo] </a:t>
            </a:r>
            <a:endParaRPr lang="es-CL" sz="2000" dirty="0" smtClean="0"/>
          </a:p>
          <a:p>
            <a:r>
              <a:rPr lang="es-CL" sz="2400" b="1" dirty="0"/>
              <a:t>C4 Costo déficit </a:t>
            </a:r>
            <a:r>
              <a:rPr lang="es-CL" sz="2400" dirty="0"/>
              <a:t>(no considera venta perdida pues supone que sólo ocurre un retraso en la entrega) considera requerimiento tiempo extra, sobretiempo administrativo, costo apresuramiento, costo especial de manipulación y embarque, pérdida de reputación y tiempo producción, y cualquier costo atribuido al retraso , se expresa en unidad [monetaria /unidad / unidad tiempo ]. </a:t>
            </a:r>
          </a:p>
          <a:p>
            <a:r>
              <a:rPr lang="es-CL" sz="2400" dirty="0" smtClean="0"/>
              <a:t>La suma de estos costos es el costo total CT</a:t>
            </a:r>
            <a:endParaRPr lang="es-CL" sz="2400" dirty="0"/>
          </a:p>
          <a:p>
            <a:endParaRPr lang="es-CL" sz="2800" dirty="0"/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91212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4128" y="791570"/>
            <a:ext cx="9720071" cy="551779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CL" sz="2800" dirty="0" smtClean="0"/>
              <a:t>Restricciones </a:t>
            </a:r>
            <a:endParaRPr lang="es-CL" sz="2800" dirty="0"/>
          </a:p>
          <a:p>
            <a:pPr lvl="3"/>
            <a:r>
              <a:rPr lang="es-CL" sz="2400" dirty="0" smtClean="0"/>
              <a:t>Número de unidades: discretas  o continuas</a:t>
            </a:r>
            <a:endParaRPr lang="es-CL" sz="2400" dirty="0"/>
          </a:p>
          <a:p>
            <a:pPr lvl="3"/>
            <a:r>
              <a:rPr lang="es-CL" sz="2400" dirty="0" smtClean="0"/>
              <a:t>Demanda:  </a:t>
            </a:r>
            <a:r>
              <a:rPr lang="es-CL" sz="2400" dirty="0"/>
              <a:t>negativa o dependiente </a:t>
            </a:r>
          </a:p>
          <a:p>
            <a:pPr lvl="3"/>
            <a:r>
              <a:rPr lang="es-CL" sz="2400" dirty="0" smtClean="0"/>
              <a:t>Espacio, niveles mínimos, periodos de programación</a:t>
            </a:r>
          </a:p>
          <a:p>
            <a:pPr lvl="3"/>
            <a:r>
              <a:rPr lang="es-CL" sz="2400" dirty="0" smtClean="0"/>
              <a:t>Costos, por ordenar, o por déficit, etc.</a:t>
            </a:r>
          </a:p>
          <a:p>
            <a:pPr lvl="1"/>
            <a:endParaRPr lang="es-CL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CL" sz="2800" i="1" dirty="0" smtClean="0"/>
              <a:t>Horizonte </a:t>
            </a:r>
            <a:r>
              <a:rPr lang="es-CL" sz="2800" i="1" dirty="0"/>
              <a:t>tiempo</a:t>
            </a:r>
            <a:r>
              <a:rPr lang="es-CL" sz="2800" dirty="0"/>
              <a:t>, es el período sobre el cual se define el nivel de inventario, puede ser finito o infinito. </a:t>
            </a:r>
            <a:endParaRPr lang="es-CL" sz="2800" dirty="0" smtClean="0"/>
          </a:p>
          <a:p>
            <a:pPr>
              <a:buFont typeface="Arial" panose="020B0604020202020204" pitchFamily="34" charset="0"/>
              <a:buChar char="•"/>
            </a:pPr>
            <a:endParaRPr lang="es-CL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CL" sz="2800" i="1" dirty="0" smtClean="0"/>
              <a:t>Número </a:t>
            </a:r>
            <a:r>
              <a:rPr lang="es-CL" sz="2800" i="1" dirty="0"/>
              <a:t>de artículos</a:t>
            </a:r>
            <a:r>
              <a:rPr lang="es-CL" sz="2800" dirty="0"/>
              <a:t>, un sistema de inventario generalmente trabaja con varios </a:t>
            </a:r>
            <a:r>
              <a:rPr lang="es-CL" sz="2800" dirty="0" err="1"/>
              <a:t>items</a:t>
            </a:r>
            <a:r>
              <a:rPr lang="es-CL" sz="2800" dirty="0"/>
              <a:t>, los que compiten por espacio y dinero. </a:t>
            </a:r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37128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75314" y="177421"/>
            <a:ext cx="11435686" cy="4380931"/>
          </a:xfrm>
          <a:prstGeom prst="rect">
            <a:avLst/>
          </a:prstGeom>
          <a:pattFill prst="horzBrick">
            <a:fgClr>
              <a:srgbClr val="FFD243"/>
            </a:fgClr>
            <a:bgClr>
              <a:schemeClr val="bg1"/>
            </a:bgClr>
          </a:patt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5314" y="319899"/>
            <a:ext cx="8413844" cy="1463040"/>
          </a:xfrm>
        </p:spPr>
        <p:txBody>
          <a:bodyPr>
            <a:normAutofit fontScale="90000"/>
          </a:bodyPr>
          <a:lstStyle/>
          <a:p>
            <a:r>
              <a:rPr lang="es-CL" dirty="0" smtClean="0"/>
              <a:t>Modelos de inventario determinístico, estático y con demanda constante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1195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708046"/>
            <a:ext cx="9720072" cy="1093460"/>
          </a:xfrm>
        </p:spPr>
        <p:txBody>
          <a:bodyPr/>
          <a:lstStyle/>
          <a:p>
            <a:r>
              <a:rPr lang="es-CL" dirty="0" smtClean="0"/>
              <a:t>Modelo de compra sin </a:t>
            </a:r>
            <a:r>
              <a:rPr lang="es-CL" dirty="0" err="1" smtClean="0"/>
              <a:t>dÉficit</a:t>
            </a:r>
            <a:endParaRPr lang="es-CL" dirty="0"/>
          </a:p>
        </p:txBody>
      </p:sp>
      <p:sp>
        <p:nvSpPr>
          <p:cNvPr id="3" name="Rectángulo 2"/>
          <p:cNvSpPr/>
          <p:nvPr/>
        </p:nvSpPr>
        <p:spPr>
          <a:xfrm>
            <a:off x="1024128" y="1830164"/>
            <a:ext cx="1000155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600" dirty="0" smtClean="0"/>
              <a:t>Supuestos</a:t>
            </a:r>
            <a:r>
              <a:rPr lang="es-CL" sz="2600" dirty="0"/>
              <a:t>: </a:t>
            </a:r>
          </a:p>
          <a:p>
            <a:r>
              <a:rPr lang="es-CL" sz="2600" dirty="0"/>
              <a:t>La demanda se efectúa a tasa constante </a:t>
            </a:r>
          </a:p>
          <a:p>
            <a:r>
              <a:rPr lang="es-CL" sz="2600" dirty="0"/>
              <a:t>El reemplazo es instantáneo </a:t>
            </a:r>
          </a:p>
          <a:p>
            <a:r>
              <a:rPr lang="es-CL" sz="2600" dirty="0"/>
              <a:t>Los </a:t>
            </a:r>
            <a:r>
              <a:rPr lang="es-CL" sz="2600" dirty="0" smtClean="0"/>
              <a:t>costos </a:t>
            </a:r>
            <a:r>
              <a:rPr lang="es-CL" sz="2600" dirty="0"/>
              <a:t>no se modifican durante el período T </a:t>
            </a:r>
          </a:p>
          <a:p>
            <a:endParaRPr lang="pt-BR" sz="2600" dirty="0"/>
          </a:p>
          <a:p>
            <a:r>
              <a:rPr lang="pt-BR" sz="2600" dirty="0"/>
              <a:t>donde: </a:t>
            </a:r>
          </a:p>
          <a:p>
            <a:r>
              <a:rPr lang="pt-BR" sz="2600" dirty="0"/>
              <a:t>T , período a planificar </a:t>
            </a:r>
          </a:p>
          <a:p>
            <a:r>
              <a:rPr lang="es-CL" sz="2600" dirty="0"/>
              <a:t>Q, lote económico a comprar. </a:t>
            </a:r>
          </a:p>
          <a:p>
            <a:r>
              <a:rPr lang="es-CL" sz="2600" dirty="0"/>
              <a:t>D,  demanda período T </a:t>
            </a:r>
          </a:p>
          <a:p>
            <a:r>
              <a:rPr lang="es-CL" sz="2600" dirty="0"/>
              <a:t>N, número de pedidos en tiempo T. Tal que N=D/Q</a:t>
            </a:r>
          </a:p>
          <a:p>
            <a:r>
              <a:rPr lang="es-CL" sz="2600" dirty="0"/>
              <a:t>t , tiempo entre pedidos = Q/D (tiempo que se demora en gastar Q unidades a una tasa D) </a:t>
            </a:r>
          </a:p>
        </p:txBody>
      </p:sp>
    </p:spTree>
    <p:extLst>
      <p:ext uri="{BB962C8B-B14F-4D97-AF65-F5344CB8AC3E}">
        <p14:creationId xmlns:p14="http://schemas.microsoft.com/office/powerpoint/2010/main" val="204424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585216"/>
            <a:ext cx="5981700" cy="2514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1910687" y="3213442"/>
                <a:ext cx="7410733" cy="3387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s-CL" sz="1200" dirty="0">
                  <a:solidFill>
                    <a:srgbClr val="000000"/>
                  </a:solidFill>
                  <a:latin typeface="Constantia" panose="02030602050306030303" pitchFamily="18" charset="0"/>
                </a:endParaRPr>
              </a:p>
              <a:p>
                <a:r>
                  <a:rPr lang="es-CL" sz="2400" dirty="0">
                    <a:latin typeface="Constantia" panose="02030602050306030303" pitchFamily="18" charset="0"/>
                  </a:rPr>
                  <a:t>Costo por período t es: </a:t>
                </a:r>
              </a:p>
              <a:p>
                <a:r>
                  <a:rPr lang="fr-FR" sz="2400" dirty="0" err="1">
                    <a:latin typeface="Constantia" panose="02030602050306030303" pitchFamily="18" charset="0"/>
                  </a:rPr>
                  <a:t>CTt</a:t>
                </a:r>
                <a:r>
                  <a:rPr lang="fr-FR" sz="2400" dirty="0">
                    <a:latin typeface="Constantia" panose="02030602050306030303" pitchFamily="18" charset="0"/>
                  </a:rPr>
                  <a:t> = C1 Q + C2 + C3 </a:t>
                </a:r>
                <a:r>
                  <a:rPr lang="fr-FR" sz="2400" dirty="0" smtClean="0">
                    <a:latin typeface="Constantia" panose="02030602050306030303" pitchFamily="18" charset="0"/>
                  </a:rPr>
                  <a:t>Q(t/2) </a:t>
                </a:r>
              </a:p>
              <a:p>
                <a:endParaRPr lang="fr-FR" sz="2400" dirty="0">
                  <a:latin typeface="Constantia" panose="02030602050306030303" pitchFamily="18" charset="0"/>
                </a:endParaRPr>
              </a:p>
              <a:p>
                <a:r>
                  <a:rPr lang="es-CL" sz="2400" dirty="0">
                    <a:latin typeface="Constantia" panose="02030602050306030303" pitchFamily="18" charset="0"/>
                  </a:rPr>
                  <a:t>Costo por período T es: </a:t>
                </a:r>
              </a:p>
              <a:p>
                <a:r>
                  <a:rPr lang="fr-FR" sz="2400" dirty="0">
                    <a:latin typeface="Constantia" panose="02030602050306030303" pitchFamily="18" charset="0"/>
                  </a:rPr>
                  <a:t>CTT = C1 D + C2 </a:t>
                </a:r>
                <a:r>
                  <a:rPr lang="fr-FR" sz="2400" dirty="0" smtClean="0">
                    <a:latin typeface="Constantia" panose="02030602050306030303" pitchFamily="18" charset="0"/>
                  </a:rPr>
                  <a:t>(D/Q)+ </a:t>
                </a:r>
                <a:r>
                  <a:rPr lang="fr-FR" sz="2400" dirty="0">
                    <a:latin typeface="Constantia" panose="02030602050306030303" pitchFamily="18" charset="0"/>
                  </a:rPr>
                  <a:t>C3 </a:t>
                </a:r>
                <a:r>
                  <a:rPr lang="fr-FR" sz="2400" dirty="0" smtClean="0">
                    <a:latin typeface="Constantia" panose="02030602050306030303" pitchFamily="18" charset="0"/>
                  </a:rPr>
                  <a:t>(Q/2) </a:t>
                </a:r>
                <a:endParaRPr lang="fr-FR" sz="2400" dirty="0">
                  <a:latin typeface="Constantia" panose="02030602050306030303" pitchFamily="18" charset="0"/>
                </a:endParaRPr>
              </a:p>
              <a:p>
                <a:r>
                  <a:rPr lang="es-CL" sz="2400" dirty="0">
                    <a:latin typeface="Constantia" panose="02030602050306030303" pitchFamily="18" charset="0"/>
                  </a:rPr>
                  <a:t>d CTT / </a:t>
                </a:r>
                <a:r>
                  <a:rPr lang="es-CL" sz="2400" dirty="0" err="1">
                    <a:latin typeface="Constantia" panose="02030602050306030303" pitchFamily="18" charset="0"/>
                  </a:rPr>
                  <a:t>dQ</a:t>
                </a:r>
                <a:r>
                  <a:rPr lang="es-CL" sz="2400" dirty="0">
                    <a:latin typeface="Constantia" panose="02030602050306030303" pitchFamily="18" charset="0"/>
                  </a:rPr>
                  <a:t> = </a:t>
                </a:r>
                <a:r>
                  <a:rPr lang="es-CL" sz="2400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es-CL" sz="2400" dirty="0" smtClean="0">
                    <a:latin typeface="Constantia" panose="02030602050306030303" pitchFamily="18" charset="0"/>
                  </a:rPr>
                  <a:t> </a:t>
                </a:r>
                <a:r>
                  <a:rPr lang="es-CL" sz="2400" dirty="0">
                    <a:latin typeface="Constantia" panose="02030602050306030303" pitchFamily="18" charset="0"/>
                  </a:rPr>
                  <a:t>=&gt; Q*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CL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 / 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s-CL" sz="2400" dirty="0">
                  <a:latin typeface="Constantia" panose="02030602050306030303" pitchFamily="18" charset="0"/>
                </a:endParaRPr>
              </a:p>
              <a:p>
                <a:r>
                  <a:rPr lang="fr-FR" sz="2400" dirty="0">
                    <a:latin typeface="Constantia" panose="02030602050306030303" pitchFamily="18" charset="0"/>
                  </a:rPr>
                  <a:t>CTT* = C1 D + C2 </a:t>
                </a:r>
                <a:r>
                  <a:rPr lang="fr-FR" sz="2400" dirty="0" smtClean="0">
                    <a:latin typeface="Constantia" panose="02030602050306030303" pitchFamily="18" charset="0"/>
                  </a:rPr>
                  <a:t>(D/Q*) </a:t>
                </a:r>
                <a:r>
                  <a:rPr lang="fr-FR" sz="2400" dirty="0">
                    <a:latin typeface="Constantia" panose="02030602050306030303" pitchFamily="18" charset="0"/>
                  </a:rPr>
                  <a:t>+ C3 </a:t>
                </a:r>
                <a:r>
                  <a:rPr lang="fr-FR" sz="2400" dirty="0" smtClean="0">
                    <a:latin typeface="Constantia" panose="02030602050306030303" pitchFamily="18" charset="0"/>
                  </a:rPr>
                  <a:t>(Q*/2) </a:t>
                </a:r>
                <a:endParaRPr lang="fr-FR" sz="2400" dirty="0">
                  <a:latin typeface="Constantia" panose="02030602050306030303" pitchFamily="18" charset="0"/>
                </a:endParaRPr>
              </a:p>
              <a:p>
                <a:r>
                  <a:rPr lang="es-CL" sz="2400" dirty="0">
                    <a:latin typeface="Constantia" panose="02030602050306030303" pitchFamily="18" charset="0"/>
                  </a:rPr>
                  <a:t>CTT* = C1 D </a:t>
                </a:r>
                <a:r>
                  <a:rPr lang="es-CL" sz="2400" dirty="0" smtClean="0">
                    <a:latin typeface="Constantia" panose="02030602050306030303" pitchFamily="18" charset="0"/>
                  </a:rPr>
                  <a:t>+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CL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s-CL" sz="2400" b="0" i="0" dirty="0" smtClean="0">
                            <a:latin typeface="Constantia" panose="02030602050306030303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s-CL" sz="2400" b="0" i="0" dirty="0" smtClean="0">
                            <a:latin typeface="Constantia" panose="02030602050306030303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s-CL" sz="2400" dirty="0" smtClean="0">
                    <a:latin typeface="Constantia" panose="02030602050306030303" pitchFamily="18" charset="0"/>
                  </a:rPr>
                  <a:t> </a:t>
                </a:r>
                <a:endParaRPr lang="es-CL" sz="2400" dirty="0"/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687" y="3213442"/>
                <a:ext cx="7410733" cy="3387466"/>
              </a:xfrm>
              <a:prstGeom prst="rect">
                <a:avLst/>
              </a:prstGeom>
              <a:blipFill rotWithShape="0">
                <a:blip r:embed="rId3"/>
                <a:stretch>
                  <a:fillRect l="-1234" b="-251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/>
          <p:cNvSpPr/>
          <p:nvPr/>
        </p:nvSpPr>
        <p:spPr>
          <a:xfrm>
            <a:off x="8110108" y="3625759"/>
            <a:ext cx="3371377" cy="1200329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CL" b="1"/>
              <a:t>C1 Precio compra o </a:t>
            </a:r>
            <a:r>
              <a:rPr lang="es-CL" b="1" smtClean="0"/>
              <a:t>manufactura </a:t>
            </a:r>
          </a:p>
          <a:p>
            <a:r>
              <a:rPr lang="es-CL" b="1" smtClean="0"/>
              <a:t>C2 </a:t>
            </a:r>
            <a:r>
              <a:rPr lang="es-CL" b="1"/>
              <a:t>Costo </a:t>
            </a:r>
            <a:r>
              <a:rPr lang="es-CL" b="1" smtClean="0"/>
              <a:t>administrativo</a:t>
            </a:r>
          </a:p>
          <a:p>
            <a:r>
              <a:rPr lang="es-CL" b="1" smtClean="0"/>
              <a:t>C3 </a:t>
            </a:r>
            <a:r>
              <a:rPr lang="es-CL" b="1"/>
              <a:t>Costo </a:t>
            </a:r>
            <a:r>
              <a:rPr lang="es-CL" b="1" smtClean="0"/>
              <a:t>almacenamiento</a:t>
            </a:r>
          </a:p>
          <a:p>
            <a:r>
              <a:rPr lang="es-CL" b="1" smtClean="0"/>
              <a:t>C4 </a:t>
            </a:r>
            <a:r>
              <a:rPr lang="es-CL" b="1"/>
              <a:t>Costo déficit </a:t>
            </a:r>
            <a:endParaRPr lang="es-C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Entrada de lápiz 7"/>
              <p14:cNvContentPartPr/>
              <p14:nvPr/>
            </p14:nvContentPartPr>
            <p14:xfrm>
              <a:off x="4696920" y="4116600"/>
              <a:ext cx="360" cy="360"/>
            </p14:xfrm>
          </p:contentPart>
        </mc:Choice>
        <mc:Fallback xmlns="">
          <p:pic>
            <p:nvPicPr>
              <p:cNvPr id="8" name="Entrada de lápiz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81080" y="4053240"/>
                <a:ext cx="3204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71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981635" y="672352"/>
            <a:ext cx="106769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Una compañía compra 12.000 artículos por año para emplearlos en un proceso de producción. Si el costo unitario es $5 por unidad, el costo de tenencia de una unidad es de 80 centavos por mes, y el costo de hacer una compra es de $100, determine los siguientes puntos si no se permite déficit.</a:t>
            </a:r>
          </a:p>
          <a:p>
            <a:pPr marL="342900" indent="-342900">
              <a:buAutoNum type="alphaLcParenR"/>
            </a:pPr>
            <a:r>
              <a:rPr lang="es-CL" dirty="0" smtClean="0"/>
              <a:t>La cantidad óptima pedida, Q*</a:t>
            </a:r>
          </a:p>
          <a:p>
            <a:pPr marL="342900" indent="-342900">
              <a:buAutoNum type="alphaLcParenR"/>
            </a:pPr>
            <a:r>
              <a:rPr lang="es-CL" dirty="0" smtClean="0"/>
              <a:t>El costo total anual optimo, CT</a:t>
            </a:r>
          </a:p>
          <a:p>
            <a:pPr marL="342900" indent="-342900">
              <a:buAutoNum type="alphaLcParenR"/>
            </a:pPr>
            <a:r>
              <a:rPr lang="es-CL" dirty="0" smtClean="0"/>
              <a:t>El número de pedidos por año, N</a:t>
            </a:r>
          </a:p>
          <a:p>
            <a:pPr marL="342900" indent="-342900">
              <a:buAutoNum type="alphaLcParenR"/>
            </a:pPr>
            <a:r>
              <a:rPr lang="es-CL" dirty="0" smtClean="0"/>
              <a:t>El tiempo entre pedidos, t</a:t>
            </a:r>
          </a:p>
        </p:txBody>
      </p:sp>
      <p:sp>
        <p:nvSpPr>
          <p:cNvPr id="4" name="CuadroTexto 3"/>
          <p:cNvSpPr txBox="1"/>
          <p:nvPr/>
        </p:nvSpPr>
        <p:spPr>
          <a:xfrm rot="10800000">
            <a:off x="8915399" y="5042649"/>
            <a:ext cx="237757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 smtClean="0">
                <a:solidFill>
                  <a:srgbClr val="FF0000"/>
                </a:solidFill>
              </a:rPr>
              <a:t>Solucion</a:t>
            </a:r>
            <a:r>
              <a:rPr lang="es-CL" dirty="0" smtClean="0">
                <a:solidFill>
                  <a:srgbClr val="FF0000"/>
                </a:solidFill>
              </a:rPr>
              <a:t>: 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500 unidades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64.800 $/año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24 pedidos por año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15 días</a:t>
            </a:r>
            <a:endParaRPr lang="es-CL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trada de lápiz 4"/>
              <p14:cNvContentPartPr/>
              <p14:nvPr/>
            </p14:nvContentPartPr>
            <p14:xfrm>
              <a:off x="11206800" y="2035800"/>
              <a:ext cx="360" cy="360"/>
            </p14:xfrm>
          </p:contentPart>
        </mc:Choice>
        <mc:Fallback xmlns="">
          <p:pic>
            <p:nvPicPr>
              <p:cNvPr id="5" name="Entrada de lápiz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0960" y="1972440"/>
                <a:ext cx="32040" cy="12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20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 smtClean="0"/>
              <a:t>eJERCICIO</a:t>
            </a:r>
            <a:endParaRPr lang="es-CL" dirty="0"/>
          </a:p>
        </p:txBody>
      </p:sp>
      <p:sp>
        <p:nvSpPr>
          <p:cNvPr id="3" name="Rectángulo 2"/>
          <p:cNvSpPr/>
          <p:nvPr/>
        </p:nvSpPr>
        <p:spPr>
          <a:xfrm>
            <a:off x="888397" y="1884701"/>
            <a:ext cx="974150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MX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 artículos comprados a un proveedor cuestan $20 cada uno y el pronóstico de la demanda para el año siguiente es de 1000 unidades. Si cada vez que se coloca un pedido cuesta $5 y el costo de almacenaje es de $4 por unidad al año:</a:t>
            </a:r>
            <a:endParaRPr lang="es-CL" sz="2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s-MX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¿Qué cantidades se deberían comprar por cada pedido?</a:t>
            </a:r>
            <a:endParaRPr lang="es-CL" sz="2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s-MX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¿Cuál es el costo total de los pedidos para un año?</a:t>
            </a:r>
            <a:endParaRPr lang="es-CL" sz="2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s-MX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¿Cuál es el costo total de almacenaje para un año?</a:t>
            </a:r>
            <a:endParaRPr lang="es-CL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6638411" y="6061896"/>
            <a:ext cx="5240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latin typeface="Constantia" panose="02030602050306030303" pitchFamily="18" charset="0"/>
              </a:rPr>
              <a:t>CTT* = C1 D + C2 (D/Q*) + C3 (Q*/2)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6638411" y="5463651"/>
                <a:ext cx="2695931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L" sz="2400" dirty="0" smtClean="0">
                    <a:latin typeface="Constantia" panose="02030602050306030303" pitchFamily="18" charset="0"/>
                  </a:rPr>
                  <a:t> </a:t>
                </a:r>
                <a:r>
                  <a:rPr lang="es-CL" sz="2400" dirty="0">
                    <a:latin typeface="Constantia" panose="02030602050306030303" pitchFamily="18" charset="0"/>
                  </a:rPr>
                  <a:t>Q*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CL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 / 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s-CL" sz="2400" dirty="0">
                            <a:latin typeface="Constantia" panose="02030602050306030303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s-CL" sz="2400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411" y="5463651"/>
                <a:ext cx="2695931" cy="539571"/>
              </a:xfrm>
              <a:prstGeom prst="rect">
                <a:avLst/>
              </a:prstGeom>
              <a:blipFill rotWithShape="0">
                <a:blip r:embed="rId2"/>
                <a:stretch>
                  <a:fillRect l="-905" b="-2134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38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317" y="1814512"/>
            <a:ext cx="5416683" cy="28860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847799"/>
          </a:xfrm>
        </p:spPr>
        <p:txBody>
          <a:bodyPr>
            <a:normAutofit fontScale="90000"/>
          </a:bodyPr>
          <a:lstStyle/>
          <a:p>
            <a:r>
              <a:rPr lang="es-CL" dirty="0"/>
              <a:t/>
            </a:r>
            <a:br>
              <a:rPr lang="es-CL" dirty="0"/>
            </a:br>
            <a:r>
              <a:rPr lang="es-CL" sz="5600" dirty="0" smtClean="0"/>
              <a:t>Modelo </a:t>
            </a:r>
            <a:r>
              <a:rPr lang="es-CL" sz="5600" dirty="0"/>
              <a:t>manufactura sin déficit </a:t>
            </a:r>
            <a:r>
              <a:rPr lang="es-CL" dirty="0"/>
              <a:t/>
            </a:r>
            <a:br>
              <a:rPr lang="es-CL" dirty="0"/>
            </a:br>
            <a:endParaRPr lang="es-CL" dirty="0"/>
          </a:p>
        </p:txBody>
      </p:sp>
      <p:sp>
        <p:nvSpPr>
          <p:cNvPr id="3" name="Rectángulo 2"/>
          <p:cNvSpPr/>
          <p:nvPr/>
        </p:nvSpPr>
        <p:spPr>
          <a:xfrm>
            <a:off x="1024128" y="1433015"/>
            <a:ext cx="10631060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400" dirty="0" smtClean="0"/>
              <a:t>Supuestos</a:t>
            </a:r>
            <a:r>
              <a:rPr lang="es-CL" sz="2400" dirty="0"/>
              <a:t>: </a:t>
            </a:r>
          </a:p>
          <a:p>
            <a:r>
              <a:rPr lang="es-CL" sz="2400" dirty="0"/>
              <a:t>La demanda se efectúa a tasa </a:t>
            </a:r>
            <a:r>
              <a:rPr lang="es-CL" sz="2400" dirty="0" smtClean="0"/>
              <a:t>constante.</a:t>
            </a:r>
          </a:p>
          <a:p>
            <a:r>
              <a:rPr lang="es-CL" sz="2400" dirty="0" smtClean="0"/>
              <a:t>Los </a:t>
            </a:r>
            <a:r>
              <a:rPr lang="es-CL" sz="2400" dirty="0"/>
              <a:t>costo no se modifican durante el período T </a:t>
            </a:r>
            <a:endParaRPr lang="es-CL" sz="2400" dirty="0" smtClean="0"/>
          </a:p>
          <a:p>
            <a:endParaRPr lang="es-CL" sz="2400" dirty="0"/>
          </a:p>
          <a:p>
            <a:r>
              <a:rPr lang="es-CL" sz="2400" dirty="0" smtClean="0"/>
              <a:t>Donde:</a:t>
            </a:r>
          </a:p>
          <a:p>
            <a:r>
              <a:rPr lang="es-CL" sz="2400" dirty="0" smtClean="0"/>
              <a:t>C2, costo de iniciar la tanda de producción.</a:t>
            </a:r>
            <a:endParaRPr lang="es-CL" sz="2400" dirty="0"/>
          </a:p>
          <a:p>
            <a:r>
              <a:rPr lang="es-CL" sz="2400" dirty="0" smtClean="0"/>
              <a:t>R,  tasa </a:t>
            </a:r>
            <a:r>
              <a:rPr lang="es-CL" sz="2400" dirty="0"/>
              <a:t>manufactura </a:t>
            </a:r>
            <a:r>
              <a:rPr lang="es-CL" sz="2400" dirty="0" smtClean="0"/>
              <a:t>&gt;&gt; D</a:t>
            </a:r>
          </a:p>
          <a:p>
            <a:r>
              <a:rPr lang="es-CL" sz="2400" dirty="0" smtClean="0"/>
              <a:t>R – D, </a:t>
            </a:r>
            <a:r>
              <a:rPr lang="es-CL" sz="2400" dirty="0"/>
              <a:t>tasa acumulación </a:t>
            </a:r>
            <a:endParaRPr lang="es-CL" sz="2400" dirty="0" smtClean="0"/>
          </a:p>
          <a:p>
            <a:r>
              <a:rPr lang="es-CL" sz="2400" dirty="0" smtClean="0"/>
              <a:t>IM, </a:t>
            </a:r>
            <a:r>
              <a:rPr lang="es-CL" sz="2400" dirty="0"/>
              <a:t>inventario </a:t>
            </a:r>
            <a:r>
              <a:rPr lang="es-CL" sz="2400" dirty="0" smtClean="0"/>
              <a:t>máximo</a:t>
            </a:r>
            <a:endParaRPr lang="es-CL" sz="2400" dirty="0"/>
          </a:p>
          <a:p>
            <a:r>
              <a:rPr lang="es-CL" sz="2400" dirty="0" smtClean="0"/>
              <a:t>Q, </a:t>
            </a:r>
            <a:r>
              <a:rPr lang="es-CL" sz="2400" dirty="0"/>
              <a:t>lote económico a </a:t>
            </a:r>
            <a:r>
              <a:rPr lang="es-CL" sz="2400" dirty="0" smtClean="0"/>
              <a:t>fabricar</a:t>
            </a:r>
          </a:p>
          <a:p>
            <a:r>
              <a:rPr lang="es-CL" sz="2400" dirty="0" smtClean="0"/>
              <a:t>t1, </a:t>
            </a:r>
            <a:r>
              <a:rPr lang="es-CL" sz="2400" dirty="0"/>
              <a:t>tiempo manufactura = </a:t>
            </a:r>
            <a:r>
              <a:rPr lang="es-CL" sz="2400" dirty="0" smtClean="0"/>
              <a:t>Q/R </a:t>
            </a:r>
            <a:r>
              <a:rPr lang="es-CL" sz="2400" dirty="0"/>
              <a:t>(tiempo gastado en hacer Q unidades a una tasa R</a:t>
            </a:r>
            <a:r>
              <a:rPr lang="es-CL" sz="2400" dirty="0" smtClean="0"/>
              <a:t>)</a:t>
            </a:r>
          </a:p>
          <a:p>
            <a:r>
              <a:rPr lang="es-CL" sz="2400" dirty="0" smtClean="0"/>
              <a:t>D, </a:t>
            </a:r>
            <a:r>
              <a:rPr lang="es-CL" sz="2400" dirty="0"/>
              <a:t>demanda período </a:t>
            </a:r>
            <a:r>
              <a:rPr lang="es-CL" sz="2400" dirty="0" smtClean="0"/>
              <a:t>T</a:t>
            </a:r>
          </a:p>
          <a:p>
            <a:r>
              <a:rPr lang="es-CL" sz="2400" dirty="0" smtClean="0"/>
              <a:t>N, </a:t>
            </a:r>
            <a:r>
              <a:rPr lang="es-CL" sz="2400" dirty="0"/>
              <a:t>número tandas </a:t>
            </a:r>
            <a:r>
              <a:rPr lang="es-CL" sz="2400" dirty="0" err="1"/>
              <a:t>prod</a:t>
            </a:r>
            <a:r>
              <a:rPr lang="es-CL" sz="2400" dirty="0"/>
              <a:t>. tiempo </a:t>
            </a:r>
            <a:r>
              <a:rPr lang="es-CL" sz="2400" dirty="0" smtClean="0"/>
              <a:t>T. N </a:t>
            </a:r>
            <a:r>
              <a:rPr lang="es-CL" sz="2400" dirty="0"/>
              <a:t>= </a:t>
            </a:r>
            <a:r>
              <a:rPr lang="es-CL" sz="2400" dirty="0" smtClean="0"/>
              <a:t>D/Q</a:t>
            </a:r>
          </a:p>
          <a:p>
            <a:r>
              <a:rPr lang="es-CL" sz="2400" dirty="0"/>
              <a:t>t</a:t>
            </a:r>
            <a:r>
              <a:rPr lang="es-CL" sz="2400" dirty="0" smtClean="0"/>
              <a:t>, </a:t>
            </a:r>
            <a:r>
              <a:rPr lang="es-CL" sz="2400" dirty="0"/>
              <a:t>tiempo entre pedidos = </a:t>
            </a:r>
            <a:r>
              <a:rPr lang="es-CL" sz="2400" dirty="0" smtClean="0"/>
              <a:t>Q/D</a:t>
            </a:r>
            <a:endParaRPr lang="es-CL" sz="2400" dirty="0"/>
          </a:p>
          <a:p>
            <a:endParaRPr lang="es-CL" sz="1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39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075" y="615594"/>
            <a:ext cx="6096000" cy="3248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ángulo 41"/>
              <p:cNvSpPr/>
              <p:nvPr/>
            </p:nvSpPr>
            <p:spPr>
              <a:xfrm>
                <a:off x="1038854" y="1708222"/>
                <a:ext cx="8584442" cy="43107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400" i="1" dirty="0">
                    <a:latin typeface="Arial" panose="020B0604020202020204" pitchFamily="34" charset="0"/>
                  </a:rPr>
                  <a:t>inventario </a:t>
                </a:r>
                <a:r>
                  <a:rPr lang="pt-BR" sz="2400" i="1" dirty="0" smtClean="0">
                    <a:latin typeface="Arial" panose="020B0604020202020204" pitchFamily="34" charset="0"/>
                  </a:rPr>
                  <a:t>máximo:</a:t>
                </a:r>
                <a:endParaRPr lang="pt-BR" sz="2400" i="1" dirty="0">
                  <a:latin typeface="Arial" panose="020B0604020202020204" pitchFamily="34" charset="0"/>
                </a:endParaRPr>
              </a:p>
              <a:p>
                <a:r>
                  <a:rPr lang="pt-BR" sz="2400" i="1" dirty="0" smtClean="0">
                    <a:latin typeface="Arial" panose="020B0604020202020204" pitchFamily="34" charset="0"/>
                  </a:rPr>
                  <a:t>IM= t1(R-D</a:t>
                </a:r>
                <a:r>
                  <a:rPr lang="pt-BR" sz="2400" i="1" dirty="0">
                    <a:latin typeface="Arial" panose="020B0604020202020204" pitchFamily="34" charset="0"/>
                  </a:rPr>
                  <a:t>) = Q (1 - D / R) </a:t>
                </a:r>
                <a:r>
                  <a:rPr lang="pt-BR" sz="2400" i="1" dirty="0" smtClean="0">
                    <a:latin typeface="Arial" panose="020B0604020202020204" pitchFamily="34" charset="0"/>
                  </a:rPr>
                  <a:t>, </a:t>
                </a:r>
              </a:p>
              <a:p>
                <a:endParaRPr lang="pt-BR" sz="2400" dirty="0">
                  <a:latin typeface="Arial" panose="020B0604020202020204" pitchFamily="34" charset="0"/>
                </a:endParaRPr>
              </a:p>
              <a:p>
                <a:r>
                  <a:rPr lang="es-CL" sz="2400" dirty="0">
                    <a:latin typeface="Arial" panose="020B0604020202020204" pitchFamily="34" charset="0"/>
                  </a:rPr>
                  <a:t>Costo por período t es: </a:t>
                </a:r>
              </a:p>
              <a:p>
                <a:r>
                  <a:rPr lang="fr-FR" sz="2400" i="1" dirty="0" err="1">
                    <a:latin typeface="Arial" panose="020B0604020202020204" pitchFamily="34" charset="0"/>
                  </a:rPr>
                  <a:t>CTt</a:t>
                </a:r>
                <a:r>
                  <a:rPr lang="fr-FR" sz="2400" i="1" dirty="0">
                    <a:latin typeface="Arial" panose="020B0604020202020204" pitchFamily="34" charset="0"/>
                  </a:rPr>
                  <a:t> = C1 Q + C2 + C3 </a:t>
                </a:r>
                <a:r>
                  <a:rPr lang="fr-FR" sz="2400" i="1" dirty="0" smtClean="0">
                    <a:latin typeface="Arial" panose="020B0604020202020204" pitchFamily="34" charset="0"/>
                  </a:rPr>
                  <a:t>IM (t/2) </a:t>
                </a:r>
              </a:p>
              <a:p>
                <a:r>
                  <a:rPr lang="fr-FR" sz="2400" i="1" dirty="0" smtClean="0">
                    <a:latin typeface="Arial" panose="020B0604020202020204" pitchFamily="34" charset="0"/>
                  </a:rPr>
                  <a:t> </a:t>
                </a:r>
                <a:endParaRPr lang="fr-FR" sz="2400" dirty="0">
                  <a:latin typeface="Arial" panose="020B0604020202020204" pitchFamily="34" charset="0"/>
                </a:endParaRPr>
              </a:p>
              <a:p>
                <a:r>
                  <a:rPr lang="es-CL" sz="2400" i="1" dirty="0">
                    <a:latin typeface="Arial" panose="020B0604020202020204" pitchFamily="34" charset="0"/>
                  </a:rPr>
                  <a:t>Costo por período T es: </a:t>
                </a:r>
                <a:endParaRPr lang="es-CL" sz="2400" dirty="0">
                  <a:latin typeface="Arial" panose="020B0604020202020204" pitchFamily="34" charset="0"/>
                </a:endParaRPr>
              </a:p>
              <a:p>
                <a:r>
                  <a:rPr lang="pt-BR" sz="2400" i="1" dirty="0">
                    <a:latin typeface="Arial" panose="020B0604020202020204" pitchFamily="34" charset="0"/>
                  </a:rPr>
                  <a:t>CTT = C1 D + C2 </a:t>
                </a:r>
                <a:r>
                  <a:rPr lang="pt-BR" sz="2400" i="1" dirty="0" smtClean="0">
                    <a:latin typeface="Arial" panose="020B0604020202020204" pitchFamily="34" charset="0"/>
                  </a:rPr>
                  <a:t>(D/Q)+ [C3 </a:t>
                </a:r>
                <a:r>
                  <a:rPr lang="pt-BR" sz="2400" i="1" dirty="0">
                    <a:latin typeface="Arial" panose="020B0604020202020204" pitchFamily="34" charset="0"/>
                  </a:rPr>
                  <a:t>Q (1 - D /R</a:t>
                </a:r>
                <a:r>
                  <a:rPr lang="pt-BR" sz="2400" i="1" dirty="0" smtClean="0">
                    <a:latin typeface="Arial" panose="020B0604020202020204" pitchFamily="34" charset="0"/>
                  </a:rPr>
                  <a:t>)] </a:t>
                </a:r>
                <a:r>
                  <a:rPr lang="pt-BR" sz="2400" i="1" dirty="0">
                    <a:latin typeface="Arial" panose="020B0604020202020204" pitchFamily="34" charset="0"/>
                  </a:rPr>
                  <a:t>/2 </a:t>
                </a:r>
                <a:endParaRPr lang="pt-BR" sz="2400" dirty="0">
                  <a:latin typeface="Arial" panose="020B0604020202020204" pitchFamily="34" charset="0"/>
                </a:endParaRPr>
              </a:p>
              <a:p>
                <a:r>
                  <a:rPr lang="es-CL" sz="2400" i="1" dirty="0">
                    <a:latin typeface="Arial" panose="020B0604020202020204" pitchFamily="34" charset="0"/>
                  </a:rPr>
                  <a:t>d CTT / </a:t>
                </a:r>
                <a:r>
                  <a:rPr lang="es-CL" sz="2400" i="1" dirty="0" err="1">
                    <a:latin typeface="Arial" panose="020B0604020202020204" pitchFamily="34" charset="0"/>
                  </a:rPr>
                  <a:t>dQ</a:t>
                </a:r>
                <a:r>
                  <a:rPr lang="es-CL" sz="2400" i="1" dirty="0">
                    <a:latin typeface="Arial" panose="020B0604020202020204" pitchFamily="34" charset="0"/>
                  </a:rPr>
                  <a:t> = 0 =&gt; </a:t>
                </a:r>
                <a:r>
                  <a:rPr lang="pt-BR" sz="2400" i="1" dirty="0" smtClean="0">
                    <a:latin typeface="Arial" panose="020B0604020202020204" pitchFamily="34" charset="0"/>
                  </a:rPr>
                  <a:t>Q</a:t>
                </a:r>
                <a:r>
                  <a:rPr lang="pt-BR" sz="2400" i="1" dirty="0">
                    <a:latin typeface="Arial" panose="020B0604020202020204" pitchFamily="34" charset="0"/>
                  </a:rPr>
                  <a:t>*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 / 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3 ( 1 − 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)</m:t>
                        </m:r>
                      </m:e>
                    </m:rad>
                  </m:oMath>
                </a14:m>
                <a:endParaRPr lang="pt-BR" sz="2400" dirty="0">
                  <a:latin typeface="Arial" panose="020B0604020202020204" pitchFamily="34" charset="0"/>
                </a:endParaRPr>
              </a:p>
              <a:p>
                <a:r>
                  <a:rPr lang="pt-BR" sz="2400" i="1" dirty="0">
                    <a:latin typeface="Arial" panose="020B0604020202020204" pitchFamily="34" charset="0"/>
                  </a:rPr>
                  <a:t>CTT *= C1 D + C2 </a:t>
                </a:r>
                <a:r>
                  <a:rPr lang="pt-BR" sz="2400" i="1" dirty="0" smtClean="0">
                    <a:latin typeface="Arial" panose="020B0604020202020204" pitchFamily="34" charset="0"/>
                  </a:rPr>
                  <a:t>D/Q</a:t>
                </a:r>
                <a:r>
                  <a:rPr lang="pt-BR" sz="2400" i="1" dirty="0">
                    <a:latin typeface="Arial" panose="020B0604020202020204" pitchFamily="34" charset="0"/>
                  </a:rPr>
                  <a:t>* + C3 Q* (1 - D /R) /2 </a:t>
                </a:r>
                <a:endParaRPr lang="pt-BR" sz="2400" dirty="0">
                  <a:latin typeface="Arial" panose="020B0604020202020204" pitchFamily="34" charset="0"/>
                </a:endParaRPr>
              </a:p>
              <a:p>
                <a:r>
                  <a:rPr lang="pt-BR" sz="2400" i="1" dirty="0">
                    <a:latin typeface="Arial" panose="020B0604020202020204" pitchFamily="34" charset="0"/>
                  </a:rPr>
                  <a:t>CTT * = C1 D 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3 ( 1 − 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pt-BR" sz="2400" i="1" dirty="0">
                            <a:latin typeface="Arial" panose="020B0604020202020204" pitchFamily="34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pt-BR" sz="2400" i="1" dirty="0">
                    <a:latin typeface="Arial" panose="020B0604020202020204" pitchFamily="34" charset="0"/>
                  </a:rPr>
                  <a:t> </a:t>
                </a:r>
                <a:endParaRPr lang="es-CL" sz="2400" dirty="0"/>
              </a:p>
            </p:txBody>
          </p:sp>
        </mc:Choice>
        <mc:Fallback xmlns="">
          <p:sp>
            <p:nvSpPr>
              <p:cNvPr id="42" name="Rectángulo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854" y="1708222"/>
                <a:ext cx="8584442" cy="4310795"/>
              </a:xfrm>
              <a:prstGeom prst="rect">
                <a:avLst/>
              </a:prstGeom>
              <a:blipFill rotWithShape="0">
                <a:blip r:embed="rId3"/>
                <a:stretch>
                  <a:fillRect l="-1065" t="-990" b="-183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93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156447" y="1035423"/>
            <a:ext cx="97356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Supongamos que la compañía del ejemplo anterior manufactura los artículos a una tasa de 48.000 unidades por año. Si todos los costos son iguales al del problema anterior (costo de organizar una tanda de producción=costo de ordenar una compra), determinar:</a:t>
            </a:r>
          </a:p>
          <a:p>
            <a:pPr marL="342900" indent="-342900">
              <a:buAutoNum type="alphaLcParenR"/>
            </a:pPr>
            <a:r>
              <a:rPr lang="es-CL" dirty="0" smtClean="0"/>
              <a:t>La cantidad optima  que debe manufacturarse, Q*</a:t>
            </a:r>
          </a:p>
          <a:p>
            <a:pPr marL="342900" indent="-342900">
              <a:buAutoNum type="alphaLcParenR"/>
            </a:pPr>
            <a:r>
              <a:rPr lang="es-CL" dirty="0" smtClean="0"/>
              <a:t>El costo total anual óptimo, CTT*</a:t>
            </a:r>
          </a:p>
          <a:p>
            <a:pPr marL="342900" indent="-342900">
              <a:buAutoNum type="alphaLcParenR"/>
            </a:pPr>
            <a:r>
              <a:rPr lang="es-CL" dirty="0" smtClean="0"/>
              <a:t>El inventario máximo, IM</a:t>
            </a:r>
          </a:p>
          <a:p>
            <a:pPr marL="342900" indent="-342900">
              <a:buAutoNum type="alphaLcParenR"/>
            </a:pPr>
            <a:r>
              <a:rPr lang="es-CL" dirty="0" smtClean="0"/>
              <a:t>El tiempo de manufacturación, t1</a:t>
            </a:r>
          </a:p>
          <a:p>
            <a:pPr marL="342900" indent="-342900">
              <a:buAutoNum type="alphaLcParenR"/>
            </a:pPr>
            <a:r>
              <a:rPr lang="es-CL" dirty="0" smtClean="0"/>
              <a:t>El tiempo entre tandas de producción, t</a:t>
            </a:r>
          </a:p>
          <a:p>
            <a:pPr marL="342900" indent="-342900">
              <a:buAutoNum type="alphaLcParenR"/>
            </a:pPr>
            <a:r>
              <a:rPr lang="es-CL" dirty="0" smtClean="0"/>
              <a:t>El número de tandas de producción, N</a:t>
            </a:r>
          </a:p>
          <a:p>
            <a:pPr marL="342900" indent="-342900">
              <a:buAutoNum type="alphaLcParenR"/>
            </a:pPr>
            <a:endParaRPr lang="es-CL" dirty="0"/>
          </a:p>
        </p:txBody>
      </p:sp>
      <p:sp>
        <p:nvSpPr>
          <p:cNvPr id="4" name="CuadroTexto 3"/>
          <p:cNvSpPr txBox="1"/>
          <p:nvPr/>
        </p:nvSpPr>
        <p:spPr>
          <a:xfrm rot="10800000">
            <a:off x="8471071" y="4465874"/>
            <a:ext cx="24210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 smtClean="0">
                <a:solidFill>
                  <a:srgbClr val="FF0000"/>
                </a:solidFill>
              </a:rPr>
              <a:t>Solucion</a:t>
            </a:r>
            <a:r>
              <a:rPr lang="es-CL" dirty="0" smtClean="0">
                <a:solidFill>
                  <a:srgbClr val="FF0000"/>
                </a:solidFill>
              </a:rPr>
              <a:t>: 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577,35 unidades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$64,157 al año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433 unidades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4,3 días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17,3 días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20,785 veces al año</a:t>
            </a:r>
            <a:endParaRPr lang="es-CL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7071170" y="2038838"/>
                <a:ext cx="3164584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i="1" dirty="0">
                    <a:latin typeface="Arial" panose="020B0604020202020204" pitchFamily="34" charset="0"/>
                  </a:rPr>
                  <a:t>Q*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 / 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3 ( 1 − 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)</m:t>
                        </m:r>
                      </m:e>
                    </m:rad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170" y="2038838"/>
                <a:ext cx="3164584" cy="427746"/>
              </a:xfrm>
              <a:prstGeom prst="rect">
                <a:avLst/>
              </a:prstGeom>
              <a:blipFill rotWithShape="0">
                <a:blip r:embed="rId2"/>
                <a:stretch>
                  <a:fillRect l="-1734" b="-1690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/>
          <p:cNvSpPr/>
          <p:nvPr/>
        </p:nvSpPr>
        <p:spPr>
          <a:xfrm>
            <a:off x="7071170" y="2565982"/>
            <a:ext cx="29803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latin typeface="Arial" panose="020B0604020202020204" pitchFamily="34" charset="0"/>
              </a:rPr>
              <a:t>IM= t1(R-D) = Q (1 - D / R) </a:t>
            </a:r>
            <a:endParaRPr lang="es-C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7071170" y="2935314"/>
                <a:ext cx="4158446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i="1" dirty="0">
                    <a:latin typeface="Arial" panose="020B0604020202020204" pitchFamily="34" charset="0"/>
                  </a:rPr>
                  <a:t>CTT * = C1 D 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3 ( 1 − 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Arial" panose="020B0604020202020204" pitchFamily="34" charset="0"/>
                          </a:rPr>
                          <m:t>)</m:t>
                        </m:r>
                      </m:e>
                    </m:rad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170" y="2935314"/>
                <a:ext cx="4158446" cy="427746"/>
              </a:xfrm>
              <a:prstGeom prst="rect">
                <a:avLst/>
              </a:prstGeom>
              <a:blipFill rotWithShape="0">
                <a:blip r:embed="rId3"/>
                <a:stretch>
                  <a:fillRect l="-1320" b="-1857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/>
          <p:cNvSpPr/>
          <p:nvPr/>
        </p:nvSpPr>
        <p:spPr>
          <a:xfrm>
            <a:off x="7071170" y="3360469"/>
            <a:ext cx="1064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dirty="0" smtClean="0"/>
              <a:t>t1= </a:t>
            </a:r>
            <a:r>
              <a:rPr lang="es-CL" dirty="0"/>
              <a:t>Q/R </a:t>
            </a:r>
          </a:p>
        </p:txBody>
      </p:sp>
    </p:spTree>
    <p:extLst>
      <p:ext uri="{BB962C8B-B14F-4D97-AF65-F5344CB8AC3E}">
        <p14:creationId xmlns:p14="http://schemas.microsoft.com/office/powerpoint/2010/main" val="35478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953" y="2084832"/>
            <a:ext cx="5381625" cy="290512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 de compra </a:t>
            </a:r>
            <a:r>
              <a:rPr lang="es-CL" dirty="0" smtClean="0"/>
              <a:t>con </a:t>
            </a:r>
            <a:r>
              <a:rPr lang="es-CL" dirty="0" err="1"/>
              <a:t>dÉficit</a:t>
            </a:r>
            <a:endParaRPr lang="es-CL" dirty="0"/>
          </a:p>
        </p:txBody>
      </p:sp>
      <p:sp>
        <p:nvSpPr>
          <p:cNvPr id="3" name="Rectángulo 2"/>
          <p:cNvSpPr/>
          <p:nvPr/>
        </p:nvSpPr>
        <p:spPr>
          <a:xfrm>
            <a:off x="1024128" y="2084832"/>
            <a:ext cx="1020797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800" dirty="0"/>
              <a:t>Supuestos: </a:t>
            </a:r>
          </a:p>
          <a:p>
            <a:r>
              <a:rPr lang="es-CL" sz="2800" dirty="0"/>
              <a:t>Demanda se efectúa a tasa constante</a:t>
            </a:r>
          </a:p>
          <a:p>
            <a:r>
              <a:rPr lang="es-CL" sz="2800" dirty="0"/>
              <a:t>Reemplazo es instantáneo</a:t>
            </a:r>
          </a:p>
          <a:p>
            <a:r>
              <a:rPr lang="es-CL" sz="2800" dirty="0"/>
              <a:t>Costo no cambian en período T </a:t>
            </a:r>
          </a:p>
          <a:p>
            <a:endParaRPr lang="es-CL" sz="2800" dirty="0"/>
          </a:p>
          <a:p>
            <a:r>
              <a:rPr lang="es-CL" sz="2800" dirty="0"/>
              <a:t>donde: </a:t>
            </a:r>
          </a:p>
          <a:p>
            <a:r>
              <a:rPr lang="es-CL" sz="2800" dirty="0"/>
              <a:t>S, número unidades postergadas</a:t>
            </a:r>
          </a:p>
          <a:p>
            <a:r>
              <a:rPr lang="es-CL" sz="2800" dirty="0"/>
              <a:t>IM, inventario máximo = Q - S </a:t>
            </a:r>
          </a:p>
          <a:p>
            <a:r>
              <a:rPr lang="es-CL" sz="2800" dirty="0"/>
              <a:t>t2, tiempo de déficit = S / D (tiempo que se demora postergar S a una tasa D) </a:t>
            </a:r>
          </a:p>
        </p:txBody>
      </p:sp>
    </p:spTree>
    <p:extLst>
      <p:ext uri="{BB962C8B-B14F-4D97-AF65-F5344CB8AC3E}">
        <p14:creationId xmlns:p14="http://schemas.microsoft.com/office/powerpoint/2010/main" val="124013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1407495" y="0"/>
                <a:ext cx="9535235" cy="64751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s-CL" sz="1600" dirty="0" smtClea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r>
                  <a:rPr lang="es-CL" sz="3200" dirty="0"/>
                  <a:t>Costo por período t es: </a:t>
                </a:r>
              </a:p>
              <a:p>
                <a:r>
                  <a:rPr lang="de-DE" sz="3200" dirty="0"/>
                  <a:t>CTt = C1·Q +C2 + </a:t>
                </a:r>
                <a:r>
                  <a:rPr lang="de-DE" sz="3200" dirty="0" smtClean="0"/>
                  <a:t>C3·IM·(t1/2) </a:t>
                </a:r>
                <a:r>
                  <a:rPr lang="de-DE" sz="3200" dirty="0"/>
                  <a:t>+ C4· S </a:t>
                </a:r>
                <a:r>
                  <a:rPr lang="de-DE" sz="3200" dirty="0" smtClean="0"/>
                  <a:t>·(t2/2)</a:t>
                </a:r>
                <a:endParaRPr lang="de-DE" sz="3200" dirty="0"/>
              </a:p>
              <a:p>
                <a:r>
                  <a:rPr lang="es-CL" sz="3200" dirty="0"/>
                  <a:t>De semejanza de triángulos se tiene: </a:t>
                </a:r>
              </a:p>
              <a:p>
                <a:r>
                  <a:rPr lang="fr-FR" sz="3200" b="1" dirty="0" smtClean="0"/>
                  <a:t>t1 </a:t>
                </a:r>
                <a:r>
                  <a:rPr lang="fr-FR" sz="3200" b="1" dirty="0"/>
                  <a:t>= </a:t>
                </a:r>
                <a:r>
                  <a:rPr lang="fr-FR" sz="3200" b="1" dirty="0" err="1" smtClean="0"/>
                  <a:t>IM·t</a:t>
                </a:r>
                <a:r>
                  <a:rPr lang="fr-FR" sz="3200" b="1" dirty="0" smtClean="0"/>
                  <a:t>/Q    t2 </a:t>
                </a:r>
                <a:r>
                  <a:rPr lang="fr-FR" sz="3200" b="1" dirty="0"/>
                  <a:t>= </a:t>
                </a:r>
                <a:r>
                  <a:rPr lang="fr-FR" sz="3200" b="1" dirty="0" err="1" smtClean="0"/>
                  <a:t>S·t</a:t>
                </a:r>
                <a:r>
                  <a:rPr lang="fr-FR" sz="3200" b="1" dirty="0" smtClean="0"/>
                  <a:t>/Q </a:t>
                </a:r>
                <a:endParaRPr lang="fr-FR" sz="3200" b="1" dirty="0"/>
              </a:p>
              <a:p>
                <a:r>
                  <a:rPr lang="es-CL" sz="3200" dirty="0" err="1"/>
                  <a:t>CTt</a:t>
                </a:r>
                <a:r>
                  <a:rPr lang="es-CL" sz="3200" dirty="0"/>
                  <a:t> = C1·Q +C2 + C3·Im 2 t /2Q + C4· S 2 ·t/2Q </a:t>
                </a:r>
              </a:p>
              <a:p>
                <a:r>
                  <a:rPr lang="es-CL" sz="3200" dirty="0"/>
                  <a:t>Costo por período T es: </a:t>
                </a:r>
              </a:p>
              <a:p>
                <a:r>
                  <a:rPr lang="pt-BR" sz="3200" dirty="0"/>
                  <a:t>CTT = C1 D + C2 </a:t>
                </a:r>
                <a:r>
                  <a:rPr lang="pt-BR" sz="3200" dirty="0" smtClean="0"/>
                  <a:t>(D/Q)+ </a:t>
                </a:r>
                <a:r>
                  <a:rPr lang="pt-BR" sz="3200" dirty="0"/>
                  <a:t>C3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BR" sz="3200" dirty="0"/>
                          <m:t>(</m:t>
                        </m:r>
                        <m:r>
                          <m:rPr>
                            <m:nor/>
                          </m:rPr>
                          <a:rPr lang="pt-BR" sz="3200" dirty="0"/>
                          <m:t>Q</m:t>
                        </m:r>
                        <m:r>
                          <m:rPr>
                            <m:nor/>
                          </m:rPr>
                          <a:rPr lang="pt-BR" sz="3200" dirty="0"/>
                          <m:t>−</m:t>
                        </m:r>
                        <m:r>
                          <m:rPr>
                            <m:nor/>
                          </m:rPr>
                          <a:rPr lang="pt-BR" sz="3200" dirty="0"/>
                          <m:t>S</m:t>
                        </m:r>
                        <m:r>
                          <m:rPr>
                            <m:nor/>
                          </m:rPr>
                          <a:rPr lang="pt-BR" sz="3200" dirty="0"/>
                          <m:t>)</m:t>
                        </m:r>
                      </m:e>
                      <m:sup>
                        <m:r>
                          <a:rPr lang="es-CL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200" dirty="0" smtClean="0"/>
                  <a:t>/2Q</a:t>
                </a:r>
                <a:r>
                  <a:rPr lang="es-CL" sz="3200" dirty="0" smtClean="0"/>
                  <a:t>+ </a:t>
                </a:r>
                <a:r>
                  <a:rPr lang="es-CL" sz="3200" dirty="0"/>
                  <a:t>C4 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BR" sz="3200" dirty="0"/>
                          <m:t>S</m:t>
                        </m:r>
                      </m:e>
                      <m:sup>
                        <m:r>
                          <a:rPr lang="es-CL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L" sz="3200" dirty="0" smtClean="0"/>
                  <a:t>/2Q </a:t>
                </a:r>
                <a:endParaRPr lang="es-CL" sz="3200" dirty="0"/>
              </a:p>
              <a:p>
                <a:r>
                  <a:rPr lang="es-CL" sz="3200" dirty="0"/>
                  <a:t>d </a:t>
                </a:r>
                <a:r>
                  <a:rPr lang="es-CL" sz="3200" dirty="0" smtClean="0"/>
                  <a:t>CTT/</a:t>
                </a:r>
                <a:r>
                  <a:rPr lang="es-CL" sz="3200" dirty="0" err="1" smtClean="0"/>
                  <a:t>dS</a:t>
                </a:r>
                <a:r>
                  <a:rPr lang="es-CL" sz="3200" dirty="0" smtClean="0"/>
                  <a:t> </a:t>
                </a:r>
                <a:r>
                  <a:rPr lang="es-CL" sz="3200" dirty="0"/>
                  <a:t>= 0 =&gt; </a:t>
                </a:r>
                <a:r>
                  <a:rPr lang="es-CL" sz="3200" b="1" dirty="0"/>
                  <a:t>S* = Q* </a:t>
                </a:r>
                <a:r>
                  <a:rPr lang="es-CL" sz="3200" b="1" dirty="0" smtClean="0"/>
                  <a:t>C3/(C3+C4) </a:t>
                </a:r>
                <a:endParaRPr lang="es-CL" sz="3200" b="1" dirty="0"/>
              </a:p>
              <a:p>
                <a:r>
                  <a:rPr lang="fr-FR" sz="3200" dirty="0"/>
                  <a:t>CTT = C1 D + C2 D / Q + C3·C4·Q / 2(C3+C4) </a:t>
                </a:r>
              </a:p>
              <a:p>
                <a:r>
                  <a:rPr lang="es-CL" sz="3200" dirty="0"/>
                  <a:t>d CTT / </a:t>
                </a:r>
                <a:r>
                  <a:rPr lang="es-CL" sz="3200" dirty="0" err="1"/>
                  <a:t>dQ</a:t>
                </a:r>
                <a:r>
                  <a:rPr lang="es-CL" sz="3200" dirty="0"/>
                  <a:t> = 0 =&gt; </a:t>
                </a:r>
                <a:r>
                  <a:rPr lang="fr-FR" sz="3200" b="1" dirty="0" smtClean="0"/>
                  <a:t>Q</a:t>
                </a:r>
                <a:r>
                  <a:rPr lang="fr-FR" sz="3200" b="1" dirty="0"/>
                  <a:t>*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r-FR" sz="32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fr-FR" sz="3200" b="1" dirty="0"/>
                          <m:t>2 </m:t>
                        </m:r>
                        <m:r>
                          <m:rPr>
                            <m:nor/>
                          </m:rPr>
                          <a:rPr lang="fr-FR" sz="3200" b="1" dirty="0"/>
                          <m:t>C</m:t>
                        </m:r>
                        <m:r>
                          <m:rPr>
                            <m:nor/>
                          </m:rPr>
                          <a:rPr lang="fr-FR" sz="3200" b="1" dirty="0"/>
                          <m:t>2·</m:t>
                        </m:r>
                        <m:r>
                          <m:rPr>
                            <m:nor/>
                          </m:rPr>
                          <a:rPr lang="fr-FR" sz="3200" b="1" dirty="0"/>
                          <m:t>D</m:t>
                        </m:r>
                        <m:r>
                          <m:rPr>
                            <m:nor/>
                          </m:rPr>
                          <a:rPr lang="fr-FR" sz="3200" b="1" dirty="0"/>
                          <m:t> (</m:t>
                        </m:r>
                        <m:r>
                          <m:rPr>
                            <m:nor/>
                          </m:rPr>
                          <a:rPr lang="fr-FR" sz="3200" b="1" dirty="0"/>
                          <m:t>C</m:t>
                        </m:r>
                        <m:r>
                          <m:rPr>
                            <m:nor/>
                          </m:rPr>
                          <a:rPr lang="fr-FR" sz="3200" b="1" dirty="0"/>
                          <m:t>3+</m:t>
                        </m:r>
                        <m:r>
                          <m:rPr>
                            <m:nor/>
                          </m:rPr>
                          <a:rPr lang="fr-FR" sz="3200" b="1" dirty="0"/>
                          <m:t>C</m:t>
                        </m:r>
                        <m:r>
                          <m:rPr>
                            <m:nor/>
                          </m:rPr>
                          <a:rPr lang="fr-FR" sz="3200" b="1" dirty="0"/>
                          <m:t>4) / </m:t>
                        </m:r>
                        <m:r>
                          <m:rPr>
                            <m:nor/>
                          </m:rPr>
                          <a:rPr lang="es-CL" sz="3200" b="1" i="0" dirty="0" smtClean="0"/>
                          <m:t>(</m:t>
                        </m:r>
                        <m:r>
                          <m:rPr>
                            <m:nor/>
                          </m:rPr>
                          <a:rPr lang="fr-FR" sz="3200" b="1" dirty="0"/>
                          <m:t>C</m:t>
                        </m:r>
                        <m:r>
                          <m:rPr>
                            <m:nor/>
                          </m:rPr>
                          <a:rPr lang="fr-FR" sz="3200" b="1" dirty="0"/>
                          <m:t>3·</m:t>
                        </m:r>
                        <m:r>
                          <m:rPr>
                            <m:nor/>
                          </m:rPr>
                          <a:rPr lang="fr-FR" sz="3200" b="1" dirty="0"/>
                          <m:t>C</m:t>
                        </m:r>
                        <m:r>
                          <m:rPr>
                            <m:nor/>
                          </m:rPr>
                          <a:rPr lang="fr-FR" sz="3200" b="1" dirty="0"/>
                          <m:t>4</m:t>
                        </m:r>
                        <m:r>
                          <m:rPr>
                            <m:nor/>
                          </m:rPr>
                          <a:rPr lang="es-CL" sz="3200" b="1" i="0" dirty="0" smtClean="0"/>
                          <m:t>)</m:t>
                        </m:r>
                      </m:e>
                    </m:rad>
                  </m:oMath>
                </a14:m>
                <a:endParaRPr lang="fr-FR" sz="3200" b="1" dirty="0"/>
              </a:p>
              <a:p>
                <a:r>
                  <a:rPr lang="fr-FR" sz="3200" dirty="0"/>
                  <a:t>CTT* = C1 D + C2 </a:t>
                </a:r>
                <a:r>
                  <a:rPr lang="fr-FR" sz="3200" dirty="0" smtClean="0"/>
                  <a:t>D/Q</a:t>
                </a:r>
                <a:r>
                  <a:rPr lang="fr-FR" sz="3200" dirty="0"/>
                  <a:t>* + C3·C4·Q* / 2(C3+C4) </a:t>
                </a:r>
              </a:p>
              <a:p>
                <a:r>
                  <a:rPr lang="es-CL" sz="3200" b="1" dirty="0"/>
                  <a:t>CTT* = C1 D 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CL" sz="32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s-CL" sz="3200" b="1" dirty="0"/>
                          <m:t>2 </m:t>
                        </m:r>
                        <m:r>
                          <m:rPr>
                            <m:nor/>
                          </m:rPr>
                          <a:rPr lang="es-CL" sz="3200" b="1" dirty="0"/>
                          <m:t>C</m:t>
                        </m:r>
                        <m:r>
                          <m:rPr>
                            <m:nor/>
                          </m:rPr>
                          <a:rPr lang="es-CL" sz="3200" b="1" dirty="0"/>
                          <m:t>2·</m:t>
                        </m:r>
                        <m:r>
                          <m:rPr>
                            <m:nor/>
                          </m:rPr>
                          <a:rPr lang="es-CL" sz="3200" b="1" dirty="0"/>
                          <m:t>C</m:t>
                        </m:r>
                        <m:r>
                          <m:rPr>
                            <m:nor/>
                          </m:rPr>
                          <a:rPr lang="es-CL" sz="3200" b="1" dirty="0"/>
                          <m:t>3·</m:t>
                        </m:r>
                        <m:r>
                          <m:rPr>
                            <m:nor/>
                          </m:rPr>
                          <a:rPr lang="es-CL" sz="3200" b="1" dirty="0"/>
                          <m:t>D</m:t>
                        </m:r>
                        <m:r>
                          <m:rPr>
                            <m:nor/>
                          </m:rPr>
                          <a:rPr lang="es-CL" sz="3200" b="1" dirty="0"/>
                          <m:t>·</m:t>
                        </m:r>
                        <m:r>
                          <m:rPr>
                            <m:nor/>
                          </m:rPr>
                          <a:rPr lang="es-CL" sz="3200" b="1" dirty="0"/>
                          <m:t>C</m:t>
                        </m:r>
                        <m:r>
                          <m:rPr>
                            <m:nor/>
                          </m:rPr>
                          <a:rPr lang="es-CL" sz="3200" b="1" dirty="0"/>
                          <m:t>4/ (</m:t>
                        </m:r>
                        <m:r>
                          <m:rPr>
                            <m:nor/>
                          </m:rPr>
                          <a:rPr lang="es-CL" sz="3200" b="1" dirty="0"/>
                          <m:t>C</m:t>
                        </m:r>
                        <m:r>
                          <m:rPr>
                            <m:nor/>
                          </m:rPr>
                          <a:rPr lang="es-CL" sz="3200" b="1" dirty="0"/>
                          <m:t>3+</m:t>
                        </m:r>
                        <m:r>
                          <m:rPr>
                            <m:nor/>
                          </m:rPr>
                          <a:rPr lang="es-CL" sz="3200" b="1" dirty="0"/>
                          <m:t>C</m:t>
                        </m:r>
                        <m:r>
                          <m:rPr>
                            <m:nor/>
                          </m:rPr>
                          <a:rPr lang="es-CL" sz="3200" b="1" dirty="0"/>
                          <m:t>4)  </m:t>
                        </m:r>
                      </m:e>
                    </m:rad>
                  </m:oMath>
                </a14:m>
                <a:endParaRPr lang="es-CL" sz="3200" b="1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495" y="0"/>
                <a:ext cx="9535235" cy="6475106"/>
              </a:xfrm>
              <a:prstGeom prst="rect">
                <a:avLst/>
              </a:prstGeom>
              <a:blipFill rotWithShape="0">
                <a:blip r:embed="rId2"/>
                <a:stretch>
                  <a:fillRect l="-1662" r="-767" b="-216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98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021976" y="685800"/>
            <a:ext cx="100987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La demanda de un articulo es de 1.000 unidades al mes, se permite déficit. Si el costo unitario es de $1,5 el costo de hacer una compra es de $600, el costo de tenencia de una unidad es de $2 por año y el costo de déficit es de $10 por unidad por año, determinar:</a:t>
            </a:r>
          </a:p>
          <a:p>
            <a:pPr marL="342900" indent="-342900">
              <a:buAutoNum type="alphaLcParenR"/>
            </a:pPr>
            <a:r>
              <a:rPr lang="es-CL" dirty="0" smtClean="0"/>
              <a:t>Cantidad optima que debe comprarse</a:t>
            </a:r>
          </a:p>
          <a:p>
            <a:pPr marL="342900" indent="-342900">
              <a:buAutoNum type="alphaLcParenR"/>
            </a:pPr>
            <a:r>
              <a:rPr lang="es-CL" dirty="0" smtClean="0"/>
              <a:t>Número optimo de unidades agotadas</a:t>
            </a:r>
          </a:p>
          <a:p>
            <a:pPr marL="342900" indent="-342900">
              <a:buAutoNum type="alphaLcParenR"/>
            </a:pPr>
            <a:r>
              <a:rPr lang="es-CL" dirty="0" smtClean="0"/>
              <a:t>CTT anual optimo</a:t>
            </a:r>
          </a:p>
          <a:p>
            <a:pPr marL="342900" indent="-342900">
              <a:buAutoNum type="alphaLcParenR"/>
            </a:pPr>
            <a:r>
              <a:rPr lang="es-CL" dirty="0" smtClean="0"/>
              <a:t>Número de pedidos por año, t tiempo entre pedidos</a:t>
            </a:r>
          </a:p>
          <a:p>
            <a:pPr marL="342900" indent="-342900">
              <a:buAutoNum type="alphaLcParenR"/>
            </a:pPr>
            <a:r>
              <a:rPr lang="es-CL" dirty="0" smtClean="0"/>
              <a:t>Duración de los déficit e IM</a:t>
            </a:r>
            <a:endParaRPr lang="es-CL" dirty="0"/>
          </a:p>
        </p:txBody>
      </p:sp>
      <p:sp>
        <p:nvSpPr>
          <p:cNvPr id="4" name="Rectángulo 3"/>
          <p:cNvSpPr/>
          <p:nvPr/>
        </p:nvSpPr>
        <p:spPr>
          <a:xfrm rot="10800000">
            <a:off x="7436223" y="4760259"/>
            <a:ext cx="346934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Q*=2.939,4 u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S*=490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CTT*=$22.899 al año</a:t>
            </a:r>
            <a:endParaRPr lang="es-CL" dirty="0">
              <a:solidFill>
                <a:srgbClr val="FF0000"/>
              </a:solidFill>
            </a:endParaRP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N=4,08 al año ; t=0,245 años</a:t>
            </a:r>
            <a:endParaRPr lang="es-CL" dirty="0">
              <a:solidFill>
                <a:srgbClr val="FF0000"/>
              </a:solidFill>
            </a:endParaRP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IM=2449 u</a:t>
            </a:r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7779803" y="3815834"/>
            <a:ext cx="2505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t1 = </a:t>
            </a:r>
            <a:r>
              <a:rPr lang="fr-FR" b="1" dirty="0" err="1"/>
              <a:t>IM·t</a:t>
            </a:r>
            <a:r>
              <a:rPr lang="fr-FR" b="1" dirty="0"/>
              <a:t>/Q    t2 = </a:t>
            </a:r>
            <a:r>
              <a:rPr lang="fr-FR" b="1" dirty="0" err="1"/>
              <a:t>S·t</a:t>
            </a:r>
            <a:r>
              <a:rPr lang="fr-FR" b="1" dirty="0"/>
              <a:t>/Q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7779803" y="3388088"/>
                <a:ext cx="3340915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b="1" dirty="0"/>
                  <a:t>Q*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fr-FR" b="1" dirty="0"/>
                          <m:t>2 </m:t>
                        </m:r>
                        <m:r>
                          <m:rPr>
                            <m:nor/>
                          </m:rPr>
                          <a:rPr lang="fr-FR" b="1" dirty="0"/>
                          <m:t>C</m:t>
                        </m:r>
                        <m:r>
                          <m:rPr>
                            <m:nor/>
                          </m:rPr>
                          <a:rPr lang="fr-FR" b="1" dirty="0"/>
                          <m:t>2·</m:t>
                        </m:r>
                        <m:r>
                          <m:rPr>
                            <m:nor/>
                          </m:rPr>
                          <a:rPr lang="fr-FR" b="1" dirty="0"/>
                          <m:t>D</m:t>
                        </m:r>
                        <m:r>
                          <m:rPr>
                            <m:nor/>
                          </m:rPr>
                          <a:rPr lang="fr-FR" b="1" dirty="0"/>
                          <m:t> (</m:t>
                        </m:r>
                        <m:r>
                          <m:rPr>
                            <m:nor/>
                          </m:rPr>
                          <a:rPr lang="fr-FR" b="1" dirty="0"/>
                          <m:t>C</m:t>
                        </m:r>
                        <m:r>
                          <m:rPr>
                            <m:nor/>
                          </m:rPr>
                          <a:rPr lang="fr-FR" b="1" dirty="0"/>
                          <m:t>3+</m:t>
                        </m:r>
                        <m:r>
                          <m:rPr>
                            <m:nor/>
                          </m:rPr>
                          <a:rPr lang="fr-FR" b="1" dirty="0"/>
                          <m:t>C</m:t>
                        </m:r>
                        <m:r>
                          <m:rPr>
                            <m:nor/>
                          </m:rPr>
                          <a:rPr lang="fr-FR" b="1" dirty="0"/>
                          <m:t>4) / </m:t>
                        </m:r>
                        <m:r>
                          <m:rPr>
                            <m:nor/>
                          </m:rPr>
                          <a:rPr lang="es-CL" b="1" dirty="0"/>
                          <m:t>(</m:t>
                        </m:r>
                        <m:r>
                          <m:rPr>
                            <m:nor/>
                          </m:rPr>
                          <a:rPr lang="fr-FR" b="1" dirty="0"/>
                          <m:t>C</m:t>
                        </m:r>
                        <m:r>
                          <m:rPr>
                            <m:nor/>
                          </m:rPr>
                          <a:rPr lang="fr-FR" b="1" dirty="0"/>
                          <m:t>3·</m:t>
                        </m:r>
                        <m:r>
                          <m:rPr>
                            <m:nor/>
                          </m:rPr>
                          <a:rPr lang="fr-FR" b="1" dirty="0"/>
                          <m:t>C</m:t>
                        </m:r>
                        <m:r>
                          <m:rPr>
                            <m:nor/>
                          </m:rPr>
                          <a:rPr lang="fr-FR" b="1" dirty="0"/>
                          <m:t>4</m:t>
                        </m:r>
                        <m:r>
                          <m:rPr>
                            <m:nor/>
                          </m:rPr>
                          <a:rPr lang="es-CL" b="1" dirty="0"/>
                          <m:t>)</m:t>
                        </m:r>
                      </m:e>
                    </m:rad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803" y="3388088"/>
                <a:ext cx="3340915" cy="427746"/>
              </a:xfrm>
              <a:prstGeom prst="rect">
                <a:avLst/>
              </a:prstGeom>
              <a:blipFill rotWithShape="0">
                <a:blip r:embed="rId2"/>
                <a:stretch>
                  <a:fillRect l="-1460" b="-2285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/>
          <p:cNvSpPr/>
          <p:nvPr/>
        </p:nvSpPr>
        <p:spPr>
          <a:xfrm>
            <a:off x="7779803" y="4185166"/>
            <a:ext cx="22124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b="1" dirty="0"/>
              <a:t>S* = Q* C3/(C3+C4) </a:t>
            </a:r>
            <a:endParaRPr lang="es-C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7779803" y="4443506"/>
                <a:ext cx="4179286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L" b="1" dirty="0"/>
                  <a:t>CTT* = C1 D 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CL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s-CL" b="1" dirty="0"/>
                          <m:t>2 </m:t>
                        </m:r>
                        <m:r>
                          <m:rPr>
                            <m:nor/>
                          </m:rPr>
                          <a:rPr lang="es-CL" b="1" dirty="0"/>
                          <m:t>C</m:t>
                        </m:r>
                        <m:r>
                          <m:rPr>
                            <m:nor/>
                          </m:rPr>
                          <a:rPr lang="es-CL" b="1" dirty="0"/>
                          <m:t>2·</m:t>
                        </m:r>
                        <m:r>
                          <m:rPr>
                            <m:nor/>
                          </m:rPr>
                          <a:rPr lang="es-CL" b="1" dirty="0"/>
                          <m:t>C</m:t>
                        </m:r>
                        <m:r>
                          <m:rPr>
                            <m:nor/>
                          </m:rPr>
                          <a:rPr lang="es-CL" b="1" dirty="0"/>
                          <m:t>3·</m:t>
                        </m:r>
                        <m:r>
                          <m:rPr>
                            <m:nor/>
                          </m:rPr>
                          <a:rPr lang="es-CL" b="1" dirty="0"/>
                          <m:t>D</m:t>
                        </m:r>
                        <m:r>
                          <m:rPr>
                            <m:nor/>
                          </m:rPr>
                          <a:rPr lang="es-CL" b="1" dirty="0"/>
                          <m:t>·</m:t>
                        </m:r>
                        <m:r>
                          <m:rPr>
                            <m:nor/>
                          </m:rPr>
                          <a:rPr lang="es-CL" b="1" dirty="0"/>
                          <m:t>C</m:t>
                        </m:r>
                        <m:r>
                          <m:rPr>
                            <m:nor/>
                          </m:rPr>
                          <a:rPr lang="es-CL" b="1" dirty="0"/>
                          <m:t>4/ (</m:t>
                        </m:r>
                        <m:r>
                          <m:rPr>
                            <m:nor/>
                          </m:rPr>
                          <a:rPr lang="es-CL" b="1" dirty="0"/>
                          <m:t>C</m:t>
                        </m:r>
                        <m:r>
                          <m:rPr>
                            <m:nor/>
                          </m:rPr>
                          <a:rPr lang="es-CL" b="1" dirty="0"/>
                          <m:t>3+</m:t>
                        </m:r>
                        <m:r>
                          <m:rPr>
                            <m:nor/>
                          </m:rPr>
                          <a:rPr lang="es-CL" b="1" dirty="0"/>
                          <m:t>C</m:t>
                        </m:r>
                        <m:r>
                          <m:rPr>
                            <m:nor/>
                          </m:rPr>
                          <a:rPr lang="es-CL" b="1" dirty="0"/>
                          <m:t>4)  </m:t>
                        </m:r>
                      </m:e>
                    </m:rad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803" y="4443506"/>
                <a:ext cx="4179286" cy="427746"/>
              </a:xfrm>
              <a:prstGeom prst="rect">
                <a:avLst/>
              </a:prstGeom>
              <a:blipFill rotWithShape="0">
                <a:blip r:embed="rId3"/>
                <a:stretch>
                  <a:fillRect l="-1166" b="-2285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/>
          <p:cNvSpPr/>
          <p:nvPr/>
        </p:nvSpPr>
        <p:spPr>
          <a:xfrm>
            <a:off x="7779803" y="3064854"/>
            <a:ext cx="25779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000" b="1" dirty="0" smtClean="0"/>
              <a:t>IM= </a:t>
            </a:r>
            <a:r>
              <a:rPr lang="es-CL" sz="2000" b="1" dirty="0"/>
              <a:t>Q </a:t>
            </a:r>
            <a:r>
              <a:rPr lang="es-CL" sz="2000" b="1" dirty="0" smtClean="0"/>
              <a:t>– S        t=Q/D </a:t>
            </a:r>
            <a:endParaRPr lang="es-CL" sz="2000" b="1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108" y="3203791"/>
            <a:ext cx="3975338" cy="340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9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821" y="1976718"/>
            <a:ext cx="5605043" cy="270481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148483"/>
            <a:ext cx="9720072" cy="1499616"/>
          </a:xfrm>
        </p:spPr>
        <p:txBody>
          <a:bodyPr/>
          <a:lstStyle/>
          <a:p>
            <a:r>
              <a:rPr lang="es-CL" dirty="0"/>
              <a:t>Modelo de </a:t>
            </a:r>
            <a:r>
              <a:rPr lang="es-CL" dirty="0" smtClean="0"/>
              <a:t>manufactura con </a:t>
            </a:r>
            <a:r>
              <a:rPr lang="es-CL" dirty="0" err="1" smtClean="0"/>
              <a:t>dÉficit</a:t>
            </a:r>
            <a:endParaRPr lang="es-CL" dirty="0"/>
          </a:p>
        </p:txBody>
      </p:sp>
      <p:sp>
        <p:nvSpPr>
          <p:cNvPr id="3" name="Rectángulo 2"/>
          <p:cNvSpPr/>
          <p:nvPr/>
        </p:nvSpPr>
        <p:spPr>
          <a:xfrm>
            <a:off x="1024127" y="1632002"/>
            <a:ext cx="1080848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400" dirty="0"/>
              <a:t>Supuestos: </a:t>
            </a:r>
            <a:endParaRPr lang="es-CL" sz="2400" dirty="0" smtClean="0"/>
          </a:p>
          <a:p>
            <a:r>
              <a:rPr lang="es-CL" sz="2400" dirty="0" smtClean="0"/>
              <a:t>Demanda se </a:t>
            </a:r>
            <a:r>
              <a:rPr lang="es-CL" sz="2400" dirty="0"/>
              <a:t>efectúa a tasa </a:t>
            </a:r>
            <a:r>
              <a:rPr lang="es-CL" sz="2400" dirty="0" smtClean="0"/>
              <a:t>constante</a:t>
            </a:r>
          </a:p>
          <a:p>
            <a:r>
              <a:rPr lang="es-CL" sz="2400" dirty="0" smtClean="0"/>
              <a:t>Costos </a:t>
            </a:r>
            <a:r>
              <a:rPr lang="es-CL" sz="2400" dirty="0"/>
              <a:t>no </a:t>
            </a:r>
            <a:r>
              <a:rPr lang="es-CL" sz="2400" dirty="0" smtClean="0"/>
              <a:t>se modifican en período </a:t>
            </a:r>
            <a:r>
              <a:rPr lang="es-CL" sz="2400" dirty="0"/>
              <a:t>T </a:t>
            </a:r>
            <a:endParaRPr lang="es-CL" sz="2400" dirty="0" smtClean="0"/>
          </a:p>
          <a:p>
            <a:endParaRPr lang="es-CL" sz="2400" dirty="0"/>
          </a:p>
          <a:p>
            <a:r>
              <a:rPr lang="es-CL" sz="2400" dirty="0" smtClean="0"/>
              <a:t>donde</a:t>
            </a:r>
            <a:r>
              <a:rPr lang="es-CL" sz="2400" dirty="0"/>
              <a:t>: </a:t>
            </a:r>
            <a:endParaRPr lang="es-CL" sz="2400" dirty="0" smtClean="0"/>
          </a:p>
          <a:p>
            <a:r>
              <a:rPr lang="es-CL" sz="2400" dirty="0" smtClean="0"/>
              <a:t>T, </a:t>
            </a:r>
            <a:r>
              <a:rPr lang="es-CL" sz="2400" dirty="0"/>
              <a:t>período a </a:t>
            </a:r>
            <a:r>
              <a:rPr lang="es-CL" sz="2400" dirty="0" smtClean="0"/>
              <a:t>planificar</a:t>
            </a:r>
          </a:p>
          <a:p>
            <a:r>
              <a:rPr lang="es-CL" sz="2400" dirty="0" smtClean="0"/>
              <a:t>R, </a:t>
            </a:r>
            <a:r>
              <a:rPr lang="es-CL" sz="2400" dirty="0"/>
              <a:t>tasa manufactura R &gt;&gt; </a:t>
            </a:r>
            <a:r>
              <a:rPr lang="es-CL" sz="2400" dirty="0" smtClean="0"/>
              <a:t>D</a:t>
            </a:r>
          </a:p>
          <a:p>
            <a:r>
              <a:rPr lang="es-CL" sz="2400" dirty="0" smtClean="0"/>
              <a:t>R – D, </a:t>
            </a:r>
            <a:r>
              <a:rPr lang="es-CL" sz="2400" dirty="0"/>
              <a:t>tasa </a:t>
            </a:r>
            <a:r>
              <a:rPr lang="es-CL" sz="2400" dirty="0" smtClean="0"/>
              <a:t>acumulación</a:t>
            </a:r>
          </a:p>
          <a:p>
            <a:r>
              <a:rPr lang="es-CL" sz="2400" dirty="0" smtClean="0"/>
              <a:t>IM, </a:t>
            </a:r>
            <a:r>
              <a:rPr lang="es-CL" sz="2400" dirty="0"/>
              <a:t>inventario </a:t>
            </a:r>
            <a:r>
              <a:rPr lang="es-CL" sz="2400" dirty="0" smtClean="0"/>
              <a:t>máximo</a:t>
            </a:r>
          </a:p>
          <a:p>
            <a:r>
              <a:rPr lang="es-CL" sz="2400" dirty="0" smtClean="0"/>
              <a:t>(</a:t>
            </a:r>
            <a:r>
              <a:rPr lang="es-CL" sz="2400" dirty="0"/>
              <a:t>t 1+ t 4</a:t>
            </a:r>
            <a:r>
              <a:rPr lang="es-CL" sz="2400" dirty="0" smtClean="0"/>
              <a:t>), </a:t>
            </a:r>
            <a:r>
              <a:rPr lang="es-CL" sz="2400" dirty="0"/>
              <a:t>tiempo manufactura = </a:t>
            </a:r>
            <a:r>
              <a:rPr lang="es-CL" sz="2400" dirty="0" smtClean="0"/>
              <a:t>Q/R</a:t>
            </a:r>
          </a:p>
          <a:p>
            <a:r>
              <a:rPr lang="es-CL" sz="2400" dirty="0" smtClean="0"/>
              <a:t>(</a:t>
            </a:r>
            <a:r>
              <a:rPr lang="es-CL" sz="2400" dirty="0"/>
              <a:t>t 3+ t 4</a:t>
            </a:r>
            <a:r>
              <a:rPr lang="es-CL" sz="2400" dirty="0" smtClean="0"/>
              <a:t>), </a:t>
            </a:r>
            <a:r>
              <a:rPr lang="es-CL" sz="2400" dirty="0"/>
              <a:t>tiempo déficit = S/D + </a:t>
            </a:r>
            <a:r>
              <a:rPr lang="es-CL" sz="2400" dirty="0" smtClean="0"/>
              <a:t>S/(</a:t>
            </a:r>
            <a:r>
              <a:rPr lang="es-CL" sz="2400" dirty="0"/>
              <a:t>R-D</a:t>
            </a:r>
            <a:r>
              <a:rPr lang="es-CL" sz="2400" dirty="0" smtClean="0"/>
              <a:t>)</a:t>
            </a:r>
          </a:p>
          <a:p>
            <a:r>
              <a:rPr lang="es-CL" sz="2400" dirty="0" smtClean="0"/>
              <a:t>(</a:t>
            </a:r>
            <a:r>
              <a:rPr lang="es-CL" sz="2400" dirty="0"/>
              <a:t>t 1+ t 2) = </a:t>
            </a:r>
            <a:r>
              <a:rPr lang="es-CL" sz="2400" dirty="0" smtClean="0"/>
              <a:t>IM/(</a:t>
            </a:r>
            <a:r>
              <a:rPr lang="es-CL" sz="2400" dirty="0"/>
              <a:t>R-D) + </a:t>
            </a:r>
            <a:r>
              <a:rPr lang="es-CL" sz="2400" dirty="0" smtClean="0"/>
              <a:t>IM/D </a:t>
            </a:r>
            <a:r>
              <a:rPr lang="es-CL" sz="2400" dirty="0"/>
              <a:t>(tiempo utilizado en formar </a:t>
            </a:r>
            <a:r>
              <a:rPr lang="es-CL" sz="2400" dirty="0" err="1"/>
              <a:t>Im</a:t>
            </a:r>
            <a:r>
              <a:rPr lang="es-CL" sz="2400" dirty="0"/>
              <a:t> a tasa (R-D) más el tiempo utilizado en gastar </a:t>
            </a:r>
            <a:r>
              <a:rPr lang="es-CL" sz="2400" dirty="0" smtClean="0"/>
              <a:t>IM </a:t>
            </a:r>
            <a:r>
              <a:rPr lang="es-CL" sz="2400" dirty="0"/>
              <a:t>unidades a tasa D) </a:t>
            </a:r>
          </a:p>
        </p:txBody>
      </p:sp>
    </p:spTree>
    <p:extLst>
      <p:ext uri="{BB962C8B-B14F-4D97-AF65-F5344CB8AC3E}">
        <p14:creationId xmlns:p14="http://schemas.microsoft.com/office/powerpoint/2010/main" val="146323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925905" y="174207"/>
            <a:ext cx="1072259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400" i="1" dirty="0" smtClean="0">
                <a:latin typeface="Arial" panose="020B0604020202020204" pitchFamily="34" charset="0"/>
              </a:rPr>
              <a:t>Costo </a:t>
            </a:r>
            <a:r>
              <a:rPr lang="es-CL" sz="2400" i="1" dirty="0">
                <a:latin typeface="Arial" panose="020B0604020202020204" pitchFamily="34" charset="0"/>
              </a:rPr>
              <a:t>por período t es: </a:t>
            </a:r>
            <a:endParaRPr lang="es-CL" sz="2400" dirty="0">
              <a:latin typeface="Arial" panose="020B0604020202020204" pitchFamily="34" charset="0"/>
            </a:endParaRPr>
          </a:p>
          <a:p>
            <a:r>
              <a:rPr lang="de-DE" sz="2000" b="1" i="1" dirty="0">
                <a:latin typeface="Arial" panose="020B0604020202020204" pitchFamily="34" charset="0"/>
              </a:rPr>
              <a:t>CTt = C1·Q +C2 + </a:t>
            </a:r>
            <a:r>
              <a:rPr lang="de-DE" sz="2000" b="1" i="1" dirty="0" smtClean="0">
                <a:latin typeface="Arial" panose="020B0604020202020204" pitchFamily="34" charset="0"/>
              </a:rPr>
              <a:t>C3·IM </a:t>
            </a:r>
            <a:r>
              <a:rPr lang="de-DE" sz="2000" b="1" i="1" dirty="0">
                <a:latin typeface="Arial" panose="020B0604020202020204" pitchFamily="34" charset="0"/>
              </a:rPr>
              <a:t>(t1+t2)/2 + C4·S·(t3+t4)/2 </a:t>
            </a:r>
            <a:endParaRPr lang="de-DE" sz="2000" b="1" i="1" dirty="0" smtClean="0">
              <a:latin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388" y="943648"/>
            <a:ext cx="7070019" cy="587152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Rectángulo 1"/>
          <p:cNvSpPr/>
          <p:nvPr/>
        </p:nvSpPr>
        <p:spPr>
          <a:xfrm>
            <a:off x="987389" y="1336572"/>
            <a:ext cx="2495400" cy="37651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/>
          <p:cNvSpPr/>
          <p:nvPr/>
        </p:nvSpPr>
        <p:spPr>
          <a:xfrm>
            <a:off x="1008529" y="575334"/>
            <a:ext cx="5889811" cy="37651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/>
          <p:cNvSpPr/>
          <p:nvPr/>
        </p:nvSpPr>
        <p:spPr>
          <a:xfrm>
            <a:off x="3274696" y="3506994"/>
            <a:ext cx="2520985" cy="68848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/>
          <p:cNvSpPr/>
          <p:nvPr/>
        </p:nvSpPr>
        <p:spPr>
          <a:xfrm>
            <a:off x="1008528" y="6400800"/>
            <a:ext cx="5997389" cy="42492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/>
          <p:cNvSpPr/>
          <p:nvPr/>
        </p:nvSpPr>
        <p:spPr>
          <a:xfrm>
            <a:off x="3089613" y="4964923"/>
            <a:ext cx="4967794" cy="44079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/>
          <p:cNvSpPr/>
          <p:nvPr/>
        </p:nvSpPr>
        <p:spPr>
          <a:xfrm>
            <a:off x="7041947" y="49217"/>
            <a:ext cx="518608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400" dirty="0"/>
              <a:t>Del ejercicio anterior suponer que el artículo se puede manufacturar a una tasa de 4.000 unidades al mes. Si el costo no varia, determinar:</a:t>
            </a:r>
          </a:p>
          <a:p>
            <a:pPr marL="342900" indent="-342900">
              <a:buAutoNum type="alphaLcParenR"/>
            </a:pPr>
            <a:r>
              <a:rPr lang="es-CL" sz="2400" dirty="0" err="1"/>
              <a:t>Cant</a:t>
            </a:r>
            <a:r>
              <a:rPr lang="es-CL" sz="2400" dirty="0"/>
              <a:t>. Optima a manufacturarse y numero optimo de unidades agotadas</a:t>
            </a:r>
          </a:p>
          <a:p>
            <a:pPr marL="342900" indent="-342900">
              <a:buAutoNum type="alphaLcParenR"/>
            </a:pPr>
            <a:r>
              <a:rPr lang="es-CL" sz="2400" dirty="0"/>
              <a:t>Costo total anual óptimo</a:t>
            </a:r>
          </a:p>
          <a:p>
            <a:pPr marL="342900" indent="-342900">
              <a:buAutoNum type="alphaLcParenR"/>
            </a:pPr>
            <a:r>
              <a:rPr lang="es-CL" sz="2400" dirty="0"/>
              <a:t>Número de tandas de producción</a:t>
            </a:r>
          </a:p>
          <a:p>
            <a:pPr marL="342900" indent="-342900">
              <a:buAutoNum type="alphaLcParenR"/>
            </a:pPr>
            <a:r>
              <a:rPr lang="es-CL" sz="2400" dirty="0"/>
              <a:t>Tiempo entre tandas de producción  y tiempo de fabricación</a:t>
            </a:r>
          </a:p>
          <a:p>
            <a:pPr marL="342900" indent="-342900">
              <a:buAutoNum type="alphaLcParenR"/>
            </a:pPr>
            <a:r>
              <a:rPr lang="es-CL" sz="2400" dirty="0"/>
              <a:t>Duración de los déficit e IM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8209337" y="5891843"/>
            <a:ext cx="40186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b="1" dirty="0"/>
              <a:t>(t 1+ t 4), tiempo manufactura = Q/R</a:t>
            </a:r>
          </a:p>
          <a:p>
            <a:r>
              <a:rPr lang="es-CL" b="1" dirty="0"/>
              <a:t>(t 3+ t 4), tiempo déficit = S/D + S/(R-D)</a:t>
            </a:r>
          </a:p>
          <a:p>
            <a:r>
              <a:rPr lang="es-CL" b="1" dirty="0"/>
              <a:t>(t 1+ t 2) = IM/(R-D) + IM/D</a:t>
            </a:r>
          </a:p>
        </p:txBody>
      </p:sp>
    </p:spTree>
    <p:extLst>
      <p:ext uri="{BB962C8B-B14F-4D97-AF65-F5344CB8AC3E}">
        <p14:creationId xmlns:p14="http://schemas.microsoft.com/office/powerpoint/2010/main" val="220241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887506" y="40345"/>
            <a:ext cx="101659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Del ejercicio anterior suponer que el artículo se puede manufacturar a una tasa de 4.000 unidades al mes. Si el costo no varia, determinar:</a:t>
            </a:r>
          </a:p>
          <a:p>
            <a:pPr marL="342900" indent="-342900">
              <a:buAutoNum type="alphaLcParenR"/>
            </a:pPr>
            <a:r>
              <a:rPr lang="es-CL" dirty="0" err="1" smtClean="0"/>
              <a:t>Cant</a:t>
            </a:r>
            <a:r>
              <a:rPr lang="es-CL" dirty="0" smtClean="0"/>
              <a:t>. Optima a manufacturarse y numero optimo de unidades agotadas</a:t>
            </a:r>
          </a:p>
          <a:p>
            <a:pPr marL="342900" indent="-342900">
              <a:buAutoNum type="alphaLcParenR"/>
            </a:pPr>
            <a:r>
              <a:rPr lang="es-CL" dirty="0" smtClean="0"/>
              <a:t>Costo total anual óptimo</a:t>
            </a:r>
          </a:p>
          <a:p>
            <a:pPr marL="342900" indent="-342900">
              <a:buAutoNum type="alphaLcParenR"/>
            </a:pPr>
            <a:r>
              <a:rPr lang="es-CL" dirty="0" smtClean="0"/>
              <a:t>Número de tandas de producción</a:t>
            </a:r>
          </a:p>
          <a:p>
            <a:pPr marL="342900" indent="-342900">
              <a:buAutoNum type="alphaLcParenR"/>
            </a:pPr>
            <a:r>
              <a:rPr lang="es-CL" dirty="0" smtClean="0"/>
              <a:t>Tiempo entre tandas de producción  y tiempo de fabricación</a:t>
            </a:r>
          </a:p>
          <a:p>
            <a:pPr marL="342900" indent="-342900">
              <a:buAutoNum type="alphaLcParenR"/>
            </a:pPr>
            <a:r>
              <a:rPr lang="es-CL" dirty="0" smtClean="0"/>
              <a:t>Duración de los déficit e IM</a:t>
            </a:r>
            <a:endParaRPr lang="es-CL" dirty="0"/>
          </a:p>
        </p:txBody>
      </p:sp>
      <p:sp>
        <p:nvSpPr>
          <p:cNvPr id="4" name="Rectángulo 3"/>
          <p:cNvSpPr/>
          <p:nvPr/>
        </p:nvSpPr>
        <p:spPr>
          <a:xfrm>
            <a:off x="7818345" y="4012287"/>
            <a:ext cx="398481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Q*= 3394 u    ; S*=424 u</a:t>
            </a:r>
            <a:endParaRPr lang="es-CL" dirty="0">
              <a:solidFill>
                <a:srgbClr val="FF0000"/>
              </a:solidFill>
            </a:endParaRP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CTT*= $22.242,6 al año</a:t>
            </a:r>
            <a:endParaRPr lang="es-CL" dirty="0">
              <a:solidFill>
                <a:srgbClr val="FF0000"/>
              </a:solidFill>
            </a:endParaRP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N=3,5 veces al año</a:t>
            </a:r>
            <a:endParaRPr lang="es-CL" dirty="0">
              <a:solidFill>
                <a:srgbClr val="FF0000"/>
              </a:solidFill>
            </a:endParaRP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t= 0,283 años  </a:t>
            </a:r>
            <a:r>
              <a:rPr lang="es-CL" dirty="0">
                <a:solidFill>
                  <a:srgbClr val="FF0000"/>
                </a:solidFill>
              </a:rPr>
              <a:t>y </a:t>
            </a:r>
            <a:r>
              <a:rPr lang="es-CL" dirty="0" smtClean="0">
                <a:solidFill>
                  <a:srgbClr val="FF0000"/>
                </a:solidFill>
              </a:rPr>
              <a:t>t1+t4=0,07 años</a:t>
            </a:r>
            <a:endParaRPr lang="es-CL" dirty="0">
              <a:solidFill>
                <a:srgbClr val="FF0000"/>
              </a:solidFill>
            </a:endParaRP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t3+t4=0,047 años</a:t>
            </a:r>
          </a:p>
          <a:p>
            <a:pPr marL="342900" indent="-342900">
              <a:buAutoNum type="alphaLcParenR"/>
            </a:pPr>
            <a:r>
              <a:rPr lang="es-CL" dirty="0" smtClean="0">
                <a:solidFill>
                  <a:srgbClr val="FF0000"/>
                </a:solidFill>
              </a:rPr>
              <a:t>IM= 2121,6</a:t>
            </a:r>
          </a:p>
          <a:p>
            <a:pPr marL="342900" indent="-342900">
              <a:buAutoNum type="alphaLcParenR"/>
            </a:pPr>
            <a:endParaRPr lang="es-C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34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815787" y="165820"/>
            <a:ext cx="11205883" cy="1870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CL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.- La 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compañía </a:t>
            </a:r>
            <a:r>
              <a:rPr lang="es-CL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Berom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distribuye un artículo, el cual compra a un proveedor a $1.424 por unidad. Además, se sabe que por colocar una orden de compra de dicho artículo se genera un costo de $1.250.000 y que por guardar unidades en almacén se causa un costo de mantenimiento de $2.400 mensuales por unidad. Si se sabe que se tiene un pedido de un cliente por 120.000 unidades para ser entregadas en los próximos 16 meses y que por cada unidad que no se entregue a tiempo se causa un costo de penalización de $20 por día, ¿cuál será la cantidad óptima de pedido si se sabe que la planta tiene que trabajar un mes de 30 días? Además se desea saber sus costos totales. </a:t>
            </a:r>
            <a:endParaRPr lang="es-C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08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842681" y="152900"/>
            <a:ext cx="11111753" cy="1870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L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2.- Una </a:t>
            </a:r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compañía fabrica guardapolvos para el mercado detallista del automóvil a un costo de $120.000. Las previsiones de demanda para el próximo año son de 1.000 unidades, con una demanda diaria media de 3 unidades. Sin embargo, el proceso de producción es más eficiente con 4 unidades por día. Así que la compañía produce 4 unidades por día, pero sólo utiliza 3 unidades diarias. El costo por realizar un pedido es de $100 y el costo de mantener una unidad en bodega es de $5 por unidad por año. ¿Cuál será la cantidad óptima de pedido?, ¿cuántos días trabaja la compañía? y ¿cuáles son sus costos totales?</a:t>
            </a:r>
            <a:endParaRPr lang="es-C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4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75314" y="177421"/>
            <a:ext cx="11435686" cy="4380931"/>
          </a:xfrm>
          <a:prstGeom prst="rect">
            <a:avLst/>
          </a:prstGeom>
          <a:pattFill prst="horzBrick">
            <a:fgClr>
              <a:srgbClr val="FFD243"/>
            </a:fgClr>
            <a:bgClr>
              <a:schemeClr val="bg1"/>
            </a:bgClr>
          </a:patt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5314" y="319899"/>
            <a:ext cx="8413844" cy="1463040"/>
          </a:xfrm>
        </p:spPr>
        <p:txBody>
          <a:bodyPr>
            <a:normAutofit fontScale="90000"/>
          </a:bodyPr>
          <a:lstStyle/>
          <a:p>
            <a:r>
              <a:rPr lang="es-CL" dirty="0" smtClean="0"/>
              <a:t>Modelos de inventario probabilístico, estático y con demanda constante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2054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929998" y="2487707"/>
            <a:ext cx="105000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CL" sz="1600" dirty="0">
              <a:solidFill>
                <a:srgbClr val="000000"/>
              </a:solidFill>
              <a:latin typeface="Constantia" panose="02030602050306030303" pitchFamily="18" charset="0"/>
            </a:endParaRPr>
          </a:p>
          <a:p>
            <a:r>
              <a:rPr lang="es-CL" sz="2800" dirty="0">
                <a:latin typeface="Constantia" panose="02030602050306030303" pitchFamily="18" charset="0"/>
              </a:rPr>
              <a:t>Si consideramos que la demanda es una variable aleatoria cuya probabilidad de ocurrencia se conoce, se tiene este tipo de modelo. 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089598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 de compra o manufactura sin déficit.</a:t>
            </a:r>
          </a:p>
        </p:txBody>
      </p:sp>
      <p:sp>
        <p:nvSpPr>
          <p:cNvPr id="3" name="Rectángulo 2"/>
          <p:cNvSpPr/>
          <p:nvPr/>
        </p:nvSpPr>
        <p:spPr>
          <a:xfrm>
            <a:off x="1024128" y="2084832"/>
            <a:ext cx="80391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dirty="0" smtClean="0"/>
              <a:t>Supuestos</a:t>
            </a:r>
            <a:r>
              <a:rPr lang="es-CL" sz="2000" dirty="0"/>
              <a:t>: </a:t>
            </a:r>
            <a:endParaRPr lang="es-CL" sz="2000" dirty="0" smtClean="0"/>
          </a:p>
          <a:p>
            <a:r>
              <a:rPr lang="es-CL" sz="2000" dirty="0" smtClean="0"/>
              <a:t>La demanda se efectúa </a:t>
            </a:r>
            <a:r>
              <a:rPr lang="es-CL" sz="2000" dirty="0"/>
              <a:t>a tasa </a:t>
            </a:r>
            <a:r>
              <a:rPr lang="es-CL" sz="2000" dirty="0" smtClean="0"/>
              <a:t>constante donde </a:t>
            </a:r>
            <a:r>
              <a:rPr lang="es-CL" sz="2000" dirty="0"/>
              <a:t>se conoce su valor esperado. </a:t>
            </a:r>
          </a:p>
          <a:p>
            <a:r>
              <a:rPr lang="es-CL" sz="2000" dirty="0"/>
              <a:t>Los costo se mantienen en período T. </a:t>
            </a:r>
          </a:p>
          <a:p>
            <a:r>
              <a:rPr lang="es-CL" sz="2000" dirty="0"/>
              <a:t>Se puede trabajar de dos formas: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1024128" y="3391916"/>
                <a:ext cx="9720072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L" sz="2000" b="1" dirty="0" smtClean="0">
                    <a:latin typeface="Constantia" panose="02030602050306030303" pitchFamily="18" charset="0"/>
                  </a:rPr>
                  <a:t>Sin </a:t>
                </a:r>
                <a:r>
                  <a:rPr lang="es-CL" sz="2000" b="1" dirty="0">
                    <a:latin typeface="Constantia" panose="02030602050306030303" pitchFamily="18" charset="0"/>
                  </a:rPr>
                  <a:t>inventario de seguridad: </a:t>
                </a:r>
                <a:endParaRPr lang="es-CL" sz="2000" dirty="0">
                  <a:latin typeface="Constantia" panose="02030602050306030303" pitchFamily="18" charset="0"/>
                </a:endParaRPr>
              </a:p>
              <a:p>
                <a:pPr marL="4394200"/>
                <a:r>
                  <a:rPr lang="es-CL" sz="2000" dirty="0"/>
                  <a:t>Se utilizan las fórmulas de los modelos de compra o manufactura sin déficit, pero reemplazando D por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s-CL" sz="2000" dirty="0" smtClean="0"/>
                  <a:t> </a:t>
                </a:r>
                <a:r>
                  <a:rPr lang="es-CL" sz="2000" dirty="0"/>
                  <a:t>, donde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L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s-CL" sz="2000" dirty="0" smtClean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CL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CL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CL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s-CL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L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L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CL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L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L" sz="20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</m:oMath>
                </a14:m>
                <a:endParaRPr lang="es-CL" sz="2000" dirty="0"/>
              </a:p>
              <a:p>
                <a:pPr marL="4394200"/>
                <a:r>
                  <a:rPr lang="es-CL" sz="2000" dirty="0"/>
                  <a:t>Se recomienda cuando la variación de la demanda es pequeña y se caracteriza por tener t y Q* fijos pero </a:t>
                </a:r>
                <a:r>
                  <a:rPr lang="es-CL" sz="2000" dirty="0" smtClean="0"/>
                  <a:t>IM (</a:t>
                </a:r>
                <a:r>
                  <a:rPr lang="es-CL" sz="2000" dirty="0" err="1" smtClean="0"/>
                  <a:t>inv.max</a:t>
                </a:r>
                <a:r>
                  <a:rPr lang="es-CL" sz="2000" dirty="0" smtClean="0"/>
                  <a:t>.) </a:t>
                </a:r>
                <a:r>
                  <a:rPr lang="es-CL" sz="2000" dirty="0"/>
                  <a:t>variable. </a:t>
                </a: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3391916"/>
                <a:ext cx="9720072" cy="2246769"/>
              </a:xfrm>
              <a:prstGeom prst="rect">
                <a:avLst/>
              </a:prstGeom>
              <a:blipFill rotWithShape="0">
                <a:blip r:embed="rId2"/>
                <a:stretch>
                  <a:fillRect l="-627" t="-1355" r="-376" b="-3794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853595"/>
            <a:ext cx="4314354" cy="260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2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3595501"/>
            <a:ext cx="5614988" cy="3159408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849189" y="626625"/>
            <a:ext cx="9349839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000" b="1" dirty="0" smtClean="0">
                <a:latin typeface="Constantia" panose="02030602050306030303" pitchFamily="18" charset="0"/>
              </a:rPr>
              <a:t>Con </a:t>
            </a:r>
            <a:r>
              <a:rPr lang="es-CL" sz="2000" b="1" dirty="0">
                <a:latin typeface="Constantia" panose="02030602050306030303" pitchFamily="18" charset="0"/>
              </a:rPr>
              <a:t>inventario de seguridad </a:t>
            </a:r>
            <a:r>
              <a:rPr lang="es-CL" sz="2000" dirty="0">
                <a:latin typeface="Constantia" panose="02030602050306030303" pitchFamily="18" charset="0"/>
              </a:rPr>
              <a:t>: </a:t>
            </a:r>
          </a:p>
          <a:p>
            <a:r>
              <a:rPr lang="es-CL" sz="2000" dirty="0">
                <a:latin typeface="Constantia" panose="02030602050306030303" pitchFamily="18" charset="0"/>
              </a:rPr>
              <a:t>En el método anterior puede ocurrir que en algún momento se tenga déficit, a pesar que el modelo no lo permite, para evitar esto se trabaja con stock de seguridad, el que se determina así: </a:t>
            </a:r>
          </a:p>
          <a:p>
            <a:pPr marL="985838" indent="-985838"/>
            <a:r>
              <a:rPr lang="es-CL" sz="2000" dirty="0">
                <a:latin typeface="Constantia" panose="02030602050306030303" pitchFamily="18" charset="0"/>
              </a:rPr>
              <a:t>Se calcula Q* y t, luego se determina la </a:t>
            </a:r>
            <a:r>
              <a:rPr lang="es-CL" sz="2000" dirty="0" smtClean="0">
                <a:latin typeface="Constantia" panose="02030602050306030303" pitchFamily="18" charset="0"/>
              </a:rPr>
              <a:t>demanda máxima en el periodo t </a:t>
            </a:r>
            <a:r>
              <a:rPr lang="es-CL" sz="2000" dirty="0">
                <a:latin typeface="Constantia" panose="02030602050306030303" pitchFamily="18" charset="0"/>
              </a:rPr>
              <a:t>( </a:t>
            </a:r>
            <a:r>
              <a:rPr lang="es-CL" sz="2000" dirty="0" err="1" smtClean="0">
                <a:latin typeface="Constantia" panose="02030602050306030303" pitchFamily="18" charset="0"/>
              </a:rPr>
              <a:t>Dmax·t</a:t>
            </a:r>
            <a:r>
              <a:rPr lang="es-CL" sz="2000" dirty="0" smtClean="0">
                <a:latin typeface="Constantia" panose="02030602050306030303" pitchFamily="18" charset="0"/>
              </a:rPr>
              <a:t> </a:t>
            </a:r>
            <a:r>
              <a:rPr lang="es-CL" sz="2000" dirty="0">
                <a:latin typeface="Constantia" panose="02030602050306030303" pitchFamily="18" charset="0"/>
              </a:rPr>
              <a:t>) , donde So = </a:t>
            </a:r>
            <a:r>
              <a:rPr lang="es-CL" sz="2000" dirty="0" smtClean="0">
                <a:latin typeface="Constantia" panose="02030602050306030303" pitchFamily="18" charset="0"/>
              </a:rPr>
              <a:t>t D </a:t>
            </a:r>
            <a:r>
              <a:rPr lang="es-CL" sz="2000" dirty="0" err="1">
                <a:latin typeface="Constantia" panose="02030602050306030303" pitchFamily="18" charset="0"/>
              </a:rPr>
              <a:t>máx</a:t>
            </a:r>
            <a:r>
              <a:rPr lang="es-CL" sz="2000" dirty="0">
                <a:latin typeface="Constantia" panose="02030602050306030303" pitchFamily="18" charset="0"/>
              </a:rPr>
              <a:t> - </a:t>
            </a:r>
            <a:r>
              <a:rPr lang="es-CL" sz="2000" dirty="0" smtClean="0">
                <a:latin typeface="Constantia" panose="02030602050306030303" pitchFamily="18" charset="0"/>
              </a:rPr>
              <a:t>Q*</a:t>
            </a:r>
          </a:p>
          <a:p>
            <a:pPr marL="985838"/>
            <a:r>
              <a:rPr lang="es-CL" sz="2000" dirty="0" smtClean="0">
                <a:latin typeface="Constantia" panose="02030602050306030303" pitchFamily="18" charset="0"/>
              </a:rPr>
              <a:t>IM=</a:t>
            </a:r>
            <a:r>
              <a:rPr lang="es-CL" sz="2000" dirty="0">
                <a:latin typeface="Constantia" panose="02030602050306030303" pitchFamily="18" charset="0"/>
              </a:rPr>
              <a:t> Q</a:t>
            </a:r>
            <a:r>
              <a:rPr lang="es-CL" sz="2000" dirty="0" smtClean="0">
                <a:latin typeface="Constantia" panose="02030602050306030303" pitchFamily="18" charset="0"/>
              </a:rPr>
              <a:t>* + So</a:t>
            </a:r>
          </a:p>
          <a:p>
            <a:pPr marL="985838"/>
            <a:r>
              <a:rPr lang="es-CL" sz="2000" dirty="0" smtClean="0">
                <a:latin typeface="Constantia" panose="02030602050306030303" pitchFamily="18" charset="0"/>
              </a:rPr>
              <a:t>CTT*= C1 D + C2 D/Q + C3  (</a:t>
            </a:r>
            <a:r>
              <a:rPr lang="es-CL" sz="2000" dirty="0" err="1" smtClean="0">
                <a:latin typeface="Constantia" panose="02030602050306030303" pitchFamily="18" charset="0"/>
              </a:rPr>
              <a:t>Q+So</a:t>
            </a:r>
            <a:r>
              <a:rPr lang="es-CL" sz="2000" dirty="0" smtClean="0">
                <a:latin typeface="Constantia" panose="02030602050306030303" pitchFamily="18" charset="0"/>
              </a:rPr>
              <a:t>)/</a:t>
            </a:r>
            <a:r>
              <a:rPr lang="es-CL" sz="2400" dirty="0" smtClean="0">
                <a:latin typeface="Constantia" panose="02030602050306030303" pitchFamily="18" charset="0"/>
              </a:rPr>
              <a:t>2 = </a:t>
            </a:r>
            <a:r>
              <a:rPr lang="es-CL" sz="2000" dirty="0">
                <a:latin typeface="Constantia" panose="02030602050306030303" pitchFamily="18" charset="0"/>
              </a:rPr>
              <a:t>C1 D + </a:t>
            </a:r>
            <a:r>
              <a:rPr lang="es-CL" sz="2000" dirty="0" smtClean="0">
                <a:latin typeface="Constantia" panose="02030602050306030303" pitchFamily="18" charset="0"/>
              </a:rPr>
              <a:t>CV*</a:t>
            </a:r>
          </a:p>
          <a:p>
            <a:endParaRPr lang="es-CL" sz="2000" dirty="0">
              <a:latin typeface="Constantia" panose="02030602050306030303" pitchFamily="18" charset="0"/>
            </a:endParaRPr>
          </a:p>
          <a:p>
            <a:r>
              <a:rPr lang="es-CL" sz="2000" dirty="0">
                <a:latin typeface="Constantia" panose="02030602050306030303" pitchFamily="18" charset="0"/>
              </a:rPr>
              <a:t>La política óptima es pedir lo que falte para completar </a:t>
            </a:r>
            <a:r>
              <a:rPr lang="es-CL" sz="2000" dirty="0" smtClean="0">
                <a:latin typeface="Constantia" panose="02030602050306030303" pitchFamily="18" charset="0"/>
              </a:rPr>
              <a:t>IM.</a:t>
            </a:r>
          </a:p>
          <a:p>
            <a:endParaRPr lang="es-CL" sz="2000" dirty="0">
              <a:latin typeface="Constantia" panose="02030602050306030303" pitchFamily="18" charset="0"/>
            </a:endParaRPr>
          </a:p>
          <a:p>
            <a:r>
              <a:rPr lang="es-CL" sz="2000" dirty="0">
                <a:latin typeface="Constantia" panose="02030602050306030303" pitchFamily="18" charset="0"/>
              </a:rPr>
              <a:t>Se recomienda cuando la </a:t>
            </a:r>
            <a:r>
              <a:rPr lang="es-CL" sz="2000" dirty="0" smtClean="0">
                <a:latin typeface="Constantia" panose="02030602050306030303" pitchFamily="18" charset="0"/>
              </a:rPr>
              <a:t>variación</a:t>
            </a:r>
          </a:p>
          <a:p>
            <a:r>
              <a:rPr lang="es-CL" sz="2000" dirty="0" smtClean="0">
                <a:latin typeface="Constantia" panose="02030602050306030303" pitchFamily="18" charset="0"/>
              </a:rPr>
              <a:t>de la demanda </a:t>
            </a:r>
            <a:r>
              <a:rPr lang="es-CL" sz="2000" dirty="0">
                <a:latin typeface="Constantia" panose="02030602050306030303" pitchFamily="18" charset="0"/>
              </a:rPr>
              <a:t>es grande y se </a:t>
            </a:r>
            <a:endParaRPr lang="es-CL" sz="2000" dirty="0" smtClean="0">
              <a:latin typeface="Constantia" panose="02030602050306030303" pitchFamily="18" charset="0"/>
            </a:endParaRPr>
          </a:p>
          <a:p>
            <a:r>
              <a:rPr lang="es-CL" sz="2000" dirty="0" smtClean="0">
                <a:latin typeface="Constantia" panose="02030602050306030303" pitchFamily="18" charset="0"/>
              </a:rPr>
              <a:t>caracteriza por </a:t>
            </a:r>
            <a:r>
              <a:rPr lang="es-CL" sz="2000" dirty="0">
                <a:latin typeface="Constantia" panose="02030602050306030303" pitchFamily="18" charset="0"/>
              </a:rPr>
              <a:t>tener t e </a:t>
            </a:r>
            <a:r>
              <a:rPr lang="es-CL" sz="2000" dirty="0" smtClean="0">
                <a:latin typeface="Constantia" panose="02030602050306030303" pitchFamily="18" charset="0"/>
              </a:rPr>
              <a:t>IM </a:t>
            </a:r>
            <a:r>
              <a:rPr lang="es-CL" sz="2000" dirty="0">
                <a:latin typeface="Constantia" panose="02030602050306030303" pitchFamily="18" charset="0"/>
              </a:rPr>
              <a:t>fijo, </a:t>
            </a:r>
            <a:endParaRPr lang="es-CL" sz="2000" dirty="0" smtClean="0">
              <a:latin typeface="Constantia" panose="02030602050306030303" pitchFamily="18" charset="0"/>
            </a:endParaRPr>
          </a:p>
          <a:p>
            <a:r>
              <a:rPr lang="es-CL" sz="2000" dirty="0" smtClean="0">
                <a:latin typeface="Constantia" panose="02030602050306030303" pitchFamily="18" charset="0"/>
              </a:rPr>
              <a:t>pero </a:t>
            </a:r>
            <a:r>
              <a:rPr lang="es-CL" sz="2000" dirty="0">
                <a:latin typeface="Constantia" panose="02030602050306030303" pitchFamily="18" charset="0"/>
              </a:rPr>
              <a:t>Q* variable. </a:t>
            </a:r>
            <a:endParaRPr lang="es-CL" sz="2000" dirty="0" smtClean="0">
              <a:latin typeface="Constantia" panose="02030602050306030303" pitchFamily="18" charset="0"/>
            </a:endParaRPr>
          </a:p>
          <a:p>
            <a:endParaRPr lang="es-CL" sz="2000" dirty="0">
              <a:latin typeface="Constantia" panose="02030602050306030303" pitchFamily="18" charset="0"/>
            </a:endParaRPr>
          </a:p>
          <a:p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65794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9703" y="205611"/>
            <a:ext cx="9720072" cy="11897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Ejemplo:</a:t>
            </a:r>
            <a:b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 costo por ordenar es de $160, el costo de almacenamiento es de 0,1 $/u/</a:t>
            </a:r>
            <a:r>
              <a:rPr lang="es-CL" sz="2000" cap="none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</a:t>
            </a: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la demanda tiene la siguiente distribución:</a:t>
            </a:r>
            <a:endParaRPr lang="es-CL" sz="20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571535"/>
              </p:ext>
            </p:extLst>
          </p:nvPr>
        </p:nvGraphicFramePr>
        <p:xfrm>
          <a:off x="3744738" y="1546076"/>
          <a:ext cx="446292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964"/>
                <a:gridCol w="838252"/>
                <a:gridCol w="1010130"/>
                <a:gridCol w="827583"/>
              </a:tblGrid>
              <a:tr h="370840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Demanda (</a:t>
                      </a:r>
                      <a:r>
                        <a:rPr lang="es-CL" b="1" dirty="0" err="1" smtClean="0">
                          <a:solidFill>
                            <a:schemeClr val="tx1"/>
                          </a:solidFill>
                        </a:rPr>
                        <a:t>sem</a:t>
                      </a:r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probabilidad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0,3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0,4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0,3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CuadroTexto 3"/>
          <p:cNvSpPr txBox="1"/>
          <p:nvPr/>
        </p:nvSpPr>
        <p:spPr>
          <a:xfrm>
            <a:off x="949703" y="2342649"/>
            <a:ext cx="6831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 smtClean="0"/>
              <a:t>Determine el lote económico óptimo y su costo variable asociado.</a:t>
            </a:r>
            <a:endParaRPr lang="es-CL" sz="2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41" y="2860787"/>
            <a:ext cx="2001460" cy="115938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190" y="3147142"/>
            <a:ext cx="4524711" cy="45770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348" y="3752509"/>
            <a:ext cx="5491723" cy="2788481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39" y="4258182"/>
            <a:ext cx="5386164" cy="188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 de compra con déficit, consumo instantáneo.</a:t>
            </a:r>
          </a:p>
        </p:txBody>
      </p:sp>
      <p:sp>
        <p:nvSpPr>
          <p:cNvPr id="3" name="Rectángulo 2"/>
          <p:cNvSpPr/>
          <p:nvPr/>
        </p:nvSpPr>
        <p:spPr>
          <a:xfrm>
            <a:off x="1024127" y="2084832"/>
            <a:ext cx="73361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 smtClean="0"/>
              <a:t>Supuestos</a:t>
            </a:r>
            <a:r>
              <a:rPr lang="es-CL" dirty="0"/>
              <a:t>: Demanda variable aleatoria que </a:t>
            </a:r>
            <a:r>
              <a:rPr lang="es-CL" dirty="0" smtClean="0"/>
              <a:t>se consume </a:t>
            </a:r>
            <a:r>
              <a:rPr lang="es-CL" dirty="0"/>
              <a:t>instantáneamente </a:t>
            </a:r>
          </a:p>
          <a:p>
            <a:r>
              <a:rPr lang="es-CL" dirty="0"/>
              <a:t>Los costo se mantienen en período T </a:t>
            </a:r>
          </a:p>
          <a:p>
            <a:r>
              <a:rPr lang="es-CL" dirty="0"/>
              <a:t>Hay revisión periódica (t conocido y fijo) </a:t>
            </a:r>
          </a:p>
          <a:p>
            <a:r>
              <a:rPr lang="es-CL" dirty="0"/>
              <a:t>Tasa Reaprovisionamiento instantáneo.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45" y="3164138"/>
            <a:ext cx="4852708" cy="3002781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546412" y="5109281"/>
            <a:ext cx="41551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MX" dirty="0"/>
              <a:t>Sea X variable aleatoria de la demanda</a:t>
            </a:r>
            <a:r>
              <a:rPr lang="es-MX" dirty="0" smtClean="0"/>
              <a:t>,</a:t>
            </a:r>
          </a:p>
          <a:p>
            <a:pPr algn="r"/>
            <a:r>
              <a:rPr lang="es-MX" dirty="0" smtClean="0"/>
              <a:t> </a:t>
            </a:r>
            <a:r>
              <a:rPr lang="es-MX" dirty="0"/>
              <a:t>I nivel de inventario </a:t>
            </a:r>
            <a:r>
              <a:rPr lang="es-MX" dirty="0" smtClean="0"/>
              <a:t>existente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738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88570" y="766671"/>
            <a:ext cx="10264239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 smtClean="0">
                <a:latin typeface="Arial" panose="020B0604020202020204" pitchFamily="34" charset="0"/>
              </a:rPr>
              <a:t>Sea </a:t>
            </a:r>
            <a:r>
              <a:rPr lang="es-CL" i="1" dirty="0">
                <a:latin typeface="Bell MT" panose="02020503060305020303" pitchFamily="18" charset="0"/>
              </a:rPr>
              <a:t>X</a:t>
            </a:r>
            <a:r>
              <a:rPr lang="es-CL" dirty="0">
                <a:latin typeface="Arial" panose="020B0604020202020204" pitchFamily="34" charset="0"/>
              </a:rPr>
              <a:t> variable aleatoria de la </a:t>
            </a:r>
            <a:r>
              <a:rPr lang="es-CL" dirty="0" smtClean="0">
                <a:latin typeface="Arial" panose="020B0604020202020204" pitchFamily="34" charset="0"/>
              </a:rPr>
              <a:t>demanda, </a:t>
            </a:r>
            <a:r>
              <a:rPr lang="es-CL" sz="2000" i="1" dirty="0" smtClean="0">
                <a:latin typeface="Bell MT" panose="02020503060305020303" pitchFamily="18" charset="0"/>
              </a:rPr>
              <a:t>I</a:t>
            </a:r>
            <a:r>
              <a:rPr lang="es-CL" dirty="0" smtClean="0">
                <a:latin typeface="Arial" panose="020B0604020202020204" pitchFamily="34" charset="0"/>
              </a:rPr>
              <a:t> </a:t>
            </a:r>
            <a:r>
              <a:rPr lang="es-CL" dirty="0">
                <a:latin typeface="Arial" panose="020B0604020202020204" pitchFamily="34" charset="0"/>
              </a:rPr>
              <a:t>nivel de inventario </a:t>
            </a:r>
            <a:r>
              <a:rPr lang="es-CL" dirty="0" smtClean="0">
                <a:latin typeface="Arial" panose="020B0604020202020204" pitchFamily="34" charset="0"/>
              </a:rPr>
              <a:t>existente,</a:t>
            </a:r>
            <a:r>
              <a:rPr lang="es-CL" i="1" dirty="0" smtClean="0">
                <a:latin typeface="Bell MT" panose="02020503060305020303" pitchFamily="18" charset="0"/>
              </a:rPr>
              <a:t> </a:t>
            </a:r>
            <a:r>
              <a:rPr lang="es-CL" dirty="0" smtClean="0">
                <a:latin typeface="Bell MT" panose="02020503060305020303" pitchFamily="18" charset="0"/>
              </a:rPr>
              <a:t>Y</a:t>
            </a:r>
            <a:r>
              <a:rPr lang="es-CL" i="1" dirty="0" smtClean="0">
                <a:latin typeface="Bell MT" panose="02020503060305020303" pitchFamily="18" charset="0"/>
              </a:rPr>
              <a:t> </a:t>
            </a:r>
            <a:r>
              <a:rPr lang="es-CL" dirty="0">
                <a:latin typeface="Arial" panose="020B0604020202020204" pitchFamily="34" charset="0"/>
              </a:rPr>
              <a:t>nivel óptimo de inventario. </a:t>
            </a:r>
          </a:p>
          <a:p>
            <a:r>
              <a:rPr lang="es-CL" dirty="0" smtClean="0">
                <a:latin typeface="Arial" panose="020B0604020202020204" pitchFamily="34" charset="0"/>
              </a:rPr>
              <a:t>Si </a:t>
            </a:r>
            <a:r>
              <a:rPr lang="es-CL" i="1" dirty="0" smtClean="0">
                <a:latin typeface="Bell MT" panose="02020503060305020303" pitchFamily="18" charset="0"/>
              </a:rPr>
              <a:t>X&lt;I</a:t>
            </a:r>
            <a:r>
              <a:rPr lang="es-CL" dirty="0" smtClean="0">
                <a:latin typeface="Arial" panose="020B0604020202020204" pitchFamily="34" charset="0"/>
              </a:rPr>
              <a:t>, el inventario final es &gt;0</a:t>
            </a:r>
          </a:p>
          <a:p>
            <a:r>
              <a:rPr lang="es-CL" dirty="0" smtClean="0">
                <a:latin typeface="Arial" panose="020B0604020202020204" pitchFamily="34" charset="0"/>
              </a:rPr>
              <a:t>Si </a:t>
            </a:r>
            <a:r>
              <a:rPr lang="es-CL" i="1" dirty="0" smtClean="0">
                <a:latin typeface="Bell MT" panose="02020503060305020303" pitchFamily="18" charset="0"/>
              </a:rPr>
              <a:t>X&gt;I</a:t>
            </a:r>
            <a:r>
              <a:rPr lang="es-CL" dirty="0" smtClean="0">
                <a:latin typeface="Arial" panose="020B0604020202020204" pitchFamily="34" charset="0"/>
              </a:rPr>
              <a:t>, el inventario final es &lt;0</a:t>
            </a:r>
          </a:p>
          <a:p>
            <a:endParaRPr lang="es-CL" dirty="0">
              <a:latin typeface="Arial" panose="020B0604020202020204" pitchFamily="34" charset="0"/>
            </a:endParaRPr>
          </a:p>
          <a:p>
            <a:r>
              <a:rPr lang="es-CL" dirty="0" smtClean="0">
                <a:latin typeface="Arial" panose="020B0604020202020204" pitchFamily="34" charset="0"/>
              </a:rPr>
              <a:t>Por lo tanto, existe costo de almacenamiento si </a:t>
            </a:r>
            <a:r>
              <a:rPr lang="es-CL" sz="2000" dirty="0" smtClean="0">
                <a:latin typeface="Bell MT" panose="02020503060305020303" pitchFamily="18" charset="0"/>
              </a:rPr>
              <a:t>Y</a:t>
            </a:r>
            <a:r>
              <a:rPr lang="es-CL" sz="2000" i="1" dirty="0" smtClean="0">
                <a:latin typeface="Bell MT" panose="02020503060305020303" pitchFamily="18" charset="0"/>
              </a:rPr>
              <a:t>&gt;X</a:t>
            </a:r>
            <a:r>
              <a:rPr lang="es-CL" dirty="0" smtClean="0">
                <a:latin typeface="Arial" panose="020B0604020202020204" pitchFamily="34" charset="0"/>
              </a:rPr>
              <a:t> y será C3(</a:t>
            </a:r>
            <a:r>
              <a:rPr lang="es-CL" sz="2000" dirty="0" smtClean="0">
                <a:latin typeface="Bell MT" panose="02020503060305020303" pitchFamily="18" charset="0"/>
              </a:rPr>
              <a:t>Y</a:t>
            </a:r>
            <a:r>
              <a:rPr lang="es-CL" sz="2000" i="1" dirty="0" smtClean="0">
                <a:latin typeface="Bell MT" panose="02020503060305020303" pitchFamily="18" charset="0"/>
              </a:rPr>
              <a:t>-X</a:t>
            </a:r>
            <a:r>
              <a:rPr lang="es-CL" dirty="0" smtClean="0">
                <a:latin typeface="Arial" panose="020B0604020202020204" pitchFamily="34" charset="0"/>
              </a:rPr>
              <a:t>), y existe costo de déficit si </a:t>
            </a:r>
            <a:r>
              <a:rPr lang="es-CL" dirty="0" smtClean="0">
                <a:latin typeface="Bell MT" panose="02020503060305020303" pitchFamily="18" charset="0"/>
              </a:rPr>
              <a:t>Y</a:t>
            </a:r>
            <a:r>
              <a:rPr lang="es-CL" i="1" dirty="0" smtClean="0">
                <a:latin typeface="Bell MT" panose="02020503060305020303" pitchFamily="18" charset="0"/>
              </a:rPr>
              <a:t>&lt;X </a:t>
            </a:r>
            <a:r>
              <a:rPr lang="es-CL" dirty="0" smtClean="0">
                <a:latin typeface="Arial" panose="020B0604020202020204" pitchFamily="34" charset="0"/>
              </a:rPr>
              <a:t>y será C4(</a:t>
            </a:r>
            <a:r>
              <a:rPr lang="es-CL" i="1" dirty="0" smtClean="0">
                <a:latin typeface="Bell MT" panose="02020503060305020303" pitchFamily="18" charset="0"/>
              </a:rPr>
              <a:t>X-</a:t>
            </a:r>
            <a:r>
              <a:rPr lang="es-CL" dirty="0" smtClean="0">
                <a:latin typeface="Bell MT" panose="02020503060305020303" pitchFamily="18" charset="0"/>
              </a:rPr>
              <a:t>Y</a:t>
            </a:r>
            <a:r>
              <a:rPr lang="es-CL" dirty="0" smtClean="0">
                <a:latin typeface="Arial" panose="020B0604020202020204" pitchFamily="34" charset="0"/>
              </a:rPr>
              <a:t>). El costo total esperado será:</a:t>
            </a:r>
          </a:p>
          <a:p>
            <a:r>
              <a:rPr lang="es-CL" dirty="0">
                <a:latin typeface="Arial" panose="020B0604020202020204" pitchFamily="34" charset="0"/>
              </a:rPr>
              <a:t>CTE = costo compra + costo almacenamiento + costo déficit. </a:t>
            </a:r>
          </a:p>
          <a:p>
            <a:endParaRPr lang="es-CL" dirty="0" smtClean="0"/>
          </a:p>
          <a:p>
            <a:r>
              <a:rPr lang="es-CL" dirty="0" smtClean="0"/>
              <a:t>Si la </a:t>
            </a:r>
            <a:r>
              <a:rPr lang="es-CL" b="1" dirty="0" smtClean="0"/>
              <a:t>variable es discreta</a:t>
            </a:r>
            <a:r>
              <a:rPr lang="es-CL" dirty="0" smtClean="0"/>
              <a:t> </a:t>
            </a:r>
            <a:r>
              <a:rPr lang="es-CL" dirty="0" smtClean="0">
                <a:latin typeface="Bell MT" panose="02020503060305020303" pitchFamily="18" charset="0"/>
              </a:rPr>
              <a:t>Y</a:t>
            </a:r>
            <a:r>
              <a:rPr lang="es-CL" dirty="0" smtClean="0"/>
              <a:t> </a:t>
            </a:r>
            <a:r>
              <a:rPr lang="es-CL" dirty="0" err="1" smtClean="0"/>
              <a:t>y</a:t>
            </a:r>
            <a:r>
              <a:rPr lang="es-CL" dirty="0" smtClean="0"/>
              <a:t> </a:t>
            </a:r>
            <a:r>
              <a:rPr lang="es-CL" b="1" dirty="0" smtClean="0">
                <a:latin typeface="Bell MT" panose="02020503060305020303" pitchFamily="18" charset="0"/>
              </a:rPr>
              <a:t>u</a:t>
            </a:r>
            <a:r>
              <a:rPr lang="es-CL" dirty="0" smtClean="0"/>
              <a:t> es la amplitud de intervalo, se tiene:</a:t>
            </a:r>
            <a:endParaRPr lang="es-CL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081" y="3629644"/>
            <a:ext cx="7191375" cy="70485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199408" y="4334494"/>
            <a:ext cx="64123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>
                <a:latin typeface="Bell MT" panose="02020503060305020303" pitchFamily="18" charset="0"/>
              </a:rPr>
              <a:t>Y </a:t>
            </a:r>
            <a:r>
              <a:rPr lang="es-CL" dirty="0" smtClean="0"/>
              <a:t>es óptimo si CTE(Y)&lt;=CTE(</a:t>
            </a:r>
            <a:r>
              <a:rPr lang="es-CL" dirty="0" smtClean="0">
                <a:latin typeface="Bell MT" panose="02020503060305020303" pitchFamily="18" charset="0"/>
              </a:rPr>
              <a:t>Y-u</a:t>
            </a:r>
            <a:r>
              <a:rPr lang="es-CL" dirty="0" smtClean="0"/>
              <a:t>)    i)</a:t>
            </a:r>
          </a:p>
          <a:p>
            <a:r>
              <a:rPr lang="es-CL" dirty="0" smtClean="0"/>
              <a:t>     y si           CTE(Y)&lt;=CTE(</a:t>
            </a:r>
            <a:r>
              <a:rPr lang="es-CL" dirty="0" err="1" smtClean="0">
                <a:latin typeface="Bell MT" panose="02020503060305020303" pitchFamily="18" charset="0"/>
              </a:rPr>
              <a:t>Y+u</a:t>
            </a:r>
            <a:r>
              <a:rPr lang="es-CL" dirty="0" smtClean="0"/>
              <a:t>)  ii)</a:t>
            </a:r>
          </a:p>
          <a:p>
            <a:endParaRPr lang="es-CL" dirty="0"/>
          </a:p>
          <a:p>
            <a:r>
              <a:rPr lang="es-CL" dirty="0" smtClean="0"/>
              <a:t>De  i)                                                                                   de ii)</a:t>
            </a:r>
            <a:endParaRPr lang="es-CL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349" y="5306236"/>
            <a:ext cx="3237937" cy="109536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741" y="5339221"/>
            <a:ext cx="2990669" cy="99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2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997527" y="902525"/>
            <a:ext cx="3409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Si la </a:t>
            </a:r>
            <a:r>
              <a:rPr lang="es-CL" b="1" dirty="0" smtClean="0"/>
              <a:t>variable es continua </a:t>
            </a:r>
            <a:r>
              <a:rPr lang="es-CL" dirty="0" smtClean="0"/>
              <a:t>se tiene:</a:t>
            </a:r>
            <a:endParaRPr lang="es-CL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93" y="1559254"/>
            <a:ext cx="8145359" cy="240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1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764" y="101124"/>
            <a:ext cx="9720072" cy="11897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Ejemplo 1:</a:t>
            </a:r>
            <a:b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 tipo de repuesto tiene consumo instantáneo y su costo es de 2 millones, el costo de almacenamiento es de 1 millón y el costo de déficit es de 4 millones. Determine la política óptima y su costo variable asociado, si la demanda mensual es la siguiente:</a:t>
            </a:r>
            <a:endParaRPr lang="es-CL" sz="20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277748"/>
              </p:ext>
            </p:extLst>
          </p:nvPr>
        </p:nvGraphicFramePr>
        <p:xfrm>
          <a:off x="1467224" y="1424346"/>
          <a:ext cx="8128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23775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Demanda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420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probabilidad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0,2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0,25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0,2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0,15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420">
                <a:tc>
                  <a:txBody>
                    <a:bodyPr/>
                    <a:lstStyle/>
                    <a:p>
                      <a:r>
                        <a:rPr lang="es-CL" b="1" dirty="0" err="1" smtClean="0">
                          <a:solidFill>
                            <a:schemeClr val="tx1"/>
                          </a:solidFill>
                        </a:rPr>
                        <a:t>Prob</a:t>
                      </a:r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. acumulada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0,3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0,55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0,75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0,9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204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862763" y="0"/>
            <a:ext cx="9720072" cy="118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Ejemplo 2:</a:t>
            </a:r>
            <a:b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 articulo tiene una demanda mensual </a:t>
            </a:r>
            <a:r>
              <a:rPr lang="es-CL" sz="2000" cap="none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contínua</a:t>
            </a: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dada por:</a:t>
            </a:r>
          </a:p>
          <a:p>
            <a:pPr>
              <a:lnSpc>
                <a:spcPct val="100000"/>
              </a:lnSpc>
            </a:pPr>
            <a:r>
              <a:rPr lang="es-CL" sz="20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1/1000   si 0 &lt;= x &lt;= 1000</a:t>
            </a:r>
          </a:p>
          <a:p>
            <a:pPr>
              <a:lnSpc>
                <a:spcPct val="100000"/>
              </a:lnSpc>
            </a:pPr>
            <a:r>
              <a:rPr lang="es-CL" sz="20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   0         si x  &gt;  1000   </a:t>
            </a:r>
            <a:endParaRPr lang="es-CL" sz="20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3579874" y="594898"/>
            <a:ext cx="1140043" cy="711439"/>
            <a:chOff x="3741239" y="4575906"/>
            <a:chExt cx="1140043" cy="711439"/>
          </a:xfrm>
        </p:grpSpPr>
        <p:sp>
          <p:nvSpPr>
            <p:cNvPr id="5" name="CuadroTexto 4"/>
            <p:cNvSpPr txBox="1"/>
            <p:nvPr/>
          </p:nvSpPr>
          <p:spPr>
            <a:xfrm>
              <a:off x="3741239" y="4801472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dirty="0" smtClean="0"/>
                <a:t>f(x)=</a:t>
              </a:r>
              <a:endParaRPr lang="es-CL" dirty="0"/>
            </a:p>
          </p:txBody>
        </p:sp>
        <p:sp>
          <p:nvSpPr>
            <p:cNvPr id="6" name="Abrir llave 5"/>
            <p:cNvSpPr/>
            <p:nvPr/>
          </p:nvSpPr>
          <p:spPr>
            <a:xfrm>
              <a:off x="4397188" y="4575906"/>
              <a:ext cx="484094" cy="711439"/>
            </a:xfrm>
            <a:prstGeom prst="leftBrace">
              <a:avLst>
                <a:gd name="adj1" fmla="val 27777"/>
                <a:gd name="adj2" fmla="val 4841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7" name="CuadroTexto 6"/>
          <p:cNvSpPr txBox="1"/>
          <p:nvPr/>
        </p:nvSpPr>
        <p:spPr>
          <a:xfrm>
            <a:off x="862763" y="1463030"/>
            <a:ext cx="9720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 smtClean="0"/>
              <a:t>Si el consumo es </a:t>
            </a:r>
            <a:r>
              <a:rPr lang="es-CL" sz="2000" dirty="0" err="1" smtClean="0"/>
              <a:t>instantaneo</a:t>
            </a:r>
            <a:r>
              <a:rPr lang="es-CL" sz="2000" dirty="0" smtClean="0"/>
              <a:t>, su costo unitario es de $50, el costo de almacenamiento es de 50 $/u/Mes y el costo de déficit es de 450 $/u/mes. Determine la política óptima y costo.</a:t>
            </a:r>
            <a:endParaRPr lang="es-CL" sz="20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460" y="80304"/>
            <a:ext cx="3271831" cy="96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6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 de compra con déficit, consumo uniforme.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024127" y="2084832"/>
            <a:ext cx="80367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 smtClean="0"/>
              <a:t>Supuestos</a:t>
            </a:r>
            <a:r>
              <a:rPr lang="es-CL" dirty="0"/>
              <a:t>: Demanda variable aleatoria que </a:t>
            </a:r>
            <a:r>
              <a:rPr lang="es-CL" dirty="0" smtClean="0"/>
              <a:t>se consume </a:t>
            </a:r>
            <a:r>
              <a:rPr lang="es-CL" dirty="0"/>
              <a:t>uniformemente </a:t>
            </a:r>
          </a:p>
          <a:p>
            <a:r>
              <a:rPr lang="es-CL" dirty="0"/>
              <a:t>Los costo se mantienen en período T </a:t>
            </a:r>
          </a:p>
          <a:p>
            <a:r>
              <a:rPr lang="es-CL" dirty="0"/>
              <a:t>Hay revisión periódica (t conocido y fijo) </a:t>
            </a:r>
          </a:p>
          <a:p>
            <a:r>
              <a:rPr lang="es-CL" dirty="0"/>
              <a:t>Tasa Reaprovisionamiento instantáneo.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330" y="3171188"/>
            <a:ext cx="5759021" cy="305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6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033153" y="641268"/>
            <a:ext cx="107471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Antes de tomar la decisión se puede saber si el nivel del inventario es positivo no. </a:t>
            </a:r>
          </a:p>
          <a:p>
            <a:r>
              <a:rPr lang="es-CL" dirty="0" smtClean="0"/>
              <a:t>Sea X variable aleatoria de la demanda, I el nivel de inventario existente e Y el nivel óptimo de inventario.</a:t>
            </a:r>
          </a:p>
          <a:p>
            <a:r>
              <a:rPr lang="es-CL" dirty="0" smtClean="0"/>
              <a:t>Si X&lt;I el inventario final es &gt;0, si X&gt;I, el inventario final es &lt;0. Por lo tanto, existe costo de almacenamiento si Y&gt;X y será C3(Y-X), y existe costo de déficit si Y&lt;X y será C4(X-Y).</a:t>
            </a:r>
          </a:p>
          <a:p>
            <a:endParaRPr lang="es-CL" dirty="0" smtClean="0"/>
          </a:p>
          <a:p>
            <a:r>
              <a:rPr lang="es-CL" dirty="0" smtClean="0"/>
              <a:t>Si la </a:t>
            </a:r>
            <a:r>
              <a:rPr lang="es-CL" b="1" dirty="0" smtClean="0"/>
              <a:t>variable es discreta </a:t>
            </a:r>
            <a:r>
              <a:rPr lang="es-CL" dirty="0" smtClean="0"/>
              <a:t>y </a:t>
            </a:r>
            <a:r>
              <a:rPr lang="es-CL" b="1" dirty="0" smtClean="0"/>
              <a:t>u</a:t>
            </a:r>
            <a:r>
              <a:rPr lang="es-CL" dirty="0" smtClean="0"/>
              <a:t> es la amplitud de intervalo, se tiene:</a:t>
            </a:r>
          </a:p>
          <a:p>
            <a:endParaRPr lang="es-CL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343" y="2406731"/>
            <a:ext cx="8243852" cy="82335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033153" y="3348836"/>
            <a:ext cx="64123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Y es óptimo si CTE(Y)&lt;=CTE(Y-u)    i)</a:t>
            </a:r>
          </a:p>
          <a:p>
            <a:r>
              <a:rPr lang="es-CL" dirty="0" smtClean="0"/>
              <a:t>Y     si            CTE(Y)&lt;=CTE(</a:t>
            </a:r>
            <a:r>
              <a:rPr lang="es-CL" dirty="0" err="1" smtClean="0"/>
              <a:t>Y+u</a:t>
            </a:r>
            <a:r>
              <a:rPr lang="es-CL" dirty="0" smtClean="0"/>
              <a:t>)  ii)</a:t>
            </a:r>
          </a:p>
          <a:p>
            <a:endParaRPr lang="es-CL" dirty="0"/>
          </a:p>
          <a:p>
            <a:r>
              <a:rPr lang="es-CL" dirty="0" smtClean="0"/>
              <a:t>De  i)                                                                                   de ii)</a:t>
            </a:r>
            <a:endParaRPr lang="es-CL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364" y="4549165"/>
            <a:ext cx="3952875" cy="69532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908" y="4549165"/>
            <a:ext cx="38481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5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033154" y="748146"/>
            <a:ext cx="3409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Si la </a:t>
            </a:r>
            <a:r>
              <a:rPr lang="es-CL" b="1" dirty="0" smtClean="0"/>
              <a:t>variable es continua </a:t>
            </a:r>
            <a:r>
              <a:rPr lang="es-CL" dirty="0" smtClean="0"/>
              <a:t>se tiene: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54" y="1345003"/>
            <a:ext cx="10557736" cy="106568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334" y="3420094"/>
            <a:ext cx="8372496" cy="964683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297955" y="4932516"/>
            <a:ext cx="82929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 smtClean="0">
                <a:latin typeface="Constantia" panose="02030602050306030303" pitchFamily="18" charset="0"/>
              </a:rPr>
              <a:t>Observación</a:t>
            </a:r>
            <a:r>
              <a:rPr lang="es-CL" dirty="0">
                <a:latin typeface="Constantia" panose="02030602050306030303" pitchFamily="18" charset="0"/>
              </a:rPr>
              <a:t>: Si no tiene c1, se trabaja con </a:t>
            </a:r>
            <a:r>
              <a:rPr lang="es-CL" smtClean="0">
                <a:latin typeface="Constantia" panose="02030602050306030303" pitchFamily="18" charset="0"/>
              </a:rPr>
              <a:t>c4</a:t>
            </a:r>
            <a:r>
              <a:rPr lang="es-CL" smtClean="0">
                <a:latin typeface="Constantia" panose="02030602050306030303" pitchFamily="18" charset="0"/>
              </a:rPr>
              <a:t>/(c3 </a:t>
            </a:r>
            <a:r>
              <a:rPr lang="es-CL" dirty="0">
                <a:latin typeface="Constantia" panose="02030602050306030303" pitchFamily="18" charset="0"/>
              </a:rPr>
              <a:t>+ </a:t>
            </a:r>
            <a:r>
              <a:rPr lang="es-CL">
                <a:latin typeface="Constantia" panose="02030602050306030303" pitchFamily="18" charset="0"/>
              </a:rPr>
              <a:t>c4 </a:t>
            </a:r>
            <a:r>
              <a:rPr lang="es-CL" smtClean="0">
                <a:latin typeface="Constantia" panose="02030602050306030303" pitchFamily="18" charset="0"/>
              </a:rPr>
              <a:t>)</a:t>
            </a:r>
            <a:endParaRPr lang="es-CL" dirty="0">
              <a:latin typeface="Constantia" panose="02030602050306030303" pitchFamily="18" charset="0"/>
            </a:endParaRPr>
          </a:p>
          <a:p>
            <a:r>
              <a:rPr lang="es-CL" dirty="0">
                <a:latin typeface="Constantia" panose="02030602050306030303" pitchFamily="18" charset="0"/>
              </a:rPr>
              <a:t>Si se tiene precio actual, precio futuro y </a:t>
            </a:r>
            <a:r>
              <a:rPr lang="es-CL" dirty="0" smtClean="0">
                <a:latin typeface="Constantia" panose="02030602050306030303" pitchFamily="18" charset="0"/>
              </a:rPr>
              <a:t>costo </a:t>
            </a:r>
            <a:r>
              <a:rPr lang="es-CL" dirty="0">
                <a:latin typeface="Constantia" panose="02030602050306030303" pitchFamily="18" charset="0"/>
              </a:rPr>
              <a:t>de almacenamiento se pueden </a:t>
            </a:r>
          </a:p>
          <a:p>
            <a:r>
              <a:rPr lang="es-CL" dirty="0">
                <a:latin typeface="Constantia" panose="02030602050306030303" pitchFamily="18" charset="0"/>
              </a:rPr>
              <a:t>utilizar las fórmulas anteriores asociando </a:t>
            </a:r>
            <a:r>
              <a:rPr lang="es-CL" dirty="0" smtClean="0">
                <a:latin typeface="Constantia" panose="02030602050306030303" pitchFamily="18" charset="0"/>
              </a:rPr>
              <a:t>las </a:t>
            </a:r>
            <a:r>
              <a:rPr lang="es-CL" dirty="0">
                <a:latin typeface="Constantia" panose="02030602050306030303" pitchFamily="18" charset="0"/>
              </a:rPr>
              <a:t>variables c1, c4 y c3 respectivamente.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1543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0" y="28538"/>
            <a:ext cx="9720072" cy="118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Ejemplo 1:</a:t>
            </a:r>
            <a:b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 tipo de repuesto tiene consumo uniforme y su costo es de 2 millones, el costo de almacenamiento es de 1 millón y el costo de déficit es de 4 millones. Determine la política óptima y su costo variable asociado, si la demanda mensual es la siguiente:</a:t>
            </a:r>
            <a:endParaRPr lang="es-CL" sz="20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913348"/>
              </p:ext>
            </p:extLst>
          </p:nvPr>
        </p:nvGraphicFramePr>
        <p:xfrm>
          <a:off x="111125" y="1306019"/>
          <a:ext cx="8128000" cy="3257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229646">
                <a:tc>
                  <a:txBody>
                    <a:bodyPr/>
                    <a:lstStyle/>
                    <a:p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(a)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(b)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(c)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(d)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7604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p(x)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err="1" smtClean="0">
                          <a:solidFill>
                            <a:schemeClr val="tx1"/>
                          </a:solidFill>
                        </a:rPr>
                        <a:t>y+u</a:t>
                      </a:r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/2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p(x)/x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(b)(c)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(a)+(d)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0,449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0,2245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0,3245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0,2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0,3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1,5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0,2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0,249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0,3735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0,6735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6304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0,25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0,55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2,5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0,125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0,124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0,31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0,86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0,2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0,75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3,5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0,0666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0,0573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0,2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0,95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0,15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0,9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0,0375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0,0198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0,0891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0,9891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5,5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0,02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0,000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s-CL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204" y="1541791"/>
            <a:ext cx="3077942" cy="54142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864" y="2106110"/>
            <a:ext cx="3131729" cy="60464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53792"/>
            <a:ext cx="7557247" cy="754781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710" y="1717612"/>
            <a:ext cx="742951" cy="60897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5013" y="1717612"/>
            <a:ext cx="714885" cy="608976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702011"/>
            <a:ext cx="5894725" cy="75473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4725" y="5895447"/>
            <a:ext cx="1998699" cy="367859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4204" y="2874435"/>
            <a:ext cx="1365203" cy="702483"/>
          </a:xfrm>
          <a:prstGeom prst="rect">
            <a:avLst/>
          </a:prstGeom>
        </p:spPr>
      </p:pic>
      <p:grpSp>
        <p:nvGrpSpPr>
          <p:cNvPr id="22" name="Grupo 21"/>
          <p:cNvGrpSpPr/>
          <p:nvPr/>
        </p:nvGrpSpPr>
        <p:grpSpPr>
          <a:xfrm>
            <a:off x="10112188" y="2807200"/>
            <a:ext cx="1129553" cy="830997"/>
            <a:chOff x="10165976" y="2807200"/>
            <a:chExt cx="1129553" cy="830997"/>
          </a:xfrm>
        </p:grpSpPr>
        <p:cxnSp>
          <p:nvCxnSpPr>
            <p:cNvPr id="16" name="Conector recto 15"/>
            <p:cNvCxnSpPr/>
            <p:nvPr/>
          </p:nvCxnSpPr>
          <p:spPr>
            <a:xfrm flipV="1">
              <a:off x="10165976" y="3227294"/>
              <a:ext cx="887506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uadroTexto 17"/>
            <p:cNvSpPr txBox="1"/>
            <p:nvPr/>
          </p:nvSpPr>
          <p:spPr>
            <a:xfrm>
              <a:off x="10179423" y="2807200"/>
              <a:ext cx="11161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400" dirty="0" smtClean="0"/>
                <a:t>4 – 2</a:t>
              </a:r>
            </a:p>
            <a:p>
              <a:r>
                <a:rPr lang="es-CL" sz="2400" dirty="0" smtClean="0"/>
                <a:t>1 + 4</a:t>
              </a:r>
              <a:endParaRPr lang="es-CL" sz="2400" dirty="0"/>
            </a:p>
          </p:txBody>
        </p:sp>
      </p:grpSp>
      <p:grpSp>
        <p:nvGrpSpPr>
          <p:cNvPr id="25" name="Grupo 24"/>
          <p:cNvGrpSpPr/>
          <p:nvPr/>
        </p:nvGrpSpPr>
        <p:grpSpPr>
          <a:xfrm>
            <a:off x="10999694" y="2874435"/>
            <a:ext cx="916252" cy="547380"/>
            <a:chOff x="10999694" y="2874435"/>
            <a:chExt cx="916252" cy="547380"/>
          </a:xfrm>
        </p:grpSpPr>
        <p:sp>
          <p:nvSpPr>
            <p:cNvPr id="23" name="CuadroTexto 22"/>
            <p:cNvSpPr txBox="1"/>
            <p:nvPr/>
          </p:nvSpPr>
          <p:spPr>
            <a:xfrm>
              <a:off x="10999694" y="305248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dirty="0" smtClean="0"/>
                <a:t>=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11255188" y="2874435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800" dirty="0" smtClean="0"/>
                <a:t>0,4</a:t>
              </a:r>
              <a:endParaRPr lang="es-CL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731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20758" y="155207"/>
            <a:ext cx="9720072" cy="118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Ejemplo 2:</a:t>
            </a:r>
            <a:b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 articulo tiene una demanda mensual </a:t>
            </a:r>
            <a:r>
              <a:rPr lang="es-CL" sz="2000" cap="none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contínua</a:t>
            </a: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dada por:</a:t>
            </a:r>
          </a:p>
          <a:p>
            <a:pPr>
              <a:lnSpc>
                <a:spcPct val="100000"/>
              </a:lnSpc>
            </a:pPr>
            <a:r>
              <a:rPr lang="es-CL" sz="20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1/1000   si 0 &lt;= x &lt;= 1000</a:t>
            </a:r>
          </a:p>
          <a:p>
            <a:pPr>
              <a:lnSpc>
                <a:spcPct val="100000"/>
              </a:lnSpc>
            </a:pPr>
            <a:r>
              <a:rPr lang="es-CL" sz="20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CL" sz="2000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0         si x  &gt;  1000   </a:t>
            </a:r>
            <a:endParaRPr lang="es-CL" sz="20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1468687" y="835760"/>
            <a:ext cx="1140043" cy="711439"/>
            <a:chOff x="3741239" y="4575906"/>
            <a:chExt cx="1140043" cy="711439"/>
          </a:xfrm>
        </p:grpSpPr>
        <p:sp>
          <p:nvSpPr>
            <p:cNvPr id="5" name="CuadroTexto 4"/>
            <p:cNvSpPr txBox="1"/>
            <p:nvPr/>
          </p:nvSpPr>
          <p:spPr>
            <a:xfrm>
              <a:off x="3741239" y="4801472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dirty="0" smtClean="0"/>
                <a:t>f(x)=</a:t>
              </a:r>
              <a:endParaRPr lang="es-CL" dirty="0"/>
            </a:p>
          </p:txBody>
        </p:sp>
        <p:sp>
          <p:nvSpPr>
            <p:cNvPr id="6" name="Abrir llave 5"/>
            <p:cNvSpPr/>
            <p:nvPr/>
          </p:nvSpPr>
          <p:spPr>
            <a:xfrm>
              <a:off x="4397188" y="4575906"/>
              <a:ext cx="484094" cy="711439"/>
            </a:xfrm>
            <a:prstGeom prst="leftBrace">
              <a:avLst>
                <a:gd name="adj1" fmla="val 27777"/>
                <a:gd name="adj2" fmla="val 4841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7" name="CuadroTexto 6"/>
          <p:cNvSpPr txBox="1"/>
          <p:nvPr/>
        </p:nvSpPr>
        <p:spPr>
          <a:xfrm>
            <a:off x="6463553" y="683283"/>
            <a:ext cx="57284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dirty="0" smtClean="0"/>
              <a:t>Si el consumo </a:t>
            </a:r>
            <a:r>
              <a:rPr lang="es-CL" sz="2000" dirty="0" smtClean="0"/>
              <a:t>UNIFORME, </a:t>
            </a:r>
            <a:r>
              <a:rPr lang="es-CL" sz="2000" dirty="0" smtClean="0"/>
              <a:t>su costo unitario es de $50, el costo de almacenamiento es de 50 $/u/Mes y el costo de déficit es de 450 $/u/mes. Determine la política óptima y costo.</a:t>
            </a:r>
            <a:endParaRPr lang="es-CL" sz="20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25" y="4823774"/>
            <a:ext cx="8222937" cy="83001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600" y="2253797"/>
            <a:ext cx="4010025" cy="752475"/>
          </a:xfrm>
          <a:prstGeom prst="rect">
            <a:avLst/>
          </a:prstGeom>
        </p:spPr>
      </p:pic>
      <p:grpSp>
        <p:nvGrpSpPr>
          <p:cNvPr id="19" name="Grupo 18"/>
          <p:cNvGrpSpPr/>
          <p:nvPr/>
        </p:nvGrpSpPr>
        <p:grpSpPr>
          <a:xfrm>
            <a:off x="5481645" y="2226942"/>
            <a:ext cx="4585574" cy="756800"/>
            <a:chOff x="5481645" y="2226942"/>
            <a:chExt cx="4585574" cy="756800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63408" y="2226942"/>
              <a:ext cx="3603811" cy="756800"/>
            </a:xfrm>
            <a:prstGeom prst="rect">
              <a:avLst/>
            </a:prstGeom>
          </p:spPr>
        </p:pic>
        <p:sp>
          <p:nvSpPr>
            <p:cNvPr id="12" name="Flecha derecha 11"/>
            <p:cNvSpPr/>
            <p:nvPr/>
          </p:nvSpPr>
          <p:spPr>
            <a:xfrm>
              <a:off x="5481645" y="2459750"/>
              <a:ext cx="811579" cy="31824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15" name="Imagen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600" y="3425107"/>
            <a:ext cx="3228974" cy="326159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746" y="3875558"/>
            <a:ext cx="3224475" cy="372678"/>
          </a:xfrm>
          <a:prstGeom prst="rect">
            <a:avLst/>
          </a:prstGeom>
        </p:spPr>
      </p:pic>
      <p:grpSp>
        <p:nvGrpSpPr>
          <p:cNvPr id="20" name="Grupo 19"/>
          <p:cNvGrpSpPr/>
          <p:nvPr/>
        </p:nvGrpSpPr>
        <p:grpSpPr>
          <a:xfrm>
            <a:off x="4806159" y="3169362"/>
            <a:ext cx="4811065" cy="1572250"/>
            <a:chOff x="4806159" y="3169362"/>
            <a:chExt cx="4811065" cy="1572250"/>
          </a:xfrm>
        </p:grpSpPr>
        <p:pic>
          <p:nvPicPr>
            <p:cNvPr id="14" name="Imagen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87434" y="3169362"/>
              <a:ext cx="3729790" cy="1572250"/>
            </a:xfrm>
            <a:prstGeom prst="rect">
              <a:avLst/>
            </a:prstGeom>
          </p:spPr>
        </p:pic>
        <p:sp>
          <p:nvSpPr>
            <p:cNvPr id="17" name="Flecha derecha 16"/>
            <p:cNvSpPr/>
            <p:nvPr/>
          </p:nvSpPr>
          <p:spPr>
            <a:xfrm>
              <a:off x="4806159" y="3712590"/>
              <a:ext cx="811579" cy="31824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18" name="Imagen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325" y="5775215"/>
            <a:ext cx="9983320" cy="6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2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 de compra con déficit, con devolución.</a:t>
            </a:r>
          </a:p>
        </p:txBody>
      </p:sp>
      <p:sp>
        <p:nvSpPr>
          <p:cNvPr id="3" name="Rectángulo 2"/>
          <p:cNvSpPr/>
          <p:nvPr/>
        </p:nvSpPr>
        <p:spPr>
          <a:xfrm>
            <a:off x="1024128" y="2084832"/>
            <a:ext cx="946457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400" dirty="0" smtClean="0">
                <a:latin typeface="Arial" panose="020B0604020202020204" pitchFamily="34" charset="0"/>
              </a:rPr>
              <a:t>Supuestos</a:t>
            </a:r>
            <a:r>
              <a:rPr lang="es-CL" sz="2400" dirty="0">
                <a:latin typeface="Arial" panose="020B0604020202020204" pitchFamily="34" charset="0"/>
              </a:rPr>
              <a:t>: </a:t>
            </a:r>
            <a:endParaRPr lang="es-CL" sz="2400" dirty="0" smtClean="0">
              <a:latin typeface="Arial" panose="020B0604020202020204" pitchFamily="34" charset="0"/>
            </a:endParaRPr>
          </a:p>
          <a:p>
            <a:r>
              <a:rPr lang="es-CL" sz="2400" dirty="0" smtClean="0">
                <a:latin typeface="Arial" panose="020B0604020202020204" pitchFamily="34" charset="0"/>
              </a:rPr>
              <a:t>Demanda </a:t>
            </a:r>
            <a:r>
              <a:rPr lang="es-CL" sz="2400" dirty="0">
                <a:latin typeface="Arial" panose="020B0604020202020204" pitchFamily="34" charset="0"/>
              </a:rPr>
              <a:t>variable aleatoria que se </a:t>
            </a:r>
            <a:r>
              <a:rPr lang="es-CL" sz="2400" dirty="0" smtClean="0">
                <a:latin typeface="Arial" panose="020B0604020202020204" pitchFamily="34" charset="0"/>
              </a:rPr>
              <a:t>consume </a:t>
            </a:r>
            <a:r>
              <a:rPr lang="es-CL" sz="2400" dirty="0">
                <a:latin typeface="Arial" panose="020B0604020202020204" pitchFamily="34" charset="0"/>
              </a:rPr>
              <a:t>instantáneamente </a:t>
            </a:r>
          </a:p>
          <a:p>
            <a:r>
              <a:rPr lang="es-CL" sz="2400" i="1" dirty="0">
                <a:latin typeface="Arial" panose="020B0604020202020204" pitchFamily="34" charset="0"/>
              </a:rPr>
              <a:t>Se conoce precio compra (pc), precio de </a:t>
            </a:r>
            <a:r>
              <a:rPr lang="es-CL" sz="2400" i="1" dirty="0" smtClean="0">
                <a:latin typeface="Arial" panose="020B0604020202020204" pitchFamily="34" charset="0"/>
              </a:rPr>
              <a:t>venta </a:t>
            </a:r>
            <a:r>
              <a:rPr lang="es-CL" sz="2400" i="1" dirty="0">
                <a:latin typeface="Arial" panose="020B0604020202020204" pitchFamily="34" charset="0"/>
              </a:rPr>
              <a:t>(</a:t>
            </a:r>
            <a:r>
              <a:rPr lang="es-CL" sz="2400" i="1" dirty="0" err="1">
                <a:latin typeface="Arial" panose="020B0604020202020204" pitchFamily="34" charset="0"/>
              </a:rPr>
              <a:t>pv</a:t>
            </a:r>
            <a:r>
              <a:rPr lang="es-CL" sz="2400" i="1" dirty="0">
                <a:latin typeface="Arial" panose="020B0604020202020204" pitchFamily="34" charset="0"/>
              </a:rPr>
              <a:t>) y precio de devolución (</a:t>
            </a:r>
            <a:r>
              <a:rPr lang="es-CL" sz="2400" i="1" dirty="0" err="1">
                <a:latin typeface="Arial" panose="020B0604020202020204" pitchFamily="34" charset="0"/>
              </a:rPr>
              <a:t>pd</a:t>
            </a:r>
            <a:r>
              <a:rPr lang="es-CL" sz="2400" i="1" dirty="0">
                <a:latin typeface="Arial" panose="020B0604020202020204" pitchFamily="34" charset="0"/>
              </a:rPr>
              <a:t>) . </a:t>
            </a:r>
            <a:endParaRPr lang="es-CL" sz="2400" dirty="0">
              <a:latin typeface="Arial" panose="020B0604020202020204" pitchFamily="34" charset="0"/>
            </a:endParaRPr>
          </a:p>
          <a:p>
            <a:r>
              <a:rPr lang="es-CL" sz="2400" dirty="0">
                <a:latin typeface="Arial" panose="020B0604020202020204" pitchFamily="34" charset="0"/>
              </a:rPr>
              <a:t>Tasa Reaprovisionamiento instantáneo. </a:t>
            </a:r>
          </a:p>
          <a:p>
            <a:r>
              <a:rPr lang="es-CL" sz="2400" dirty="0">
                <a:latin typeface="Arial" panose="020B0604020202020204" pitchFamily="34" charset="0"/>
              </a:rPr>
              <a:t>Sea X variable aleatoria de la </a:t>
            </a:r>
            <a:r>
              <a:rPr lang="es-CL" sz="2400" dirty="0" smtClean="0">
                <a:latin typeface="Arial" panose="020B0604020202020204" pitchFamily="34" charset="0"/>
              </a:rPr>
              <a:t>demanda, I el nivel de inventario existente e Y </a:t>
            </a:r>
            <a:r>
              <a:rPr lang="es-CL" sz="2400" dirty="0">
                <a:latin typeface="Arial" panose="020B0604020202020204" pitchFamily="34" charset="0"/>
              </a:rPr>
              <a:t>nivel óptimo de inventario (lo que se compra). </a:t>
            </a:r>
          </a:p>
          <a:p>
            <a:r>
              <a:rPr lang="es-CL" sz="2400" dirty="0">
                <a:latin typeface="Arial" panose="020B0604020202020204" pitchFamily="34" charset="0"/>
              </a:rPr>
              <a:t>UE la utilidad </a:t>
            </a:r>
            <a:r>
              <a:rPr lang="es-CL" sz="2400" dirty="0" smtClean="0">
                <a:latin typeface="Arial" panose="020B0604020202020204" pitchFamily="34" charset="0"/>
              </a:rPr>
              <a:t>esperada.</a:t>
            </a:r>
          </a:p>
          <a:p>
            <a:endParaRPr lang="es-CL" sz="2400" dirty="0">
              <a:latin typeface="Arial" panose="020B0604020202020204" pitchFamily="34" charset="0"/>
            </a:endParaRPr>
          </a:p>
          <a:p>
            <a:r>
              <a:rPr lang="es-CL" sz="2400" dirty="0">
                <a:latin typeface="Arial" panose="020B0604020202020204" pitchFamily="34" charset="0"/>
              </a:rPr>
              <a:t>Si </a:t>
            </a:r>
            <a:r>
              <a:rPr lang="es-CL" sz="2400" dirty="0" smtClean="0">
                <a:latin typeface="Arial" panose="020B0604020202020204" pitchFamily="34" charset="0"/>
              </a:rPr>
              <a:t>x&gt;I,  UE(Y) </a:t>
            </a:r>
            <a:r>
              <a:rPr lang="es-CL" sz="2400" dirty="0">
                <a:latin typeface="Arial" panose="020B0604020202020204" pitchFamily="34" charset="0"/>
              </a:rPr>
              <a:t>= </a:t>
            </a:r>
            <a:r>
              <a:rPr lang="es-CL" sz="2400" dirty="0" smtClean="0">
                <a:latin typeface="Arial" panose="020B0604020202020204" pitchFamily="34" charset="0"/>
              </a:rPr>
              <a:t>Y </a:t>
            </a:r>
            <a:r>
              <a:rPr lang="es-CL" sz="2400" dirty="0" err="1">
                <a:latin typeface="Arial" panose="020B0604020202020204" pitchFamily="34" charset="0"/>
              </a:rPr>
              <a:t>pv</a:t>
            </a:r>
            <a:r>
              <a:rPr lang="es-CL" sz="2400" dirty="0">
                <a:latin typeface="Arial" panose="020B0604020202020204" pitchFamily="34" charset="0"/>
              </a:rPr>
              <a:t> </a:t>
            </a:r>
            <a:r>
              <a:rPr lang="es-CL" sz="2400" dirty="0" smtClean="0">
                <a:latin typeface="Arial" panose="020B0604020202020204" pitchFamily="34" charset="0"/>
              </a:rPr>
              <a:t>– pc Y </a:t>
            </a:r>
            <a:endParaRPr lang="es-CL" sz="2400" dirty="0">
              <a:latin typeface="Arial" panose="020B0604020202020204" pitchFamily="34" charset="0"/>
            </a:endParaRPr>
          </a:p>
          <a:p>
            <a:r>
              <a:rPr lang="es-CL" sz="2400" dirty="0">
                <a:latin typeface="Arial" panose="020B0604020202020204" pitchFamily="34" charset="0"/>
              </a:rPr>
              <a:t>Si x &lt; I </a:t>
            </a:r>
            <a:r>
              <a:rPr lang="es-CL" sz="2400" dirty="0" smtClean="0">
                <a:latin typeface="Arial" panose="020B0604020202020204" pitchFamily="34" charset="0"/>
              </a:rPr>
              <a:t>UE(Y) </a:t>
            </a:r>
            <a:r>
              <a:rPr lang="es-CL" sz="2400" dirty="0">
                <a:latin typeface="Arial" panose="020B0604020202020204" pitchFamily="34" charset="0"/>
              </a:rPr>
              <a:t>= </a:t>
            </a:r>
            <a:r>
              <a:rPr lang="es-CL" sz="2400" dirty="0" smtClean="0">
                <a:latin typeface="Arial" panose="020B0604020202020204" pitchFamily="34" charset="0"/>
              </a:rPr>
              <a:t>X </a:t>
            </a:r>
            <a:r>
              <a:rPr lang="es-CL" sz="2400" dirty="0" err="1">
                <a:latin typeface="Arial" panose="020B0604020202020204" pitchFamily="34" charset="0"/>
              </a:rPr>
              <a:t>pv</a:t>
            </a:r>
            <a:r>
              <a:rPr lang="es-CL" sz="2400" dirty="0">
                <a:latin typeface="Arial" panose="020B0604020202020204" pitchFamily="34" charset="0"/>
              </a:rPr>
              <a:t> + </a:t>
            </a:r>
            <a:r>
              <a:rPr lang="es-CL" sz="2400" dirty="0" smtClean="0">
                <a:latin typeface="Arial" panose="020B0604020202020204" pitchFamily="34" charset="0"/>
              </a:rPr>
              <a:t>(Y-X) </a:t>
            </a:r>
            <a:r>
              <a:rPr lang="es-CL" sz="2400" dirty="0" err="1">
                <a:latin typeface="Arial" panose="020B0604020202020204" pitchFamily="34" charset="0"/>
              </a:rPr>
              <a:t>pd</a:t>
            </a:r>
            <a:r>
              <a:rPr lang="es-CL" sz="2400" dirty="0">
                <a:latin typeface="Arial" panose="020B0604020202020204" pitchFamily="34" charset="0"/>
              </a:rPr>
              <a:t> - pc </a:t>
            </a:r>
            <a:r>
              <a:rPr lang="es-CL" sz="2400" dirty="0" smtClean="0">
                <a:latin typeface="Arial" panose="020B0604020202020204" pitchFamily="34" charset="0"/>
              </a:rPr>
              <a:t>Y</a:t>
            </a:r>
          </a:p>
          <a:p>
            <a:endParaRPr lang="es-CL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77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836687" y="1099319"/>
            <a:ext cx="7321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 smtClean="0"/>
              <a:t>Y es óptimo si EU(Y)&gt;=UE(Y-u)</a:t>
            </a:r>
          </a:p>
          <a:p>
            <a:r>
              <a:rPr lang="es-CL" sz="2000" dirty="0" smtClean="0"/>
              <a:t>Y  si               </a:t>
            </a:r>
            <a:r>
              <a:rPr lang="es-CL" sz="2000" dirty="0"/>
              <a:t>EU(Y)&gt;=</a:t>
            </a:r>
            <a:r>
              <a:rPr lang="es-CL" sz="2000" dirty="0" smtClean="0"/>
              <a:t>UE(</a:t>
            </a:r>
            <a:r>
              <a:rPr lang="es-CL" sz="2000" dirty="0" err="1" smtClean="0"/>
              <a:t>Y+u</a:t>
            </a:r>
            <a:r>
              <a:rPr lang="es-CL" sz="2000" dirty="0" smtClean="0"/>
              <a:t>)</a:t>
            </a:r>
          </a:p>
          <a:p>
            <a:endParaRPr lang="es-CL" sz="2000" dirty="0" smtClean="0"/>
          </a:p>
          <a:p>
            <a:r>
              <a:rPr lang="es-CL" sz="2000" dirty="0" smtClean="0"/>
              <a:t>De  </a:t>
            </a:r>
            <a:r>
              <a:rPr lang="es-CL" sz="2000" dirty="0"/>
              <a:t>i)                                                                                   de ii</a:t>
            </a:r>
            <a:r>
              <a:rPr lang="es-CL" sz="2000" dirty="0" smtClean="0"/>
              <a:t>)   </a:t>
            </a:r>
            <a:endParaRPr lang="es-CL" sz="2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97" y="1843187"/>
            <a:ext cx="2356625" cy="89724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928" y="1820922"/>
            <a:ext cx="2581206" cy="1063501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97211" y="3093418"/>
            <a:ext cx="4492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smtClean="0"/>
              <a:t>Si la </a:t>
            </a:r>
            <a:r>
              <a:rPr lang="es-CL" sz="2400" b="1" dirty="0" smtClean="0"/>
              <a:t>variable es continua </a:t>
            </a:r>
            <a:r>
              <a:rPr lang="es-CL" sz="2400" dirty="0" smtClean="0"/>
              <a:t>se tiene: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834" y="5426498"/>
            <a:ext cx="6401271" cy="114071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834" y="3555083"/>
            <a:ext cx="7296150" cy="695325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836687" y="4293988"/>
            <a:ext cx="127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Reduciendo,</a:t>
            </a:r>
            <a:endParaRPr lang="es-C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/>
              <p:cNvSpPr txBox="1"/>
              <p:nvPr/>
            </p:nvSpPr>
            <p:spPr>
              <a:xfrm>
                <a:off x="1217834" y="4626151"/>
                <a:ext cx="9443996" cy="800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𝑈𝐸</m:t>
                      </m:r>
                      <m:d>
                        <m:dPr>
                          <m:ctrlPr>
                            <a:rPr lang="es-C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𝑝𝑣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𝑝𝑑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trlPr>
                            <a:rPr lang="es-CL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  <m:e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𝑝𝑣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𝑝𝑑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trlP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  <m:e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C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𝑝𝑣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𝑝𝑐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CL" sz="2400" dirty="0"/>
              </a:p>
            </p:txBody>
          </p:sp>
        </mc:Choice>
        <mc:Fallback xmlns="">
          <p:sp>
            <p:nvSpPr>
              <p:cNvPr id="10" name="Cuadro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834" y="4626151"/>
                <a:ext cx="9443996" cy="80034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/>
          <p:cNvSpPr/>
          <p:nvPr/>
        </p:nvSpPr>
        <p:spPr>
          <a:xfrm>
            <a:off x="97211" y="-37804"/>
            <a:ext cx="4382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400" dirty="0"/>
              <a:t>Si la </a:t>
            </a:r>
            <a:r>
              <a:rPr lang="es-CL" sz="2400" b="1" dirty="0"/>
              <a:t>variable es discreta </a:t>
            </a:r>
            <a:r>
              <a:rPr lang="es-CL" sz="2400" dirty="0"/>
              <a:t>se tiene: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834" y="353099"/>
            <a:ext cx="7173131" cy="69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4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883450" y="0"/>
            <a:ext cx="1034256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 smtClean="0"/>
              <a:t>Ejemplo</a:t>
            </a:r>
          </a:p>
          <a:p>
            <a:r>
              <a:rPr lang="es-CL" dirty="0" smtClean="0"/>
              <a:t>En una panadería el costo del pan fresco es de $12 la unidad y se vende en $20, el pan no vendido en el día regresa a la fábrica y se utiliza como insumo para alimento de animales, vendiéndose a $10 la unidad.</a:t>
            </a:r>
          </a:p>
          <a:p>
            <a:r>
              <a:rPr lang="es-CL" dirty="0" smtClean="0"/>
              <a:t>Determine cuánto pan producir diariamente, si la demanda tiene una distribución uniforme entre 100 y 200 panes al día. </a:t>
            </a:r>
            <a:endParaRPr lang="es-CL" dirty="0"/>
          </a:p>
          <a:p>
            <a:r>
              <a:rPr lang="es-CL" dirty="0" smtClean="0"/>
              <a:t>Se tiene que la distribución uniforme es 1/(b-a)  a&lt;=x&lt;=b y suponiendo que el pan se consume de manera instantánea.</a:t>
            </a:r>
          </a:p>
          <a:p>
            <a:r>
              <a:rPr lang="es-CL" dirty="0"/>
              <a:t>Indique utilidad esperada.</a:t>
            </a:r>
          </a:p>
          <a:p>
            <a:endParaRPr lang="es-CL" dirty="0"/>
          </a:p>
          <a:p>
            <a:r>
              <a:rPr lang="es-CL" dirty="0" smtClean="0"/>
              <a:t>SOLUCIÓN:</a:t>
            </a:r>
            <a:endParaRPr lang="es-C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1195695" y="5729223"/>
                <a:ext cx="9867412" cy="13509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s-CL" sz="2400" b="0" dirty="0" smtClean="0"/>
              </a:p>
              <a:p>
                <a:r>
                  <a:rPr lang="es-CL" sz="2800" dirty="0" smtClean="0"/>
                  <a:t>UE(180)=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L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(20−10)</m:t>
                        </m:r>
                      </m:num>
                      <m:den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s-CL" sz="2400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trlPr>
                          <a:rPr lang="es-CL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C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  <m:sup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sup>
                      <m:e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s-CL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CL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  <m:d>
                          <m:dPr>
                            <m:ctrlPr>
                              <a:rPr lang="es-CL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L" sz="2400" b="0" i="1" smtClean="0">
                                <a:latin typeface="Cambria Math" panose="02040503050406030204" pitchFamily="18" charset="0"/>
                              </a:rPr>
                              <m:t>20−10</m:t>
                            </m:r>
                          </m:e>
                        </m:d>
                      </m:num>
                      <m:den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nary>
                      <m:naryPr>
                        <m:ctrlPr>
                          <a:rPr lang="es-CL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C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  <m:sup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sup>
                      <m:e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s-CL" sz="2400" b="0" i="1" smtClean="0">
                        <a:latin typeface="Cambria Math" panose="02040503050406030204" pitchFamily="18" charset="0"/>
                      </a:rPr>
                      <m:t>+180</m:t>
                    </m:r>
                    <m:d>
                      <m:dPr>
                        <m:ctrlPr>
                          <a:rPr lang="es-C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20−12</m:t>
                        </m:r>
                      </m:e>
                    </m:d>
                    <m:r>
                      <a:rPr lang="es-CL" sz="2400" b="0" i="1" smtClean="0">
                        <a:latin typeface="Cambria Math" panose="02040503050406030204" pitchFamily="18" charset="0"/>
                      </a:rPr>
                      <m:t>=1.120</m:t>
                    </m:r>
                  </m:oMath>
                </a14:m>
                <a:endParaRPr lang="es-CL" sz="2800" dirty="0" smtClean="0"/>
              </a:p>
              <a:p>
                <a:endParaRPr lang="es-CL" sz="2800" dirty="0"/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695" y="5729223"/>
                <a:ext cx="9867412" cy="1350947"/>
              </a:xfrm>
              <a:prstGeom prst="rect">
                <a:avLst/>
              </a:prstGeom>
              <a:blipFill rotWithShape="0">
                <a:blip r:embed="rId2"/>
                <a:stretch>
                  <a:fillRect l="-2162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902" y="3016210"/>
            <a:ext cx="2381250" cy="1047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4591049" y="3150681"/>
                <a:ext cx="4726102" cy="2144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CL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L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  <m:sup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sup>
                        <m:e>
                          <m:f>
                            <m:fPr>
                              <m:ctrlPr>
                                <a:rPr lang="es-CL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s-CL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20−12</m:t>
                              </m:r>
                            </m:num>
                            <m:den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20−10</m:t>
                              </m:r>
                            </m:den>
                          </m:f>
                        </m:e>
                      </m:nary>
                      <m:r>
                        <a:rPr lang="es-CL" sz="2000" i="1">
                          <a:latin typeface="Cambria Math" panose="02040503050406030204" pitchFamily="18" charset="0"/>
                        </a:rPr>
                        <m:t>=0,8</m:t>
                      </m:r>
                    </m:oMath>
                  </m:oMathPara>
                </a14:m>
                <a:endParaRPr lang="es-CL" sz="2000" i="1" dirty="0" smtClean="0">
                  <a:latin typeface="Cambria Math" panose="02040503050406030204" pitchFamily="18" charset="0"/>
                </a:endParaRPr>
              </a:p>
              <a:p>
                <a:endParaRPr lang="es-CL" sz="20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L" sz="2800" i="1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es-CL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CL" sz="2800" i="0">
                            <a:latin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s-CL" sz="2800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s-CL" sz="2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CL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sz="2800" i="1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s-CL" sz="2800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s-CL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L" sz="2800" dirty="0" smtClean="0"/>
                  <a:t>0,8 </a:t>
                </a:r>
                <a14:m>
                  <m:oMath xmlns:m="http://schemas.openxmlformats.org/officeDocument/2006/math">
                    <m:r>
                      <a:rPr lang="es-CL" sz="2800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s-CL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s-CL" sz="2800" i="0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s-CL" sz="28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CL" sz="2800" i="1" dirty="0">
                        <a:latin typeface="Cambria Math" panose="02040503050406030204" pitchFamily="18" charset="0"/>
                      </a:rPr>
                      <m:t>=180</m:t>
                    </m:r>
                  </m:oMath>
                </a14:m>
                <a:endParaRPr lang="es-CL" sz="2800" dirty="0"/>
              </a:p>
              <a:p>
                <a:endParaRPr lang="es-CL" sz="2800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049" y="3150681"/>
                <a:ext cx="4726102" cy="21441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lecha derecha 5"/>
          <p:cNvSpPr/>
          <p:nvPr/>
        </p:nvSpPr>
        <p:spPr>
          <a:xfrm>
            <a:off x="4325524" y="3478643"/>
            <a:ext cx="531050" cy="22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1163243" y="4903525"/>
                <a:ext cx="9443996" cy="800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𝑈𝐸</m:t>
                      </m:r>
                      <m:d>
                        <m:dPr>
                          <m:ctrlPr>
                            <a:rPr lang="es-C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𝑝𝑣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𝑝𝑑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trlPr>
                            <a:rPr lang="es-CL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  <m:e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𝑝𝑣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𝑝𝑑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trlP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  <m:e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C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𝑝𝑣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𝑝𝑐</m:t>
                              </m:r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CL" sz="24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243" y="4903525"/>
                <a:ext cx="9443996" cy="80034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4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401285" y="0"/>
            <a:ext cx="8045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 smtClean="0"/>
              <a:t>Suponga que en el ejemplo la demanda tiene la siguiente distribución diaria:</a:t>
            </a:r>
            <a:endParaRPr lang="es-CL" sz="2000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371039"/>
              </p:ext>
            </p:extLst>
          </p:nvPr>
        </p:nvGraphicFramePr>
        <p:xfrm>
          <a:off x="518849" y="546799"/>
          <a:ext cx="6160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271"/>
                <a:gridCol w="981635"/>
                <a:gridCol w="1492624"/>
                <a:gridCol w="968188"/>
                <a:gridCol w="820271"/>
                <a:gridCol w="1089211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dirty="0" smtClean="0"/>
                        <a:t>X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smtClean="0"/>
                        <a:t>p(X)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err="1" smtClean="0"/>
                        <a:t>Acum</a:t>
                      </a:r>
                      <a:r>
                        <a:rPr lang="es-CL" baseline="0" dirty="0" smtClean="0"/>
                        <a:t> p(X)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smtClean="0"/>
                        <a:t>X</a:t>
                      </a:r>
                      <a:r>
                        <a:rPr lang="es-CL" baseline="0" dirty="0" smtClean="0"/>
                        <a:t> p(X)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smtClean="0"/>
                        <a:t>Y-X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smtClean="0"/>
                        <a:t>(Y-X)p(X)</a:t>
                      </a:r>
                      <a:endParaRPr lang="es-CL" dirty="0"/>
                    </a:p>
                  </a:txBody>
                  <a:tcPr/>
                </a:tc>
              </a:tr>
              <a:tr h="129438">
                <a:tc>
                  <a:txBody>
                    <a:bodyPr/>
                    <a:lstStyle/>
                    <a:p>
                      <a:r>
                        <a:rPr lang="es-CL" dirty="0" smtClean="0"/>
                        <a:t>80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0.05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0.05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100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5</a:t>
                      </a:r>
                      <a:endParaRPr lang="es-CL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CL" dirty="0" smtClean="0"/>
                        <a:t>100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0.08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0.13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80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6.4</a:t>
                      </a:r>
                      <a:endParaRPr lang="es-CL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CL" dirty="0" smtClean="0"/>
                        <a:t>120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0.15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0.28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18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60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9</a:t>
                      </a:r>
                      <a:endParaRPr lang="es-CL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CL" dirty="0" smtClean="0"/>
                        <a:t>140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0.30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0.58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42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40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12</a:t>
                      </a:r>
                      <a:endParaRPr lang="es-CL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CL" dirty="0" smtClean="0"/>
                        <a:t>160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0.15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0.73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24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20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3</a:t>
                      </a:r>
                      <a:endParaRPr lang="es-CL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CL" dirty="0" smtClean="0"/>
                        <a:t>180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0.10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0.83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CL" dirty="0" smtClean="0"/>
                        <a:t>200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0.12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0.95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s-CL" dirty="0" smtClean="0"/>
                        <a:t>220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0.05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96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35.4</a:t>
                      </a:r>
                      <a:endParaRPr lang="es-CL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7025911" y="1031286"/>
                <a:ext cx="4827668" cy="524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CL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CL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p>
                      <m:e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s-CL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f>
                      <m:fPr>
                        <m:ctrlPr>
                          <a:rPr lang="es-C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20−12</m:t>
                        </m:r>
                      </m:num>
                      <m:den>
                        <m:r>
                          <a:rPr lang="es-C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20−10</m:t>
                        </m:r>
                      </m:den>
                    </m:f>
                    <m:r>
                      <a:rPr lang="es-C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=0,8⇒</m:t>
                    </m:r>
                    <m:sSup>
                      <m:sSupPr>
                        <m:ctrlPr>
                          <a:rPr lang="es-C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s-C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C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=180</m:t>
                    </m:r>
                  </m:oMath>
                </a14:m>
                <a:r>
                  <a:rPr lang="es-CL" sz="2400" dirty="0" smtClean="0"/>
                  <a:t> </a:t>
                </a:r>
                <a:endParaRPr lang="es-CL" sz="2400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911" y="1031286"/>
                <a:ext cx="4827668" cy="5246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/>
              <p:cNvSpPr txBox="1"/>
              <p:nvPr/>
            </p:nvSpPr>
            <p:spPr>
              <a:xfrm>
                <a:off x="732968" y="4250927"/>
                <a:ext cx="10639882" cy="8657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𝑈𝐸</m:t>
                      </m:r>
                      <m:d>
                        <m:dPr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e>
                      </m:d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𝑝𝑣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220</m:t>
                          </m:r>
                        </m:sup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nary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𝑝𝑣</m:t>
                      </m:r>
                      <m:nary>
                        <m:naryPr>
                          <m:chr m:val="∑"/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p>
                        <m:e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𝑋𝑝</m:t>
                          </m:r>
                          <m:d>
                            <m:d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nary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𝑝𝑑</m:t>
                      </m:r>
                      <m:nary>
                        <m:naryPr>
                          <m:chr m:val="∑"/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p>
                        <m:e>
                          <m:d>
                            <m:d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𝑝𝑐𝑌</m:t>
                          </m:r>
                        </m:e>
                      </m:nary>
                    </m:oMath>
                  </m:oMathPara>
                </a14:m>
                <a:endParaRPr lang="es-CL" sz="2000" dirty="0"/>
              </a:p>
            </p:txBody>
          </p:sp>
        </mc:Choice>
        <mc:Fallback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68" y="4250927"/>
                <a:ext cx="10639882" cy="8657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/>
              <p:cNvSpPr txBox="1"/>
              <p:nvPr/>
            </p:nvSpPr>
            <p:spPr>
              <a:xfrm>
                <a:off x="188412" y="5196007"/>
                <a:ext cx="11470187" cy="13849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CL" dirty="0" smtClean="0"/>
                  <a:t>	= </a:t>
                </a:r>
                <a14:m>
                  <m:oMath xmlns:m="http://schemas.openxmlformats.org/officeDocument/2006/math">
                    <m:r>
                      <a:rPr lang="es-CL" b="0" i="1" smtClean="0">
                        <a:latin typeface="Cambria Math" panose="02040503050406030204" pitchFamily="18" charset="0"/>
                      </a:rPr>
                      <m:t>180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∗20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0.12+0.05</m:t>
                        </m:r>
                      </m:e>
                    </m:d>
                    <m:r>
                      <a:rPr lang="es-CL" b="0" i="0" smtClean="0">
                        <a:latin typeface="Cambria Math" panose="02040503050406030204" pitchFamily="18" charset="0"/>
                      </a:rPr>
                      <m:t>+20</m:t>
                    </m:r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0" smtClean="0">
                            <a:latin typeface="Cambria Math" panose="02040503050406030204" pitchFamily="18" charset="0"/>
                          </a:rPr>
                          <m:t>4+8+18+42+24</m:t>
                        </m:r>
                      </m:e>
                    </m:d>
                    <m:r>
                      <a:rPr lang="es-CL" b="0" i="0" smtClean="0">
                        <a:latin typeface="Cambria Math" panose="02040503050406030204" pitchFamily="18" charset="0"/>
                      </a:rPr>
                      <m:t>+10</m:t>
                    </m:r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0" smtClean="0">
                            <a:latin typeface="Cambria Math" panose="02040503050406030204" pitchFamily="18" charset="0"/>
                          </a:rPr>
                          <m:t>5+6.4+9+12+3</m:t>
                        </m:r>
                      </m:e>
                    </m:d>
                    <m:r>
                      <a:rPr lang="es-CL" b="0" i="0" smtClean="0">
                        <a:latin typeface="Cambria Math" panose="02040503050406030204" pitchFamily="18" charset="0"/>
                      </a:rPr>
                      <m:t>−12∗180</m:t>
                    </m:r>
                  </m:oMath>
                </a14:m>
                <a:endParaRPr lang="es-CL" b="0" dirty="0" smtClean="0"/>
              </a:p>
              <a:p>
                <a:r>
                  <a:rPr lang="es-CL" b="0" dirty="0" smtClean="0"/>
                  <a:t>	= </a:t>
                </a:r>
                <a:r>
                  <a:rPr lang="es-CL" dirty="0">
                    <a:latin typeface="Cambria Math" panose="02040503050406030204" pitchFamily="18" charset="0"/>
                  </a:rPr>
                  <a:t>180 * </a:t>
                </a:r>
                <a:r>
                  <a:rPr lang="es-CL" dirty="0" smtClean="0">
                    <a:latin typeface="Cambria Math" panose="02040503050406030204" pitchFamily="18" charset="0"/>
                  </a:rPr>
                  <a:t>20* </a:t>
                </a:r>
                <a:r>
                  <a:rPr lang="es-CL" dirty="0">
                    <a:latin typeface="Cambria Math" panose="02040503050406030204" pitchFamily="18" charset="0"/>
                  </a:rPr>
                  <a:t>0.27 + 20*96 + 10*35.4 – </a:t>
                </a:r>
                <a:r>
                  <a:rPr lang="es-CL" dirty="0" smtClean="0">
                    <a:latin typeface="Cambria Math" panose="02040503050406030204" pitchFamily="18" charset="0"/>
                  </a:rPr>
                  <a:t>12*180</a:t>
                </a:r>
                <a:endParaRPr lang="es-CL" dirty="0">
                  <a:latin typeface="Cambria Math" panose="02040503050406030204" pitchFamily="18" charset="0"/>
                </a:endParaRPr>
              </a:p>
              <a:p>
                <a:r>
                  <a:rPr lang="es-CL" dirty="0">
                    <a:latin typeface="Cambria Math" panose="02040503050406030204" pitchFamily="18" charset="0"/>
                  </a:rPr>
                  <a:t>	</a:t>
                </a:r>
                <a:r>
                  <a:rPr lang="es-CL" dirty="0" smtClean="0"/>
                  <a:t>=</a:t>
                </a:r>
                <a:r>
                  <a:rPr lang="es-CL" dirty="0" smtClean="0">
                    <a:latin typeface="Cambria Math" panose="02040503050406030204" pitchFamily="18" charset="0"/>
                  </a:rPr>
                  <a:t> 1.096 </a:t>
                </a:r>
                <a:r>
                  <a:rPr lang="es-CL" dirty="0">
                    <a:latin typeface="Cambria Math" panose="02040503050406030204" pitchFamily="18" charset="0"/>
                  </a:rPr>
                  <a:t>$/d</a:t>
                </a:r>
              </a:p>
              <a:p>
                <a:endParaRPr lang="es-CL" b="0" dirty="0"/>
              </a:p>
              <a:p>
                <a:r>
                  <a:rPr lang="es-CL" dirty="0" smtClean="0"/>
                  <a:t>          Por </a:t>
                </a:r>
                <a:r>
                  <a:rPr lang="es-CL" dirty="0" smtClean="0"/>
                  <a:t>lo tanto, se deben producir 180 unidades de pan al día para tener una utilidad esperada de $1.096 al día.</a:t>
                </a:r>
                <a:endParaRPr lang="es-CL" b="0" dirty="0" smtClean="0"/>
              </a:p>
            </p:txBody>
          </p:sp>
        </mc:Choice>
        <mc:Fallback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12" y="5196007"/>
                <a:ext cx="11470187" cy="1384995"/>
              </a:xfrm>
              <a:prstGeom prst="rect">
                <a:avLst/>
              </a:prstGeom>
              <a:blipFill rotWithShape="0">
                <a:blip r:embed="rId5"/>
                <a:stretch>
                  <a:fillRect t="-5702" b="-921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10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447477"/>
              </p:ext>
            </p:extLst>
          </p:nvPr>
        </p:nvGraphicFramePr>
        <p:xfrm>
          <a:off x="670418" y="2939325"/>
          <a:ext cx="4127501" cy="261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105"/>
                <a:gridCol w="812175"/>
                <a:gridCol w="774105"/>
                <a:gridCol w="939078"/>
                <a:gridCol w="828038"/>
              </a:tblGrid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(a)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(b)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</a:tr>
              <a:tr h="52387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x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p(x)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(Y-x) p(x)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(x-Y)p(x)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-0,1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1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0,2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-0,15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2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0,3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3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0,35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0,85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-0,35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0,35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4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0,95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-0,2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0,2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667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1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-0,15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 dirty="0">
                          <a:effectLst/>
                        </a:rPr>
                        <a:t>0,15</a:t>
                      </a:r>
                      <a:endParaRPr lang="es-CL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cxnSp>
        <p:nvCxnSpPr>
          <p:cNvPr id="15" name="Conector recto de flecha 14"/>
          <p:cNvCxnSpPr/>
          <p:nvPr/>
        </p:nvCxnSpPr>
        <p:spPr>
          <a:xfrm flipH="1" flipV="1">
            <a:off x="2652151" y="4319433"/>
            <a:ext cx="401104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3119383" y="6287595"/>
            <a:ext cx="30607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b="1" dirty="0">
                <a:solidFill>
                  <a:srgbClr val="000000"/>
                </a:solidFill>
                <a:latin typeface="Calibri" panose="020F0502020204030204" pitchFamily="34" charset="0"/>
              </a:rPr>
              <a:t>CVE(Y)=</a:t>
            </a:r>
            <a:r>
              <a:rPr lang="es-CL" dirty="0"/>
              <a:t> </a:t>
            </a:r>
            <a:r>
              <a:rPr lang="es-CL" b="1" dirty="0">
                <a:solidFill>
                  <a:srgbClr val="000000"/>
                </a:solidFill>
                <a:latin typeface="Calibri" panose="020F0502020204030204" pitchFamily="34" charset="0"/>
              </a:rPr>
              <a:t>15,000</a:t>
            </a:r>
            <a:r>
              <a:rPr lang="es-CL" dirty="0"/>
              <a:t> </a:t>
            </a:r>
            <a:r>
              <a:rPr lang="es-CL" b="1" dirty="0">
                <a:solidFill>
                  <a:srgbClr val="000000"/>
                </a:solidFill>
                <a:latin typeface="Calibri" panose="020F0502020204030204" pitchFamily="34" charset="0"/>
              </a:rPr>
              <a:t> +</a:t>
            </a:r>
            <a:r>
              <a:rPr lang="es-CL" dirty="0"/>
              <a:t> </a:t>
            </a:r>
            <a:r>
              <a:rPr lang="es-CL" b="1" dirty="0">
                <a:solidFill>
                  <a:srgbClr val="000000"/>
                </a:solidFill>
                <a:latin typeface="Calibri" panose="020F0502020204030204" pitchFamily="34" charset="0"/>
              </a:rPr>
              <a:t>46</a:t>
            </a:r>
            <a:r>
              <a:rPr lang="es-CL" dirty="0"/>
              <a:t> </a:t>
            </a:r>
            <a:r>
              <a:rPr lang="es-CL" b="1" dirty="0">
                <a:solidFill>
                  <a:srgbClr val="000000"/>
                </a:solidFill>
                <a:latin typeface="Calibri" panose="020F0502020204030204" pitchFamily="34" charset="0"/>
              </a:rPr>
              <a:t> =</a:t>
            </a:r>
            <a:r>
              <a:rPr lang="es-CL" dirty="0"/>
              <a:t> </a:t>
            </a:r>
            <a:r>
              <a:rPr lang="es-CL" b="1" dirty="0">
                <a:solidFill>
                  <a:srgbClr val="000000"/>
                </a:solidFill>
                <a:latin typeface="Calibri" panose="020F0502020204030204" pitchFamily="34" charset="0"/>
              </a:rPr>
              <a:t>60,50</a:t>
            </a:r>
            <a:r>
              <a:rPr lang="es-CL" dirty="0"/>
              <a:t> 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58" y="5721027"/>
            <a:ext cx="5780525" cy="56656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58" y="260365"/>
            <a:ext cx="8267700" cy="265747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94596" y="154529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0.-</a:t>
            </a:r>
            <a:endParaRPr lang="es-CL" dirty="0"/>
          </a:p>
        </p:txBody>
      </p:sp>
      <p:sp>
        <p:nvSpPr>
          <p:cNvPr id="9" name="Rectángulo 8"/>
          <p:cNvSpPr/>
          <p:nvPr/>
        </p:nvSpPr>
        <p:spPr>
          <a:xfrm>
            <a:off x="3053255" y="2996669"/>
            <a:ext cx="1723697" cy="26316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/>
          <p:cNvSpPr/>
          <p:nvPr/>
        </p:nvSpPr>
        <p:spPr>
          <a:xfrm>
            <a:off x="2652151" y="2949372"/>
            <a:ext cx="401104" cy="26789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833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02" y="0"/>
            <a:ext cx="8553450" cy="57912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01" y="5791200"/>
            <a:ext cx="6261471" cy="625366"/>
          </a:xfrm>
          <a:prstGeom prst="rect">
            <a:avLst/>
          </a:prstGeom>
        </p:spPr>
      </p:pic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718482"/>
              </p:ext>
            </p:extLst>
          </p:nvPr>
        </p:nvGraphicFramePr>
        <p:xfrm>
          <a:off x="526502" y="2827943"/>
          <a:ext cx="6286499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138"/>
                <a:gridCol w="811161"/>
                <a:gridCol w="773138"/>
                <a:gridCol w="811161"/>
                <a:gridCol w="827004"/>
                <a:gridCol w="865027"/>
                <a:gridCol w="750958"/>
                <a:gridCol w="674912"/>
              </a:tblGrid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(a)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(b)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(c)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(d)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x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p(x)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y+u/2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p(x)/x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(b)(c)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(a)+(d)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-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0,45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0,226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0,276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1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0,2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1,5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0,30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0,453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0,653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2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0,3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2,5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0,379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0,879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3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0,35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0,85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3,5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0,12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0,04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0,123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0,973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4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0,1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0,95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4,5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0,03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0,01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0,045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0,995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6670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1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5,5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 dirty="0">
                          <a:effectLst/>
                        </a:rPr>
                        <a:t>0,01</a:t>
                      </a:r>
                      <a:endParaRPr lang="es-CL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0,00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>
                          <a:effectLst/>
                        </a:rPr>
                        <a:t>0</a:t>
                      </a:r>
                      <a:endParaRPr lang="es-CL" sz="1600" b="1" i="0" u="none" strike="noStrike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600" u="none" strike="noStrike" dirty="0">
                          <a:effectLst/>
                        </a:rPr>
                        <a:t>1</a:t>
                      </a:r>
                      <a:endParaRPr lang="es-CL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3" name="Rectángulo 12"/>
          <p:cNvSpPr/>
          <p:nvPr/>
        </p:nvSpPr>
        <p:spPr>
          <a:xfrm>
            <a:off x="6810703" y="2333297"/>
            <a:ext cx="1545021" cy="3153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5" name="Conector recto de flecha 14"/>
          <p:cNvCxnSpPr/>
          <p:nvPr/>
        </p:nvCxnSpPr>
        <p:spPr>
          <a:xfrm flipH="1" flipV="1">
            <a:off x="6787972" y="3752193"/>
            <a:ext cx="401104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/>
          <p:cNvSpPr/>
          <p:nvPr/>
        </p:nvSpPr>
        <p:spPr>
          <a:xfrm>
            <a:off x="670418" y="6416127"/>
            <a:ext cx="476567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CVE(Y)=</a:t>
            </a:r>
            <a:r>
              <a:rPr lang="es-MX" dirty="0"/>
              <a:t> </a:t>
            </a:r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7,5</a:t>
            </a:r>
            <a:r>
              <a:rPr lang="es-MX" dirty="0"/>
              <a:t> </a:t>
            </a:r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+</a:t>
            </a:r>
            <a:r>
              <a:rPr lang="es-MX" dirty="0"/>
              <a:t> </a:t>
            </a:r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9,0500</a:t>
            </a:r>
            <a:r>
              <a:rPr lang="es-MX" dirty="0"/>
              <a:t> </a:t>
            </a:r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+</a:t>
            </a:r>
            <a:r>
              <a:rPr lang="es-MX" dirty="0"/>
              <a:t> </a:t>
            </a:r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32,5542</a:t>
            </a:r>
            <a:r>
              <a:rPr lang="es-MX" dirty="0"/>
              <a:t> </a:t>
            </a:r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=</a:t>
            </a:r>
            <a:r>
              <a:rPr lang="es-MX" dirty="0"/>
              <a:t> </a:t>
            </a:r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49,1041667</a:t>
            </a:r>
            <a:r>
              <a:rPr lang="es-MX" dirty="0"/>
              <a:t>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7858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72" y="349625"/>
            <a:ext cx="10437860" cy="566121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Rectángulo 2"/>
          <p:cNvSpPr/>
          <p:nvPr/>
        </p:nvSpPr>
        <p:spPr>
          <a:xfrm>
            <a:off x="2096814" y="2617076"/>
            <a:ext cx="7236372" cy="12454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/>
          <p:cNvSpPr/>
          <p:nvPr/>
        </p:nvSpPr>
        <p:spPr>
          <a:xfrm>
            <a:off x="4493172" y="4114800"/>
            <a:ext cx="725214" cy="362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 4"/>
          <p:cNvSpPr/>
          <p:nvPr/>
        </p:nvSpPr>
        <p:spPr>
          <a:xfrm>
            <a:off x="2096814" y="4713890"/>
            <a:ext cx="7110248" cy="5360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037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1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73736</TotalTime>
  <Words>3334</Words>
  <Application>Microsoft Office PowerPoint</Application>
  <PresentationFormat>Panorámica</PresentationFormat>
  <Paragraphs>564</Paragraphs>
  <Slides>46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6" baseType="lpstr">
      <vt:lpstr>Arial</vt:lpstr>
      <vt:lpstr>Bell MT</vt:lpstr>
      <vt:lpstr>Calibri</vt:lpstr>
      <vt:lpstr>Cambria Math</vt:lpstr>
      <vt:lpstr>Constantia</vt:lpstr>
      <vt:lpstr>Times New Roman</vt:lpstr>
      <vt:lpstr>Tw Cen MT</vt:lpstr>
      <vt:lpstr>Tw Cen MT Condensed</vt:lpstr>
      <vt:lpstr>Wingdings 3</vt:lpstr>
      <vt:lpstr>Integral</vt:lpstr>
      <vt:lpstr>Modelos de inventarios</vt:lpstr>
      <vt:lpstr>Introducción</vt:lpstr>
      <vt:lpstr>Presentación de PowerPoint</vt:lpstr>
      <vt:lpstr>características</vt:lpstr>
      <vt:lpstr>Presentación de PowerPoint</vt:lpstr>
      <vt:lpstr>Presentación de PowerPoint</vt:lpstr>
      <vt:lpstr>Presentación de PowerPoint</vt:lpstr>
      <vt:lpstr>Modelos de inventario determinístico, estático y con demanda constante</vt:lpstr>
      <vt:lpstr>Modelo de compra sin dÉficit</vt:lpstr>
      <vt:lpstr>Presentación de PowerPoint</vt:lpstr>
      <vt:lpstr>Presentación de PowerPoint</vt:lpstr>
      <vt:lpstr>eJERCICIO</vt:lpstr>
      <vt:lpstr> Modelo manufactura sin déficit  </vt:lpstr>
      <vt:lpstr>Presentación de PowerPoint</vt:lpstr>
      <vt:lpstr>Presentación de PowerPoint</vt:lpstr>
      <vt:lpstr>Modelo de compra con dÉficit</vt:lpstr>
      <vt:lpstr>Presentación de PowerPoint</vt:lpstr>
      <vt:lpstr>Presentación de PowerPoint</vt:lpstr>
      <vt:lpstr>Modelo de manufactura con dÉficit</vt:lpstr>
      <vt:lpstr>Presentación de PowerPoint</vt:lpstr>
      <vt:lpstr>Presentación de PowerPoint</vt:lpstr>
      <vt:lpstr>Presentación de PowerPoint</vt:lpstr>
      <vt:lpstr>Presentación de PowerPoint</vt:lpstr>
      <vt:lpstr>Modelos de inventario probabilístico, estático y con demanda constante</vt:lpstr>
      <vt:lpstr>Presentación de PowerPoint</vt:lpstr>
      <vt:lpstr>Modelo de compra o manufactura sin déficit.</vt:lpstr>
      <vt:lpstr>Presentación de PowerPoint</vt:lpstr>
      <vt:lpstr>Ejemplo:  El costo por ordenar es de $160, el costo de almacenamiento es de 0,1 $/u/sem y la demanda tiene la siguiente distribución:</vt:lpstr>
      <vt:lpstr>Modelo de compra con déficit, consumo instantáneo.</vt:lpstr>
      <vt:lpstr>Presentación de PowerPoint</vt:lpstr>
      <vt:lpstr>Presentación de PowerPoint</vt:lpstr>
      <vt:lpstr>Ejemplo 1: Un tipo de repuesto tiene consumo instantáneo y su costo es de 2 millones, el costo de almacenamiento es de 1 millón y el costo de déficit es de 4 millones. Determine la política óptima y su costo variable asociado, si la demanda mensual es la siguiente:</vt:lpstr>
      <vt:lpstr>Presentación de PowerPoint</vt:lpstr>
      <vt:lpstr>Modelo de compra con déficit, consumo uniforme.</vt:lpstr>
      <vt:lpstr>Presentación de PowerPoint</vt:lpstr>
      <vt:lpstr>Presentación de PowerPoint</vt:lpstr>
      <vt:lpstr>Presentación de PowerPoint</vt:lpstr>
      <vt:lpstr>Presentación de PowerPoint</vt:lpstr>
      <vt:lpstr>Modelo de compra con déficit, con devolución.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inventarios</dc:title>
  <dc:creator>HP</dc:creator>
  <cp:lastModifiedBy>Tania Letelier S.</cp:lastModifiedBy>
  <cp:revision>154</cp:revision>
  <dcterms:created xsi:type="dcterms:W3CDTF">2017-10-04T15:51:50Z</dcterms:created>
  <dcterms:modified xsi:type="dcterms:W3CDTF">2024-09-30T14:14:05Z</dcterms:modified>
</cp:coreProperties>
</file>
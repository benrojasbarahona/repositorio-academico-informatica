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5143500" cx="9144000"/>
  <p:notesSz cx="6858000" cy="9144000"/>
  <p:embeddedFontLst>
    <p:embeddedFont>
      <p:font typeface="PT Sans Narrow"/>
      <p:regular r:id="rId45"/>
      <p:bold r:id="rId46"/>
    </p:embeddedFont>
    <p:embeddedFont>
      <p:font typeface="Open Sans"/>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1" roundtripDataSignature="AMtx7mhMXX1rHQPQBeqEDK3BB2xk2AdU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C5653FA-149E-4B5F-A835-83AE677FAE40}">
  <a:tblStyle styleId="{DC5653FA-149E-4B5F-A835-83AE677FAE4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PTSansNarrow-bold.fntdata"/><Relationship Id="rId45" Type="http://schemas.openxmlformats.org/officeDocument/2006/relationships/font" Target="fonts/PTSansNarrow-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OpenSans-bold.fntdata"/><Relationship Id="rId47" Type="http://schemas.openxmlformats.org/officeDocument/2006/relationships/font" Target="fonts/OpenSans-regular.fntdata"/><Relationship Id="rId49" Type="http://schemas.openxmlformats.org/officeDocument/2006/relationships/font" Target="fonts/OpenSa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font" Target="fonts/Open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40"/>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40"/>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40"/>
          <p:cNvGrpSpPr/>
          <p:nvPr/>
        </p:nvGrpSpPr>
        <p:grpSpPr>
          <a:xfrm>
            <a:off x="1004144" y="1022025"/>
            <a:ext cx="7136668" cy="152400"/>
            <a:chOff x="1346429" y="1011300"/>
            <a:chExt cx="6452100" cy="152400"/>
          </a:xfrm>
        </p:grpSpPr>
        <p:cxnSp>
          <p:nvCxnSpPr>
            <p:cNvPr id="13" name="Google Shape;13;p40"/>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40"/>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40"/>
          <p:cNvGrpSpPr/>
          <p:nvPr/>
        </p:nvGrpSpPr>
        <p:grpSpPr>
          <a:xfrm>
            <a:off x="1004151" y="3969100"/>
            <a:ext cx="7136668" cy="152400"/>
            <a:chOff x="1346435" y="3969088"/>
            <a:chExt cx="6452100" cy="152400"/>
          </a:xfrm>
        </p:grpSpPr>
        <p:cxnSp>
          <p:nvCxnSpPr>
            <p:cNvPr id="16" name="Google Shape;16;p40"/>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40"/>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40"/>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9" name="Google Shape;19;p40"/>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1"/>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4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4" name="Google Shape;24;p4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42"/>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2"/>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29" name="Google Shape;29;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4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2" name="Google Shape;32;p43"/>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43"/>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4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7" name="Google Shape;37;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4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4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46"/>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44" name="Google Shape;44;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47"/>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 name="Google Shape;47;p47"/>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47"/>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9" name="Google Shape;49;p47"/>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47"/>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1" name="Google Shape;5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48"/>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49"/>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49"/>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49"/>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9" name="Google Shape;59;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3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39"/>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www.geeksforgeeks.org/program-for-shortest-job-first-or-sjf-cpu-scheduling-set-1-non-preemptive/"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Unidad 2: Planificación de proceso</a:t>
            </a:r>
            <a:endParaRPr/>
          </a:p>
        </p:txBody>
      </p:sp>
      <p:sp>
        <p:nvSpPr>
          <p:cNvPr id="67" name="Google Shape;67;p1"/>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s" sz="1700">
                <a:solidFill>
                  <a:srgbClr val="695D46"/>
                </a:solidFill>
              </a:rPr>
              <a:t>2024-02 (lvc)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Temas</a:t>
            </a:r>
            <a:endParaRPr/>
          </a:p>
        </p:txBody>
      </p:sp>
      <p:sp>
        <p:nvSpPr>
          <p:cNvPr id="73" name="Google Shape;73;p2"/>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s"/>
              <a:t>Introducción</a:t>
            </a:r>
            <a:endParaRPr/>
          </a:p>
          <a:p>
            <a:pPr indent="-342900" lvl="0" marL="457200" rtl="0" algn="l">
              <a:lnSpc>
                <a:spcPct val="115000"/>
              </a:lnSpc>
              <a:spcBef>
                <a:spcPts val="0"/>
              </a:spcBef>
              <a:spcAft>
                <a:spcPts val="0"/>
              </a:spcAft>
              <a:buSzPts val="1800"/>
              <a:buChar char="●"/>
            </a:pPr>
            <a:r>
              <a:rPr lang="es"/>
              <a:t>Planificador</a:t>
            </a:r>
            <a:endParaRPr/>
          </a:p>
          <a:p>
            <a:pPr indent="-342900" lvl="0" marL="457200" rtl="0" algn="l">
              <a:lnSpc>
                <a:spcPct val="115000"/>
              </a:lnSpc>
              <a:spcBef>
                <a:spcPts val="0"/>
              </a:spcBef>
              <a:spcAft>
                <a:spcPts val="0"/>
              </a:spcAft>
              <a:buSzPts val="1800"/>
              <a:buChar char="●"/>
            </a:pPr>
            <a:r>
              <a:rPr lang="es"/>
              <a:t>Tipos de planificador</a:t>
            </a:r>
            <a:endParaRPr/>
          </a:p>
          <a:p>
            <a:pPr indent="-342900" lvl="0" marL="457200" rtl="0" algn="l">
              <a:lnSpc>
                <a:spcPct val="115000"/>
              </a:lnSpc>
              <a:spcBef>
                <a:spcPts val="0"/>
              </a:spcBef>
              <a:spcAft>
                <a:spcPts val="0"/>
              </a:spcAft>
              <a:buSzPts val="1800"/>
              <a:buChar char="●"/>
            </a:pPr>
            <a:r>
              <a:rPr lang="es"/>
              <a:t>Clases de procesos</a:t>
            </a:r>
            <a:endParaRPr/>
          </a:p>
          <a:p>
            <a:pPr indent="-342900" lvl="0" marL="457200" rtl="0" algn="l">
              <a:lnSpc>
                <a:spcPct val="115000"/>
              </a:lnSpc>
              <a:spcBef>
                <a:spcPts val="0"/>
              </a:spcBef>
              <a:spcAft>
                <a:spcPts val="0"/>
              </a:spcAft>
              <a:buSzPts val="1800"/>
              <a:buChar char="●"/>
            </a:pPr>
            <a:r>
              <a:rPr lang="es"/>
              <a:t>Esquemas de planificación</a:t>
            </a:r>
            <a:endParaRPr/>
          </a:p>
          <a:p>
            <a:pPr indent="-342900" lvl="0" marL="457200" rtl="0" algn="l">
              <a:lnSpc>
                <a:spcPct val="115000"/>
              </a:lnSpc>
              <a:spcBef>
                <a:spcPts val="0"/>
              </a:spcBef>
              <a:spcAft>
                <a:spcPts val="0"/>
              </a:spcAft>
              <a:buSzPts val="1800"/>
              <a:buChar char="●"/>
            </a:pPr>
            <a:r>
              <a:rPr lang="es"/>
              <a:t>Criterios de planificación</a:t>
            </a:r>
            <a:endParaRPr/>
          </a:p>
          <a:p>
            <a:pPr indent="-342900" lvl="0" marL="457200" rtl="0" algn="l">
              <a:lnSpc>
                <a:spcPct val="115000"/>
              </a:lnSpc>
              <a:spcBef>
                <a:spcPts val="0"/>
              </a:spcBef>
              <a:spcAft>
                <a:spcPts val="0"/>
              </a:spcAft>
              <a:buSzPts val="1800"/>
              <a:buChar char="●"/>
            </a:pPr>
            <a:r>
              <a:rPr lang="es"/>
              <a:t>Algoritmos de planificación</a:t>
            </a:r>
            <a:endParaRPr/>
          </a:p>
          <a:p>
            <a:pPr indent="-317500" lvl="1" marL="914400" rtl="0" algn="l">
              <a:lnSpc>
                <a:spcPct val="115000"/>
              </a:lnSpc>
              <a:spcBef>
                <a:spcPts val="0"/>
              </a:spcBef>
              <a:spcAft>
                <a:spcPts val="0"/>
              </a:spcAft>
              <a:buSzPts val="1400"/>
              <a:buChar char="○"/>
            </a:pPr>
            <a:r>
              <a:rPr lang="es"/>
              <a:t>Prioridad</a:t>
            </a:r>
            <a:endParaRPr/>
          </a:p>
          <a:p>
            <a:pPr indent="-317500" lvl="1" marL="914400" rtl="0" algn="l">
              <a:lnSpc>
                <a:spcPct val="115000"/>
              </a:lnSpc>
              <a:spcBef>
                <a:spcPts val="0"/>
              </a:spcBef>
              <a:spcAft>
                <a:spcPts val="0"/>
              </a:spcAft>
              <a:buSzPts val="1400"/>
              <a:buChar char="○"/>
            </a:pPr>
            <a:r>
              <a:rPr lang="es"/>
              <a:t>FCFS</a:t>
            </a:r>
            <a:endParaRPr/>
          </a:p>
          <a:p>
            <a:pPr indent="-317500" lvl="1" marL="914400" rtl="0" algn="l">
              <a:lnSpc>
                <a:spcPct val="115000"/>
              </a:lnSpc>
              <a:spcBef>
                <a:spcPts val="0"/>
              </a:spcBef>
              <a:spcAft>
                <a:spcPts val="0"/>
              </a:spcAft>
              <a:buSzPts val="1400"/>
              <a:buChar char="○"/>
            </a:pPr>
            <a:r>
              <a:rPr lang="es"/>
              <a:t>SJF</a:t>
            </a:r>
            <a:endParaRPr/>
          </a:p>
          <a:p>
            <a:pPr indent="-317500" lvl="1" marL="914400" rtl="0" algn="l">
              <a:lnSpc>
                <a:spcPct val="115000"/>
              </a:lnSpc>
              <a:spcBef>
                <a:spcPts val="0"/>
              </a:spcBef>
              <a:spcAft>
                <a:spcPts val="0"/>
              </a:spcAft>
              <a:buSzPts val="1400"/>
              <a:buChar char="○"/>
            </a:pPr>
            <a:r>
              <a:rPr lang="es"/>
              <a:t>SRT</a:t>
            </a:r>
            <a:endParaRPr/>
          </a:p>
          <a:p>
            <a:pPr indent="-317500" lvl="1" marL="914400" rtl="0" algn="l">
              <a:lnSpc>
                <a:spcPct val="115000"/>
              </a:lnSpc>
              <a:spcBef>
                <a:spcPts val="0"/>
              </a:spcBef>
              <a:spcAft>
                <a:spcPts val="0"/>
              </a:spcAft>
              <a:buSzPts val="1400"/>
              <a:buChar char="○"/>
            </a:pPr>
            <a:r>
              <a:rPr lang="es"/>
              <a:t>Round-Robin</a:t>
            </a:r>
            <a:endParaRPr/>
          </a:p>
          <a:p>
            <a:pPr indent="-317500" lvl="1" marL="914400" rtl="0" algn="l">
              <a:lnSpc>
                <a:spcPct val="115000"/>
              </a:lnSpc>
              <a:spcBef>
                <a:spcPts val="0"/>
              </a:spcBef>
              <a:spcAft>
                <a:spcPts val="0"/>
              </a:spcAft>
              <a:buSzPts val="1400"/>
              <a:buChar char="○"/>
            </a:pPr>
            <a:r>
              <a:rPr lang="es"/>
              <a:t>Multilevel-Queue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Introducción</a:t>
            </a:r>
            <a:endParaRPr/>
          </a:p>
        </p:txBody>
      </p:sp>
      <p:sp>
        <p:nvSpPr>
          <p:cNvPr id="79" name="Google Shape;79;p3"/>
          <p:cNvSpPr txBox="1"/>
          <p:nvPr>
            <p:ph idx="1" type="body"/>
          </p:nvPr>
        </p:nvSpPr>
        <p:spPr>
          <a:xfrm>
            <a:off x="311700" y="1266325"/>
            <a:ext cx="8770500" cy="37821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s"/>
              <a:t>La planificación o scheduling es el punto clave para lograr la multiprogramación, ya que un sistema multiprogramado tendrá varios procesos que requieren utilizar los recursos del computador a la vez</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cuando hablamos del procesador como recurso, la planificación se gatilla cuando los procesos están en estado Ready (listo)</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Si existe un </a:t>
            </a:r>
            <a:r>
              <a:rPr b="1" lang="es">
                <a:solidFill>
                  <a:srgbClr val="4A86E8"/>
                </a:solidFill>
              </a:rPr>
              <a:t>procesador disponible</a:t>
            </a:r>
            <a:r>
              <a:rPr lang="es"/>
              <a:t> y existen </a:t>
            </a:r>
            <a:r>
              <a:rPr b="1" lang="es">
                <a:solidFill>
                  <a:srgbClr val="0000FF"/>
                </a:solidFill>
              </a:rPr>
              <a:t>procesos en estado Ready</a:t>
            </a:r>
            <a:r>
              <a:rPr lang="es"/>
              <a:t> se debe realizar la selección de a qué proceso se le asigna el recurso, esta acción o elección es la que realiza el</a:t>
            </a:r>
            <a:r>
              <a:rPr b="1" lang="es">
                <a:solidFill>
                  <a:srgbClr val="FF0000"/>
                </a:solidFill>
              </a:rPr>
              <a:t> PLANIFICADOR</a:t>
            </a:r>
            <a:endParaRPr b="1">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Planificador</a:t>
            </a:r>
            <a:endParaRPr/>
          </a:p>
        </p:txBody>
      </p:sp>
      <p:sp>
        <p:nvSpPr>
          <p:cNvPr id="85" name="Google Shape;85;p4"/>
          <p:cNvSpPr txBox="1"/>
          <p:nvPr>
            <p:ph idx="1" type="body"/>
          </p:nvPr>
        </p:nvSpPr>
        <p:spPr>
          <a:xfrm>
            <a:off x="311700" y="1266325"/>
            <a:ext cx="87705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Es el software de SO encargado de asignar los recursos del sistema entre los procesos que los soliciten.</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Es el encargado de decidir quién de los procesos que compiten por un determinado recurso lo podrá utilizar</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La latencia de ejecución del despachador debe ser la menor posible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Planificador</a:t>
            </a:r>
            <a:endParaRPr/>
          </a:p>
        </p:txBody>
      </p:sp>
      <p:sp>
        <p:nvSpPr>
          <p:cNvPr id="91" name="Google Shape;91;p5"/>
          <p:cNvSpPr txBox="1"/>
          <p:nvPr>
            <p:ph idx="1" type="body"/>
          </p:nvPr>
        </p:nvSpPr>
        <p:spPr>
          <a:xfrm>
            <a:off x="311700" y="1266325"/>
            <a:ext cx="8770500" cy="854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Cuando el recurso es el procesador y se decidió que proceso utilizará el procesador, las acciones a seguir son: </a:t>
            </a:r>
            <a:endParaRPr sz="1517"/>
          </a:p>
        </p:txBody>
      </p:sp>
      <p:sp>
        <p:nvSpPr>
          <p:cNvPr id="92" name="Google Shape;92;p5"/>
          <p:cNvSpPr/>
          <p:nvPr/>
        </p:nvSpPr>
        <p:spPr>
          <a:xfrm>
            <a:off x="6324275" y="2120725"/>
            <a:ext cx="2322600" cy="27894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17"/>
              <a:buFont typeface="Arial"/>
              <a:buNone/>
            </a:pPr>
            <a:r>
              <a:t/>
            </a:r>
            <a:endParaRPr b="0" i="0" sz="1517" u="none" cap="none" strike="noStrike">
              <a:solidFill>
                <a:schemeClr val="dk2"/>
              </a:solidFill>
              <a:latin typeface="Open Sans"/>
              <a:ea typeface="Open Sans"/>
              <a:cs typeface="Open Sans"/>
              <a:sym typeface="Open Sans"/>
            </a:endParaRPr>
          </a:p>
          <a:p>
            <a:pPr indent="0" lvl="0" marL="0" marR="0" rtl="0" algn="ctr">
              <a:lnSpc>
                <a:spcPct val="115000"/>
              </a:lnSpc>
              <a:spcBef>
                <a:spcPts val="1200"/>
              </a:spcBef>
              <a:spcAft>
                <a:spcPts val="0"/>
              </a:spcAft>
              <a:buClr>
                <a:srgbClr val="000000"/>
              </a:buClr>
              <a:buSzPts val="1517"/>
              <a:buFont typeface="Arial"/>
              <a:buNone/>
            </a:pPr>
            <a:r>
              <a:rPr b="0" i="0" lang="es" sz="1517" u="none" cap="none" strike="noStrike">
                <a:solidFill>
                  <a:schemeClr val="dk2"/>
                </a:solidFill>
                <a:latin typeface="Open Sans"/>
                <a:ea typeface="Open Sans"/>
                <a:cs typeface="Open Sans"/>
                <a:sym typeface="Open Sans"/>
              </a:rPr>
              <a:t>(4)</a:t>
            </a:r>
            <a:endParaRPr b="0" i="0" sz="1517" u="none" cap="none" strike="noStrike">
              <a:solidFill>
                <a:schemeClr val="dk2"/>
              </a:solidFill>
              <a:latin typeface="Open Sans"/>
              <a:ea typeface="Open Sans"/>
              <a:cs typeface="Open Sans"/>
              <a:sym typeface="Open Sans"/>
            </a:endParaRPr>
          </a:p>
          <a:p>
            <a:pPr indent="0" lvl="0" marL="0" marR="0" rtl="0" algn="ctr">
              <a:lnSpc>
                <a:spcPct val="115000"/>
              </a:lnSpc>
              <a:spcBef>
                <a:spcPts val="1200"/>
              </a:spcBef>
              <a:spcAft>
                <a:spcPts val="0"/>
              </a:spcAft>
              <a:buClr>
                <a:srgbClr val="000000"/>
              </a:buClr>
              <a:buSzPts val="1517"/>
              <a:buFont typeface="Arial"/>
              <a:buNone/>
            </a:pPr>
            <a:r>
              <a:rPr b="0" i="0" lang="es" sz="1517" u="none" cap="none" strike="noStrike">
                <a:solidFill>
                  <a:schemeClr val="dk2"/>
                </a:solidFill>
                <a:latin typeface="Open Sans"/>
                <a:ea typeface="Open Sans"/>
                <a:cs typeface="Open Sans"/>
                <a:sym typeface="Open Sans"/>
              </a:rPr>
              <a:t>Saltar a la instrucción adecuada que había quedado el proceso que se asignó a la CPU (registro program counter).</a:t>
            </a:r>
            <a:endParaRPr b="0" i="0" sz="1517" u="none" cap="none" strike="noStrike">
              <a:solidFill>
                <a:schemeClr val="dk2"/>
              </a:solidFill>
              <a:latin typeface="Open Sans"/>
              <a:ea typeface="Open Sans"/>
              <a:cs typeface="Open Sans"/>
              <a:sym typeface="Open Sans"/>
            </a:endParaRPr>
          </a:p>
          <a:p>
            <a:pPr indent="0" lvl="0" marL="0" marR="0" rtl="0" algn="ctr">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93" name="Google Shape;93;p5"/>
          <p:cNvSpPr/>
          <p:nvPr/>
        </p:nvSpPr>
        <p:spPr>
          <a:xfrm>
            <a:off x="143550" y="2075300"/>
            <a:ext cx="1975500" cy="27894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17"/>
              <a:buFont typeface="Arial"/>
              <a:buNone/>
            </a:pPr>
            <a:r>
              <a:t/>
            </a:r>
            <a:endParaRPr b="0" i="0" sz="1517" u="none" cap="none" strike="noStrike">
              <a:solidFill>
                <a:schemeClr val="dk2"/>
              </a:solidFill>
              <a:latin typeface="Open Sans"/>
              <a:ea typeface="Open Sans"/>
              <a:cs typeface="Open Sans"/>
              <a:sym typeface="Open Sans"/>
            </a:endParaRPr>
          </a:p>
          <a:p>
            <a:pPr indent="0" lvl="0" marL="0" marR="0" rtl="0" algn="ctr">
              <a:lnSpc>
                <a:spcPct val="115000"/>
              </a:lnSpc>
              <a:spcBef>
                <a:spcPts val="1200"/>
              </a:spcBef>
              <a:spcAft>
                <a:spcPts val="0"/>
              </a:spcAft>
              <a:buClr>
                <a:srgbClr val="000000"/>
              </a:buClr>
              <a:buSzPts val="1517"/>
              <a:buFont typeface="Arial"/>
              <a:buNone/>
            </a:pPr>
            <a:r>
              <a:rPr b="0" i="0" lang="es" sz="1517" u="none" cap="none" strike="noStrike">
                <a:solidFill>
                  <a:schemeClr val="dk2"/>
                </a:solidFill>
                <a:latin typeface="Open Sans"/>
                <a:ea typeface="Open Sans"/>
                <a:cs typeface="Open Sans"/>
                <a:sym typeface="Open Sans"/>
              </a:rPr>
              <a:t>(1)</a:t>
            </a:r>
            <a:endParaRPr b="0" i="0" sz="1517" u="none" cap="none" strike="noStrike">
              <a:solidFill>
                <a:schemeClr val="dk2"/>
              </a:solidFill>
              <a:latin typeface="Open Sans"/>
              <a:ea typeface="Open Sans"/>
              <a:cs typeface="Open Sans"/>
              <a:sym typeface="Open Sans"/>
            </a:endParaRPr>
          </a:p>
          <a:p>
            <a:pPr indent="0" lvl="0" marL="0" marR="0" rtl="0" algn="ctr">
              <a:lnSpc>
                <a:spcPct val="115000"/>
              </a:lnSpc>
              <a:spcBef>
                <a:spcPts val="1200"/>
              </a:spcBef>
              <a:spcAft>
                <a:spcPts val="0"/>
              </a:spcAft>
              <a:buClr>
                <a:srgbClr val="000000"/>
              </a:buClr>
              <a:buSzPts val="1517"/>
              <a:buFont typeface="Arial"/>
              <a:buNone/>
            </a:pPr>
            <a:r>
              <a:rPr b="0" i="0" lang="es" sz="1517" u="none" cap="none" strike="noStrike">
                <a:solidFill>
                  <a:schemeClr val="dk2"/>
                </a:solidFill>
                <a:latin typeface="Open Sans"/>
                <a:ea typeface="Open Sans"/>
                <a:cs typeface="Open Sans"/>
                <a:sym typeface="Open Sans"/>
              </a:rPr>
              <a:t>Cambio de contexto: Salvar registros del procesador en PCB del proceso saliente. </a:t>
            </a:r>
            <a:endParaRPr b="0" i="0" sz="1517" u="none" cap="none" strike="noStrike">
              <a:solidFill>
                <a:schemeClr val="dk2"/>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94" name="Google Shape;94;p5"/>
          <p:cNvSpPr/>
          <p:nvPr/>
        </p:nvSpPr>
        <p:spPr>
          <a:xfrm>
            <a:off x="2368650" y="2075300"/>
            <a:ext cx="1840800" cy="27894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17"/>
              <a:buFont typeface="Arial"/>
              <a:buNone/>
            </a:pPr>
            <a:r>
              <a:t/>
            </a:r>
            <a:endParaRPr b="0" i="0" sz="1517" u="none" cap="none" strike="noStrike">
              <a:solidFill>
                <a:schemeClr val="dk2"/>
              </a:solidFill>
              <a:latin typeface="Open Sans"/>
              <a:ea typeface="Open Sans"/>
              <a:cs typeface="Open Sans"/>
              <a:sym typeface="Open Sans"/>
            </a:endParaRPr>
          </a:p>
          <a:p>
            <a:pPr indent="0" lvl="0" marL="0" marR="0" rtl="0" algn="ctr">
              <a:lnSpc>
                <a:spcPct val="115000"/>
              </a:lnSpc>
              <a:spcBef>
                <a:spcPts val="1200"/>
              </a:spcBef>
              <a:spcAft>
                <a:spcPts val="0"/>
              </a:spcAft>
              <a:buClr>
                <a:srgbClr val="000000"/>
              </a:buClr>
              <a:buSzPts val="1517"/>
              <a:buFont typeface="Arial"/>
              <a:buNone/>
            </a:pPr>
            <a:r>
              <a:rPr b="0" i="0" lang="es" sz="1517" u="none" cap="none" strike="noStrike">
                <a:solidFill>
                  <a:schemeClr val="dk2"/>
                </a:solidFill>
                <a:latin typeface="Open Sans"/>
                <a:ea typeface="Open Sans"/>
                <a:cs typeface="Open Sans"/>
                <a:sym typeface="Open Sans"/>
              </a:rPr>
              <a:t>(2)</a:t>
            </a:r>
            <a:endParaRPr b="0" i="0" sz="1517" u="none" cap="none" strike="noStrike">
              <a:solidFill>
                <a:schemeClr val="dk2"/>
              </a:solidFill>
              <a:latin typeface="Open Sans"/>
              <a:ea typeface="Open Sans"/>
              <a:cs typeface="Open Sans"/>
              <a:sym typeface="Open Sans"/>
            </a:endParaRPr>
          </a:p>
          <a:p>
            <a:pPr indent="0" lvl="0" marL="0" marR="0" rtl="0" algn="ctr">
              <a:lnSpc>
                <a:spcPct val="115000"/>
              </a:lnSpc>
              <a:spcBef>
                <a:spcPts val="1200"/>
              </a:spcBef>
              <a:spcAft>
                <a:spcPts val="0"/>
              </a:spcAft>
              <a:buClr>
                <a:srgbClr val="000000"/>
              </a:buClr>
              <a:buSzPts val="1517"/>
              <a:buFont typeface="Arial"/>
              <a:buNone/>
            </a:pPr>
            <a:r>
              <a:rPr b="0" i="0" lang="es" sz="1517" u="none" cap="none" strike="noStrike">
                <a:solidFill>
                  <a:schemeClr val="dk2"/>
                </a:solidFill>
                <a:latin typeface="Open Sans"/>
                <a:ea typeface="Open Sans"/>
                <a:cs typeface="Open Sans"/>
                <a:sym typeface="Open Sans"/>
              </a:rPr>
              <a:t>Cargar los registros con los datos del PCB del proceso entrante. </a:t>
            </a:r>
            <a:endParaRPr b="0" i="0" sz="1517" u="none" cap="none" strike="noStrike">
              <a:solidFill>
                <a:schemeClr val="dk2"/>
              </a:solidFill>
              <a:latin typeface="Open Sans"/>
              <a:ea typeface="Open Sans"/>
              <a:cs typeface="Open Sans"/>
              <a:sym typeface="Open Sans"/>
            </a:endParaRPr>
          </a:p>
          <a:p>
            <a:pPr indent="0" lvl="0" marL="0" marR="0" rtl="0" algn="ctr">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95" name="Google Shape;95;p5"/>
          <p:cNvSpPr/>
          <p:nvPr/>
        </p:nvSpPr>
        <p:spPr>
          <a:xfrm>
            <a:off x="4413075" y="2075300"/>
            <a:ext cx="1642500" cy="27894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17"/>
              <a:buFont typeface="Arial"/>
              <a:buNone/>
            </a:pPr>
            <a:r>
              <a:rPr b="0" i="0" lang="es" sz="1517" u="none" cap="none" strike="noStrike">
                <a:solidFill>
                  <a:schemeClr val="dk2"/>
                </a:solidFill>
                <a:latin typeface="Open Sans"/>
                <a:ea typeface="Open Sans"/>
                <a:cs typeface="Open Sans"/>
                <a:sym typeface="Open Sans"/>
              </a:rPr>
              <a:t>(3)</a:t>
            </a:r>
            <a:endParaRPr b="0" i="0" sz="1517" u="none" cap="none" strike="noStrike">
              <a:solidFill>
                <a:schemeClr val="dk2"/>
              </a:solidFill>
              <a:latin typeface="Open Sans"/>
              <a:ea typeface="Open Sans"/>
              <a:cs typeface="Open Sans"/>
              <a:sym typeface="Open Sans"/>
            </a:endParaRPr>
          </a:p>
          <a:p>
            <a:pPr indent="0" lvl="0" marL="0" marR="0" rtl="0" algn="ctr">
              <a:lnSpc>
                <a:spcPct val="115000"/>
              </a:lnSpc>
              <a:spcBef>
                <a:spcPts val="1200"/>
              </a:spcBef>
              <a:spcAft>
                <a:spcPts val="1200"/>
              </a:spcAft>
              <a:buClr>
                <a:srgbClr val="000000"/>
              </a:buClr>
              <a:buSzPts val="1517"/>
              <a:buFont typeface="Arial"/>
              <a:buNone/>
            </a:pPr>
            <a:r>
              <a:rPr b="0" i="0" lang="es" sz="1517" u="none" cap="none" strike="noStrike">
                <a:solidFill>
                  <a:schemeClr val="dk2"/>
                </a:solidFill>
                <a:latin typeface="Open Sans"/>
                <a:ea typeface="Open Sans"/>
                <a:cs typeface="Open Sans"/>
                <a:sym typeface="Open Sans"/>
              </a:rPr>
              <a:t>Cambiar el bit de modo a usuario.</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Planificador</a:t>
            </a:r>
            <a:endParaRPr/>
          </a:p>
        </p:txBody>
      </p:sp>
      <p:sp>
        <p:nvSpPr>
          <p:cNvPr id="101" name="Google Shape;101;p6"/>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Existen dos tipos de planificadores, que son PLP (</a:t>
            </a:r>
            <a:r>
              <a:rPr b="1" lang="es">
                <a:solidFill>
                  <a:srgbClr val="6FA8DC"/>
                </a:solidFill>
              </a:rPr>
              <a:t>planificador de largo plazo</a:t>
            </a:r>
            <a:r>
              <a:rPr lang="es"/>
              <a:t>) y PCP (</a:t>
            </a:r>
            <a:r>
              <a:rPr b="1" lang="es">
                <a:solidFill>
                  <a:srgbClr val="6FA8DC"/>
                </a:solidFill>
              </a:rPr>
              <a:t>planificador de corto plazo</a:t>
            </a:r>
            <a:r>
              <a:rPr lang="es"/>
              <a:t>). En el caso de uso de memoria secundaria en el proceso de planificación, se puede decir que se añade un tercer tipo que es el PMP (</a:t>
            </a:r>
            <a:r>
              <a:rPr b="1" lang="es">
                <a:solidFill>
                  <a:srgbClr val="6FA8DC"/>
                </a:solidFill>
              </a:rPr>
              <a:t>planificador de mediano plazo</a:t>
            </a:r>
            <a:r>
              <a:rPr lang="es"/>
              <a:t>)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b="1">
              <a:solidFill>
                <a:srgbClr val="FF0000"/>
              </a:solidFill>
            </a:endParaRPr>
          </a:p>
        </p:txBody>
      </p:sp>
      <p:pic>
        <p:nvPicPr>
          <p:cNvPr id="102" name="Google Shape;102;p6"/>
          <p:cNvPicPr preferRelativeResize="0"/>
          <p:nvPr/>
        </p:nvPicPr>
        <p:blipFill rotWithShape="1">
          <a:blip r:embed="rId3">
            <a:alphaModFix/>
          </a:blip>
          <a:srcRect b="0" l="0" r="0" t="0"/>
          <a:stretch/>
        </p:blipFill>
        <p:spPr>
          <a:xfrm>
            <a:off x="2320475" y="2769575"/>
            <a:ext cx="3754800" cy="2142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Planificador</a:t>
            </a:r>
            <a:endParaRPr/>
          </a:p>
        </p:txBody>
      </p:sp>
      <p:sp>
        <p:nvSpPr>
          <p:cNvPr id="108" name="Google Shape;108;p7"/>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s">
                <a:solidFill>
                  <a:srgbClr val="6FA8DC"/>
                </a:solidFill>
              </a:rPr>
              <a:t>Planificador de largo plazo</a:t>
            </a:r>
            <a:r>
              <a:rPr lang="es"/>
              <a:t>, </a:t>
            </a:r>
            <a:endParaRPr/>
          </a:p>
          <a:p>
            <a:pPr indent="-342900" lvl="0" marL="457200" rtl="0" algn="l">
              <a:lnSpc>
                <a:spcPct val="115000"/>
              </a:lnSpc>
              <a:spcBef>
                <a:spcPts val="1200"/>
              </a:spcBef>
              <a:spcAft>
                <a:spcPts val="0"/>
              </a:spcAft>
              <a:buSzPts val="1800"/>
              <a:buChar char="●"/>
            </a:pPr>
            <a:r>
              <a:rPr lang="es"/>
              <a:t>También conocido como</a:t>
            </a:r>
            <a:r>
              <a:rPr b="1" lang="es">
                <a:solidFill>
                  <a:srgbClr val="6FA8DC"/>
                </a:solidFill>
              </a:rPr>
              <a:t> planificador de trabajo</a:t>
            </a:r>
            <a:r>
              <a:rPr lang="es"/>
              <a:t>, ya que se encarga de determinar qué trabajos se admiten en el sistema para su procesamiento, es decir, los pasa a la </a:t>
            </a:r>
            <a:r>
              <a:rPr b="1" lang="es">
                <a:solidFill>
                  <a:srgbClr val="FF0000"/>
                </a:solidFill>
              </a:rPr>
              <a:t>“cola de estado preparado”</a:t>
            </a:r>
            <a:r>
              <a:rPr lang="es"/>
              <a:t>, esto último basado en alguna </a:t>
            </a:r>
            <a:r>
              <a:rPr b="1" lang="es">
                <a:solidFill>
                  <a:srgbClr val="FF0000"/>
                </a:solidFill>
              </a:rPr>
              <a:t>política de gestión</a:t>
            </a:r>
            <a:endParaRPr b="1">
              <a:solidFill>
                <a:srgbClr val="FF0000"/>
              </a:solidFill>
            </a:endParaRPr>
          </a:p>
          <a:p>
            <a:pPr indent="0" lvl="0" marL="457200" rtl="0" algn="l">
              <a:lnSpc>
                <a:spcPct val="115000"/>
              </a:lnSpc>
              <a:spcBef>
                <a:spcPts val="1200"/>
              </a:spcBef>
              <a:spcAft>
                <a:spcPts val="0"/>
              </a:spcAft>
              <a:buSzPts val="1800"/>
              <a:buNone/>
            </a:pPr>
            <a:r>
              <a:t/>
            </a:r>
            <a:endParaRPr b="1">
              <a:solidFill>
                <a:srgbClr val="FF0000"/>
              </a:solidFill>
            </a:endParaRPr>
          </a:p>
          <a:p>
            <a:pPr indent="-342900" lvl="0" marL="457200" rtl="0" algn="l">
              <a:lnSpc>
                <a:spcPct val="115000"/>
              </a:lnSpc>
              <a:spcBef>
                <a:spcPts val="1200"/>
              </a:spcBef>
              <a:spcAft>
                <a:spcPts val="0"/>
              </a:spcAft>
              <a:buSzPts val="1800"/>
              <a:buChar char="●"/>
            </a:pPr>
            <a:r>
              <a:rPr lang="es"/>
              <a:t>Coordina los recursos de forma general (procesador, E/S, etc… )</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Controla el grado de multiprogramación</a:t>
            </a:r>
            <a:endParaRPr/>
          </a:p>
          <a:p>
            <a:pPr indent="0" lvl="0" marL="0" rtl="0" algn="l">
              <a:lnSpc>
                <a:spcPct val="115000"/>
              </a:lnSpc>
              <a:spcBef>
                <a:spcPts val="1200"/>
              </a:spcBef>
              <a:spcAft>
                <a:spcPts val="1200"/>
              </a:spcAft>
              <a:buSzPts val="1800"/>
              <a:buNone/>
            </a:pPr>
            <a:r>
              <a:t/>
            </a:r>
            <a:endParaRPr b="1">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Planificador</a:t>
            </a:r>
            <a:endParaRPr/>
          </a:p>
        </p:txBody>
      </p:sp>
      <p:sp>
        <p:nvSpPr>
          <p:cNvPr id="114" name="Google Shape;114;p8"/>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Lo más probable es, que mientras más </a:t>
            </a:r>
            <a:r>
              <a:rPr b="1" lang="es">
                <a:solidFill>
                  <a:srgbClr val="FF0000"/>
                </a:solidFill>
              </a:rPr>
              <a:t>procesos son admitidos</a:t>
            </a:r>
            <a:r>
              <a:rPr lang="es"/>
              <a:t>, cada uno tendrá un </a:t>
            </a:r>
            <a:r>
              <a:rPr b="1" lang="es">
                <a:solidFill>
                  <a:srgbClr val="FF0000"/>
                </a:solidFill>
              </a:rPr>
              <a:t>porcentaje menor de uso del procesador.</a:t>
            </a:r>
            <a:r>
              <a:rPr lang="es"/>
              <a:t> </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Estos proceso pasan a estado Preparado (Ready), es decir, cambian de estado en memoria principal y se preparan para poder pasar a ejecución cuando se liberen los recursos que requiere</a:t>
            </a:r>
            <a:endParaRPr b="1">
              <a:solidFill>
                <a:srgbClr val="FF0000"/>
              </a:solidFill>
            </a:endParaRPr>
          </a:p>
        </p:txBody>
      </p:sp>
      <p:pic>
        <p:nvPicPr>
          <p:cNvPr id="115" name="Google Shape;115;p8"/>
          <p:cNvPicPr preferRelativeResize="0"/>
          <p:nvPr/>
        </p:nvPicPr>
        <p:blipFill rotWithShape="1">
          <a:blip r:embed="rId3">
            <a:alphaModFix/>
          </a:blip>
          <a:srcRect b="0" l="0" r="0" t="0"/>
          <a:stretch/>
        </p:blipFill>
        <p:spPr>
          <a:xfrm>
            <a:off x="2936275" y="3651275"/>
            <a:ext cx="3049975" cy="1255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Planificador</a:t>
            </a:r>
            <a:endParaRPr/>
          </a:p>
        </p:txBody>
      </p:sp>
      <p:sp>
        <p:nvSpPr>
          <p:cNvPr id="121" name="Google Shape;121;p9"/>
          <p:cNvSpPr txBox="1"/>
          <p:nvPr>
            <p:ph idx="1" type="body"/>
          </p:nvPr>
        </p:nvSpPr>
        <p:spPr>
          <a:xfrm>
            <a:off x="311700" y="1266325"/>
            <a:ext cx="8760600" cy="3732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b="1" lang="es">
                <a:solidFill>
                  <a:srgbClr val="6FA8DC"/>
                </a:solidFill>
              </a:rPr>
              <a:t>Planificador de corto plazo</a:t>
            </a:r>
            <a:r>
              <a:rPr lang="es"/>
              <a:t>, </a:t>
            </a:r>
            <a:endParaRPr/>
          </a:p>
          <a:p>
            <a:pPr indent="-342900" lvl="0" marL="457200" rtl="0" algn="l">
              <a:lnSpc>
                <a:spcPct val="115000"/>
              </a:lnSpc>
              <a:spcBef>
                <a:spcPts val="1200"/>
              </a:spcBef>
              <a:spcAft>
                <a:spcPts val="0"/>
              </a:spcAft>
              <a:buSzPts val="1800"/>
              <a:buChar char="●"/>
            </a:pPr>
            <a:r>
              <a:rPr lang="es"/>
              <a:t>También conocido como</a:t>
            </a:r>
            <a:r>
              <a:rPr b="1" lang="es">
                <a:solidFill>
                  <a:srgbClr val="6FA8DC"/>
                </a:solidFill>
              </a:rPr>
              <a:t> planificador de procesador o despachador</a:t>
            </a:r>
            <a:r>
              <a:rPr lang="es"/>
              <a:t>, es el encargado de seleccionar el proceso que pasará al estado Activo (Running), es decir, el que utilizará el procesador</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Se ejecuta Frecuentemente y debe ser eficiente,</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 La planificación a corto plazo se lleva a cabo decenas de veces por segundo (razón por la cual debe ser código muy simple, eficiente y rápido)</a:t>
            </a:r>
            <a:endParaRPr b="1">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Planificador</a:t>
            </a:r>
            <a:endParaRPr/>
          </a:p>
        </p:txBody>
      </p:sp>
      <p:sp>
        <p:nvSpPr>
          <p:cNvPr id="127" name="Google Shape;127;p10"/>
          <p:cNvSpPr txBox="1"/>
          <p:nvPr>
            <p:ph idx="1" type="body"/>
          </p:nvPr>
        </p:nvSpPr>
        <p:spPr>
          <a:xfrm>
            <a:off x="311700" y="1266325"/>
            <a:ext cx="8760600" cy="3732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Evento típicos que desencadena al despachador: </a:t>
            </a:r>
            <a:endParaRPr/>
          </a:p>
          <a:p>
            <a:pPr indent="0" lvl="0" marL="457200" rtl="0" algn="l">
              <a:lnSpc>
                <a:spcPct val="115000"/>
              </a:lnSpc>
              <a:spcBef>
                <a:spcPts val="1200"/>
              </a:spcBef>
              <a:spcAft>
                <a:spcPts val="0"/>
              </a:spcAft>
              <a:buSzPts val="1800"/>
              <a:buNone/>
            </a:pPr>
            <a:r>
              <a:t/>
            </a:r>
            <a:endParaRPr sz="2200"/>
          </a:p>
          <a:p>
            <a:pPr indent="-342900" lvl="1" marL="914400" rtl="0" algn="l">
              <a:lnSpc>
                <a:spcPct val="115000"/>
              </a:lnSpc>
              <a:spcBef>
                <a:spcPts val="1200"/>
              </a:spcBef>
              <a:spcAft>
                <a:spcPts val="0"/>
              </a:spcAft>
              <a:buSzPts val="1800"/>
              <a:buChar char="○"/>
            </a:pPr>
            <a:r>
              <a:rPr lang="es" sz="1800"/>
              <a:t>interrupciones del reloj (quantum), </a:t>
            </a:r>
            <a:endParaRPr sz="1800"/>
          </a:p>
          <a:p>
            <a:pPr indent="-342900" lvl="1" marL="914400" rtl="0" algn="l">
              <a:lnSpc>
                <a:spcPct val="115000"/>
              </a:lnSpc>
              <a:spcBef>
                <a:spcPts val="0"/>
              </a:spcBef>
              <a:spcAft>
                <a:spcPts val="0"/>
              </a:spcAft>
              <a:buSzPts val="1800"/>
              <a:buChar char="○"/>
            </a:pPr>
            <a:r>
              <a:rPr lang="es" sz="1800"/>
              <a:t>interrupciones de I/O, </a:t>
            </a:r>
            <a:endParaRPr sz="1800"/>
          </a:p>
          <a:p>
            <a:pPr indent="-342900" lvl="1" marL="914400" rtl="0" algn="l">
              <a:lnSpc>
                <a:spcPct val="115000"/>
              </a:lnSpc>
              <a:spcBef>
                <a:spcPts val="0"/>
              </a:spcBef>
              <a:spcAft>
                <a:spcPts val="0"/>
              </a:spcAft>
              <a:buSzPts val="1800"/>
              <a:buChar char="○"/>
            </a:pPr>
            <a:r>
              <a:rPr lang="es" sz="1800"/>
              <a:t>llamados al sistemas operativo, </a:t>
            </a:r>
            <a:endParaRPr sz="1800"/>
          </a:p>
          <a:p>
            <a:pPr indent="-342900" lvl="1" marL="914400" rtl="0" algn="l">
              <a:lnSpc>
                <a:spcPct val="115000"/>
              </a:lnSpc>
              <a:spcBef>
                <a:spcPts val="0"/>
              </a:spcBef>
              <a:spcAft>
                <a:spcPts val="0"/>
              </a:spcAft>
              <a:buSzPts val="1800"/>
              <a:buChar char="○"/>
            </a:pPr>
            <a:r>
              <a:rPr lang="es" sz="1800"/>
              <a:t>Envío y recepción de señales, </a:t>
            </a:r>
            <a:endParaRPr sz="1800"/>
          </a:p>
          <a:p>
            <a:pPr indent="-342900" lvl="1" marL="914400" rtl="0" algn="l">
              <a:lnSpc>
                <a:spcPct val="115000"/>
              </a:lnSpc>
              <a:spcBef>
                <a:spcPts val="0"/>
              </a:spcBef>
              <a:spcAft>
                <a:spcPts val="0"/>
              </a:spcAft>
              <a:buSzPts val="1800"/>
              <a:buChar char="○"/>
            </a:pPr>
            <a:r>
              <a:rPr lang="es" sz="1800"/>
              <a:t>Activación de programas interactivos</a:t>
            </a:r>
            <a:endParaRPr sz="1800"/>
          </a:p>
          <a:p>
            <a:pPr indent="-342900" lvl="1" marL="914400" rtl="0" algn="l">
              <a:lnSpc>
                <a:spcPct val="115000"/>
              </a:lnSpc>
              <a:spcBef>
                <a:spcPts val="0"/>
              </a:spcBef>
              <a:spcAft>
                <a:spcPts val="0"/>
              </a:spcAft>
              <a:buSzPts val="1800"/>
              <a:buChar char="○"/>
            </a:pPr>
            <a:r>
              <a:rPr lang="es" sz="1800"/>
              <a:t>etc.</a:t>
            </a:r>
            <a:endParaRPr b="1" sz="1800">
              <a:solidFill>
                <a:srgbClr val="6FA8DC"/>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Planificador</a:t>
            </a:r>
            <a:endParaRPr/>
          </a:p>
        </p:txBody>
      </p:sp>
      <p:pic>
        <p:nvPicPr>
          <p:cNvPr id="133" name="Google Shape;133;p11"/>
          <p:cNvPicPr preferRelativeResize="0"/>
          <p:nvPr/>
        </p:nvPicPr>
        <p:blipFill rotWithShape="1">
          <a:blip r:embed="rId3">
            <a:alphaModFix/>
          </a:blip>
          <a:srcRect b="0" l="0" r="0" t="0"/>
          <a:stretch/>
        </p:blipFill>
        <p:spPr>
          <a:xfrm>
            <a:off x="494550" y="1556900"/>
            <a:ext cx="8154900" cy="28487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1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Planificador</a:t>
            </a:r>
            <a:endParaRPr/>
          </a:p>
        </p:txBody>
      </p:sp>
      <p:sp>
        <p:nvSpPr>
          <p:cNvPr id="139" name="Google Shape;139;p12"/>
          <p:cNvSpPr txBox="1"/>
          <p:nvPr>
            <p:ph idx="1" type="body"/>
          </p:nvPr>
        </p:nvSpPr>
        <p:spPr>
          <a:xfrm>
            <a:off x="311700" y="1266325"/>
            <a:ext cx="8520600" cy="3624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s">
                <a:solidFill>
                  <a:srgbClr val="6FA8DC"/>
                </a:solidFill>
              </a:rPr>
              <a:t>Planificador de mediano plazo</a:t>
            </a:r>
            <a:r>
              <a:rPr lang="es"/>
              <a:t>, </a:t>
            </a:r>
            <a:endParaRPr/>
          </a:p>
          <a:p>
            <a:pPr indent="-342900" lvl="0" marL="457200" rtl="0" algn="l">
              <a:lnSpc>
                <a:spcPct val="115000"/>
              </a:lnSpc>
              <a:spcBef>
                <a:spcPts val="1200"/>
              </a:spcBef>
              <a:spcAft>
                <a:spcPts val="0"/>
              </a:spcAft>
              <a:buSzPts val="1800"/>
              <a:buChar char="●"/>
            </a:pPr>
            <a:r>
              <a:rPr lang="es"/>
              <a:t>En algunas ocasiones sistemas operativos agregan un planificador de nivel intermedio, ya que hay veces en las que conviene llevar a memoria secundaria un  proceso que ha sido suspendido en su ejecución por algún evento (</a:t>
            </a:r>
            <a:r>
              <a:rPr b="1" lang="es">
                <a:solidFill>
                  <a:srgbClr val="93C47D"/>
                </a:solidFill>
              </a:rPr>
              <a:t>interrumpido</a:t>
            </a:r>
            <a:r>
              <a:rPr lang="es"/>
              <a:t>), el objetivo es liberar espacio en la memoria principal para que sea utilizada por otros procesos que estań listos para su ejecución.</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Otro motivo para agregar este planificador es la realización de una mezcla adecuada de proceso destinados al procesador y procesos destinados a 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Planificador</a:t>
            </a:r>
            <a:endParaRPr/>
          </a:p>
        </p:txBody>
      </p:sp>
      <p:pic>
        <p:nvPicPr>
          <p:cNvPr id="145" name="Google Shape;145;p13"/>
          <p:cNvPicPr preferRelativeResize="0"/>
          <p:nvPr/>
        </p:nvPicPr>
        <p:blipFill rotWithShape="1">
          <a:blip r:embed="rId3">
            <a:alphaModFix/>
          </a:blip>
          <a:srcRect b="0" l="0" r="0" t="0"/>
          <a:stretch/>
        </p:blipFill>
        <p:spPr>
          <a:xfrm>
            <a:off x="508475" y="1235575"/>
            <a:ext cx="7867973" cy="36862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Clases de procesos</a:t>
            </a:r>
            <a:endParaRPr/>
          </a:p>
        </p:txBody>
      </p:sp>
      <p:sp>
        <p:nvSpPr>
          <p:cNvPr id="151" name="Google Shape;151;p14"/>
          <p:cNvSpPr txBox="1"/>
          <p:nvPr>
            <p:ph idx="1" type="body"/>
          </p:nvPr>
        </p:nvSpPr>
        <p:spPr>
          <a:xfrm>
            <a:off x="311700" y="1266325"/>
            <a:ext cx="8642100" cy="37920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SzPct val="117647"/>
              <a:buNone/>
            </a:pPr>
            <a:r>
              <a:rPr lang="es"/>
              <a:t>Existen dos tipos de clases de procesos dependiendo del recurso que más utiliza (procesador o E/S), estos son:</a:t>
            </a:r>
            <a:endParaRPr/>
          </a:p>
          <a:p>
            <a:pPr indent="-325755" lvl="0" marL="457200" rtl="0" algn="l">
              <a:lnSpc>
                <a:spcPct val="115000"/>
              </a:lnSpc>
              <a:spcBef>
                <a:spcPts val="1200"/>
              </a:spcBef>
              <a:spcAft>
                <a:spcPts val="0"/>
              </a:spcAft>
              <a:buSzPct val="100000"/>
              <a:buChar char="●"/>
            </a:pPr>
            <a:r>
              <a:rPr b="1" lang="es">
                <a:solidFill>
                  <a:srgbClr val="C27BA0"/>
                </a:solidFill>
              </a:rPr>
              <a:t>Procesos CPU-bound,</a:t>
            </a:r>
            <a:r>
              <a:rPr lang="es"/>
              <a:t> Los procesos que contienen un alto uso de procesador son llamados CPU-bound o compute-bound -</a:t>
            </a:r>
            <a:r>
              <a:rPr b="1" lang="es">
                <a:solidFill>
                  <a:srgbClr val="BF9000"/>
                </a:solidFill>
              </a:rPr>
              <a:t> </a:t>
            </a:r>
            <a:r>
              <a:rPr b="1" lang="es">
                <a:solidFill>
                  <a:srgbClr val="3C78D8"/>
                </a:solidFill>
              </a:rPr>
              <a:t>ciclos ráfagas de ejecución (CPU-burst) </a:t>
            </a:r>
            <a:r>
              <a:rPr lang="es"/>
              <a:t>-. </a:t>
            </a:r>
            <a:endParaRPr/>
          </a:p>
          <a:p>
            <a:pPr indent="-325755" lvl="0" marL="457200" rtl="0" algn="l">
              <a:lnSpc>
                <a:spcPct val="115000"/>
              </a:lnSpc>
              <a:spcBef>
                <a:spcPts val="0"/>
              </a:spcBef>
              <a:spcAft>
                <a:spcPts val="0"/>
              </a:spcAft>
              <a:buSzPct val="100000"/>
              <a:buChar char="●"/>
            </a:pPr>
            <a:r>
              <a:rPr b="1" lang="es">
                <a:solidFill>
                  <a:srgbClr val="C27BA0"/>
                </a:solidFill>
              </a:rPr>
              <a:t>Procesos I/O-bound,</a:t>
            </a:r>
            <a:r>
              <a:rPr lang="es"/>
              <a:t> Los procesos que realizan muchos accesos a operaciones de E/S son llamados I/O-bound- </a:t>
            </a:r>
            <a:r>
              <a:rPr b="1" lang="es">
                <a:solidFill>
                  <a:srgbClr val="3C78D8"/>
                </a:solidFill>
              </a:rPr>
              <a:t>ciclos ráfagas de espera de operaciones de E/S (I/O burst)</a:t>
            </a:r>
            <a:r>
              <a:rPr b="1" lang="es">
                <a:solidFill>
                  <a:srgbClr val="FFD966"/>
                </a:solidFill>
              </a:rPr>
              <a:t> </a:t>
            </a:r>
            <a:r>
              <a:rPr lang="es"/>
              <a:t>-. </a:t>
            </a:r>
            <a:endParaRPr/>
          </a:p>
          <a:p>
            <a:pPr indent="0" lvl="0" marL="45720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0"/>
              </a:spcAft>
              <a:buSzPct val="117647"/>
              <a:buNone/>
            </a:pPr>
            <a:r>
              <a:rPr lang="es"/>
              <a:t>Dado lo anterior, </a:t>
            </a:r>
            <a:endParaRPr/>
          </a:p>
          <a:p>
            <a:pPr indent="-325755" lvl="0" marL="457200" rtl="0" algn="l">
              <a:lnSpc>
                <a:spcPct val="115000"/>
              </a:lnSpc>
              <a:spcBef>
                <a:spcPts val="1200"/>
              </a:spcBef>
              <a:spcAft>
                <a:spcPts val="0"/>
              </a:spcAft>
              <a:buSzPct val="100000"/>
              <a:buChar char="●"/>
            </a:pPr>
            <a:r>
              <a:rPr lang="es"/>
              <a:t>Deben existir distintas políticas de planificación que permitan un adecuado uso de los recursos</a:t>
            </a:r>
            <a:endParaRPr/>
          </a:p>
          <a:p>
            <a:pPr indent="-325755" lvl="0" marL="457200" rtl="0" algn="l">
              <a:lnSpc>
                <a:spcPct val="115000"/>
              </a:lnSpc>
              <a:spcBef>
                <a:spcPts val="0"/>
              </a:spcBef>
              <a:spcAft>
                <a:spcPts val="0"/>
              </a:spcAft>
              <a:buSzPct val="100000"/>
              <a:buChar char="●"/>
            </a:pPr>
            <a:r>
              <a:rPr lang="es"/>
              <a:t>La prioridad que tenga un proceso frente a los demás para acceder al recurso será inversamente proporcional al uso que haga del recurso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Clases de procesos</a:t>
            </a:r>
            <a:endParaRPr/>
          </a:p>
        </p:txBody>
      </p:sp>
      <p:pic>
        <p:nvPicPr>
          <p:cNvPr id="157" name="Google Shape;157;p15"/>
          <p:cNvPicPr preferRelativeResize="0"/>
          <p:nvPr/>
        </p:nvPicPr>
        <p:blipFill rotWithShape="1">
          <a:blip r:embed="rId3">
            <a:alphaModFix/>
          </a:blip>
          <a:srcRect b="0" l="0" r="0" t="0"/>
          <a:stretch/>
        </p:blipFill>
        <p:spPr>
          <a:xfrm>
            <a:off x="1092075" y="1666153"/>
            <a:ext cx="6393274" cy="2462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Esquemas de planificación</a:t>
            </a:r>
            <a:endParaRPr/>
          </a:p>
        </p:txBody>
      </p:sp>
      <p:sp>
        <p:nvSpPr>
          <p:cNvPr id="163" name="Google Shape;163;p16"/>
          <p:cNvSpPr/>
          <p:nvPr/>
        </p:nvSpPr>
        <p:spPr>
          <a:xfrm>
            <a:off x="3655950" y="4374775"/>
            <a:ext cx="1641900" cy="62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1" i="0" lang="es" sz="1700" u="none" cap="none" strike="noStrike">
                <a:solidFill>
                  <a:srgbClr val="000000"/>
                </a:solidFill>
                <a:latin typeface="Open Sans"/>
                <a:ea typeface="Open Sans"/>
                <a:cs typeface="Open Sans"/>
                <a:sym typeface="Open Sans"/>
              </a:rPr>
              <a:t>Planificador</a:t>
            </a:r>
            <a:endParaRPr b="1" i="0" sz="1700" u="none" cap="none" strike="noStrike">
              <a:solidFill>
                <a:srgbClr val="000000"/>
              </a:solidFill>
              <a:latin typeface="Open Sans"/>
              <a:ea typeface="Open Sans"/>
              <a:cs typeface="Open Sans"/>
              <a:sym typeface="Open Sans"/>
            </a:endParaRPr>
          </a:p>
        </p:txBody>
      </p:sp>
      <p:sp>
        <p:nvSpPr>
          <p:cNvPr id="164" name="Google Shape;164;p16"/>
          <p:cNvSpPr/>
          <p:nvPr/>
        </p:nvSpPr>
        <p:spPr>
          <a:xfrm>
            <a:off x="51425" y="1428300"/>
            <a:ext cx="1750800" cy="26706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Cuando un proceso se bloquea: </a:t>
            </a:r>
            <a:endParaRPr b="0"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por ejemplo cuando inicia una operación de E/S o espera a que termine un proceso hijo, etc</a:t>
            </a:r>
            <a:endParaRPr b="0" i="0" sz="1400" u="none" cap="none" strike="noStrike">
              <a:solidFill>
                <a:srgbClr val="000000"/>
              </a:solidFill>
              <a:latin typeface="Open Sans"/>
              <a:ea typeface="Open Sans"/>
              <a:cs typeface="Open Sans"/>
              <a:sym typeface="Open Sans"/>
            </a:endParaRPr>
          </a:p>
        </p:txBody>
      </p:sp>
      <p:sp>
        <p:nvSpPr>
          <p:cNvPr id="165" name="Google Shape;165;p16"/>
          <p:cNvSpPr/>
          <p:nvPr/>
        </p:nvSpPr>
        <p:spPr>
          <a:xfrm>
            <a:off x="1870988" y="1428300"/>
            <a:ext cx="1750800" cy="26706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Cuando un proceso cambia del estado Ejecutando al estado Listo(preparado).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Por ejemplo al ocurrir una interrupción.</a:t>
            </a:r>
            <a:endParaRPr b="0" i="0" sz="1400" u="none" cap="none" strike="noStrike">
              <a:solidFill>
                <a:srgbClr val="000000"/>
              </a:solidFill>
              <a:latin typeface="Open Sans"/>
              <a:ea typeface="Open Sans"/>
              <a:cs typeface="Open Sans"/>
              <a:sym typeface="Open Sans"/>
            </a:endParaRPr>
          </a:p>
        </p:txBody>
      </p:sp>
      <p:sp>
        <p:nvSpPr>
          <p:cNvPr id="166" name="Google Shape;166;p16"/>
          <p:cNvSpPr/>
          <p:nvPr/>
        </p:nvSpPr>
        <p:spPr>
          <a:xfrm>
            <a:off x="3690550" y="1428300"/>
            <a:ext cx="1750800" cy="26706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Cuando ocurre una interrupción de E/S y un proceso pasa del estado Bloqueado a Listo(preparado).</a:t>
            </a:r>
            <a:endParaRPr b="0" i="0" sz="1400" u="none" cap="none" strike="noStrike">
              <a:solidFill>
                <a:srgbClr val="000000"/>
              </a:solidFill>
              <a:latin typeface="Open Sans"/>
              <a:ea typeface="Open Sans"/>
              <a:cs typeface="Open Sans"/>
              <a:sym typeface="Open Sans"/>
            </a:endParaRPr>
          </a:p>
        </p:txBody>
      </p:sp>
      <p:sp>
        <p:nvSpPr>
          <p:cNvPr id="167" name="Google Shape;167;p16"/>
          <p:cNvSpPr/>
          <p:nvPr/>
        </p:nvSpPr>
        <p:spPr>
          <a:xfrm>
            <a:off x="5485800" y="1428300"/>
            <a:ext cx="1750800" cy="26706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Cuando se crea un proceso</a:t>
            </a:r>
            <a:endParaRPr b="0" i="0" sz="1400" u="none" cap="none" strike="noStrike">
              <a:solidFill>
                <a:srgbClr val="000000"/>
              </a:solidFill>
              <a:latin typeface="Open Sans"/>
              <a:ea typeface="Open Sans"/>
              <a:cs typeface="Open Sans"/>
              <a:sym typeface="Open Sans"/>
            </a:endParaRPr>
          </a:p>
        </p:txBody>
      </p:sp>
      <p:sp>
        <p:nvSpPr>
          <p:cNvPr id="168" name="Google Shape;168;p16"/>
          <p:cNvSpPr/>
          <p:nvPr/>
        </p:nvSpPr>
        <p:spPr>
          <a:xfrm>
            <a:off x="7281050" y="1399050"/>
            <a:ext cx="1750800" cy="27291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Cuando un proceso finaliza su ejecución</a:t>
            </a:r>
            <a:endParaRPr b="0" i="0" sz="1400" u="none" cap="none" strike="noStrike">
              <a:solidFill>
                <a:srgbClr val="000000"/>
              </a:solidFill>
              <a:latin typeface="Open Sans"/>
              <a:ea typeface="Open Sans"/>
              <a:cs typeface="Open Sans"/>
              <a:sym typeface="Open Sans"/>
            </a:endParaRPr>
          </a:p>
        </p:txBody>
      </p:sp>
      <p:cxnSp>
        <p:nvCxnSpPr>
          <p:cNvPr id="169" name="Google Shape;169;p16"/>
          <p:cNvCxnSpPr>
            <a:endCxn id="163" idx="1"/>
          </p:cNvCxnSpPr>
          <p:nvPr/>
        </p:nvCxnSpPr>
        <p:spPr>
          <a:xfrm>
            <a:off x="1218750" y="4148425"/>
            <a:ext cx="2437200" cy="537900"/>
          </a:xfrm>
          <a:prstGeom prst="straightConnector1">
            <a:avLst/>
          </a:prstGeom>
          <a:noFill/>
          <a:ln cap="flat" cmpd="sng" w="9525">
            <a:solidFill>
              <a:schemeClr val="dk2"/>
            </a:solidFill>
            <a:prstDash val="solid"/>
            <a:round/>
            <a:headEnd len="sm" w="sm" type="none"/>
            <a:tailEnd len="med" w="med" type="triangle"/>
          </a:ln>
        </p:spPr>
      </p:cxnSp>
      <p:cxnSp>
        <p:nvCxnSpPr>
          <p:cNvPr id="170" name="Google Shape;170;p16"/>
          <p:cNvCxnSpPr/>
          <p:nvPr/>
        </p:nvCxnSpPr>
        <p:spPr>
          <a:xfrm>
            <a:off x="3266125" y="4098975"/>
            <a:ext cx="415500" cy="316500"/>
          </a:xfrm>
          <a:prstGeom prst="straightConnector1">
            <a:avLst/>
          </a:prstGeom>
          <a:noFill/>
          <a:ln cap="flat" cmpd="sng" w="9525">
            <a:solidFill>
              <a:schemeClr val="dk2"/>
            </a:solidFill>
            <a:prstDash val="solid"/>
            <a:round/>
            <a:headEnd len="sm" w="sm" type="none"/>
            <a:tailEnd len="med" w="med" type="triangle"/>
          </a:ln>
        </p:spPr>
      </p:cxnSp>
      <p:cxnSp>
        <p:nvCxnSpPr>
          <p:cNvPr id="171" name="Google Shape;171;p16"/>
          <p:cNvCxnSpPr>
            <a:endCxn id="163" idx="0"/>
          </p:cNvCxnSpPr>
          <p:nvPr/>
        </p:nvCxnSpPr>
        <p:spPr>
          <a:xfrm flipH="1">
            <a:off x="4476900" y="4128775"/>
            <a:ext cx="351900" cy="246000"/>
          </a:xfrm>
          <a:prstGeom prst="straightConnector1">
            <a:avLst/>
          </a:prstGeom>
          <a:noFill/>
          <a:ln cap="flat" cmpd="sng" w="9525">
            <a:solidFill>
              <a:schemeClr val="dk2"/>
            </a:solidFill>
            <a:prstDash val="solid"/>
            <a:round/>
            <a:headEnd len="sm" w="sm" type="none"/>
            <a:tailEnd len="med" w="med" type="triangle"/>
          </a:ln>
        </p:spPr>
      </p:cxnSp>
      <p:cxnSp>
        <p:nvCxnSpPr>
          <p:cNvPr id="172" name="Google Shape;172;p16"/>
          <p:cNvCxnSpPr>
            <a:stCxn id="167" idx="2"/>
          </p:cNvCxnSpPr>
          <p:nvPr/>
        </p:nvCxnSpPr>
        <p:spPr>
          <a:xfrm flipH="1">
            <a:off x="5323500" y="4098900"/>
            <a:ext cx="1037700" cy="316500"/>
          </a:xfrm>
          <a:prstGeom prst="straightConnector1">
            <a:avLst/>
          </a:prstGeom>
          <a:noFill/>
          <a:ln cap="flat" cmpd="sng" w="9525">
            <a:solidFill>
              <a:schemeClr val="dk2"/>
            </a:solidFill>
            <a:prstDash val="solid"/>
            <a:round/>
            <a:headEnd len="sm" w="sm" type="none"/>
            <a:tailEnd len="med" w="med" type="triangle"/>
          </a:ln>
        </p:spPr>
      </p:cxnSp>
      <p:cxnSp>
        <p:nvCxnSpPr>
          <p:cNvPr id="173" name="Google Shape;173;p16"/>
          <p:cNvCxnSpPr>
            <a:stCxn id="168" idx="2"/>
            <a:endCxn id="163" idx="3"/>
          </p:cNvCxnSpPr>
          <p:nvPr/>
        </p:nvCxnSpPr>
        <p:spPr>
          <a:xfrm flipH="1">
            <a:off x="5297750" y="4128150"/>
            <a:ext cx="2858700" cy="558300"/>
          </a:xfrm>
          <a:prstGeom prst="straightConnector1">
            <a:avLst/>
          </a:prstGeom>
          <a:noFill/>
          <a:ln cap="flat" cmpd="sng" w="9525">
            <a:solidFill>
              <a:schemeClr val="dk2"/>
            </a:solidFill>
            <a:prstDash val="solid"/>
            <a:round/>
            <a:headEnd len="sm" w="sm" type="none"/>
            <a:tailEnd len="med" w="med" type="triangle"/>
          </a:ln>
        </p:spPr>
      </p:cxnSp>
      <p:sp>
        <p:nvSpPr>
          <p:cNvPr id="174" name="Google Shape;174;p16"/>
          <p:cNvSpPr txBox="1"/>
          <p:nvPr/>
        </p:nvSpPr>
        <p:spPr>
          <a:xfrm>
            <a:off x="5046575" y="83100"/>
            <a:ext cx="1750800" cy="76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Open Sans"/>
                <a:ea typeface="Open Sans"/>
                <a:cs typeface="Open Sans"/>
                <a:sym typeface="Open Sans"/>
              </a:rPr>
              <a:t>Los momentos en los que el planificador puede ser llamado son:</a:t>
            </a:r>
            <a:endParaRPr b="0" i="0" sz="1200" u="none" cap="none" strike="noStrike">
              <a:solidFill>
                <a:srgbClr val="000000"/>
              </a:solidFill>
              <a:latin typeface="Open Sans"/>
              <a:ea typeface="Open Sans"/>
              <a:cs typeface="Open Sans"/>
              <a:sym typeface="Open Sans"/>
            </a:endParaRPr>
          </a:p>
        </p:txBody>
      </p:sp>
      <p:sp>
        <p:nvSpPr>
          <p:cNvPr id="175" name="Google Shape;175;p16"/>
          <p:cNvSpPr/>
          <p:nvPr/>
        </p:nvSpPr>
        <p:spPr>
          <a:xfrm>
            <a:off x="4751575" y="29498"/>
            <a:ext cx="2283150" cy="983349"/>
          </a:xfrm>
          <a:custGeom>
            <a:rect b="b" l="l" r="r" t="t"/>
            <a:pathLst>
              <a:path extrusionOk="0" h="34269" w="91326">
                <a:moveTo>
                  <a:pt x="89348" y="32213"/>
                </a:moveTo>
                <a:cubicBezTo>
                  <a:pt x="79031" y="32213"/>
                  <a:pt x="68753" y="28811"/>
                  <a:pt x="58487" y="29839"/>
                </a:cubicBezTo>
                <a:cubicBezTo>
                  <a:pt x="48994" y="30789"/>
                  <a:pt x="39540" y="32609"/>
                  <a:pt x="30000" y="32609"/>
                </a:cubicBezTo>
                <a:cubicBezTo>
                  <a:pt x="23404" y="32609"/>
                  <a:pt x="16772" y="33731"/>
                  <a:pt x="10217" y="33004"/>
                </a:cubicBezTo>
                <a:cubicBezTo>
                  <a:pt x="4579" y="32379"/>
                  <a:pt x="-1467" y="24538"/>
                  <a:pt x="326" y="19157"/>
                </a:cubicBezTo>
                <a:cubicBezTo>
                  <a:pt x="2023" y="14064"/>
                  <a:pt x="2750" y="6610"/>
                  <a:pt x="7843" y="4913"/>
                </a:cubicBezTo>
                <a:cubicBezTo>
                  <a:pt x="20386" y="734"/>
                  <a:pt x="34187" y="2143"/>
                  <a:pt x="47408" y="2143"/>
                </a:cubicBezTo>
                <a:cubicBezTo>
                  <a:pt x="58753" y="2143"/>
                  <a:pt x="71707" y="-2903"/>
                  <a:pt x="81435" y="2935"/>
                </a:cubicBezTo>
                <a:cubicBezTo>
                  <a:pt x="85476" y="5360"/>
                  <a:pt x="87278" y="11916"/>
                  <a:pt x="85787" y="16387"/>
                </a:cubicBezTo>
                <a:cubicBezTo>
                  <a:pt x="85138" y="18333"/>
                  <a:pt x="82197" y="18834"/>
                  <a:pt x="81435" y="20739"/>
                </a:cubicBezTo>
                <a:cubicBezTo>
                  <a:pt x="80559" y="22930"/>
                  <a:pt x="82932" y="25401"/>
                  <a:pt x="84600" y="27070"/>
                </a:cubicBezTo>
                <a:cubicBezTo>
                  <a:pt x="86252" y="28723"/>
                  <a:pt x="84488" y="32750"/>
                  <a:pt x="86578" y="33796"/>
                </a:cubicBezTo>
                <a:cubicBezTo>
                  <a:pt x="87998" y="34507"/>
                  <a:pt x="89738" y="34191"/>
                  <a:pt x="91326" y="34191"/>
                </a:cubicBezTo>
              </a:path>
            </a:pathLst>
          </a:custGeom>
          <a:noFill/>
          <a:ln cap="flat" cmpd="sng" w="9525">
            <a:solidFill>
              <a:schemeClr val="dk2"/>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6" name="Google Shape;176;p16"/>
          <p:cNvPicPr preferRelativeResize="0"/>
          <p:nvPr/>
        </p:nvPicPr>
        <p:blipFill rotWithShape="1">
          <a:blip r:embed="rId3">
            <a:alphaModFix/>
          </a:blip>
          <a:srcRect b="0" l="0" r="0" t="0"/>
          <a:stretch/>
        </p:blipFill>
        <p:spPr>
          <a:xfrm>
            <a:off x="7034715" y="577000"/>
            <a:ext cx="661812" cy="707400"/>
          </a:xfrm>
          <a:prstGeom prst="rect">
            <a:avLst/>
          </a:prstGeom>
          <a:noFill/>
          <a:ln>
            <a:noFill/>
          </a:ln>
        </p:spPr>
      </p:pic>
      <p:sp>
        <p:nvSpPr>
          <p:cNvPr id="177" name="Google Shape;177;p16"/>
          <p:cNvSpPr/>
          <p:nvPr/>
        </p:nvSpPr>
        <p:spPr>
          <a:xfrm>
            <a:off x="750875" y="1230875"/>
            <a:ext cx="351900" cy="395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1</a:t>
            </a:r>
            <a:endParaRPr b="1" i="0" sz="1400" u="none" cap="none" strike="noStrike">
              <a:solidFill>
                <a:srgbClr val="000000"/>
              </a:solidFill>
              <a:latin typeface="Open Sans"/>
              <a:ea typeface="Open Sans"/>
              <a:cs typeface="Open Sans"/>
              <a:sym typeface="Open Sans"/>
            </a:endParaRPr>
          </a:p>
        </p:txBody>
      </p:sp>
      <p:sp>
        <p:nvSpPr>
          <p:cNvPr id="178" name="Google Shape;178;p16"/>
          <p:cNvSpPr/>
          <p:nvPr/>
        </p:nvSpPr>
        <p:spPr>
          <a:xfrm>
            <a:off x="2570438" y="1230875"/>
            <a:ext cx="351900" cy="395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2</a:t>
            </a:r>
            <a:endParaRPr b="1" i="0" sz="1400" u="none" cap="none" strike="noStrike">
              <a:solidFill>
                <a:srgbClr val="000000"/>
              </a:solidFill>
              <a:latin typeface="Open Sans"/>
              <a:ea typeface="Open Sans"/>
              <a:cs typeface="Open Sans"/>
              <a:sym typeface="Open Sans"/>
            </a:endParaRPr>
          </a:p>
        </p:txBody>
      </p:sp>
      <p:sp>
        <p:nvSpPr>
          <p:cNvPr id="179" name="Google Shape;179;p16"/>
          <p:cNvSpPr/>
          <p:nvPr/>
        </p:nvSpPr>
        <p:spPr>
          <a:xfrm>
            <a:off x="4377850" y="1230875"/>
            <a:ext cx="351900" cy="395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3</a:t>
            </a:r>
            <a:endParaRPr b="1" i="0" sz="1400" u="none" cap="none" strike="noStrike">
              <a:solidFill>
                <a:srgbClr val="000000"/>
              </a:solidFill>
              <a:latin typeface="Open Sans"/>
              <a:ea typeface="Open Sans"/>
              <a:cs typeface="Open Sans"/>
              <a:sym typeface="Open Sans"/>
            </a:endParaRPr>
          </a:p>
        </p:txBody>
      </p:sp>
      <p:sp>
        <p:nvSpPr>
          <p:cNvPr id="180" name="Google Shape;180;p16"/>
          <p:cNvSpPr/>
          <p:nvPr/>
        </p:nvSpPr>
        <p:spPr>
          <a:xfrm>
            <a:off x="6185250" y="1230875"/>
            <a:ext cx="351900" cy="395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4</a:t>
            </a:r>
            <a:endParaRPr b="1" i="0" sz="1400" u="none" cap="none" strike="noStrike">
              <a:solidFill>
                <a:srgbClr val="000000"/>
              </a:solidFill>
              <a:latin typeface="Open Sans"/>
              <a:ea typeface="Open Sans"/>
              <a:cs typeface="Open Sans"/>
              <a:sym typeface="Open Sans"/>
            </a:endParaRPr>
          </a:p>
        </p:txBody>
      </p:sp>
      <p:sp>
        <p:nvSpPr>
          <p:cNvPr id="181" name="Google Shape;181;p16"/>
          <p:cNvSpPr/>
          <p:nvPr/>
        </p:nvSpPr>
        <p:spPr>
          <a:xfrm>
            <a:off x="7992650" y="1230875"/>
            <a:ext cx="351900" cy="395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5</a:t>
            </a:r>
            <a:endParaRPr b="1"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Esquemas de planificación</a:t>
            </a:r>
            <a:endParaRPr/>
          </a:p>
        </p:txBody>
      </p:sp>
      <p:sp>
        <p:nvSpPr>
          <p:cNvPr id="187" name="Google Shape;187;p17"/>
          <p:cNvSpPr txBox="1"/>
          <p:nvPr>
            <p:ph idx="1" type="body"/>
          </p:nvPr>
        </p:nvSpPr>
        <p:spPr>
          <a:xfrm>
            <a:off x="311700" y="1266325"/>
            <a:ext cx="8520600" cy="3713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Dalo lo anterior, pueden ocurrir estos dos tipos de situaciones:</a:t>
            </a:r>
            <a:endParaRPr/>
          </a:p>
          <a:p>
            <a:pPr indent="0" lvl="0" marL="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Cuando ocurre 1 o 5, el planificador es invocado debido a que el proceso en ejecución libera el procesador</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Cuando ocurre 2, 3 y 4 y es llamado el planificador implica que le está quitando los recursos a un proceso para entregárselo a otros según alguna política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Esquemas de planificación</a:t>
            </a:r>
            <a:endParaRPr/>
          </a:p>
        </p:txBody>
      </p:sp>
      <p:sp>
        <p:nvSpPr>
          <p:cNvPr id="193" name="Google Shape;193;p18"/>
          <p:cNvSpPr txBox="1"/>
          <p:nvPr>
            <p:ph idx="1" type="body"/>
          </p:nvPr>
        </p:nvSpPr>
        <p:spPr>
          <a:xfrm>
            <a:off x="51425" y="1266325"/>
            <a:ext cx="9001200" cy="3742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t>Dado lo anterior, se generan dos tipos de esquemas de planificación, que son:</a:t>
            </a:r>
            <a:endParaRPr/>
          </a:p>
          <a:p>
            <a:pPr indent="0" lvl="0" marL="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b="1" lang="es">
                <a:solidFill>
                  <a:srgbClr val="3C78D8"/>
                </a:solidFill>
              </a:rPr>
              <a:t>Expropiativos (preemptive), </a:t>
            </a:r>
            <a:r>
              <a:rPr lang="es"/>
              <a:t>que expropia los recursos  (se lo quita) a un proceso para entregarlos a otros, ejemplo: se establece una política de tiempo de ejecución </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b="1" lang="es">
                <a:solidFill>
                  <a:srgbClr val="3C78D8"/>
                </a:solidFill>
              </a:rPr>
              <a:t>No Expropiativos (no-preemptive), </a:t>
            </a:r>
            <a:r>
              <a:rPr lang="es"/>
              <a:t>asigna los recursos a un proceso hasta éste los libere, esta liberación puede darse por:</a:t>
            </a:r>
            <a:endParaRPr/>
          </a:p>
          <a:p>
            <a:pPr indent="-317500" lvl="1" marL="914400" rtl="0" algn="l">
              <a:lnSpc>
                <a:spcPct val="115000"/>
              </a:lnSpc>
              <a:spcBef>
                <a:spcPts val="0"/>
              </a:spcBef>
              <a:spcAft>
                <a:spcPts val="0"/>
              </a:spcAft>
              <a:buSzPts val="1400"/>
              <a:buChar char="○"/>
            </a:pPr>
            <a:r>
              <a:rPr lang="es"/>
              <a:t>Se finaliza la ejecución del proceso</a:t>
            </a:r>
            <a:endParaRPr/>
          </a:p>
          <a:p>
            <a:pPr indent="-317500" lvl="1" marL="914400" rtl="0" algn="l">
              <a:lnSpc>
                <a:spcPct val="115000"/>
              </a:lnSpc>
              <a:spcBef>
                <a:spcPts val="0"/>
              </a:spcBef>
              <a:spcAft>
                <a:spcPts val="0"/>
              </a:spcAft>
              <a:buSzPts val="1400"/>
              <a:buChar char="○"/>
            </a:pPr>
            <a:r>
              <a:rPr lang="es"/>
              <a:t>El proceso pasa a estado bloqueado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Esquemas de planificación</a:t>
            </a:r>
            <a:endParaRPr/>
          </a:p>
        </p:txBody>
      </p:sp>
      <p:sp>
        <p:nvSpPr>
          <p:cNvPr id="199" name="Google Shape;199;p19"/>
          <p:cNvSpPr txBox="1"/>
          <p:nvPr>
            <p:ph idx="1" type="body"/>
          </p:nvPr>
        </p:nvSpPr>
        <p:spPr>
          <a:xfrm>
            <a:off x="51425" y="1266325"/>
            <a:ext cx="9001200" cy="374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Ejemplos de cuándo aplicar los tipos que esquemas:  </a:t>
            </a:r>
            <a:endParaRPr/>
          </a:p>
          <a:p>
            <a:pPr indent="0" lvl="0" marL="0" rtl="0" algn="l">
              <a:lnSpc>
                <a:spcPct val="115000"/>
              </a:lnSpc>
              <a:spcBef>
                <a:spcPts val="1200"/>
              </a:spcBef>
              <a:spcAft>
                <a:spcPts val="0"/>
              </a:spcAft>
              <a:buSzPts val="1800"/>
              <a:buNone/>
            </a:pPr>
            <a:r>
              <a:t/>
            </a:r>
            <a:endParaRPr/>
          </a:p>
          <a:p>
            <a:pPr indent="0" lvl="0" marL="457200" rtl="0" algn="l">
              <a:lnSpc>
                <a:spcPct val="115000"/>
              </a:lnSpc>
              <a:spcBef>
                <a:spcPts val="1200"/>
              </a:spcBef>
              <a:spcAft>
                <a:spcPts val="1200"/>
              </a:spcAft>
              <a:buSzPts val="1800"/>
              <a:buNone/>
            </a:pPr>
            <a:r>
              <a:t/>
            </a:r>
            <a:endParaRPr/>
          </a:p>
        </p:txBody>
      </p:sp>
      <p:sp>
        <p:nvSpPr>
          <p:cNvPr id="200" name="Google Shape;200;p19"/>
          <p:cNvSpPr/>
          <p:nvPr/>
        </p:nvSpPr>
        <p:spPr>
          <a:xfrm>
            <a:off x="219600" y="1952550"/>
            <a:ext cx="4648800" cy="28785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No Expropiativos:</a:t>
            </a:r>
            <a:endParaRPr b="1"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Sistemas por lotes, </a:t>
            </a:r>
            <a:r>
              <a:rPr b="0" i="0" lang="es" sz="1400" u="none" cap="none" strike="noStrike">
                <a:solidFill>
                  <a:srgbClr val="000000"/>
                </a:solidFill>
                <a:latin typeface="Open Sans"/>
                <a:ea typeface="Open Sans"/>
                <a:cs typeface="Open Sans"/>
                <a:sym typeface="Open Sans"/>
              </a:rPr>
              <a:t>ya que al no existe interacción con el usuario, no es necesario interrumpir la ejecución de un proceso</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sistemas de tiempo real,</a:t>
            </a:r>
            <a:r>
              <a:rPr b="0" i="0" lang="es" sz="1400" u="none" cap="none" strike="noStrike">
                <a:solidFill>
                  <a:srgbClr val="000000"/>
                </a:solidFill>
                <a:latin typeface="Open Sans"/>
                <a:ea typeface="Open Sans"/>
                <a:cs typeface="Open Sans"/>
                <a:sym typeface="Open Sans"/>
              </a:rPr>
              <a:t> al ser procesos donde la duración de su ejecución de breve y puede ser entre periodo largos de tiempos que no sea utilizado</a:t>
            </a:r>
            <a:endParaRPr b="0" i="0" sz="1400" u="none" cap="none" strike="noStrike">
              <a:solidFill>
                <a:srgbClr val="000000"/>
              </a:solidFill>
              <a:latin typeface="Open Sans"/>
              <a:ea typeface="Open Sans"/>
              <a:cs typeface="Open Sans"/>
              <a:sym typeface="Open Sans"/>
            </a:endParaRPr>
          </a:p>
        </p:txBody>
      </p:sp>
      <p:sp>
        <p:nvSpPr>
          <p:cNvPr id="201" name="Google Shape;201;p19"/>
          <p:cNvSpPr/>
          <p:nvPr/>
        </p:nvSpPr>
        <p:spPr>
          <a:xfrm>
            <a:off x="5076250" y="1962450"/>
            <a:ext cx="3857700" cy="28785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Expropiativos:</a:t>
            </a:r>
            <a:endParaRPr b="1"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Sistemas Interactivos, </a:t>
            </a:r>
            <a:r>
              <a:rPr b="0" i="0" lang="es" sz="1400" u="none" cap="none" strike="noStrike">
                <a:solidFill>
                  <a:srgbClr val="000000"/>
                </a:solidFill>
                <a:latin typeface="Open Sans"/>
                <a:ea typeface="Open Sans"/>
                <a:cs typeface="Open Sans"/>
                <a:sym typeface="Open Sans"/>
              </a:rPr>
              <a:t>cualquier sistema donde intervengan usuarios reales requerirá planificadores exploradores, ya que la prioridad es entregar la respuesta al cliente lo más rápido posible, el sistema debe ser capaz de interrumpir otros procesos y expropiar los recursos bajo esta premisa.</a:t>
            </a:r>
            <a:endParaRPr b="0"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Criterios de planificación</a:t>
            </a:r>
            <a:endParaRPr/>
          </a:p>
        </p:txBody>
      </p:sp>
      <p:sp>
        <p:nvSpPr>
          <p:cNvPr id="207" name="Google Shape;207;p20"/>
          <p:cNvSpPr txBox="1"/>
          <p:nvPr>
            <p:ph idx="1" type="body"/>
          </p:nvPr>
        </p:nvSpPr>
        <p:spPr>
          <a:xfrm>
            <a:off x="311700" y="1266325"/>
            <a:ext cx="8520600" cy="3742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t>Los algoritmos de planificación presentan diversas propiedades según los cuales se establecen criterios que pueden o no beneficiar la asignación de recursos a un proceso, algunos de estos son:</a:t>
            </a:r>
            <a:endParaRPr/>
          </a:p>
          <a:p>
            <a:pPr indent="0" lvl="0" marL="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b="1" lang="es">
                <a:solidFill>
                  <a:srgbClr val="3D85C6"/>
                </a:solidFill>
              </a:rPr>
              <a:t>Eficiencia,</a:t>
            </a:r>
            <a:r>
              <a:rPr lang="es"/>
              <a:t> porcentaje de tiempo medio utilizado, aunque se piense que debería ser cercano al 100%, hay que considerar todos los factores, como por ejemplo: el tiempo medio de espera. </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b="1" lang="es">
                <a:solidFill>
                  <a:srgbClr val="3D85C6"/>
                </a:solidFill>
              </a:rPr>
              <a:t>Rendimiento (throughput), </a:t>
            </a:r>
            <a:r>
              <a:rPr lang="es"/>
              <a:t>es la medida del número de trabajos completados por unidad de tiempo, por ejemplo: 10 procesos pro seg.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Criterios de planificación</a:t>
            </a:r>
            <a:endParaRPr/>
          </a:p>
        </p:txBody>
      </p:sp>
      <p:sp>
        <p:nvSpPr>
          <p:cNvPr id="213" name="Google Shape;213;p2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s">
                <a:solidFill>
                  <a:srgbClr val="6D9EEB"/>
                </a:solidFill>
              </a:rPr>
              <a:t>Utilización de CPU (CPU utilization),</a:t>
            </a:r>
            <a:r>
              <a:rPr lang="es"/>
              <a:t> porcentaje de uso que tiene un procesador por unidad de tiempo</a:t>
            </a:r>
            <a:endParaRPr/>
          </a:p>
        </p:txBody>
      </p:sp>
      <p:pic>
        <p:nvPicPr>
          <p:cNvPr id="214" name="Google Shape;214;p21"/>
          <p:cNvPicPr preferRelativeResize="0"/>
          <p:nvPr/>
        </p:nvPicPr>
        <p:blipFill rotWithShape="1">
          <a:blip r:embed="rId3">
            <a:alphaModFix/>
          </a:blip>
          <a:srcRect b="0" l="0" r="0" t="0"/>
          <a:stretch/>
        </p:blipFill>
        <p:spPr>
          <a:xfrm>
            <a:off x="2462575" y="2079625"/>
            <a:ext cx="4948025" cy="2872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Criterios de planificación</a:t>
            </a:r>
            <a:endParaRPr/>
          </a:p>
        </p:txBody>
      </p:sp>
      <p:sp>
        <p:nvSpPr>
          <p:cNvPr id="220" name="Google Shape;220;p22"/>
          <p:cNvSpPr txBox="1"/>
          <p:nvPr>
            <p:ph idx="1" type="body"/>
          </p:nvPr>
        </p:nvSpPr>
        <p:spPr>
          <a:xfrm>
            <a:off x="311700" y="1266325"/>
            <a:ext cx="8520600" cy="3742800"/>
          </a:xfrm>
          <a:prstGeom prst="rect">
            <a:avLst/>
          </a:prstGeom>
          <a:noFill/>
          <a:ln>
            <a:noFill/>
          </a:ln>
        </p:spPr>
        <p:txBody>
          <a:bodyPr anchorCtr="0" anchor="t" bIns="91425" lIns="91425" spcFirstLastPara="1" rIns="91425" wrap="square" tIns="91425">
            <a:normAutofit fontScale="92500" lnSpcReduction="10000"/>
          </a:bodyPr>
          <a:lstStyle/>
          <a:p>
            <a:pPr indent="-334327" lvl="0" marL="457200" rtl="0" algn="l">
              <a:lnSpc>
                <a:spcPct val="115000"/>
              </a:lnSpc>
              <a:spcBef>
                <a:spcPts val="0"/>
              </a:spcBef>
              <a:spcAft>
                <a:spcPts val="0"/>
              </a:spcAft>
              <a:buSzPct val="100000"/>
              <a:buChar char="●"/>
            </a:pPr>
            <a:r>
              <a:rPr b="1" lang="es">
                <a:solidFill>
                  <a:srgbClr val="3D85C6"/>
                </a:solidFill>
              </a:rPr>
              <a:t>Tiempo de retorno o regreso (turnaround time), </a:t>
            </a:r>
            <a:r>
              <a:rPr lang="es"/>
              <a:t>es el intervalo de tiempo que transcurre desde que se crea un proceso hasta que se completa.</a:t>
            </a:r>
            <a:endParaRPr/>
          </a:p>
          <a:p>
            <a:pPr indent="0" lvl="0" marL="457200" rtl="0" algn="l">
              <a:lnSpc>
                <a:spcPct val="115000"/>
              </a:lnSpc>
              <a:spcBef>
                <a:spcPts val="1200"/>
              </a:spcBef>
              <a:spcAft>
                <a:spcPts val="0"/>
              </a:spcAft>
              <a:buSzPct val="108108"/>
              <a:buNone/>
            </a:pPr>
            <a:r>
              <a:t/>
            </a:r>
            <a:endParaRPr/>
          </a:p>
          <a:p>
            <a:pPr indent="-334327" lvl="0" marL="457200" rtl="0" algn="l">
              <a:lnSpc>
                <a:spcPct val="115000"/>
              </a:lnSpc>
              <a:spcBef>
                <a:spcPts val="1200"/>
              </a:spcBef>
              <a:spcAft>
                <a:spcPts val="0"/>
              </a:spcAft>
              <a:buSzPct val="100000"/>
              <a:buChar char="●"/>
            </a:pPr>
            <a:r>
              <a:rPr b="1" lang="es">
                <a:solidFill>
                  <a:srgbClr val="3D85C6"/>
                </a:solidFill>
              </a:rPr>
              <a:t>Tiempo de espera (waiting time), </a:t>
            </a:r>
            <a:r>
              <a:rPr lang="es"/>
              <a:t>es el tiempo que el proceso espera hasta que se le asigna el procesador. También,  podría considerarse como una medida de eficiencia, ya que elimina el tiempo que demora el proceso en ejecutarse.</a:t>
            </a:r>
            <a:endParaRPr/>
          </a:p>
          <a:p>
            <a:pPr indent="0" lvl="0" marL="457200" rtl="0" algn="l">
              <a:lnSpc>
                <a:spcPct val="115000"/>
              </a:lnSpc>
              <a:spcBef>
                <a:spcPts val="1200"/>
              </a:spcBef>
              <a:spcAft>
                <a:spcPts val="0"/>
              </a:spcAft>
              <a:buSzPct val="108108"/>
              <a:buNone/>
            </a:pPr>
            <a:r>
              <a:t/>
            </a:r>
            <a:endParaRPr b="1">
              <a:solidFill>
                <a:srgbClr val="3D85C6"/>
              </a:solidFill>
            </a:endParaRPr>
          </a:p>
          <a:p>
            <a:pPr indent="-334327" lvl="0" marL="457200" rtl="0" algn="l">
              <a:lnSpc>
                <a:spcPct val="115000"/>
              </a:lnSpc>
              <a:spcBef>
                <a:spcPts val="1200"/>
              </a:spcBef>
              <a:spcAft>
                <a:spcPts val="0"/>
              </a:spcAft>
              <a:buSzPct val="100000"/>
              <a:buChar char="●"/>
            </a:pPr>
            <a:r>
              <a:rPr b="1" lang="es">
                <a:solidFill>
                  <a:srgbClr val="3D85C6"/>
                </a:solidFill>
              </a:rPr>
              <a:t>Tiempo de respuesta a un evento (response time),</a:t>
            </a:r>
            <a:r>
              <a:rPr lang="es"/>
              <a:t> intervalo de tiempo desde que se señala un evento hasta que se ejecuta la primera instrucción de dicho evento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Criterios de planificación</a:t>
            </a:r>
            <a:endParaRPr/>
          </a:p>
          <a:p>
            <a:pPr indent="0" lvl="0" marL="0" rtl="0" algn="l">
              <a:lnSpc>
                <a:spcPct val="100000"/>
              </a:lnSpc>
              <a:spcBef>
                <a:spcPts val="0"/>
              </a:spcBef>
              <a:spcAft>
                <a:spcPts val="0"/>
              </a:spcAft>
              <a:buSzPct val="111111"/>
              <a:buNone/>
            </a:pPr>
            <a:r>
              <a:t/>
            </a:r>
            <a:endParaRPr/>
          </a:p>
        </p:txBody>
      </p:sp>
      <p:sp>
        <p:nvSpPr>
          <p:cNvPr id="226" name="Google Shape;226;p23"/>
          <p:cNvSpPr txBox="1"/>
          <p:nvPr>
            <p:ph idx="1" type="body"/>
          </p:nvPr>
        </p:nvSpPr>
        <p:spPr>
          <a:xfrm>
            <a:off x="311700" y="1266325"/>
            <a:ext cx="8520600" cy="37623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t>El objetivo de aplicar estos criterios suele ser la maximización y minimización de una función en términos de los parámetros señalados, un ejemplos de esto serían:</a:t>
            </a:r>
            <a:endParaRPr/>
          </a:p>
          <a:p>
            <a:pPr indent="0" lvl="0" marL="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Maximizar la eficiencia</a:t>
            </a:r>
            <a:endParaRPr/>
          </a:p>
          <a:p>
            <a:pPr indent="-342900" lvl="0" marL="457200" rtl="0" algn="l">
              <a:lnSpc>
                <a:spcPct val="115000"/>
              </a:lnSpc>
              <a:spcBef>
                <a:spcPts val="0"/>
              </a:spcBef>
              <a:spcAft>
                <a:spcPts val="0"/>
              </a:spcAft>
              <a:buSzPts val="1800"/>
              <a:buChar char="●"/>
            </a:pPr>
            <a:r>
              <a:rPr lang="es"/>
              <a:t>Maximizar el rendimiento</a:t>
            </a:r>
            <a:endParaRPr/>
          </a:p>
          <a:p>
            <a:pPr indent="-342900" lvl="0" marL="457200" rtl="0" algn="l">
              <a:lnSpc>
                <a:spcPct val="115000"/>
              </a:lnSpc>
              <a:spcBef>
                <a:spcPts val="0"/>
              </a:spcBef>
              <a:spcAft>
                <a:spcPts val="0"/>
              </a:spcAft>
              <a:buSzPts val="1800"/>
              <a:buChar char="●"/>
            </a:pPr>
            <a:r>
              <a:rPr lang="es"/>
              <a:t>Minimizar los tiempos de espera  </a:t>
            </a:r>
            <a:endParaRPr/>
          </a:p>
          <a:p>
            <a:pPr indent="-342900" lvl="0" marL="457200" rtl="0" algn="l">
              <a:lnSpc>
                <a:spcPct val="115000"/>
              </a:lnSpc>
              <a:spcBef>
                <a:spcPts val="0"/>
              </a:spcBef>
              <a:spcAft>
                <a:spcPts val="0"/>
              </a:spcAft>
              <a:buSzPts val="1800"/>
              <a:buChar char="●"/>
            </a:pPr>
            <a:r>
              <a:rPr lang="es"/>
              <a:t>Minimizar la varianza del tiempo de respuesta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227" name="Google Shape;227;p23"/>
          <p:cNvSpPr/>
          <p:nvPr/>
        </p:nvSpPr>
        <p:spPr>
          <a:xfrm>
            <a:off x="5847775" y="2506475"/>
            <a:ext cx="593400" cy="1869600"/>
          </a:xfrm>
          <a:prstGeom prst="rightBrace">
            <a:avLst>
              <a:gd fmla="val 50000" name="adj1"/>
              <a:gd fmla="val 50000" name="adj2"/>
            </a:avLst>
          </a:prstGeom>
          <a:noFill/>
          <a:ln cap="flat" cmpd="sng" w="2857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28" name="Google Shape;228;p23"/>
          <p:cNvSpPr/>
          <p:nvPr/>
        </p:nvSpPr>
        <p:spPr>
          <a:xfrm>
            <a:off x="6510500" y="2664700"/>
            <a:ext cx="2215500" cy="1473900"/>
          </a:xfrm>
          <a:prstGeom prst="roundRect">
            <a:avLst>
              <a:gd fmla="val 16667" name="adj"/>
            </a:avLst>
          </a:prstGeom>
          <a:solidFill>
            <a:srgbClr val="D5A6B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1200"/>
              </a:spcAft>
              <a:buClr>
                <a:srgbClr val="000000"/>
              </a:buClr>
              <a:buSzPts val="1800"/>
              <a:buFont typeface="Arial"/>
              <a:buNone/>
            </a:pPr>
            <a:r>
              <a:rPr b="1" i="0" lang="es" sz="1800" u="none" cap="none" strike="noStrike">
                <a:solidFill>
                  <a:schemeClr val="dk2"/>
                </a:solidFill>
                <a:latin typeface="Open Sans"/>
                <a:ea typeface="Open Sans"/>
                <a:cs typeface="Open Sans"/>
                <a:sym typeface="Open Sans"/>
              </a:rPr>
              <a:t>Por si solos y/o combinaciones de los mismos</a:t>
            </a:r>
            <a:endParaRPr b="1"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p:txBody>
      </p:sp>
      <p:sp>
        <p:nvSpPr>
          <p:cNvPr id="234" name="Google Shape;234;p24"/>
          <p:cNvSpPr txBox="1"/>
          <p:nvPr>
            <p:ph idx="1" type="body"/>
          </p:nvPr>
        </p:nvSpPr>
        <p:spPr>
          <a:xfrm>
            <a:off x="311700" y="1266325"/>
            <a:ext cx="8671500" cy="3703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Existen varios algoritmos de planificación, los cuales buscan optimizar algunos de los criterios revisados, algunos de estos algoritmos son:</a:t>
            </a:r>
            <a:endParaRPr/>
          </a:p>
          <a:p>
            <a:pPr indent="0" lvl="0" marL="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Prioridad</a:t>
            </a:r>
            <a:endParaRPr/>
          </a:p>
          <a:p>
            <a:pPr indent="-342900" lvl="0" marL="457200" rtl="0" algn="l">
              <a:lnSpc>
                <a:spcPct val="115000"/>
              </a:lnSpc>
              <a:spcBef>
                <a:spcPts val="0"/>
              </a:spcBef>
              <a:spcAft>
                <a:spcPts val="0"/>
              </a:spcAft>
              <a:buSzPts val="1800"/>
              <a:buChar char="●"/>
            </a:pPr>
            <a:r>
              <a:rPr lang="es"/>
              <a:t>FCFS (First Come First Served)</a:t>
            </a:r>
            <a:endParaRPr/>
          </a:p>
          <a:p>
            <a:pPr indent="-342900" lvl="0" marL="457200" rtl="0" algn="l">
              <a:lnSpc>
                <a:spcPct val="115000"/>
              </a:lnSpc>
              <a:spcBef>
                <a:spcPts val="0"/>
              </a:spcBef>
              <a:spcAft>
                <a:spcPts val="0"/>
              </a:spcAft>
              <a:buSzPts val="1800"/>
              <a:buChar char="●"/>
            </a:pPr>
            <a:r>
              <a:rPr lang="es"/>
              <a:t>SJF (Shortest Job First )</a:t>
            </a:r>
            <a:endParaRPr/>
          </a:p>
          <a:p>
            <a:pPr indent="-342900" lvl="0" marL="457200" rtl="0" algn="l">
              <a:lnSpc>
                <a:spcPct val="115000"/>
              </a:lnSpc>
              <a:spcBef>
                <a:spcPts val="0"/>
              </a:spcBef>
              <a:spcAft>
                <a:spcPts val="0"/>
              </a:spcAft>
              <a:buSzPts val="1800"/>
              <a:buChar char="●"/>
            </a:pPr>
            <a:r>
              <a:rPr lang="es"/>
              <a:t>SRT(Shortest Remaining Time - versión expropiatoria de SJF)</a:t>
            </a:r>
            <a:endParaRPr/>
          </a:p>
          <a:p>
            <a:pPr indent="-342900" lvl="0" marL="457200" rtl="0" algn="l">
              <a:lnSpc>
                <a:spcPct val="115000"/>
              </a:lnSpc>
              <a:spcBef>
                <a:spcPts val="0"/>
              </a:spcBef>
              <a:spcAft>
                <a:spcPts val="0"/>
              </a:spcAft>
              <a:buSzPts val="1800"/>
              <a:buChar char="●"/>
            </a:pPr>
            <a:r>
              <a:rPr lang="es"/>
              <a:t>RR (Round-Robin)</a:t>
            </a:r>
            <a:endParaRPr/>
          </a:p>
          <a:p>
            <a:pPr indent="-342900" lvl="0" marL="457200" rtl="0" algn="l">
              <a:lnSpc>
                <a:spcPct val="115000"/>
              </a:lnSpc>
              <a:spcBef>
                <a:spcPts val="0"/>
              </a:spcBef>
              <a:spcAft>
                <a:spcPts val="0"/>
              </a:spcAft>
              <a:buSzPts val="1800"/>
              <a:buChar char="●"/>
            </a:pPr>
            <a:r>
              <a:rPr lang="es"/>
              <a:t>Multilevel-Queue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p:txBody>
      </p:sp>
      <p:sp>
        <p:nvSpPr>
          <p:cNvPr id="240" name="Google Shape;240;p25"/>
          <p:cNvSpPr txBox="1"/>
          <p:nvPr>
            <p:ph idx="1" type="body"/>
          </p:nvPr>
        </p:nvSpPr>
        <p:spPr>
          <a:xfrm>
            <a:off x="98075" y="1301425"/>
            <a:ext cx="8982000" cy="37032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05882"/>
              <a:buNone/>
            </a:pPr>
            <a:r>
              <a:rPr b="1" lang="es" sz="2000">
                <a:solidFill>
                  <a:srgbClr val="3D85C6"/>
                </a:solidFill>
              </a:rPr>
              <a:t>Prioridad</a:t>
            </a:r>
            <a:r>
              <a:rPr lang="es" sz="1900">
                <a:solidFill>
                  <a:srgbClr val="000000"/>
                </a:solidFill>
              </a:rPr>
              <a:t>, </a:t>
            </a:r>
            <a:endParaRPr sz="1900">
              <a:solidFill>
                <a:srgbClr val="000000"/>
              </a:solidFill>
            </a:endParaRPr>
          </a:p>
          <a:p>
            <a:pPr indent="-331152" lvl="0" marL="457200" rtl="0" algn="l">
              <a:lnSpc>
                <a:spcPct val="115000"/>
              </a:lnSpc>
              <a:spcBef>
                <a:spcPts val="1200"/>
              </a:spcBef>
              <a:spcAft>
                <a:spcPts val="0"/>
              </a:spcAft>
              <a:buClr>
                <a:srgbClr val="000000"/>
              </a:buClr>
              <a:buSzPct val="100000"/>
              <a:buChar char="●"/>
            </a:pPr>
            <a:r>
              <a:rPr lang="es" sz="1900">
                <a:solidFill>
                  <a:srgbClr val="000000"/>
                </a:solidFill>
              </a:rPr>
              <a:t>Este algoritmo define la prioridad de ejecución basado el algún criterio</a:t>
            </a:r>
            <a:endParaRPr sz="1900">
              <a:solidFill>
                <a:srgbClr val="000000"/>
              </a:solidFill>
            </a:endParaRPr>
          </a:p>
          <a:p>
            <a:pPr indent="0" lvl="0" marL="457200" rtl="0" algn="l">
              <a:lnSpc>
                <a:spcPct val="115000"/>
              </a:lnSpc>
              <a:spcBef>
                <a:spcPts val="1200"/>
              </a:spcBef>
              <a:spcAft>
                <a:spcPts val="0"/>
              </a:spcAft>
              <a:buSzPct val="111455"/>
              <a:buNone/>
            </a:pPr>
            <a:r>
              <a:t/>
            </a:r>
            <a:endParaRPr sz="1900">
              <a:solidFill>
                <a:srgbClr val="000000"/>
              </a:solidFill>
            </a:endParaRPr>
          </a:p>
          <a:p>
            <a:pPr indent="-331152" lvl="0" marL="457200" rtl="0" algn="l">
              <a:lnSpc>
                <a:spcPct val="115000"/>
              </a:lnSpc>
              <a:spcBef>
                <a:spcPts val="1200"/>
              </a:spcBef>
              <a:spcAft>
                <a:spcPts val="0"/>
              </a:spcAft>
              <a:buClr>
                <a:srgbClr val="000000"/>
              </a:buClr>
              <a:buSzPct val="100000"/>
              <a:buChar char="●"/>
            </a:pPr>
            <a:r>
              <a:rPr lang="es" sz="1900">
                <a:solidFill>
                  <a:srgbClr val="000000"/>
                </a:solidFill>
              </a:rPr>
              <a:t>Esta prioridad puede ser asignada por:</a:t>
            </a:r>
            <a:endParaRPr sz="1900">
              <a:solidFill>
                <a:srgbClr val="000000"/>
              </a:solidFill>
            </a:endParaRPr>
          </a:p>
          <a:p>
            <a:pPr indent="-331151" lvl="1" marL="914400" rtl="0" algn="l">
              <a:lnSpc>
                <a:spcPct val="115000"/>
              </a:lnSpc>
              <a:spcBef>
                <a:spcPts val="0"/>
              </a:spcBef>
              <a:spcAft>
                <a:spcPts val="0"/>
              </a:spcAft>
              <a:buClr>
                <a:srgbClr val="000000"/>
              </a:buClr>
              <a:buSzPct val="100000"/>
              <a:buChar char="○"/>
            </a:pPr>
            <a:r>
              <a:rPr lang="es" sz="1900">
                <a:solidFill>
                  <a:srgbClr val="000000"/>
                </a:solidFill>
              </a:rPr>
              <a:t>el usuario ⇒ ejemplo: una interrupción de teclado</a:t>
            </a:r>
            <a:endParaRPr sz="1900">
              <a:solidFill>
                <a:srgbClr val="000000"/>
              </a:solidFill>
            </a:endParaRPr>
          </a:p>
          <a:p>
            <a:pPr indent="-331151" lvl="1" marL="914400" rtl="0" algn="l">
              <a:lnSpc>
                <a:spcPct val="115000"/>
              </a:lnSpc>
              <a:spcBef>
                <a:spcPts val="0"/>
              </a:spcBef>
              <a:spcAft>
                <a:spcPts val="0"/>
              </a:spcAft>
              <a:buClr>
                <a:srgbClr val="000000"/>
              </a:buClr>
              <a:buSzPct val="100000"/>
              <a:buChar char="○"/>
            </a:pPr>
            <a:r>
              <a:rPr lang="es" sz="1900">
                <a:solidFill>
                  <a:srgbClr val="000000"/>
                </a:solidFill>
              </a:rPr>
              <a:t>el sistema ⇒ ejemplo: ejecutar primero los procesos más complejos</a:t>
            </a:r>
            <a:endParaRPr sz="1900">
              <a:solidFill>
                <a:srgbClr val="000000"/>
              </a:solidFill>
            </a:endParaRPr>
          </a:p>
          <a:p>
            <a:pPr indent="0" lvl="0" marL="914400" rtl="0" algn="l">
              <a:lnSpc>
                <a:spcPct val="115000"/>
              </a:lnSpc>
              <a:spcBef>
                <a:spcPts val="1200"/>
              </a:spcBef>
              <a:spcAft>
                <a:spcPts val="0"/>
              </a:spcAft>
              <a:buSzPct val="111455"/>
              <a:buNone/>
            </a:pPr>
            <a:r>
              <a:t/>
            </a:r>
            <a:endParaRPr sz="1900">
              <a:solidFill>
                <a:srgbClr val="000000"/>
              </a:solidFill>
            </a:endParaRPr>
          </a:p>
          <a:p>
            <a:pPr indent="-331152" lvl="0" marL="457200" rtl="0" algn="l">
              <a:lnSpc>
                <a:spcPct val="115000"/>
              </a:lnSpc>
              <a:spcBef>
                <a:spcPts val="1200"/>
              </a:spcBef>
              <a:spcAft>
                <a:spcPts val="0"/>
              </a:spcAft>
              <a:buClr>
                <a:srgbClr val="000000"/>
              </a:buClr>
              <a:buSzPct val="100000"/>
              <a:buChar char="●"/>
            </a:pPr>
            <a:r>
              <a:rPr lang="es" sz="1900">
                <a:solidFill>
                  <a:srgbClr val="000000"/>
                </a:solidFill>
              </a:rPr>
              <a:t>La prioridad puede ser de dos tipos</a:t>
            </a:r>
            <a:endParaRPr sz="1900">
              <a:solidFill>
                <a:srgbClr val="000000"/>
              </a:solidFill>
            </a:endParaRPr>
          </a:p>
          <a:p>
            <a:pPr indent="-331151" lvl="1" marL="914400" rtl="0" algn="l">
              <a:lnSpc>
                <a:spcPct val="115000"/>
              </a:lnSpc>
              <a:spcBef>
                <a:spcPts val="0"/>
              </a:spcBef>
              <a:spcAft>
                <a:spcPts val="0"/>
              </a:spcAft>
              <a:buClr>
                <a:srgbClr val="000000"/>
              </a:buClr>
              <a:buSzPct val="100000"/>
              <a:buChar char="○"/>
            </a:pPr>
            <a:r>
              <a:rPr lang="es" sz="1900">
                <a:solidFill>
                  <a:srgbClr val="000000"/>
                </a:solidFill>
              </a:rPr>
              <a:t>Estática ⇒ la prioridad no cambia durante el tiempo de ejecución del proceso</a:t>
            </a:r>
            <a:endParaRPr sz="1900">
              <a:solidFill>
                <a:srgbClr val="000000"/>
              </a:solidFill>
            </a:endParaRPr>
          </a:p>
          <a:p>
            <a:pPr indent="-331151" lvl="1" marL="914400" rtl="0" algn="l">
              <a:lnSpc>
                <a:spcPct val="115000"/>
              </a:lnSpc>
              <a:spcBef>
                <a:spcPts val="0"/>
              </a:spcBef>
              <a:spcAft>
                <a:spcPts val="0"/>
              </a:spcAft>
              <a:buClr>
                <a:srgbClr val="000000"/>
              </a:buClr>
              <a:buSzPct val="100000"/>
              <a:buChar char="○"/>
            </a:pPr>
            <a:r>
              <a:rPr lang="es" sz="1900">
                <a:solidFill>
                  <a:srgbClr val="000000"/>
                </a:solidFill>
              </a:rPr>
              <a:t>Dinámica ⇒ la prioridad puede ser cambiada en tiempo de ejecución por el usuario o por el sistema </a:t>
            </a:r>
            <a:r>
              <a:rPr lang="es" sz="1900">
                <a:solidFill>
                  <a:srgbClr val="EA9999"/>
                </a:solidFill>
              </a:rPr>
              <a:t>(</a:t>
            </a:r>
            <a:r>
              <a:rPr b="1" lang="es" sz="1900">
                <a:solidFill>
                  <a:srgbClr val="EA9999"/>
                </a:solidFill>
              </a:rPr>
              <a:t>EXPROPIATORIO)</a:t>
            </a:r>
            <a:endParaRPr b="1" sz="1900">
              <a:solidFill>
                <a:srgbClr val="EA999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p:txBody>
      </p:sp>
      <p:sp>
        <p:nvSpPr>
          <p:cNvPr id="246" name="Google Shape;246;p26"/>
          <p:cNvSpPr txBox="1"/>
          <p:nvPr>
            <p:ph idx="1" type="body"/>
          </p:nvPr>
        </p:nvSpPr>
        <p:spPr>
          <a:xfrm>
            <a:off x="98075" y="1301425"/>
            <a:ext cx="8982000" cy="3703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000">
                <a:solidFill>
                  <a:srgbClr val="3D85C6"/>
                </a:solidFill>
              </a:rPr>
              <a:t>FCFS (First Come First Served),</a:t>
            </a:r>
            <a:endParaRPr/>
          </a:p>
          <a:p>
            <a:pPr indent="-349250" lvl="0" marL="457200" rtl="0" algn="l">
              <a:lnSpc>
                <a:spcPct val="115000"/>
              </a:lnSpc>
              <a:spcBef>
                <a:spcPts val="1200"/>
              </a:spcBef>
              <a:spcAft>
                <a:spcPts val="0"/>
              </a:spcAft>
              <a:buClr>
                <a:srgbClr val="000000"/>
              </a:buClr>
              <a:buSzPts val="1900"/>
              <a:buChar char="●"/>
            </a:pPr>
            <a:r>
              <a:rPr lang="es" sz="1900">
                <a:solidFill>
                  <a:srgbClr val="000000"/>
                </a:solidFill>
              </a:rPr>
              <a:t>El primero en entrar es el primero en ser servido, se puede implementar mediante FIFO</a:t>
            </a:r>
            <a:endParaRPr sz="1900">
              <a:solidFill>
                <a:srgbClr val="000000"/>
              </a:solidFill>
            </a:endParaRPr>
          </a:p>
          <a:p>
            <a:pPr indent="0" lvl="0" marL="457200" rtl="0" algn="l">
              <a:lnSpc>
                <a:spcPct val="115000"/>
              </a:lnSpc>
              <a:spcBef>
                <a:spcPts val="1200"/>
              </a:spcBef>
              <a:spcAft>
                <a:spcPts val="0"/>
              </a:spcAft>
              <a:buSzPts val="1800"/>
              <a:buNone/>
            </a:pPr>
            <a:r>
              <a:t/>
            </a:r>
            <a:endParaRPr sz="1900">
              <a:solidFill>
                <a:srgbClr val="000000"/>
              </a:solidFill>
            </a:endParaRPr>
          </a:p>
          <a:p>
            <a:pPr indent="-349250" lvl="0" marL="457200" rtl="0" algn="l">
              <a:lnSpc>
                <a:spcPct val="115000"/>
              </a:lnSpc>
              <a:spcBef>
                <a:spcPts val="1200"/>
              </a:spcBef>
              <a:spcAft>
                <a:spcPts val="0"/>
              </a:spcAft>
              <a:buClr>
                <a:srgbClr val="000000"/>
              </a:buClr>
              <a:buSzPts val="1900"/>
              <a:buChar char="●"/>
            </a:pPr>
            <a:r>
              <a:rPr lang="es" sz="1900">
                <a:solidFill>
                  <a:srgbClr val="000000"/>
                </a:solidFill>
              </a:rPr>
              <a:t> Se suele implementar en sistemas por lotes (batch), lo cual nos lleva a pensar que su implementación primaria es no-expropiativa. </a:t>
            </a:r>
            <a:endParaRPr sz="1900">
              <a:solidFill>
                <a:srgbClr val="000000"/>
              </a:solidFill>
            </a:endParaRPr>
          </a:p>
          <a:p>
            <a:pPr indent="0" lvl="0" marL="457200" rtl="0" algn="l">
              <a:lnSpc>
                <a:spcPct val="115000"/>
              </a:lnSpc>
              <a:spcBef>
                <a:spcPts val="1200"/>
              </a:spcBef>
              <a:spcAft>
                <a:spcPts val="0"/>
              </a:spcAft>
              <a:buSzPts val="1800"/>
              <a:buNone/>
            </a:pPr>
            <a:r>
              <a:t/>
            </a:r>
            <a:endParaRPr sz="1900">
              <a:solidFill>
                <a:srgbClr val="000000"/>
              </a:solidFill>
            </a:endParaRPr>
          </a:p>
          <a:p>
            <a:pPr indent="-349250" lvl="0" marL="457200" rtl="0" algn="l">
              <a:lnSpc>
                <a:spcPct val="115000"/>
              </a:lnSpc>
              <a:spcBef>
                <a:spcPts val="1200"/>
              </a:spcBef>
              <a:spcAft>
                <a:spcPts val="0"/>
              </a:spcAft>
              <a:buClr>
                <a:srgbClr val="000000"/>
              </a:buClr>
              <a:buSzPts val="1900"/>
              <a:buChar char="●"/>
            </a:pPr>
            <a:r>
              <a:rPr lang="es" sz="1900">
                <a:solidFill>
                  <a:srgbClr val="000000"/>
                </a:solidFill>
              </a:rPr>
              <a:t>El tiempo de espera promedio por lo general es alto.</a:t>
            </a:r>
            <a:endParaRPr sz="190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p:txBody>
      </p:sp>
      <p:sp>
        <p:nvSpPr>
          <p:cNvPr id="252" name="Google Shape;252;p27"/>
          <p:cNvSpPr txBox="1"/>
          <p:nvPr>
            <p:ph idx="1" type="body"/>
          </p:nvPr>
        </p:nvSpPr>
        <p:spPr>
          <a:xfrm>
            <a:off x="103075" y="1298100"/>
            <a:ext cx="8982000" cy="3703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000">
                <a:solidFill>
                  <a:srgbClr val="3D85C6"/>
                </a:solidFill>
              </a:rPr>
              <a:t>FCFS (First Come First Served),</a:t>
            </a:r>
            <a:endParaRPr/>
          </a:p>
          <a:p>
            <a:pPr indent="0" lvl="0" marL="457200" rtl="0" algn="l">
              <a:lnSpc>
                <a:spcPct val="115000"/>
              </a:lnSpc>
              <a:spcBef>
                <a:spcPts val="1200"/>
              </a:spcBef>
              <a:spcAft>
                <a:spcPts val="1200"/>
              </a:spcAft>
              <a:buSzPts val="1800"/>
              <a:buNone/>
            </a:pPr>
            <a:r>
              <a:t/>
            </a:r>
            <a:endParaRPr sz="1900">
              <a:solidFill>
                <a:srgbClr val="000000"/>
              </a:solidFill>
            </a:endParaRPr>
          </a:p>
        </p:txBody>
      </p:sp>
      <p:graphicFrame>
        <p:nvGraphicFramePr>
          <p:cNvPr id="253" name="Google Shape;253;p27"/>
          <p:cNvGraphicFramePr/>
          <p:nvPr/>
        </p:nvGraphicFramePr>
        <p:xfrm>
          <a:off x="196575" y="2029225"/>
          <a:ext cx="3000000" cy="3000000"/>
        </p:xfrm>
        <a:graphic>
          <a:graphicData uri="http://schemas.openxmlformats.org/drawingml/2006/table">
            <a:tbl>
              <a:tblPr>
                <a:noFill/>
                <a:tableStyleId>{DC5653FA-149E-4B5F-A835-83AE677FAE40}</a:tableStyleId>
              </a:tblPr>
              <a:tblGrid>
                <a:gridCol w="978675"/>
                <a:gridCol w="978675"/>
              </a:tblGrid>
              <a:tr h="4051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proceso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burst time</a:t>
                      </a:r>
                      <a:endParaRPr sz="1400" u="none" cap="none" strike="noStrike"/>
                    </a:p>
                  </a:txBody>
                  <a:tcPr marT="91425" marB="91425" marR="91425" marL="91425"/>
                </a:tc>
              </a:tr>
              <a:tr h="4051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15</a:t>
                      </a:r>
                      <a:endParaRPr sz="1400" u="none" cap="none" strike="noStrike"/>
                    </a:p>
                  </a:txBody>
                  <a:tcPr marT="91425" marB="91425" marR="91425" marL="91425"/>
                </a:tc>
              </a:tr>
              <a:tr h="4051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2</a:t>
                      </a:r>
                      <a:endParaRPr sz="1400" u="none" cap="none" strike="noStrike"/>
                    </a:p>
                  </a:txBody>
                  <a:tcPr marT="91425" marB="91425" marR="91425" marL="91425"/>
                </a:tc>
              </a:tr>
              <a:tr h="38955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p3</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3</a:t>
                      </a:r>
                      <a:endParaRPr sz="1400" u="none" cap="none" strike="noStrike"/>
                    </a:p>
                  </a:txBody>
                  <a:tcPr marT="91425" marB="91425" marR="91425" marL="91425"/>
                </a:tc>
              </a:tr>
              <a:tr h="38955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p4</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10</a:t>
                      </a:r>
                      <a:endParaRPr sz="1400" u="none" cap="none" strike="noStrike"/>
                    </a:p>
                  </a:txBody>
                  <a:tcPr marT="91425" marB="91425" marR="91425" marL="91425"/>
                </a:tc>
              </a:tr>
            </a:tbl>
          </a:graphicData>
        </a:graphic>
      </p:graphicFrame>
      <p:cxnSp>
        <p:nvCxnSpPr>
          <p:cNvPr id="254" name="Google Shape;254;p27"/>
          <p:cNvCxnSpPr/>
          <p:nvPr/>
        </p:nvCxnSpPr>
        <p:spPr>
          <a:xfrm>
            <a:off x="3032650" y="2631025"/>
            <a:ext cx="4543200" cy="21600"/>
          </a:xfrm>
          <a:prstGeom prst="straightConnector1">
            <a:avLst/>
          </a:prstGeom>
          <a:noFill/>
          <a:ln cap="flat" cmpd="sng" w="9525">
            <a:solidFill>
              <a:schemeClr val="dk2"/>
            </a:solidFill>
            <a:prstDash val="solid"/>
            <a:round/>
            <a:headEnd len="sm" w="sm" type="none"/>
            <a:tailEnd len="sm" w="sm" type="none"/>
          </a:ln>
        </p:spPr>
      </p:cxnSp>
      <p:cxnSp>
        <p:nvCxnSpPr>
          <p:cNvPr id="255" name="Google Shape;255;p27"/>
          <p:cNvCxnSpPr/>
          <p:nvPr/>
        </p:nvCxnSpPr>
        <p:spPr>
          <a:xfrm>
            <a:off x="3032650" y="25242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256" name="Google Shape;256;p27"/>
          <p:cNvCxnSpPr/>
          <p:nvPr/>
        </p:nvCxnSpPr>
        <p:spPr>
          <a:xfrm>
            <a:off x="5228050" y="25004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257" name="Google Shape;257;p27"/>
          <p:cNvCxnSpPr/>
          <p:nvPr/>
        </p:nvCxnSpPr>
        <p:spPr>
          <a:xfrm>
            <a:off x="5682750" y="25004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258" name="Google Shape;258;p27"/>
          <p:cNvCxnSpPr/>
          <p:nvPr/>
        </p:nvCxnSpPr>
        <p:spPr>
          <a:xfrm>
            <a:off x="6221550" y="25004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259" name="Google Shape;259;p27"/>
          <p:cNvCxnSpPr/>
          <p:nvPr/>
        </p:nvCxnSpPr>
        <p:spPr>
          <a:xfrm>
            <a:off x="7575850" y="2524200"/>
            <a:ext cx="2700" cy="192300"/>
          </a:xfrm>
          <a:prstGeom prst="straightConnector1">
            <a:avLst/>
          </a:prstGeom>
          <a:noFill/>
          <a:ln cap="flat" cmpd="sng" w="9525">
            <a:solidFill>
              <a:schemeClr val="dk2"/>
            </a:solidFill>
            <a:prstDash val="solid"/>
            <a:round/>
            <a:headEnd len="sm" w="sm" type="none"/>
            <a:tailEnd len="sm" w="sm" type="none"/>
          </a:ln>
        </p:spPr>
      </p:cxnSp>
      <p:sp>
        <p:nvSpPr>
          <p:cNvPr id="260" name="Google Shape;260;p27"/>
          <p:cNvSpPr txBox="1"/>
          <p:nvPr/>
        </p:nvSpPr>
        <p:spPr>
          <a:xfrm>
            <a:off x="2930250" y="2692700"/>
            <a:ext cx="5023200" cy="26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0                                            15      17       20                        30</a:t>
            </a:r>
            <a:endParaRPr b="0" i="0" sz="1400" u="none" cap="none" strike="noStrike">
              <a:solidFill>
                <a:srgbClr val="000000"/>
              </a:solidFill>
              <a:latin typeface="Open Sans"/>
              <a:ea typeface="Open Sans"/>
              <a:cs typeface="Open Sans"/>
              <a:sym typeface="Open Sans"/>
            </a:endParaRPr>
          </a:p>
        </p:txBody>
      </p:sp>
      <p:sp>
        <p:nvSpPr>
          <p:cNvPr id="261" name="Google Shape;261;p27"/>
          <p:cNvSpPr txBox="1"/>
          <p:nvPr/>
        </p:nvSpPr>
        <p:spPr>
          <a:xfrm>
            <a:off x="3806250" y="2330250"/>
            <a:ext cx="3271200" cy="26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P1                             P2     P3             P4 </a:t>
            </a:r>
            <a:endParaRPr b="0" i="0" sz="1400" u="none" cap="none" strike="noStrike">
              <a:solidFill>
                <a:srgbClr val="000000"/>
              </a:solidFill>
              <a:latin typeface="Open Sans"/>
              <a:ea typeface="Open Sans"/>
              <a:cs typeface="Open Sans"/>
              <a:sym typeface="Open Sans"/>
            </a:endParaRPr>
          </a:p>
        </p:txBody>
      </p:sp>
      <p:sp>
        <p:nvSpPr>
          <p:cNvPr id="262" name="Google Shape;262;p27"/>
          <p:cNvSpPr/>
          <p:nvPr/>
        </p:nvSpPr>
        <p:spPr>
          <a:xfrm>
            <a:off x="2750550" y="3533300"/>
            <a:ext cx="4492800" cy="1123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Tiempo de espera: P1= 0; P2=15</a:t>
            </a:r>
            <a:r>
              <a:rPr b="0" i="0" lang="es" sz="1300" u="none" cap="none" strike="noStrike">
                <a:solidFill>
                  <a:srgbClr val="000000"/>
                </a:solidFill>
                <a:latin typeface="Open Sans"/>
                <a:ea typeface="Open Sans"/>
                <a:cs typeface="Open Sans"/>
                <a:sym typeface="Open Sans"/>
              </a:rPr>
              <a:t>;</a:t>
            </a:r>
            <a:r>
              <a:rPr b="0" i="0" lang="es" sz="1400" u="none" cap="none" strike="noStrike">
                <a:solidFill>
                  <a:srgbClr val="000000"/>
                </a:solidFill>
                <a:latin typeface="Open Sans"/>
                <a:ea typeface="Open Sans"/>
                <a:cs typeface="Open Sans"/>
                <a:sym typeface="Open Sans"/>
              </a:rPr>
              <a:t> P3=17; P4=20</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Tiempo de espera promedio: (0+15+17+20)/4=13</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p:txBody>
      </p:sp>
      <p:sp>
        <p:nvSpPr>
          <p:cNvPr id="268" name="Google Shape;268;p28"/>
          <p:cNvSpPr txBox="1"/>
          <p:nvPr>
            <p:ph idx="1" type="body"/>
          </p:nvPr>
        </p:nvSpPr>
        <p:spPr>
          <a:xfrm>
            <a:off x="98075" y="1301425"/>
            <a:ext cx="8982000" cy="37686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05882"/>
              <a:buNone/>
            </a:pPr>
            <a:r>
              <a:rPr b="1" lang="es" sz="2000">
                <a:solidFill>
                  <a:srgbClr val="3D85C6"/>
                </a:solidFill>
              </a:rPr>
              <a:t>SJF (Shortest Job First)</a:t>
            </a:r>
            <a:endParaRPr/>
          </a:p>
          <a:p>
            <a:pPr indent="-331152" lvl="0" marL="457200" rtl="0" algn="l">
              <a:lnSpc>
                <a:spcPct val="115000"/>
              </a:lnSpc>
              <a:spcBef>
                <a:spcPts val="1200"/>
              </a:spcBef>
              <a:spcAft>
                <a:spcPts val="0"/>
              </a:spcAft>
              <a:buClr>
                <a:srgbClr val="000000"/>
              </a:buClr>
              <a:buSzPct val="100000"/>
              <a:buChar char="●"/>
            </a:pPr>
            <a:r>
              <a:rPr lang="es" sz="1900">
                <a:solidFill>
                  <a:srgbClr val="000000"/>
                </a:solidFill>
              </a:rPr>
              <a:t> El algoritmo asocia a los procesos el largo de su próximo </a:t>
            </a:r>
            <a:r>
              <a:rPr b="1" lang="es" sz="1900">
                <a:solidFill>
                  <a:srgbClr val="CC0000"/>
                </a:solidFill>
              </a:rPr>
              <a:t>CPU-burst </a:t>
            </a:r>
            <a:r>
              <a:rPr lang="es" sz="1900">
                <a:solidFill>
                  <a:srgbClr val="000000"/>
                </a:solidFill>
              </a:rPr>
              <a:t>y cuando el procesador queda disponible se le asigna al proceso que tenga el menor CPU-burst.</a:t>
            </a:r>
            <a:endParaRPr sz="1900">
              <a:solidFill>
                <a:srgbClr val="000000"/>
              </a:solidFill>
            </a:endParaRPr>
          </a:p>
          <a:p>
            <a:pPr indent="0" lvl="0" marL="457200" rtl="0" algn="l">
              <a:lnSpc>
                <a:spcPct val="115000"/>
              </a:lnSpc>
              <a:spcBef>
                <a:spcPts val="1200"/>
              </a:spcBef>
              <a:spcAft>
                <a:spcPts val="0"/>
              </a:spcAft>
              <a:buSzPct val="111455"/>
              <a:buNone/>
            </a:pPr>
            <a:r>
              <a:t/>
            </a:r>
            <a:endParaRPr sz="1900">
              <a:solidFill>
                <a:srgbClr val="000000"/>
              </a:solidFill>
            </a:endParaRPr>
          </a:p>
          <a:p>
            <a:pPr indent="-331152" lvl="0" marL="457200" rtl="0" algn="l">
              <a:lnSpc>
                <a:spcPct val="115000"/>
              </a:lnSpc>
              <a:spcBef>
                <a:spcPts val="1200"/>
              </a:spcBef>
              <a:spcAft>
                <a:spcPts val="0"/>
              </a:spcAft>
              <a:buClr>
                <a:srgbClr val="000000"/>
              </a:buClr>
              <a:buSzPct val="100000"/>
              <a:buChar char="●"/>
            </a:pPr>
            <a:r>
              <a:rPr lang="es" sz="1900">
                <a:solidFill>
                  <a:srgbClr val="000000"/>
                </a:solidFill>
              </a:rPr>
              <a:t>Si dos procesos tiene el mismo CPU-burst se desempata de alguna forma.</a:t>
            </a:r>
            <a:endParaRPr sz="1900">
              <a:solidFill>
                <a:srgbClr val="000000"/>
              </a:solidFill>
            </a:endParaRPr>
          </a:p>
          <a:p>
            <a:pPr indent="0" lvl="0" marL="457200" rtl="0" algn="l">
              <a:lnSpc>
                <a:spcPct val="115000"/>
              </a:lnSpc>
              <a:spcBef>
                <a:spcPts val="1200"/>
              </a:spcBef>
              <a:spcAft>
                <a:spcPts val="0"/>
              </a:spcAft>
              <a:buSzPct val="111455"/>
              <a:buNone/>
            </a:pPr>
            <a:r>
              <a:t/>
            </a:r>
            <a:endParaRPr sz="1900">
              <a:solidFill>
                <a:srgbClr val="000000"/>
              </a:solidFill>
            </a:endParaRPr>
          </a:p>
          <a:p>
            <a:pPr indent="-331152" lvl="0" marL="457200" rtl="0" algn="l">
              <a:lnSpc>
                <a:spcPct val="115000"/>
              </a:lnSpc>
              <a:spcBef>
                <a:spcPts val="1200"/>
              </a:spcBef>
              <a:spcAft>
                <a:spcPts val="0"/>
              </a:spcAft>
              <a:buClr>
                <a:srgbClr val="000000"/>
              </a:buClr>
              <a:buSzPct val="100000"/>
              <a:buChar char="●"/>
            </a:pPr>
            <a:r>
              <a:rPr b="1" lang="es" sz="1900">
                <a:solidFill>
                  <a:srgbClr val="76A5AF"/>
                </a:solidFill>
              </a:rPr>
              <a:t>Su funcionamiento depende de conocer los tiempos de ejecución lo cual en la mayoría de los casos no sucede (falencia). </a:t>
            </a:r>
            <a:r>
              <a:rPr b="1" lang="es" sz="1900">
                <a:solidFill>
                  <a:srgbClr val="000000"/>
                </a:solidFill>
              </a:rPr>
              <a:t> </a:t>
            </a:r>
            <a:endParaRPr b="1" sz="1900">
              <a:solidFill>
                <a:srgbClr val="000000"/>
              </a:solidFill>
            </a:endParaRPr>
          </a:p>
          <a:p>
            <a:pPr indent="0" lvl="0" marL="457200" rtl="0" algn="l">
              <a:lnSpc>
                <a:spcPct val="115000"/>
              </a:lnSpc>
              <a:spcBef>
                <a:spcPts val="1200"/>
              </a:spcBef>
              <a:spcAft>
                <a:spcPts val="0"/>
              </a:spcAft>
              <a:buSzPct val="111455"/>
              <a:buNone/>
            </a:pPr>
            <a:r>
              <a:t/>
            </a:r>
            <a:endParaRPr b="1" sz="1900">
              <a:solidFill>
                <a:srgbClr val="000000"/>
              </a:solidFill>
            </a:endParaRPr>
          </a:p>
          <a:p>
            <a:pPr indent="-331152" lvl="0" marL="457200" rtl="0" algn="l">
              <a:lnSpc>
                <a:spcPct val="115000"/>
              </a:lnSpc>
              <a:spcBef>
                <a:spcPts val="1200"/>
              </a:spcBef>
              <a:spcAft>
                <a:spcPts val="0"/>
              </a:spcAft>
              <a:buClr>
                <a:srgbClr val="000000"/>
              </a:buClr>
              <a:buSzPct val="100000"/>
              <a:buChar char="●"/>
            </a:pPr>
            <a:r>
              <a:rPr lang="es" sz="1900">
                <a:solidFill>
                  <a:srgbClr val="000000"/>
                </a:solidFill>
              </a:rPr>
              <a:t>Es adecuado para sistemas por lotes (batch).</a:t>
            </a:r>
            <a:endParaRPr sz="1900">
              <a:solidFill>
                <a:srgbClr val="000000"/>
              </a:solidFill>
            </a:endParaRPr>
          </a:p>
        </p:txBody>
      </p:sp>
      <p:sp>
        <p:nvSpPr>
          <p:cNvPr id="269" name="Google Shape;269;p28"/>
          <p:cNvSpPr txBox="1"/>
          <p:nvPr/>
        </p:nvSpPr>
        <p:spPr>
          <a:xfrm>
            <a:off x="5895600" y="729725"/>
            <a:ext cx="3091200" cy="87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tiempo que toma un rasfaga de ejecución, es decir, el tiempo que toma ejecutar un conjunto de instrucciones </a:t>
            </a:r>
            <a:endParaRPr b="0" i="0" sz="1400" u="none" cap="none" strike="noStrike">
              <a:solidFill>
                <a:srgbClr val="000000"/>
              </a:solidFill>
              <a:latin typeface="Open Sans"/>
              <a:ea typeface="Open Sans"/>
              <a:cs typeface="Open Sans"/>
              <a:sym typeface="Open Sans"/>
            </a:endParaRPr>
          </a:p>
        </p:txBody>
      </p:sp>
      <p:sp>
        <p:nvSpPr>
          <p:cNvPr id="270" name="Google Shape;270;p28"/>
          <p:cNvSpPr/>
          <p:nvPr/>
        </p:nvSpPr>
        <p:spPr>
          <a:xfrm>
            <a:off x="5756786" y="581216"/>
            <a:ext cx="3225250" cy="1199825"/>
          </a:xfrm>
          <a:custGeom>
            <a:rect b="b" l="l" r="r" t="t"/>
            <a:pathLst>
              <a:path extrusionOk="0" h="47993" w="129010">
                <a:moveTo>
                  <a:pt x="60186" y="46915"/>
                </a:moveTo>
                <a:cubicBezTo>
                  <a:pt x="47027" y="44286"/>
                  <a:pt x="33246" y="48218"/>
                  <a:pt x="19930" y="46556"/>
                </a:cubicBezTo>
                <a:cubicBezTo>
                  <a:pt x="15280" y="45976"/>
                  <a:pt x="10104" y="47573"/>
                  <a:pt x="5912" y="45477"/>
                </a:cubicBezTo>
                <a:cubicBezTo>
                  <a:pt x="1077" y="43059"/>
                  <a:pt x="1646" y="35026"/>
                  <a:pt x="2318" y="29662"/>
                </a:cubicBezTo>
                <a:cubicBezTo>
                  <a:pt x="2803" y="25791"/>
                  <a:pt x="-481" y="22008"/>
                  <a:pt x="161" y="18160"/>
                </a:cubicBezTo>
                <a:cubicBezTo>
                  <a:pt x="694" y="14967"/>
                  <a:pt x="5421" y="14340"/>
                  <a:pt x="7709" y="12050"/>
                </a:cubicBezTo>
                <a:cubicBezTo>
                  <a:pt x="12447" y="7308"/>
                  <a:pt x="18670" y="3178"/>
                  <a:pt x="25321" y="2345"/>
                </a:cubicBezTo>
                <a:cubicBezTo>
                  <a:pt x="32787" y="1410"/>
                  <a:pt x="40119" y="6690"/>
                  <a:pt x="47606" y="5940"/>
                </a:cubicBezTo>
                <a:cubicBezTo>
                  <a:pt x="53650" y="5335"/>
                  <a:pt x="59289" y="2585"/>
                  <a:pt x="65218" y="1267"/>
                </a:cubicBezTo>
                <a:cubicBezTo>
                  <a:pt x="77068" y="-1367"/>
                  <a:pt x="89382" y="4143"/>
                  <a:pt x="101521" y="4143"/>
                </a:cubicBezTo>
                <a:cubicBezTo>
                  <a:pt x="105611" y="4143"/>
                  <a:pt x="109945" y="4583"/>
                  <a:pt x="113742" y="3064"/>
                </a:cubicBezTo>
                <a:cubicBezTo>
                  <a:pt x="117235" y="1667"/>
                  <a:pt x="122627" y="-1743"/>
                  <a:pt x="124884" y="1267"/>
                </a:cubicBezTo>
                <a:cubicBezTo>
                  <a:pt x="128535" y="6137"/>
                  <a:pt x="130041" y="13464"/>
                  <a:pt x="128119" y="19239"/>
                </a:cubicBezTo>
                <a:cubicBezTo>
                  <a:pt x="127288" y="21735"/>
                  <a:pt x="124888" y="23539"/>
                  <a:pt x="124166" y="26068"/>
                </a:cubicBezTo>
                <a:cubicBezTo>
                  <a:pt x="122906" y="30484"/>
                  <a:pt x="124792" y="37558"/>
                  <a:pt x="120571" y="39367"/>
                </a:cubicBezTo>
                <a:cubicBezTo>
                  <a:pt x="107669" y="44895"/>
                  <a:pt x="92554" y="41524"/>
                  <a:pt x="78518" y="41524"/>
                </a:cubicBezTo>
                <a:cubicBezTo>
                  <a:pt x="72264" y="41524"/>
                  <a:pt x="63708" y="42402"/>
                  <a:pt x="60905" y="47993"/>
                </a:cubicBezTo>
              </a:path>
            </a:pathLst>
          </a:cu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p:txBody>
      </p:sp>
      <p:sp>
        <p:nvSpPr>
          <p:cNvPr id="276" name="Google Shape;276;p29"/>
          <p:cNvSpPr txBox="1"/>
          <p:nvPr>
            <p:ph idx="1" type="body"/>
          </p:nvPr>
        </p:nvSpPr>
        <p:spPr>
          <a:xfrm>
            <a:off x="81000" y="1288100"/>
            <a:ext cx="8982000" cy="314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000">
                <a:solidFill>
                  <a:srgbClr val="3D85C6"/>
                </a:solidFill>
              </a:rPr>
              <a:t>SJF (Shortest Job First)</a:t>
            </a:r>
            <a:endParaRPr/>
          </a:p>
          <a:p>
            <a:pPr indent="0" lvl="0" marL="457200" rtl="0" algn="l">
              <a:lnSpc>
                <a:spcPct val="115000"/>
              </a:lnSpc>
              <a:spcBef>
                <a:spcPts val="1200"/>
              </a:spcBef>
              <a:spcAft>
                <a:spcPts val="1200"/>
              </a:spcAft>
              <a:buSzPts val="1800"/>
              <a:buNone/>
            </a:pPr>
            <a:r>
              <a:t/>
            </a:r>
            <a:endParaRPr sz="1900">
              <a:solidFill>
                <a:srgbClr val="000000"/>
              </a:solidFill>
            </a:endParaRPr>
          </a:p>
        </p:txBody>
      </p:sp>
      <p:sp>
        <p:nvSpPr>
          <p:cNvPr id="277" name="Google Shape;277;p29"/>
          <p:cNvSpPr/>
          <p:nvPr/>
        </p:nvSpPr>
        <p:spPr>
          <a:xfrm>
            <a:off x="263250" y="4600225"/>
            <a:ext cx="8617500" cy="4044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s" sz="1300" u="sng" cap="none" strike="noStrike">
                <a:solidFill>
                  <a:schemeClr val="hlink"/>
                </a:solidFill>
                <a:latin typeface="Open Sans"/>
                <a:ea typeface="Open Sans"/>
                <a:cs typeface="Open Sans"/>
                <a:sym typeface="Open Sans"/>
                <a:hlinkClick r:id="rId3"/>
              </a:rPr>
              <a:t>https://www.geeksforgeeks.org/program-for-shortest-job-first-or-sjf-cpu-scheduling-set-1-non-preemptive/</a:t>
            </a:r>
            <a:endParaRPr b="0" i="0" sz="1300" u="none" cap="none" strike="noStrike">
              <a:solidFill>
                <a:srgbClr val="000000"/>
              </a:solidFill>
              <a:latin typeface="Open Sans"/>
              <a:ea typeface="Open Sans"/>
              <a:cs typeface="Open Sans"/>
              <a:sym typeface="Open Sans"/>
            </a:endParaRPr>
          </a:p>
        </p:txBody>
      </p:sp>
      <p:graphicFrame>
        <p:nvGraphicFramePr>
          <p:cNvPr id="278" name="Google Shape;278;p29"/>
          <p:cNvGraphicFramePr/>
          <p:nvPr/>
        </p:nvGraphicFramePr>
        <p:xfrm>
          <a:off x="263250" y="2020250"/>
          <a:ext cx="3000000" cy="3000000"/>
        </p:xfrm>
        <a:graphic>
          <a:graphicData uri="http://schemas.openxmlformats.org/drawingml/2006/table">
            <a:tbl>
              <a:tblPr>
                <a:noFill/>
                <a:tableStyleId>{DC5653FA-149E-4B5F-A835-83AE677FAE40}</a:tableStyleId>
              </a:tblPr>
              <a:tblGrid>
                <a:gridCol w="912275"/>
                <a:gridCol w="815825"/>
                <a:gridCol w="594050"/>
              </a:tblGrid>
              <a:tr h="4051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proceso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arrival time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burst time</a:t>
                      </a:r>
                      <a:endParaRPr sz="1400" u="none" cap="none" strike="noStrike"/>
                    </a:p>
                  </a:txBody>
                  <a:tcPr marT="91425" marB="91425" marR="91425" marL="91425"/>
                </a:tc>
              </a:tr>
              <a:tr h="4051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7</a:t>
                      </a:r>
                      <a:endParaRPr sz="1400" u="none" cap="none" strike="noStrike"/>
                    </a:p>
                  </a:txBody>
                  <a:tcPr marT="91425" marB="91425" marR="91425" marL="91425"/>
                </a:tc>
              </a:tr>
              <a:tr h="4051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4</a:t>
                      </a:r>
                      <a:endParaRPr sz="1400" u="none" cap="none" strike="noStrike"/>
                    </a:p>
                  </a:txBody>
                  <a:tcPr marT="91425" marB="91425" marR="91425" marL="91425"/>
                </a:tc>
              </a:tr>
              <a:tr h="38955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p3</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4</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a:t>
                      </a:r>
                      <a:endParaRPr sz="1400" u="none" cap="none" strike="noStrike"/>
                    </a:p>
                  </a:txBody>
                  <a:tcPr marT="91425" marB="91425" marR="91425" marL="91425"/>
                </a:tc>
              </a:tr>
              <a:tr h="38955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p4</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5</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4</a:t>
                      </a:r>
                      <a:endParaRPr sz="1400" u="none" cap="none" strike="noStrike"/>
                    </a:p>
                  </a:txBody>
                  <a:tcPr marT="91425" marB="91425" marR="91425" marL="91425"/>
                </a:tc>
              </a:tr>
            </a:tbl>
          </a:graphicData>
        </a:graphic>
      </p:graphicFrame>
      <p:cxnSp>
        <p:nvCxnSpPr>
          <p:cNvPr id="279" name="Google Shape;279;p29"/>
          <p:cNvCxnSpPr/>
          <p:nvPr/>
        </p:nvCxnSpPr>
        <p:spPr>
          <a:xfrm>
            <a:off x="3032650" y="2631025"/>
            <a:ext cx="3165600" cy="2100"/>
          </a:xfrm>
          <a:prstGeom prst="straightConnector1">
            <a:avLst/>
          </a:prstGeom>
          <a:noFill/>
          <a:ln cap="flat" cmpd="sng" w="9525">
            <a:solidFill>
              <a:schemeClr val="dk2"/>
            </a:solidFill>
            <a:prstDash val="solid"/>
            <a:round/>
            <a:headEnd len="sm" w="sm" type="none"/>
            <a:tailEnd len="sm" w="sm" type="none"/>
          </a:ln>
        </p:spPr>
      </p:cxnSp>
      <p:cxnSp>
        <p:nvCxnSpPr>
          <p:cNvPr id="280" name="Google Shape;280;p29"/>
          <p:cNvCxnSpPr/>
          <p:nvPr/>
        </p:nvCxnSpPr>
        <p:spPr>
          <a:xfrm flipH="1">
            <a:off x="3035275" y="2290850"/>
            <a:ext cx="5400" cy="425700"/>
          </a:xfrm>
          <a:prstGeom prst="straightConnector1">
            <a:avLst/>
          </a:prstGeom>
          <a:noFill/>
          <a:ln cap="flat" cmpd="sng" w="9525">
            <a:solidFill>
              <a:schemeClr val="dk2"/>
            </a:solidFill>
            <a:prstDash val="solid"/>
            <a:round/>
            <a:headEnd len="sm" w="sm" type="none"/>
            <a:tailEnd len="sm" w="sm" type="none"/>
          </a:ln>
        </p:spPr>
      </p:cxnSp>
      <p:cxnSp>
        <p:nvCxnSpPr>
          <p:cNvPr id="281" name="Google Shape;281;p29"/>
          <p:cNvCxnSpPr/>
          <p:nvPr/>
        </p:nvCxnSpPr>
        <p:spPr>
          <a:xfrm>
            <a:off x="4658800" y="2284250"/>
            <a:ext cx="1200" cy="432300"/>
          </a:xfrm>
          <a:prstGeom prst="straightConnector1">
            <a:avLst/>
          </a:prstGeom>
          <a:noFill/>
          <a:ln cap="flat" cmpd="sng" w="9525">
            <a:solidFill>
              <a:schemeClr val="dk2"/>
            </a:solidFill>
            <a:prstDash val="solid"/>
            <a:round/>
            <a:headEnd len="sm" w="sm" type="none"/>
            <a:tailEnd len="sm" w="sm" type="none"/>
          </a:ln>
        </p:spPr>
      </p:cxnSp>
      <p:cxnSp>
        <p:nvCxnSpPr>
          <p:cNvPr id="282" name="Google Shape;282;p29"/>
          <p:cNvCxnSpPr/>
          <p:nvPr/>
        </p:nvCxnSpPr>
        <p:spPr>
          <a:xfrm>
            <a:off x="4852650" y="25242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283" name="Google Shape;283;p29"/>
          <p:cNvCxnSpPr/>
          <p:nvPr/>
        </p:nvCxnSpPr>
        <p:spPr>
          <a:xfrm>
            <a:off x="5048000" y="2524200"/>
            <a:ext cx="2700" cy="192300"/>
          </a:xfrm>
          <a:prstGeom prst="straightConnector1">
            <a:avLst/>
          </a:prstGeom>
          <a:noFill/>
          <a:ln cap="flat" cmpd="sng" w="9525">
            <a:solidFill>
              <a:schemeClr val="dk2"/>
            </a:solidFill>
            <a:prstDash val="solid"/>
            <a:round/>
            <a:headEnd len="sm" w="sm" type="none"/>
            <a:tailEnd len="sm" w="sm" type="none"/>
          </a:ln>
        </p:spPr>
      </p:cxnSp>
      <p:sp>
        <p:nvSpPr>
          <p:cNvPr id="284" name="Google Shape;284;p29"/>
          <p:cNvSpPr txBox="1"/>
          <p:nvPr/>
        </p:nvSpPr>
        <p:spPr>
          <a:xfrm>
            <a:off x="2926975" y="2679000"/>
            <a:ext cx="3638400" cy="19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0          3                7  8             12            16</a:t>
            </a:r>
            <a:endParaRPr b="0" i="0" sz="1400" u="none" cap="none" strike="noStrike">
              <a:solidFill>
                <a:srgbClr val="000000"/>
              </a:solidFill>
              <a:latin typeface="Open Sans"/>
              <a:ea typeface="Open Sans"/>
              <a:cs typeface="Open Sans"/>
              <a:sym typeface="Open Sans"/>
            </a:endParaRPr>
          </a:p>
        </p:txBody>
      </p:sp>
      <p:sp>
        <p:nvSpPr>
          <p:cNvPr id="285" name="Google Shape;285;p29"/>
          <p:cNvSpPr txBox="1"/>
          <p:nvPr/>
        </p:nvSpPr>
        <p:spPr>
          <a:xfrm>
            <a:off x="3554000" y="2225125"/>
            <a:ext cx="3271200" cy="26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Open Sans"/>
                <a:ea typeface="Open Sans"/>
                <a:cs typeface="Open Sans"/>
                <a:sym typeface="Open Sans"/>
              </a:rPr>
              <a:t>P1                P3        P2             </a:t>
            </a:r>
            <a:r>
              <a:rPr b="0" i="0" lang="es" sz="1400" u="none" cap="none" strike="noStrike">
                <a:solidFill>
                  <a:srgbClr val="000000"/>
                </a:solidFill>
                <a:latin typeface="Open Sans"/>
                <a:ea typeface="Open Sans"/>
                <a:cs typeface="Open Sans"/>
                <a:sym typeface="Open Sans"/>
              </a:rPr>
              <a:t> P4 </a:t>
            </a:r>
            <a:endParaRPr b="0" i="0" sz="1400" u="none" cap="none" strike="noStrike">
              <a:solidFill>
                <a:srgbClr val="000000"/>
              </a:solidFill>
              <a:latin typeface="Open Sans"/>
              <a:ea typeface="Open Sans"/>
              <a:cs typeface="Open Sans"/>
              <a:sym typeface="Open Sans"/>
            </a:endParaRPr>
          </a:p>
        </p:txBody>
      </p:sp>
      <p:sp>
        <p:nvSpPr>
          <p:cNvPr id="286" name="Google Shape;286;p29"/>
          <p:cNvSpPr/>
          <p:nvPr/>
        </p:nvSpPr>
        <p:spPr>
          <a:xfrm>
            <a:off x="2943200" y="3357450"/>
            <a:ext cx="4492800" cy="707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Tiempo de espera promedio: (0+6+3+7)/4=4</a:t>
            </a:r>
            <a:endParaRPr b="0" i="0" sz="1400" u="none" cap="none" strike="noStrike">
              <a:solidFill>
                <a:srgbClr val="000000"/>
              </a:solidFill>
              <a:latin typeface="Open Sans"/>
              <a:ea typeface="Open Sans"/>
              <a:cs typeface="Open Sans"/>
              <a:sym typeface="Open Sans"/>
            </a:endParaRPr>
          </a:p>
        </p:txBody>
      </p:sp>
      <p:cxnSp>
        <p:nvCxnSpPr>
          <p:cNvPr id="287" name="Google Shape;287;p29"/>
          <p:cNvCxnSpPr/>
          <p:nvPr/>
        </p:nvCxnSpPr>
        <p:spPr>
          <a:xfrm>
            <a:off x="3855100" y="2545675"/>
            <a:ext cx="2700" cy="192300"/>
          </a:xfrm>
          <a:prstGeom prst="straightConnector1">
            <a:avLst/>
          </a:prstGeom>
          <a:noFill/>
          <a:ln cap="flat" cmpd="sng" w="9525">
            <a:solidFill>
              <a:schemeClr val="dk2"/>
            </a:solidFill>
            <a:prstDash val="solid"/>
            <a:round/>
            <a:headEnd len="sm" w="sm" type="none"/>
            <a:tailEnd len="sm" w="sm" type="none"/>
          </a:ln>
        </p:spPr>
      </p:cxnSp>
      <p:cxnSp>
        <p:nvCxnSpPr>
          <p:cNvPr id="288" name="Google Shape;288;p29"/>
          <p:cNvCxnSpPr/>
          <p:nvPr/>
        </p:nvCxnSpPr>
        <p:spPr>
          <a:xfrm>
            <a:off x="3218900" y="25242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289" name="Google Shape;289;p29"/>
          <p:cNvCxnSpPr/>
          <p:nvPr/>
        </p:nvCxnSpPr>
        <p:spPr>
          <a:xfrm>
            <a:off x="3419450" y="25242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290" name="Google Shape;290;p29"/>
          <p:cNvCxnSpPr/>
          <p:nvPr/>
        </p:nvCxnSpPr>
        <p:spPr>
          <a:xfrm>
            <a:off x="3637275" y="2545675"/>
            <a:ext cx="2700" cy="192300"/>
          </a:xfrm>
          <a:prstGeom prst="straightConnector1">
            <a:avLst/>
          </a:prstGeom>
          <a:noFill/>
          <a:ln cap="flat" cmpd="sng" w="9525">
            <a:solidFill>
              <a:schemeClr val="dk2"/>
            </a:solidFill>
            <a:prstDash val="solid"/>
            <a:round/>
            <a:headEnd len="sm" w="sm" type="none"/>
            <a:tailEnd len="sm" w="sm" type="none"/>
          </a:ln>
        </p:spPr>
      </p:cxnSp>
      <p:cxnSp>
        <p:nvCxnSpPr>
          <p:cNvPr id="291" name="Google Shape;291;p29"/>
          <p:cNvCxnSpPr/>
          <p:nvPr/>
        </p:nvCxnSpPr>
        <p:spPr>
          <a:xfrm>
            <a:off x="4072925" y="2545675"/>
            <a:ext cx="2700" cy="192300"/>
          </a:xfrm>
          <a:prstGeom prst="straightConnector1">
            <a:avLst/>
          </a:prstGeom>
          <a:noFill/>
          <a:ln cap="flat" cmpd="sng" w="9525">
            <a:solidFill>
              <a:schemeClr val="dk2"/>
            </a:solidFill>
            <a:prstDash val="solid"/>
            <a:round/>
            <a:headEnd len="sm" w="sm" type="none"/>
            <a:tailEnd len="sm" w="sm" type="none"/>
          </a:ln>
        </p:spPr>
      </p:cxnSp>
      <p:cxnSp>
        <p:nvCxnSpPr>
          <p:cNvPr id="292" name="Google Shape;292;p29"/>
          <p:cNvCxnSpPr/>
          <p:nvPr/>
        </p:nvCxnSpPr>
        <p:spPr>
          <a:xfrm>
            <a:off x="4256200" y="2545675"/>
            <a:ext cx="2700" cy="192300"/>
          </a:xfrm>
          <a:prstGeom prst="straightConnector1">
            <a:avLst/>
          </a:prstGeom>
          <a:noFill/>
          <a:ln cap="flat" cmpd="sng" w="9525">
            <a:solidFill>
              <a:schemeClr val="dk2"/>
            </a:solidFill>
            <a:prstDash val="solid"/>
            <a:round/>
            <a:headEnd len="sm" w="sm" type="none"/>
            <a:tailEnd len="sm" w="sm" type="none"/>
          </a:ln>
        </p:spPr>
      </p:cxnSp>
      <p:cxnSp>
        <p:nvCxnSpPr>
          <p:cNvPr id="293" name="Google Shape;293;p29"/>
          <p:cNvCxnSpPr/>
          <p:nvPr/>
        </p:nvCxnSpPr>
        <p:spPr>
          <a:xfrm>
            <a:off x="4441125" y="2282850"/>
            <a:ext cx="1200" cy="455100"/>
          </a:xfrm>
          <a:prstGeom prst="straightConnector1">
            <a:avLst/>
          </a:prstGeom>
          <a:noFill/>
          <a:ln cap="flat" cmpd="sng" w="9525">
            <a:solidFill>
              <a:schemeClr val="dk2"/>
            </a:solidFill>
            <a:prstDash val="solid"/>
            <a:round/>
            <a:headEnd len="sm" w="sm" type="none"/>
            <a:tailEnd len="sm" w="sm" type="none"/>
          </a:ln>
        </p:spPr>
      </p:cxnSp>
      <p:cxnSp>
        <p:nvCxnSpPr>
          <p:cNvPr id="294" name="Google Shape;294;p29"/>
          <p:cNvCxnSpPr/>
          <p:nvPr/>
        </p:nvCxnSpPr>
        <p:spPr>
          <a:xfrm>
            <a:off x="5229613" y="25242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295" name="Google Shape;295;p29"/>
          <p:cNvCxnSpPr/>
          <p:nvPr/>
        </p:nvCxnSpPr>
        <p:spPr>
          <a:xfrm>
            <a:off x="5606563" y="25242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296" name="Google Shape;296;p29"/>
          <p:cNvCxnSpPr/>
          <p:nvPr/>
        </p:nvCxnSpPr>
        <p:spPr>
          <a:xfrm>
            <a:off x="5824388" y="25242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297" name="Google Shape;297;p29"/>
          <p:cNvCxnSpPr/>
          <p:nvPr/>
        </p:nvCxnSpPr>
        <p:spPr>
          <a:xfrm>
            <a:off x="5996325" y="25242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298" name="Google Shape;298;p29"/>
          <p:cNvCxnSpPr/>
          <p:nvPr/>
        </p:nvCxnSpPr>
        <p:spPr>
          <a:xfrm>
            <a:off x="5419750" y="2286225"/>
            <a:ext cx="3600" cy="444300"/>
          </a:xfrm>
          <a:prstGeom prst="straightConnector1">
            <a:avLst/>
          </a:prstGeom>
          <a:noFill/>
          <a:ln cap="flat" cmpd="sng" w="9525">
            <a:solidFill>
              <a:schemeClr val="dk2"/>
            </a:solidFill>
            <a:prstDash val="solid"/>
            <a:round/>
            <a:headEnd len="sm" w="sm" type="none"/>
            <a:tailEnd len="sm" w="sm" type="none"/>
          </a:ln>
        </p:spPr>
      </p:cxnSp>
      <p:cxnSp>
        <p:nvCxnSpPr>
          <p:cNvPr id="299" name="Google Shape;299;p29"/>
          <p:cNvCxnSpPr/>
          <p:nvPr/>
        </p:nvCxnSpPr>
        <p:spPr>
          <a:xfrm>
            <a:off x="6194700" y="2287750"/>
            <a:ext cx="3600" cy="442800"/>
          </a:xfrm>
          <a:prstGeom prst="straightConnector1">
            <a:avLst/>
          </a:prstGeom>
          <a:noFill/>
          <a:ln cap="flat" cmpd="sng" w="9525">
            <a:solidFill>
              <a:schemeClr val="dk2"/>
            </a:solidFill>
            <a:prstDash val="solid"/>
            <a:round/>
            <a:headEnd len="sm" w="sm" type="none"/>
            <a:tailEnd len="sm" w="sm" type="none"/>
          </a:ln>
        </p:spPr>
      </p:cxnSp>
      <p:cxnSp>
        <p:nvCxnSpPr>
          <p:cNvPr id="300" name="Google Shape;300;p29"/>
          <p:cNvCxnSpPr/>
          <p:nvPr/>
        </p:nvCxnSpPr>
        <p:spPr>
          <a:xfrm flipH="1" rot="10800000">
            <a:off x="3042200" y="2290300"/>
            <a:ext cx="3160200" cy="21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a:p>
            <a:pPr indent="0" lvl="0" marL="0" rtl="0" algn="l">
              <a:lnSpc>
                <a:spcPct val="100000"/>
              </a:lnSpc>
              <a:spcBef>
                <a:spcPts val="0"/>
              </a:spcBef>
              <a:spcAft>
                <a:spcPts val="0"/>
              </a:spcAft>
              <a:buSzPct val="111111"/>
              <a:buNone/>
            </a:pPr>
            <a:r>
              <a:t/>
            </a:r>
            <a:endParaRPr/>
          </a:p>
        </p:txBody>
      </p:sp>
      <p:sp>
        <p:nvSpPr>
          <p:cNvPr id="306" name="Google Shape;306;p30"/>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000">
                <a:solidFill>
                  <a:srgbClr val="3D85C6"/>
                </a:solidFill>
              </a:rPr>
              <a:t>SRT(Shortest Remaining Time - versión expropiatoria de SJF)</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s"/>
              <a:t>Como su nombre lo indica es igual al algoritmo anterior, pero expropiativo, es decir cuando llega un Proceso con un menor CPU-burst en la lista, se quita el actual y se ejecuta el nuevo</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p:txBody>
      </p:sp>
      <p:sp>
        <p:nvSpPr>
          <p:cNvPr id="312" name="Google Shape;312;p31"/>
          <p:cNvSpPr txBox="1"/>
          <p:nvPr>
            <p:ph idx="1" type="body"/>
          </p:nvPr>
        </p:nvSpPr>
        <p:spPr>
          <a:xfrm>
            <a:off x="81000" y="1288100"/>
            <a:ext cx="8982000" cy="314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000">
                <a:solidFill>
                  <a:srgbClr val="3D85C6"/>
                </a:solidFill>
              </a:rPr>
              <a:t>SRT(Shortest Remaining Time - versión expropiatoria de SJF)</a:t>
            </a:r>
            <a:endParaRPr/>
          </a:p>
          <a:p>
            <a:pPr indent="0" lvl="0" marL="0" rtl="0" algn="l">
              <a:lnSpc>
                <a:spcPct val="115000"/>
              </a:lnSpc>
              <a:spcBef>
                <a:spcPts val="1200"/>
              </a:spcBef>
              <a:spcAft>
                <a:spcPts val="0"/>
              </a:spcAft>
              <a:buSzPts val="1800"/>
              <a:buNone/>
            </a:pPr>
            <a:r>
              <a:t/>
            </a:r>
            <a:endParaRPr b="1" sz="2000">
              <a:solidFill>
                <a:srgbClr val="3D85C6"/>
              </a:solidFill>
            </a:endParaRPr>
          </a:p>
          <a:p>
            <a:pPr indent="0" lvl="0" marL="457200" rtl="0" algn="l">
              <a:lnSpc>
                <a:spcPct val="115000"/>
              </a:lnSpc>
              <a:spcBef>
                <a:spcPts val="1200"/>
              </a:spcBef>
              <a:spcAft>
                <a:spcPts val="1200"/>
              </a:spcAft>
              <a:buSzPts val="1800"/>
              <a:buNone/>
            </a:pPr>
            <a:r>
              <a:t/>
            </a:r>
            <a:endParaRPr sz="1900">
              <a:solidFill>
                <a:srgbClr val="000000"/>
              </a:solidFill>
            </a:endParaRPr>
          </a:p>
        </p:txBody>
      </p:sp>
      <p:graphicFrame>
        <p:nvGraphicFramePr>
          <p:cNvPr id="313" name="Google Shape;313;p31"/>
          <p:cNvGraphicFramePr/>
          <p:nvPr/>
        </p:nvGraphicFramePr>
        <p:xfrm>
          <a:off x="263250" y="2020250"/>
          <a:ext cx="3000000" cy="3000000"/>
        </p:xfrm>
        <a:graphic>
          <a:graphicData uri="http://schemas.openxmlformats.org/drawingml/2006/table">
            <a:tbl>
              <a:tblPr>
                <a:noFill/>
                <a:tableStyleId>{DC5653FA-149E-4B5F-A835-83AE677FAE40}</a:tableStyleId>
              </a:tblPr>
              <a:tblGrid>
                <a:gridCol w="912275"/>
                <a:gridCol w="815825"/>
                <a:gridCol w="594050"/>
              </a:tblGrid>
              <a:tr h="4051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proceso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arrival time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burst time</a:t>
                      </a:r>
                      <a:endParaRPr sz="1400" u="none" cap="none" strike="noStrike"/>
                    </a:p>
                  </a:txBody>
                  <a:tcPr marT="91425" marB="91425" marR="91425" marL="91425"/>
                </a:tc>
              </a:tr>
              <a:tr h="4051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7</a:t>
                      </a:r>
                      <a:endParaRPr sz="1400" u="none" cap="none" strike="noStrike"/>
                    </a:p>
                  </a:txBody>
                  <a:tcPr marT="91425" marB="91425" marR="91425" marL="91425"/>
                </a:tc>
              </a:tr>
              <a:tr h="4051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4</a:t>
                      </a:r>
                      <a:endParaRPr sz="1400" u="none" cap="none" strike="noStrike"/>
                    </a:p>
                  </a:txBody>
                  <a:tcPr marT="91425" marB="91425" marR="91425" marL="91425"/>
                </a:tc>
              </a:tr>
              <a:tr h="38955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p3</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4</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a:t>
                      </a:r>
                      <a:endParaRPr sz="1400" u="none" cap="none" strike="noStrike"/>
                    </a:p>
                  </a:txBody>
                  <a:tcPr marT="91425" marB="91425" marR="91425" marL="91425"/>
                </a:tc>
              </a:tr>
              <a:tr h="38955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p4</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5</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4</a:t>
                      </a:r>
                      <a:endParaRPr sz="1400" u="none" cap="none" strike="noStrike"/>
                    </a:p>
                  </a:txBody>
                  <a:tcPr marT="91425" marB="91425" marR="91425" marL="91425"/>
                </a:tc>
              </a:tr>
            </a:tbl>
          </a:graphicData>
        </a:graphic>
      </p:graphicFrame>
      <p:cxnSp>
        <p:nvCxnSpPr>
          <p:cNvPr id="314" name="Google Shape;314;p31"/>
          <p:cNvCxnSpPr/>
          <p:nvPr/>
        </p:nvCxnSpPr>
        <p:spPr>
          <a:xfrm>
            <a:off x="3032650" y="2631025"/>
            <a:ext cx="3165600" cy="2100"/>
          </a:xfrm>
          <a:prstGeom prst="straightConnector1">
            <a:avLst/>
          </a:prstGeom>
          <a:noFill/>
          <a:ln cap="flat" cmpd="sng" w="9525">
            <a:solidFill>
              <a:schemeClr val="dk2"/>
            </a:solidFill>
            <a:prstDash val="solid"/>
            <a:round/>
            <a:headEnd len="sm" w="sm" type="none"/>
            <a:tailEnd len="sm" w="sm" type="none"/>
          </a:ln>
        </p:spPr>
      </p:cxnSp>
      <p:cxnSp>
        <p:nvCxnSpPr>
          <p:cNvPr id="315" name="Google Shape;315;p31"/>
          <p:cNvCxnSpPr/>
          <p:nvPr/>
        </p:nvCxnSpPr>
        <p:spPr>
          <a:xfrm flipH="1">
            <a:off x="3035275" y="2290850"/>
            <a:ext cx="5400" cy="425700"/>
          </a:xfrm>
          <a:prstGeom prst="straightConnector1">
            <a:avLst/>
          </a:prstGeom>
          <a:noFill/>
          <a:ln cap="flat" cmpd="sng" w="9525">
            <a:solidFill>
              <a:schemeClr val="dk2"/>
            </a:solidFill>
            <a:prstDash val="solid"/>
            <a:round/>
            <a:headEnd len="sm" w="sm" type="none"/>
            <a:tailEnd len="sm" w="sm" type="none"/>
          </a:ln>
        </p:spPr>
      </p:cxnSp>
      <p:cxnSp>
        <p:nvCxnSpPr>
          <p:cNvPr id="316" name="Google Shape;316;p31"/>
          <p:cNvCxnSpPr/>
          <p:nvPr/>
        </p:nvCxnSpPr>
        <p:spPr>
          <a:xfrm>
            <a:off x="4463538" y="2290300"/>
            <a:ext cx="1200" cy="432300"/>
          </a:xfrm>
          <a:prstGeom prst="straightConnector1">
            <a:avLst/>
          </a:prstGeom>
          <a:noFill/>
          <a:ln cap="flat" cmpd="sng" w="9525">
            <a:solidFill>
              <a:schemeClr val="dk2"/>
            </a:solidFill>
            <a:prstDash val="solid"/>
            <a:round/>
            <a:headEnd len="sm" w="sm" type="none"/>
            <a:tailEnd len="sm" w="sm" type="none"/>
          </a:ln>
        </p:spPr>
      </p:cxnSp>
      <p:cxnSp>
        <p:nvCxnSpPr>
          <p:cNvPr id="317" name="Google Shape;317;p31"/>
          <p:cNvCxnSpPr/>
          <p:nvPr/>
        </p:nvCxnSpPr>
        <p:spPr>
          <a:xfrm>
            <a:off x="4669400" y="2535925"/>
            <a:ext cx="2700" cy="192300"/>
          </a:xfrm>
          <a:prstGeom prst="straightConnector1">
            <a:avLst/>
          </a:prstGeom>
          <a:noFill/>
          <a:ln cap="flat" cmpd="sng" w="9525">
            <a:solidFill>
              <a:schemeClr val="dk2"/>
            </a:solidFill>
            <a:prstDash val="solid"/>
            <a:round/>
            <a:headEnd len="sm" w="sm" type="none"/>
            <a:tailEnd len="sm" w="sm" type="none"/>
          </a:ln>
        </p:spPr>
      </p:cxnSp>
      <p:cxnSp>
        <p:nvCxnSpPr>
          <p:cNvPr id="318" name="Google Shape;318;p31"/>
          <p:cNvCxnSpPr/>
          <p:nvPr/>
        </p:nvCxnSpPr>
        <p:spPr>
          <a:xfrm>
            <a:off x="4876750" y="2524200"/>
            <a:ext cx="2700" cy="192300"/>
          </a:xfrm>
          <a:prstGeom prst="straightConnector1">
            <a:avLst/>
          </a:prstGeom>
          <a:noFill/>
          <a:ln cap="flat" cmpd="sng" w="9525">
            <a:solidFill>
              <a:schemeClr val="dk2"/>
            </a:solidFill>
            <a:prstDash val="solid"/>
            <a:round/>
            <a:headEnd len="sm" w="sm" type="none"/>
            <a:tailEnd len="sm" w="sm" type="none"/>
          </a:ln>
        </p:spPr>
      </p:cxnSp>
      <p:sp>
        <p:nvSpPr>
          <p:cNvPr id="319" name="Google Shape;319;p31"/>
          <p:cNvSpPr txBox="1"/>
          <p:nvPr/>
        </p:nvSpPr>
        <p:spPr>
          <a:xfrm>
            <a:off x="2926975" y="2679000"/>
            <a:ext cx="3638400" cy="19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0      2       4   5      7             11                 16</a:t>
            </a:r>
            <a:endParaRPr b="0" i="0" sz="1400" u="none" cap="none" strike="noStrike">
              <a:solidFill>
                <a:srgbClr val="000000"/>
              </a:solidFill>
              <a:latin typeface="Open Sans"/>
              <a:ea typeface="Open Sans"/>
              <a:cs typeface="Open Sans"/>
              <a:sym typeface="Open Sans"/>
            </a:endParaRPr>
          </a:p>
        </p:txBody>
      </p:sp>
      <p:sp>
        <p:nvSpPr>
          <p:cNvPr id="320" name="Google Shape;320;p31"/>
          <p:cNvSpPr txBox="1"/>
          <p:nvPr/>
        </p:nvSpPr>
        <p:spPr>
          <a:xfrm>
            <a:off x="3071425" y="2281600"/>
            <a:ext cx="3271200" cy="26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Open Sans"/>
                <a:ea typeface="Open Sans"/>
                <a:cs typeface="Open Sans"/>
                <a:sym typeface="Open Sans"/>
              </a:rPr>
              <a:t>p1       p2    p3     p2          p4                   p1</a:t>
            </a:r>
            <a:endParaRPr b="0" i="0" sz="1100" u="none" cap="none" strike="noStrike">
              <a:solidFill>
                <a:srgbClr val="000000"/>
              </a:solidFill>
              <a:latin typeface="Open Sans"/>
              <a:ea typeface="Open Sans"/>
              <a:cs typeface="Open Sans"/>
              <a:sym typeface="Open Sans"/>
            </a:endParaRPr>
          </a:p>
        </p:txBody>
      </p:sp>
      <p:sp>
        <p:nvSpPr>
          <p:cNvPr id="321" name="Google Shape;321;p31"/>
          <p:cNvSpPr/>
          <p:nvPr/>
        </p:nvSpPr>
        <p:spPr>
          <a:xfrm>
            <a:off x="2943200" y="3357450"/>
            <a:ext cx="4492800" cy="707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Tiempo de espera promedio: (9+1+0+2)/4=4</a:t>
            </a:r>
            <a:endParaRPr b="0" i="0" sz="1400" u="none" cap="none" strike="noStrike">
              <a:solidFill>
                <a:srgbClr val="000000"/>
              </a:solidFill>
              <a:latin typeface="Open Sans"/>
              <a:ea typeface="Open Sans"/>
              <a:cs typeface="Open Sans"/>
              <a:sym typeface="Open Sans"/>
            </a:endParaRPr>
          </a:p>
        </p:txBody>
      </p:sp>
      <p:cxnSp>
        <p:nvCxnSpPr>
          <p:cNvPr id="322" name="Google Shape;322;p31"/>
          <p:cNvCxnSpPr/>
          <p:nvPr/>
        </p:nvCxnSpPr>
        <p:spPr>
          <a:xfrm>
            <a:off x="3855100" y="2545675"/>
            <a:ext cx="2700" cy="192300"/>
          </a:xfrm>
          <a:prstGeom prst="straightConnector1">
            <a:avLst/>
          </a:prstGeom>
          <a:noFill/>
          <a:ln cap="flat" cmpd="sng" w="9525">
            <a:solidFill>
              <a:schemeClr val="dk2"/>
            </a:solidFill>
            <a:prstDash val="solid"/>
            <a:round/>
            <a:headEnd len="sm" w="sm" type="none"/>
            <a:tailEnd len="sm" w="sm" type="none"/>
          </a:ln>
        </p:spPr>
      </p:cxnSp>
      <p:cxnSp>
        <p:nvCxnSpPr>
          <p:cNvPr id="323" name="Google Shape;323;p31"/>
          <p:cNvCxnSpPr/>
          <p:nvPr/>
        </p:nvCxnSpPr>
        <p:spPr>
          <a:xfrm>
            <a:off x="3218900" y="25242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324" name="Google Shape;324;p31"/>
          <p:cNvCxnSpPr/>
          <p:nvPr/>
        </p:nvCxnSpPr>
        <p:spPr>
          <a:xfrm>
            <a:off x="3637275" y="2545675"/>
            <a:ext cx="2700" cy="192300"/>
          </a:xfrm>
          <a:prstGeom prst="straightConnector1">
            <a:avLst/>
          </a:prstGeom>
          <a:noFill/>
          <a:ln cap="flat" cmpd="sng" w="9525">
            <a:solidFill>
              <a:schemeClr val="dk2"/>
            </a:solidFill>
            <a:prstDash val="solid"/>
            <a:round/>
            <a:headEnd len="sm" w="sm" type="none"/>
            <a:tailEnd len="sm" w="sm" type="none"/>
          </a:ln>
        </p:spPr>
      </p:cxnSp>
      <p:cxnSp>
        <p:nvCxnSpPr>
          <p:cNvPr id="325" name="Google Shape;325;p31"/>
          <p:cNvCxnSpPr/>
          <p:nvPr/>
        </p:nvCxnSpPr>
        <p:spPr>
          <a:xfrm>
            <a:off x="4072925" y="2545675"/>
            <a:ext cx="2700" cy="192300"/>
          </a:xfrm>
          <a:prstGeom prst="straightConnector1">
            <a:avLst/>
          </a:prstGeom>
          <a:noFill/>
          <a:ln cap="flat" cmpd="sng" w="9525">
            <a:solidFill>
              <a:schemeClr val="dk2"/>
            </a:solidFill>
            <a:prstDash val="solid"/>
            <a:round/>
            <a:headEnd len="sm" w="sm" type="none"/>
            <a:tailEnd len="sm" w="sm" type="none"/>
          </a:ln>
        </p:spPr>
      </p:cxnSp>
      <p:cxnSp>
        <p:nvCxnSpPr>
          <p:cNvPr id="326" name="Google Shape;326;p31"/>
          <p:cNvCxnSpPr/>
          <p:nvPr/>
        </p:nvCxnSpPr>
        <p:spPr>
          <a:xfrm>
            <a:off x="4256200" y="2545675"/>
            <a:ext cx="2700" cy="192300"/>
          </a:xfrm>
          <a:prstGeom prst="straightConnector1">
            <a:avLst/>
          </a:prstGeom>
          <a:noFill/>
          <a:ln cap="flat" cmpd="sng" w="9525">
            <a:solidFill>
              <a:schemeClr val="dk2"/>
            </a:solidFill>
            <a:prstDash val="solid"/>
            <a:round/>
            <a:headEnd len="sm" w="sm" type="none"/>
            <a:tailEnd len="sm" w="sm" type="none"/>
          </a:ln>
        </p:spPr>
      </p:cxnSp>
      <p:cxnSp>
        <p:nvCxnSpPr>
          <p:cNvPr id="327" name="Google Shape;327;p31"/>
          <p:cNvCxnSpPr/>
          <p:nvPr/>
        </p:nvCxnSpPr>
        <p:spPr>
          <a:xfrm>
            <a:off x="3428825" y="2281600"/>
            <a:ext cx="1200" cy="455100"/>
          </a:xfrm>
          <a:prstGeom prst="straightConnector1">
            <a:avLst/>
          </a:prstGeom>
          <a:noFill/>
          <a:ln cap="flat" cmpd="sng" w="9525">
            <a:solidFill>
              <a:schemeClr val="dk2"/>
            </a:solidFill>
            <a:prstDash val="solid"/>
            <a:round/>
            <a:headEnd len="sm" w="sm" type="none"/>
            <a:tailEnd len="sm" w="sm" type="none"/>
          </a:ln>
        </p:spPr>
      </p:cxnSp>
      <p:cxnSp>
        <p:nvCxnSpPr>
          <p:cNvPr id="328" name="Google Shape;328;p31"/>
          <p:cNvCxnSpPr/>
          <p:nvPr/>
        </p:nvCxnSpPr>
        <p:spPr>
          <a:xfrm>
            <a:off x="5044563" y="25242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329" name="Google Shape;329;p31"/>
          <p:cNvCxnSpPr/>
          <p:nvPr/>
        </p:nvCxnSpPr>
        <p:spPr>
          <a:xfrm>
            <a:off x="5606563" y="25242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330" name="Google Shape;330;p31"/>
          <p:cNvCxnSpPr/>
          <p:nvPr/>
        </p:nvCxnSpPr>
        <p:spPr>
          <a:xfrm>
            <a:off x="5824388" y="25242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331" name="Google Shape;331;p31"/>
          <p:cNvCxnSpPr/>
          <p:nvPr/>
        </p:nvCxnSpPr>
        <p:spPr>
          <a:xfrm>
            <a:off x="5996325" y="2524200"/>
            <a:ext cx="2700" cy="192300"/>
          </a:xfrm>
          <a:prstGeom prst="straightConnector1">
            <a:avLst/>
          </a:prstGeom>
          <a:noFill/>
          <a:ln cap="flat" cmpd="sng" w="9525">
            <a:solidFill>
              <a:schemeClr val="dk2"/>
            </a:solidFill>
            <a:prstDash val="solid"/>
            <a:round/>
            <a:headEnd len="sm" w="sm" type="none"/>
            <a:tailEnd len="sm" w="sm" type="none"/>
          </a:ln>
        </p:spPr>
      </p:cxnSp>
      <p:cxnSp>
        <p:nvCxnSpPr>
          <p:cNvPr id="332" name="Google Shape;332;p31"/>
          <p:cNvCxnSpPr/>
          <p:nvPr/>
        </p:nvCxnSpPr>
        <p:spPr>
          <a:xfrm>
            <a:off x="5187800" y="2292400"/>
            <a:ext cx="3600" cy="444300"/>
          </a:xfrm>
          <a:prstGeom prst="straightConnector1">
            <a:avLst/>
          </a:prstGeom>
          <a:noFill/>
          <a:ln cap="flat" cmpd="sng" w="9525">
            <a:solidFill>
              <a:schemeClr val="dk2"/>
            </a:solidFill>
            <a:prstDash val="solid"/>
            <a:round/>
            <a:headEnd len="sm" w="sm" type="none"/>
            <a:tailEnd len="sm" w="sm" type="none"/>
          </a:ln>
        </p:spPr>
      </p:cxnSp>
      <p:cxnSp>
        <p:nvCxnSpPr>
          <p:cNvPr id="333" name="Google Shape;333;p31"/>
          <p:cNvCxnSpPr/>
          <p:nvPr/>
        </p:nvCxnSpPr>
        <p:spPr>
          <a:xfrm>
            <a:off x="6194700" y="2287750"/>
            <a:ext cx="3600" cy="442800"/>
          </a:xfrm>
          <a:prstGeom prst="straightConnector1">
            <a:avLst/>
          </a:prstGeom>
          <a:noFill/>
          <a:ln cap="flat" cmpd="sng" w="9525">
            <a:solidFill>
              <a:schemeClr val="dk2"/>
            </a:solidFill>
            <a:prstDash val="solid"/>
            <a:round/>
            <a:headEnd len="sm" w="sm" type="none"/>
            <a:tailEnd len="sm" w="sm" type="none"/>
          </a:ln>
        </p:spPr>
      </p:cxnSp>
      <p:cxnSp>
        <p:nvCxnSpPr>
          <p:cNvPr id="334" name="Google Shape;334;p31"/>
          <p:cNvCxnSpPr/>
          <p:nvPr/>
        </p:nvCxnSpPr>
        <p:spPr>
          <a:xfrm flipH="1" rot="10800000">
            <a:off x="3042200" y="2290300"/>
            <a:ext cx="3160200" cy="2100"/>
          </a:xfrm>
          <a:prstGeom prst="straightConnector1">
            <a:avLst/>
          </a:prstGeom>
          <a:noFill/>
          <a:ln cap="flat" cmpd="sng" w="9525">
            <a:solidFill>
              <a:schemeClr val="dk2"/>
            </a:solidFill>
            <a:prstDash val="solid"/>
            <a:round/>
            <a:headEnd len="sm" w="sm" type="none"/>
            <a:tailEnd len="sm" w="sm" type="none"/>
          </a:ln>
        </p:spPr>
      </p:cxnSp>
      <p:cxnSp>
        <p:nvCxnSpPr>
          <p:cNvPr id="335" name="Google Shape;335;p31"/>
          <p:cNvCxnSpPr/>
          <p:nvPr/>
        </p:nvCxnSpPr>
        <p:spPr>
          <a:xfrm>
            <a:off x="3855850" y="2272850"/>
            <a:ext cx="1200" cy="455100"/>
          </a:xfrm>
          <a:prstGeom prst="straightConnector1">
            <a:avLst/>
          </a:prstGeom>
          <a:noFill/>
          <a:ln cap="flat" cmpd="sng" w="9525">
            <a:solidFill>
              <a:schemeClr val="dk2"/>
            </a:solidFill>
            <a:prstDash val="solid"/>
            <a:round/>
            <a:headEnd len="sm" w="sm" type="none"/>
            <a:tailEnd len="sm" w="sm" type="none"/>
          </a:ln>
        </p:spPr>
      </p:cxnSp>
      <p:cxnSp>
        <p:nvCxnSpPr>
          <p:cNvPr id="336" name="Google Shape;336;p31"/>
          <p:cNvCxnSpPr/>
          <p:nvPr/>
        </p:nvCxnSpPr>
        <p:spPr>
          <a:xfrm>
            <a:off x="4072925" y="2261400"/>
            <a:ext cx="1200" cy="455100"/>
          </a:xfrm>
          <a:prstGeom prst="straightConnector1">
            <a:avLst/>
          </a:prstGeom>
          <a:noFill/>
          <a:ln cap="flat" cmpd="sng" w="9525">
            <a:solidFill>
              <a:schemeClr val="dk2"/>
            </a:solidFill>
            <a:prstDash val="solid"/>
            <a:round/>
            <a:headEnd len="sm" w="sm" type="none"/>
            <a:tailEnd len="sm" w="sm" type="none"/>
          </a:ln>
        </p:spPr>
      </p:cxnSp>
      <p:cxnSp>
        <p:nvCxnSpPr>
          <p:cNvPr id="337" name="Google Shape;337;p31"/>
          <p:cNvCxnSpPr/>
          <p:nvPr/>
        </p:nvCxnSpPr>
        <p:spPr>
          <a:xfrm>
            <a:off x="5397625" y="2524200"/>
            <a:ext cx="2700" cy="1923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a:p>
            <a:pPr indent="0" lvl="0" marL="0" rtl="0" algn="l">
              <a:lnSpc>
                <a:spcPct val="100000"/>
              </a:lnSpc>
              <a:spcBef>
                <a:spcPts val="0"/>
              </a:spcBef>
              <a:spcAft>
                <a:spcPts val="0"/>
              </a:spcAft>
              <a:buSzPct val="111111"/>
              <a:buNone/>
            </a:pPr>
            <a:r>
              <a:t/>
            </a:r>
            <a:endParaRPr/>
          </a:p>
        </p:txBody>
      </p:sp>
      <p:sp>
        <p:nvSpPr>
          <p:cNvPr id="343" name="Google Shape;343;p32"/>
          <p:cNvSpPr txBox="1"/>
          <p:nvPr>
            <p:ph idx="1" type="body"/>
          </p:nvPr>
        </p:nvSpPr>
        <p:spPr>
          <a:xfrm>
            <a:off x="311700" y="1266325"/>
            <a:ext cx="8520600" cy="37803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s" sz="2000">
                <a:solidFill>
                  <a:srgbClr val="3D85C6"/>
                </a:solidFill>
              </a:rPr>
              <a:t>RR - Round Robin</a:t>
            </a:r>
            <a:endParaRPr b="1" sz="2000">
              <a:solidFill>
                <a:srgbClr val="3D85C6"/>
              </a:solidFill>
            </a:endParaRPr>
          </a:p>
          <a:p>
            <a:pPr indent="0" lvl="0" marL="0" rtl="0" algn="l">
              <a:lnSpc>
                <a:spcPct val="115000"/>
              </a:lnSpc>
              <a:spcBef>
                <a:spcPts val="1200"/>
              </a:spcBef>
              <a:spcAft>
                <a:spcPts val="0"/>
              </a:spcAft>
              <a:buSzPts val="1800"/>
              <a:buNone/>
            </a:pPr>
            <a:r>
              <a:rPr lang="es"/>
              <a:t>Se establece el intervalo de uso del procesador (ejemplo: quantum time) y basado en este tiempo se van asignando los procesos para su ejecución y expropiando los procesos de forma circular</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Al finalizar el tiempo quantum se expropia el recurso (procesador) y pueden pasar dos cosa</a:t>
            </a:r>
            <a:endParaRPr/>
          </a:p>
          <a:p>
            <a:pPr indent="-355600" lvl="0" marL="457200" rtl="0" algn="l">
              <a:lnSpc>
                <a:spcPct val="115000"/>
              </a:lnSpc>
              <a:spcBef>
                <a:spcPts val="1200"/>
              </a:spcBef>
              <a:spcAft>
                <a:spcPts val="0"/>
              </a:spcAft>
              <a:buClr>
                <a:srgbClr val="3D85C6"/>
              </a:buClr>
              <a:buSzPts val="2000"/>
              <a:buAutoNum type="arabicParenR"/>
            </a:pPr>
            <a:r>
              <a:rPr lang="es"/>
              <a:t>aún no finaliza la ejecución, entonces el proceso guarda su información en el PCB, queda en esta Ready y pasa al final de la cola de proceso Ready (listo para seguir con la ejecución)</a:t>
            </a:r>
            <a:endParaRPr/>
          </a:p>
          <a:p>
            <a:pPr indent="-355600" lvl="0" marL="457200" rtl="0" algn="l">
              <a:lnSpc>
                <a:spcPct val="115000"/>
              </a:lnSpc>
              <a:spcBef>
                <a:spcPts val="0"/>
              </a:spcBef>
              <a:spcAft>
                <a:spcPts val="0"/>
              </a:spcAft>
              <a:buClr>
                <a:srgbClr val="3D85C6"/>
              </a:buClr>
              <a:buSzPts val="2000"/>
              <a:buAutoNum type="arabicParenR"/>
            </a:pPr>
            <a:r>
              <a:rPr lang="es"/>
              <a:t>el proceso finaliza y se elimina de las colas de procesos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a:p>
            <a:pPr indent="0" lvl="0" marL="0" rtl="0" algn="l">
              <a:lnSpc>
                <a:spcPct val="100000"/>
              </a:lnSpc>
              <a:spcBef>
                <a:spcPts val="0"/>
              </a:spcBef>
              <a:spcAft>
                <a:spcPts val="0"/>
              </a:spcAft>
              <a:buSzPct val="111111"/>
              <a:buNone/>
            </a:pPr>
            <a:r>
              <a:t/>
            </a:r>
            <a:endParaRPr/>
          </a:p>
        </p:txBody>
      </p:sp>
      <p:sp>
        <p:nvSpPr>
          <p:cNvPr id="349" name="Google Shape;349;p33"/>
          <p:cNvSpPr txBox="1"/>
          <p:nvPr>
            <p:ph idx="1" type="body"/>
          </p:nvPr>
        </p:nvSpPr>
        <p:spPr>
          <a:xfrm>
            <a:off x="311700" y="1266325"/>
            <a:ext cx="8520600" cy="36846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97297"/>
              <a:buNone/>
            </a:pPr>
            <a:r>
              <a:rPr b="1" lang="es" sz="2000">
                <a:solidFill>
                  <a:srgbClr val="3D85C6"/>
                </a:solidFill>
              </a:rPr>
              <a:t>RR - Round Robin</a:t>
            </a:r>
            <a:endParaRPr b="1" sz="2000">
              <a:solidFill>
                <a:srgbClr val="3D85C6"/>
              </a:solidFill>
            </a:endParaRPr>
          </a:p>
          <a:p>
            <a:pPr indent="0" lvl="0" marL="457200" rtl="0" algn="l">
              <a:lnSpc>
                <a:spcPct val="115000"/>
              </a:lnSpc>
              <a:spcBef>
                <a:spcPts val="1200"/>
              </a:spcBef>
              <a:spcAft>
                <a:spcPts val="0"/>
              </a:spcAft>
              <a:buSzPct val="97297"/>
              <a:buNone/>
            </a:pPr>
            <a:r>
              <a:t/>
            </a:r>
            <a:endParaRPr b="1" sz="2000">
              <a:solidFill>
                <a:srgbClr val="3D85C6"/>
              </a:solidFill>
            </a:endParaRPr>
          </a:p>
          <a:p>
            <a:pPr indent="-334327" lvl="0" marL="457200" rtl="0" algn="l">
              <a:lnSpc>
                <a:spcPct val="115000"/>
              </a:lnSpc>
              <a:spcBef>
                <a:spcPts val="1200"/>
              </a:spcBef>
              <a:spcAft>
                <a:spcPts val="0"/>
              </a:spcAft>
              <a:buSzPct val="100000"/>
              <a:buChar char="●"/>
            </a:pPr>
            <a:r>
              <a:rPr lang="es"/>
              <a:t>Es fácil de implementar ya que solamente es necesario una cola de procesos listos. Cuando un proceso consume su quantum es puesto al final de la cola.</a:t>
            </a:r>
            <a:endParaRPr/>
          </a:p>
          <a:p>
            <a:pPr indent="0" lvl="0" marL="457200" rtl="0" algn="l">
              <a:lnSpc>
                <a:spcPct val="115000"/>
              </a:lnSpc>
              <a:spcBef>
                <a:spcPts val="1200"/>
              </a:spcBef>
              <a:spcAft>
                <a:spcPts val="0"/>
              </a:spcAft>
              <a:buSzPct val="108108"/>
              <a:buNone/>
            </a:pPr>
            <a:r>
              <a:t/>
            </a:r>
            <a:endParaRPr/>
          </a:p>
          <a:p>
            <a:pPr indent="-334327" lvl="0" marL="457200" rtl="0" algn="l">
              <a:lnSpc>
                <a:spcPct val="115000"/>
              </a:lnSpc>
              <a:spcBef>
                <a:spcPts val="1200"/>
              </a:spcBef>
              <a:spcAft>
                <a:spcPts val="0"/>
              </a:spcAft>
              <a:buSzPct val="100000"/>
              <a:buChar char="●"/>
            </a:pPr>
            <a:r>
              <a:rPr lang="es"/>
              <a:t>Por lo general, tiene un mayor tiempo de retorno que el SJF, pero mejora el tiempo de respuesta.</a:t>
            </a:r>
            <a:endParaRPr/>
          </a:p>
          <a:p>
            <a:pPr indent="0" lvl="0" marL="457200" rtl="0" algn="l">
              <a:lnSpc>
                <a:spcPct val="115000"/>
              </a:lnSpc>
              <a:spcBef>
                <a:spcPts val="1200"/>
              </a:spcBef>
              <a:spcAft>
                <a:spcPts val="0"/>
              </a:spcAft>
              <a:buSzPct val="108108"/>
              <a:buNone/>
            </a:pPr>
            <a:r>
              <a:t/>
            </a:r>
            <a:endParaRPr/>
          </a:p>
          <a:p>
            <a:pPr indent="-334327" lvl="0" marL="457200" rtl="0" algn="l">
              <a:lnSpc>
                <a:spcPct val="115000"/>
              </a:lnSpc>
              <a:spcBef>
                <a:spcPts val="1200"/>
              </a:spcBef>
              <a:spcAft>
                <a:spcPts val="0"/>
              </a:spcAft>
              <a:buSzPct val="100000"/>
              <a:buChar char="●"/>
            </a:pPr>
            <a:r>
              <a:rPr lang="es"/>
              <a:t>El promedio del tiempo de retorno medio varía según el quantum</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a:p>
            <a:pPr indent="0" lvl="0" marL="0" rtl="0" algn="l">
              <a:lnSpc>
                <a:spcPct val="100000"/>
              </a:lnSpc>
              <a:spcBef>
                <a:spcPts val="0"/>
              </a:spcBef>
              <a:spcAft>
                <a:spcPts val="0"/>
              </a:spcAft>
              <a:buSzPct val="111111"/>
              <a:buNone/>
            </a:pPr>
            <a:r>
              <a:t/>
            </a:r>
            <a:endParaRPr/>
          </a:p>
        </p:txBody>
      </p:sp>
      <p:sp>
        <p:nvSpPr>
          <p:cNvPr id="355" name="Google Shape;355;p34"/>
          <p:cNvSpPr txBox="1"/>
          <p:nvPr>
            <p:ph idx="1" type="body"/>
          </p:nvPr>
        </p:nvSpPr>
        <p:spPr>
          <a:xfrm>
            <a:off x="311700" y="1266325"/>
            <a:ext cx="8520600" cy="977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000">
                <a:solidFill>
                  <a:srgbClr val="3D85C6"/>
                </a:solidFill>
              </a:rPr>
              <a:t>RR - Round Robin</a:t>
            </a:r>
            <a:endParaRPr b="1" sz="2000">
              <a:solidFill>
                <a:srgbClr val="3D85C6"/>
              </a:solidFill>
            </a:endParaRPr>
          </a:p>
          <a:p>
            <a:pPr indent="0" lvl="0" marL="457200" rtl="0" algn="l">
              <a:lnSpc>
                <a:spcPct val="115000"/>
              </a:lnSpc>
              <a:spcBef>
                <a:spcPts val="1200"/>
              </a:spcBef>
              <a:spcAft>
                <a:spcPts val="1200"/>
              </a:spcAft>
              <a:buSzPts val="1800"/>
              <a:buNone/>
            </a:pPr>
            <a:r>
              <a:t/>
            </a:r>
            <a:endParaRPr/>
          </a:p>
        </p:txBody>
      </p:sp>
      <p:pic>
        <p:nvPicPr>
          <p:cNvPr id="356" name="Google Shape;356;p34"/>
          <p:cNvPicPr preferRelativeResize="0"/>
          <p:nvPr/>
        </p:nvPicPr>
        <p:blipFill rotWithShape="1">
          <a:blip r:embed="rId3">
            <a:alphaModFix/>
          </a:blip>
          <a:srcRect b="0" l="0" r="0" t="0"/>
          <a:stretch/>
        </p:blipFill>
        <p:spPr>
          <a:xfrm>
            <a:off x="571175" y="1985250"/>
            <a:ext cx="7705725" cy="25812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a:p>
            <a:pPr indent="0" lvl="0" marL="0" rtl="0" algn="l">
              <a:lnSpc>
                <a:spcPct val="100000"/>
              </a:lnSpc>
              <a:spcBef>
                <a:spcPts val="0"/>
              </a:spcBef>
              <a:spcAft>
                <a:spcPts val="0"/>
              </a:spcAft>
              <a:buSzPct val="111111"/>
              <a:buNone/>
            </a:pPr>
            <a:r>
              <a:t/>
            </a:r>
            <a:endParaRPr/>
          </a:p>
        </p:txBody>
      </p:sp>
      <p:sp>
        <p:nvSpPr>
          <p:cNvPr id="362" name="Google Shape;362;p35"/>
          <p:cNvSpPr txBox="1"/>
          <p:nvPr>
            <p:ph idx="1" type="body"/>
          </p:nvPr>
        </p:nvSpPr>
        <p:spPr>
          <a:xfrm>
            <a:off x="311700" y="1266325"/>
            <a:ext cx="8520600" cy="1305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000">
                <a:solidFill>
                  <a:srgbClr val="3D85C6"/>
                </a:solidFill>
              </a:rPr>
              <a:t>RR - Round Robin</a:t>
            </a:r>
            <a:endParaRPr b="1" sz="2000">
              <a:solidFill>
                <a:srgbClr val="3D85C6"/>
              </a:solidFill>
            </a:endParaRPr>
          </a:p>
          <a:p>
            <a:pPr indent="0" lvl="0" marL="0" rtl="0" algn="l">
              <a:lnSpc>
                <a:spcPct val="115000"/>
              </a:lnSpc>
              <a:spcBef>
                <a:spcPts val="1200"/>
              </a:spcBef>
              <a:spcAft>
                <a:spcPts val="1200"/>
              </a:spcAft>
              <a:buSzPts val="1800"/>
              <a:buNone/>
            </a:pPr>
            <a:r>
              <a:rPr lang="es"/>
              <a:t>Es fácil de implementar ya que solamente es necesario una cola de procesos listos. Cuando un proceso consume su quantum es puesto al final de la cola.</a:t>
            </a:r>
            <a:endParaRPr/>
          </a:p>
        </p:txBody>
      </p:sp>
      <p:graphicFrame>
        <p:nvGraphicFramePr>
          <p:cNvPr id="363" name="Google Shape;363;p35"/>
          <p:cNvGraphicFramePr/>
          <p:nvPr/>
        </p:nvGraphicFramePr>
        <p:xfrm>
          <a:off x="311700" y="2652525"/>
          <a:ext cx="3000000" cy="3000000"/>
        </p:xfrm>
        <a:graphic>
          <a:graphicData uri="http://schemas.openxmlformats.org/drawingml/2006/table">
            <a:tbl>
              <a:tblPr>
                <a:noFill/>
                <a:tableStyleId>{DC5653FA-149E-4B5F-A835-83AE677FAE40}</a:tableStyleId>
              </a:tblPr>
              <a:tblGrid>
                <a:gridCol w="912275"/>
                <a:gridCol w="594050"/>
              </a:tblGrid>
              <a:tr h="4051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proceso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burst time</a:t>
                      </a:r>
                      <a:endParaRPr sz="1400" u="none" cap="none" strike="noStrike"/>
                    </a:p>
                  </a:txBody>
                  <a:tcPr marT="91425" marB="91425" marR="91425" marL="91425"/>
                </a:tc>
              </a:tr>
              <a:tr h="4051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53</a:t>
                      </a:r>
                      <a:endParaRPr sz="1400" u="none" cap="none" strike="noStrike"/>
                    </a:p>
                  </a:txBody>
                  <a:tcPr marT="91425" marB="91425" marR="91425" marL="91425"/>
                </a:tc>
              </a:tr>
              <a:tr h="40510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a:t>
                      </a:r>
                      <a:endParaRPr sz="1400" u="none" cap="none" strike="noStrike"/>
                    </a:p>
                  </a:txBody>
                  <a:tcPr marT="91425" marB="91425" marR="91425" marL="91425"/>
                </a:tc>
              </a:tr>
              <a:tr h="38955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p3</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68</a:t>
                      </a:r>
                      <a:endParaRPr sz="1400" u="none" cap="none" strike="noStrike"/>
                    </a:p>
                  </a:txBody>
                  <a:tcPr marT="91425" marB="91425" marR="91425" marL="91425"/>
                </a:tc>
              </a:tr>
              <a:tr h="389550">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p4</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24</a:t>
                      </a:r>
                      <a:endParaRPr sz="1400" u="none" cap="none" strike="noStrike"/>
                    </a:p>
                  </a:txBody>
                  <a:tcPr marT="91425" marB="91425" marR="91425" marL="91425"/>
                </a:tc>
              </a:tr>
            </a:tbl>
          </a:graphicData>
        </a:graphic>
      </p:graphicFrame>
      <p:sp>
        <p:nvSpPr>
          <p:cNvPr id="364" name="Google Shape;364;p35"/>
          <p:cNvSpPr txBox="1"/>
          <p:nvPr/>
        </p:nvSpPr>
        <p:spPr>
          <a:xfrm>
            <a:off x="2439575" y="2895025"/>
            <a:ext cx="1970700" cy="42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quantum = 20</a:t>
            </a:r>
            <a:endParaRPr b="0" i="0" sz="1400" u="none" cap="none" strike="noStrike">
              <a:solidFill>
                <a:srgbClr val="000000"/>
              </a:solidFill>
              <a:latin typeface="Open Sans"/>
              <a:ea typeface="Open Sans"/>
              <a:cs typeface="Open Sans"/>
              <a:sym typeface="Open Sans"/>
            </a:endParaRPr>
          </a:p>
        </p:txBody>
      </p:sp>
      <p:pic>
        <p:nvPicPr>
          <p:cNvPr id="365" name="Google Shape;365;p35"/>
          <p:cNvPicPr preferRelativeResize="0"/>
          <p:nvPr/>
        </p:nvPicPr>
        <p:blipFill rotWithShape="1">
          <a:blip r:embed="rId3">
            <a:alphaModFix/>
          </a:blip>
          <a:srcRect b="0" l="0" r="0" t="0"/>
          <a:stretch/>
        </p:blipFill>
        <p:spPr>
          <a:xfrm>
            <a:off x="2725875" y="3645325"/>
            <a:ext cx="4073876" cy="6640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a:p>
            <a:pPr indent="0" lvl="0" marL="0" rtl="0" algn="l">
              <a:lnSpc>
                <a:spcPct val="100000"/>
              </a:lnSpc>
              <a:spcBef>
                <a:spcPts val="0"/>
              </a:spcBef>
              <a:spcAft>
                <a:spcPts val="0"/>
              </a:spcAft>
              <a:buSzPct val="111111"/>
              <a:buNone/>
            </a:pPr>
            <a:r>
              <a:t/>
            </a:r>
            <a:endParaRPr/>
          </a:p>
        </p:txBody>
      </p:sp>
      <p:sp>
        <p:nvSpPr>
          <p:cNvPr id="371" name="Google Shape;371;p36"/>
          <p:cNvSpPr txBox="1"/>
          <p:nvPr>
            <p:ph idx="1" type="body"/>
          </p:nvPr>
        </p:nvSpPr>
        <p:spPr>
          <a:xfrm>
            <a:off x="311700" y="1266325"/>
            <a:ext cx="3934200" cy="3645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000">
                <a:solidFill>
                  <a:srgbClr val="3D85C6"/>
                </a:solidFill>
              </a:rPr>
              <a:t>RR - Round Robin</a:t>
            </a:r>
            <a:endParaRPr b="1" sz="2000">
              <a:solidFill>
                <a:srgbClr val="3D85C6"/>
              </a:solidFill>
            </a:endParaRPr>
          </a:p>
          <a:p>
            <a:pPr indent="0" lvl="0" marL="0" rtl="0" algn="l">
              <a:lnSpc>
                <a:spcPct val="115000"/>
              </a:lnSpc>
              <a:spcBef>
                <a:spcPts val="1200"/>
              </a:spcBef>
              <a:spcAft>
                <a:spcPts val="0"/>
              </a:spcAft>
              <a:buSzPts val="1800"/>
              <a:buNone/>
            </a:pPr>
            <a:r>
              <a:rPr lang="es"/>
              <a:t>Ejemplo: tiempo medio de respuesta basado en la variación del quantum,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s"/>
              <a:t>aquí se puede ver que esta métrica serviría para minimizar el tiempo medio de respuesta basado en la variación del quantum </a:t>
            </a:r>
            <a:endParaRPr/>
          </a:p>
        </p:txBody>
      </p:sp>
      <p:pic>
        <p:nvPicPr>
          <p:cNvPr id="372" name="Google Shape;372;p36"/>
          <p:cNvPicPr preferRelativeResize="0"/>
          <p:nvPr/>
        </p:nvPicPr>
        <p:blipFill rotWithShape="1">
          <a:blip r:embed="rId3">
            <a:alphaModFix/>
          </a:blip>
          <a:srcRect b="0" l="0" r="0" t="0"/>
          <a:stretch/>
        </p:blipFill>
        <p:spPr>
          <a:xfrm>
            <a:off x="4406525" y="1152425"/>
            <a:ext cx="4390475" cy="368627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a:p>
            <a:pPr indent="0" lvl="0" marL="0" rtl="0" algn="l">
              <a:lnSpc>
                <a:spcPct val="100000"/>
              </a:lnSpc>
              <a:spcBef>
                <a:spcPts val="0"/>
              </a:spcBef>
              <a:spcAft>
                <a:spcPts val="0"/>
              </a:spcAft>
              <a:buSzPct val="111111"/>
              <a:buNone/>
            </a:pPr>
            <a:r>
              <a:t/>
            </a:r>
            <a:endParaRPr/>
          </a:p>
        </p:txBody>
      </p:sp>
      <p:sp>
        <p:nvSpPr>
          <p:cNvPr id="378" name="Google Shape;378;p37"/>
          <p:cNvSpPr txBox="1"/>
          <p:nvPr>
            <p:ph idx="1" type="body"/>
          </p:nvPr>
        </p:nvSpPr>
        <p:spPr>
          <a:xfrm>
            <a:off x="311700" y="1266325"/>
            <a:ext cx="8520600" cy="3684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000">
                <a:solidFill>
                  <a:srgbClr val="3D85C6"/>
                </a:solidFill>
              </a:rPr>
              <a:t>Multilevel-Queue</a:t>
            </a:r>
            <a:endParaRPr b="1" sz="2000">
              <a:solidFill>
                <a:srgbClr val="3D85C6"/>
              </a:solidFill>
            </a:endParaRPr>
          </a:p>
          <a:p>
            <a:pPr indent="-342900" lvl="0" marL="457200" rtl="0" algn="l">
              <a:lnSpc>
                <a:spcPct val="115000"/>
              </a:lnSpc>
              <a:spcBef>
                <a:spcPts val="1200"/>
              </a:spcBef>
              <a:spcAft>
                <a:spcPts val="0"/>
              </a:spcAft>
              <a:buSzPts val="1800"/>
              <a:buChar char="●"/>
            </a:pPr>
            <a:r>
              <a:rPr lang="es"/>
              <a:t>Realiza una  clasificación de los procesos en estado Ready según sus características</a:t>
            </a:r>
            <a:endParaRPr/>
          </a:p>
          <a:p>
            <a:pPr indent="-342900" lvl="0" marL="457200" rtl="0" algn="l">
              <a:lnSpc>
                <a:spcPct val="115000"/>
              </a:lnSpc>
              <a:spcBef>
                <a:spcPts val="0"/>
              </a:spcBef>
              <a:spcAft>
                <a:spcPts val="0"/>
              </a:spcAft>
              <a:buSzPts val="1800"/>
              <a:buChar char="●"/>
            </a:pPr>
            <a:r>
              <a:rPr lang="es"/>
              <a:t>Basado en estas características establece y crea colas de prioridad, las cuales indican el orden de ejecución</a:t>
            </a:r>
            <a:endParaRPr/>
          </a:p>
          <a:p>
            <a:pPr indent="-342900" lvl="0" marL="457200" rtl="0" algn="l">
              <a:lnSpc>
                <a:spcPct val="115000"/>
              </a:lnSpc>
              <a:spcBef>
                <a:spcPts val="0"/>
              </a:spcBef>
              <a:spcAft>
                <a:spcPts val="0"/>
              </a:spcAft>
              <a:buSzPts val="1800"/>
              <a:buChar char="●"/>
            </a:pPr>
            <a:r>
              <a:rPr lang="es"/>
              <a:t>Cada cola aplicará su propio algoritmo de planificación</a:t>
            </a:r>
            <a:endParaRPr/>
          </a:p>
          <a:p>
            <a:pPr indent="-342900" lvl="0" marL="457200" rtl="0" algn="l">
              <a:lnSpc>
                <a:spcPct val="115000"/>
              </a:lnSpc>
              <a:spcBef>
                <a:spcPts val="0"/>
              </a:spcBef>
              <a:spcAft>
                <a:spcPts val="0"/>
              </a:spcAft>
              <a:buSzPts val="1800"/>
              <a:buChar char="●"/>
            </a:pPr>
            <a:r>
              <a:rPr lang="es"/>
              <a:t>Debe existir un mecanismo que aparte coordine el orden de ejecución del conjunto de todas las colas, estableciendo que cola tendrá prioridad sobre otra</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Algoritmos de planificación</a:t>
            </a:r>
            <a:endParaRPr/>
          </a:p>
          <a:p>
            <a:pPr indent="0" lvl="0" marL="0" rtl="0" algn="l">
              <a:lnSpc>
                <a:spcPct val="100000"/>
              </a:lnSpc>
              <a:spcBef>
                <a:spcPts val="0"/>
              </a:spcBef>
              <a:spcAft>
                <a:spcPts val="0"/>
              </a:spcAft>
              <a:buSzPct val="111111"/>
              <a:buNone/>
            </a:pPr>
            <a:r>
              <a:t/>
            </a:r>
            <a:endParaRPr/>
          </a:p>
        </p:txBody>
      </p:sp>
      <p:sp>
        <p:nvSpPr>
          <p:cNvPr id="384" name="Google Shape;384;p38"/>
          <p:cNvSpPr txBox="1"/>
          <p:nvPr>
            <p:ph idx="1" type="body"/>
          </p:nvPr>
        </p:nvSpPr>
        <p:spPr>
          <a:xfrm>
            <a:off x="311700" y="12663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sz="2000">
                <a:solidFill>
                  <a:srgbClr val="3D85C6"/>
                </a:solidFill>
              </a:rPr>
              <a:t>Multilevel-Queue</a:t>
            </a:r>
            <a:endParaRPr/>
          </a:p>
        </p:txBody>
      </p:sp>
      <p:pic>
        <p:nvPicPr>
          <p:cNvPr id="385" name="Google Shape;385;p38"/>
          <p:cNvPicPr preferRelativeResize="0"/>
          <p:nvPr/>
        </p:nvPicPr>
        <p:blipFill rotWithShape="1">
          <a:blip r:embed="rId3">
            <a:alphaModFix/>
          </a:blip>
          <a:srcRect b="0" l="0" r="0" t="0"/>
          <a:stretch/>
        </p:blipFill>
        <p:spPr>
          <a:xfrm>
            <a:off x="127750" y="1879775"/>
            <a:ext cx="4233147" cy="2864975"/>
          </a:xfrm>
          <a:prstGeom prst="rect">
            <a:avLst/>
          </a:prstGeom>
          <a:noFill/>
          <a:ln>
            <a:noFill/>
          </a:ln>
        </p:spPr>
      </p:pic>
      <p:pic>
        <p:nvPicPr>
          <p:cNvPr id="386" name="Google Shape;386;p38"/>
          <p:cNvPicPr preferRelativeResize="0"/>
          <p:nvPr/>
        </p:nvPicPr>
        <p:blipFill rotWithShape="1">
          <a:blip r:embed="rId4">
            <a:alphaModFix/>
          </a:blip>
          <a:srcRect b="0" l="0" r="0" t="0"/>
          <a:stretch/>
        </p:blipFill>
        <p:spPr>
          <a:xfrm>
            <a:off x="4472225" y="2120488"/>
            <a:ext cx="4482400" cy="238355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
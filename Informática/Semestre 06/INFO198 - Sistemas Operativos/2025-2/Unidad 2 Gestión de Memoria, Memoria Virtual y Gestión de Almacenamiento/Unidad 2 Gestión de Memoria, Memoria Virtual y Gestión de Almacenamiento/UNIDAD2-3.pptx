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PT Sans Narrow"/>
      <p:regular r:id="rId44"/>
      <p:bold r:id="rId45"/>
    </p:embeddedFont>
    <p:embeddedFont>
      <p:font typeface="Open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0" roundtripDataSignature="AMtx7mhtYRmd6m4Nt3iHUQzIj5zi/xMo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PTSansNarrow-regular.fntdata"/><Relationship Id="rId43" Type="http://schemas.openxmlformats.org/officeDocument/2006/relationships/slide" Target="slides/slide38.xml"/><Relationship Id="rId46" Type="http://schemas.openxmlformats.org/officeDocument/2006/relationships/font" Target="fonts/OpenSans-regular.fntdata"/><Relationship Id="rId45" Type="http://schemas.openxmlformats.org/officeDocument/2006/relationships/font" Target="fonts/PTSansNarrow-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italic.fntdata"/><Relationship Id="rId47" Type="http://schemas.openxmlformats.org/officeDocument/2006/relationships/font" Target="fonts/OpenSans-bold.fntdata"/><Relationship Id="rId49"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40"/>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40"/>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40"/>
          <p:cNvGrpSpPr/>
          <p:nvPr/>
        </p:nvGrpSpPr>
        <p:grpSpPr>
          <a:xfrm>
            <a:off x="1004144" y="1022025"/>
            <a:ext cx="7136668" cy="152400"/>
            <a:chOff x="1346429" y="1011300"/>
            <a:chExt cx="6452100" cy="152400"/>
          </a:xfrm>
        </p:grpSpPr>
        <p:cxnSp>
          <p:nvCxnSpPr>
            <p:cNvPr id="13" name="Google Shape;13;p40"/>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40"/>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40"/>
          <p:cNvGrpSpPr/>
          <p:nvPr/>
        </p:nvGrpSpPr>
        <p:grpSpPr>
          <a:xfrm>
            <a:off x="1004151" y="3969100"/>
            <a:ext cx="7136668" cy="152400"/>
            <a:chOff x="1346435" y="3969088"/>
            <a:chExt cx="6452100" cy="152400"/>
          </a:xfrm>
        </p:grpSpPr>
        <p:cxnSp>
          <p:nvCxnSpPr>
            <p:cNvPr id="16" name="Google Shape;16;p40"/>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40"/>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40"/>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9" name="Google Shape;19;p40"/>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1"/>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4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4" name="Google Shape;24;p4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42"/>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2"/>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29" name="Google Shape;29;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4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2" name="Google Shape;32;p43"/>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43"/>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4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7" name="Google Shape;37;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4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4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46"/>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44" name="Google Shape;44;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47"/>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 name="Google Shape;47;p47"/>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47"/>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9" name="Google Shape;49;p47"/>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47"/>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1" name="Google Shape;5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48"/>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49"/>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49"/>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49"/>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9" name="Google Shape;59;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3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39"/>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Unidad 2: Gestión de la memoria</a:t>
            </a:r>
            <a:endParaRPr/>
          </a:p>
        </p:txBody>
      </p:sp>
      <p:sp>
        <p:nvSpPr>
          <p:cNvPr id="67" name="Google Shape;67;p1"/>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s" sz="1700">
                <a:solidFill>
                  <a:srgbClr val="695D46"/>
                </a:solidFill>
              </a:rPr>
              <a:t>2024-02 (lvc)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Temas</a:t>
            </a:r>
            <a:endParaRPr/>
          </a:p>
        </p:txBody>
      </p:sp>
      <p:sp>
        <p:nvSpPr>
          <p:cNvPr id="73" name="Google Shape;73;p2"/>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Introducción - Gestión de memoria</a:t>
            </a:r>
            <a:endParaRPr/>
          </a:p>
          <a:p>
            <a:pPr indent="-317500" lvl="1" marL="914400" rtl="0" algn="l">
              <a:lnSpc>
                <a:spcPct val="115000"/>
              </a:lnSpc>
              <a:spcBef>
                <a:spcPts val="0"/>
              </a:spcBef>
              <a:spcAft>
                <a:spcPts val="0"/>
              </a:spcAft>
              <a:buSzPts val="1400"/>
              <a:buChar char="○"/>
            </a:pPr>
            <a:r>
              <a:rPr lang="es"/>
              <a:t>Memoria Principal</a:t>
            </a:r>
            <a:endParaRPr/>
          </a:p>
          <a:p>
            <a:pPr indent="-317500" lvl="1" marL="914400" rtl="0" algn="l">
              <a:lnSpc>
                <a:spcPct val="115000"/>
              </a:lnSpc>
              <a:spcBef>
                <a:spcPts val="0"/>
              </a:spcBef>
              <a:spcAft>
                <a:spcPts val="0"/>
              </a:spcAft>
              <a:buSzPts val="1400"/>
              <a:buChar char="○"/>
            </a:pPr>
            <a:r>
              <a:rPr lang="es"/>
              <a:t>Gestor de Memoria</a:t>
            </a:r>
            <a:endParaRPr/>
          </a:p>
          <a:p>
            <a:pPr indent="-317500" lvl="1" marL="914400" rtl="0" algn="l">
              <a:lnSpc>
                <a:spcPct val="115000"/>
              </a:lnSpc>
              <a:spcBef>
                <a:spcPts val="0"/>
              </a:spcBef>
              <a:spcAft>
                <a:spcPts val="0"/>
              </a:spcAft>
              <a:buSzPts val="1400"/>
              <a:buChar char="○"/>
            </a:pPr>
            <a:r>
              <a:rPr lang="es"/>
              <a:t>Memoria  Secundaria</a:t>
            </a:r>
            <a:endParaRPr/>
          </a:p>
          <a:p>
            <a:pPr indent="-342900" lvl="0" marL="457200" rtl="0" algn="l">
              <a:lnSpc>
                <a:spcPct val="115000"/>
              </a:lnSpc>
              <a:spcBef>
                <a:spcPts val="0"/>
              </a:spcBef>
              <a:spcAft>
                <a:spcPts val="0"/>
              </a:spcAft>
              <a:buSzPts val="1800"/>
              <a:buChar char="●"/>
            </a:pPr>
            <a:r>
              <a:rPr lang="es"/>
              <a:t>Sistemas elementales de gestión de memoria</a:t>
            </a:r>
            <a:endParaRPr/>
          </a:p>
          <a:p>
            <a:pPr indent="-342900" lvl="0" marL="457200" rtl="0" algn="l">
              <a:lnSpc>
                <a:spcPct val="115000"/>
              </a:lnSpc>
              <a:spcBef>
                <a:spcPts val="0"/>
              </a:spcBef>
              <a:spcAft>
                <a:spcPts val="0"/>
              </a:spcAft>
              <a:buSzPts val="1800"/>
              <a:buChar char="●"/>
            </a:pPr>
            <a:r>
              <a:rPr lang="es"/>
              <a:t>Gestión de la memoria con particiones fijas</a:t>
            </a:r>
            <a:endParaRPr/>
          </a:p>
          <a:p>
            <a:pPr indent="-342900" lvl="0" marL="457200" rtl="0" algn="l">
              <a:lnSpc>
                <a:spcPct val="115000"/>
              </a:lnSpc>
              <a:spcBef>
                <a:spcPts val="0"/>
              </a:spcBef>
              <a:spcAft>
                <a:spcPts val="0"/>
              </a:spcAft>
              <a:buSzPts val="1800"/>
              <a:buChar char="●"/>
            </a:pPr>
            <a:r>
              <a:rPr lang="es"/>
              <a:t>Gestión de la memoria con particiones variables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Introducción - Gestión de memoria</a:t>
            </a:r>
            <a:endParaRPr/>
          </a:p>
        </p:txBody>
      </p:sp>
      <p:sp>
        <p:nvSpPr>
          <p:cNvPr id="79" name="Google Shape;79;p3"/>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s"/>
              <a:t>La memoria es un recurso que hay que gestionar con sumo cuidado, ya que el comportamiento de la totalidad del sistema depende en gran medida de la administración la ma misma.</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La misión del gestor de memoria es la asignación de memoria principal a los procesos que la soliciten.</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La utilización de los recursos del sistema y, en general, el rendimiento del sistema va a estar condicionado por la eficiencia en la organización y gestión de la memoria, por ende, es de suma importancia a la hora de diseñar un sistema operativo.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Introducción - Gestión de memoria</a:t>
            </a:r>
            <a:endParaRPr/>
          </a:p>
        </p:txBody>
      </p:sp>
      <p:sp>
        <p:nvSpPr>
          <p:cNvPr id="85" name="Google Shape;85;p4"/>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fontScale="92500" lnSpcReduction="10000"/>
          </a:bodyPr>
          <a:lstStyle/>
          <a:p>
            <a:pPr indent="-334327" lvl="0" marL="457200" rtl="0" algn="l">
              <a:lnSpc>
                <a:spcPct val="115000"/>
              </a:lnSpc>
              <a:spcBef>
                <a:spcPts val="0"/>
              </a:spcBef>
              <a:spcAft>
                <a:spcPts val="0"/>
              </a:spcAft>
              <a:buSzPct val="100000"/>
              <a:buChar char="●"/>
            </a:pPr>
            <a:r>
              <a:rPr lang="es"/>
              <a:t>Una mala gestión de memoria, que provoque que la información necesaria no se encuentre disponible, provocará que el rendimiento del sistema se degrade.</a:t>
            </a:r>
            <a:endParaRPr/>
          </a:p>
          <a:p>
            <a:pPr indent="0" lvl="0" marL="457200" rtl="0" algn="l">
              <a:lnSpc>
                <a:spcPct val="115000"/>
              </a:lnSpc>
              <a:spcBef>
                <a:spcPts val="1200"/>
              </a:spcBef>
              <a:spcAft>
                <a:spcPts val="0"/>
              </a:spcAft>
              <a:buSzPct val="108108"/>
              <a:buNone/>
            </a:pPr>
            <a:r>
              <a:t/>
            </a:r>
            <a:endParaRPr/>
          </a:p>
          <a:p>
            <a:pPr indent="-334327" lvl="0" marL="457200" rtl="0" algn="l">
              <a:lnSpc>
                <a:spcPct val="115000"/>
              </a:lnSpc>
              <a:spcBef>
                <a:spcPts val="1200"/>
              </a:spcBef>
              <a:spcAft>
                <a:spcPts val="0"/>
              </a:spcAft>
              <a:buSzPct val="100000"/>
              <a:buChar char="●"/>
            </a:pPr>
            <a:r>
              <a:rPr lang="es"/>
              <a:t>El sistema de gestión de memoria a elegir dependerá del equipo de cómputo utilizado, que puede ser:</a:t>
            </a:r>
            <a:endParaRPr/>
          </a:p>
          <a:p>
            <a:pPr indent="0" lvl="0" marL="457200" rtl="0" algn="l">
              <a:lnSpc>
                <a:spcPct val="115000"/>
              </a:lnSpc>
              <a:spcBef>
                <a:spcPts val="1200"/>
              </a:spcBef>
              <a:spcAft>
                <a:spcPts val="0"/>
              </a:spcAft>
              <a:buSzPct val="108108"/>
              <a:buNone/>
            </a:pPr>
            <a:r>
              <a:t/>
            </a:r>
            <a:endParaRPr/>
          </a:p>
          <a:p>
            <a:pPr indent="-328484" lvl="1" marL="914400" rtl="0" algn="l">
              <a:lnSpc>
                <a:spcPct val="115000"/>
              </a:lnSpc>
              <a:spcBef>
                <a:spcPts val="1200"/>
              </a:spcBef>
              <a:spcAft>
                <a:spcPts val="0"/>
              </a:spcAft>
              <a:buSzPct val="100000"/>
              <a:buChar char="○"/>
            </a:pPr>
            <a:r>
              <a:rPr b="1" lang="es" sz="1700">
                <a:solidFill>
                  <a:srgbClr val="980000"/>
                </a:solidFill>
              </a:rPr>
              <a:t>Monoprocesador,</a:t>
            </a:r>
            <a:r>
              <a:rPr lang="es" sz="1700"/>
              <a:t> donde la gestión es relativamente sencilla, ya que en un tiempo dado, sólo hay un proceso cargado en memoria </a:t>
            </a:r>
            <a:endParaRPr sz="1700"/>
          </a:p>
          <a:p>
            <a:pPr indent="-328484" lvl="1" marL="914400" rtl="0" algn="l">
              <a:lnSpc>
                <a:spcPct val="115000"/>
              </a:lnSpc>
              <a:spcBef>
                <a:spcPts val="0"/>
              </a:spcBef>
              <a:spcAft>
                <a:spcPts val="0"/>
              </a:spcAft>
              <a:buSzPct val="100000"/>
              <a:buChar char="○"/>
            </a:pPr>
            <a:r>
              <a:rPr b="1" lang="es" sz="1700">
                <a:solidFill>
                  <a:srgbClr val="980000"/>
                </a:solidFill>
              </a:rPr>
              <a:t>Multiprocesador, </a:t>
            </a:r>
            <a:r>
              <a:rPr lang="es" sz="1700"/>
              <a:t>donde se deben tomar decisiones más complejas en términos que como se comparte la memoria para no afectar el rendimiento del sistema</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Introducción - Gestión de memoria</a:t>
            </a:r>
            <a:endParaRPr/>
          </a:p>
        </p:txBody>
      </p:sp>
      <p:sp>
        <p:nvSpPr>
          <p:cNvPr id="91" name="Google Shape;91;p5"/>
          <p:cNvSpPr txBox="1"/>
          <p:nvPr>
            <p:ph idx="1" type="body"/>
          </p:nvPr>
        </p:nvSpPr>
        <p:spPr>
          <a:xfrm>
            <a:off x="136325" y="1152425"/>
            <a:ext cx="7319700" cy="37329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1800"/>
              <a:buNone/>
            </a:pPr>
            <a:r>
              <a:rPr b="1" lang="es" sz="1900">
                <a:solidFill>
                  <a:srgbClr val="6AA84F"/>
                </a:solidFill>
              </a:rPr>
              <a:t>Memoria Principal</a:t>
            </a:r>
            <a:endParaRPr sz="1900"/>
          </a:p>
          <a:p>
            <a:pPr indent="0" lvl="0" marL="0" rtl="0" algn="l">
              <a:lnSpc>
                <a:spcPct val="105000"/>
              </a:lnSpc>
              <a:spcBef>
                <a:spcPts val="1200"/>
              </a:spcBef>
              <a:spcAft>
                <a:spcPts val="0"/>
              </a:spcAft>
              <a:buSzPts val="1800"/>
              <a:buNone/>
            </a:pPr>
            <a:r>
              <a:rPr lang="es" sz="1900"/>
              <a:t>Es memoria física del equipo de cómputo (RAM), la cual sirve como un medio de almacenamiento dividido en unidades o celdas direccionables, Ejemplo: ( de la posición 10A01h a la AF111h). Se puede pensar en ella como un gran arreglo de datos y donde cada dato tiene su dirección.</a:t>
            </a:r>
            <a:endParaRPr sz="1900"/>
          </a:p>
          <a:p>
            <a:pPr indent="0" lvl="0" marL="0" rtl="0" algn="l">
              <a:lnSpc>
                <a:spcPct val="105000"/>
              </a:lnSpc>
              <a:spcBef>
                <a:spcPts val="1200"/>
              </a:spcBef>
              <a:spcAft>
                <a:spcPts val="0"/>
              </a:spcAft>
              <a:buSzPts val="1800"/>
              <a:buNone/>
            </a:pPr>
            <a:r>
              <a:t/>
            </a:r>
            <a:endParaRPr sz="1900"/>
          </a:p>
          <a:p>
            <a:pPr indent="0" lvl="0" marL="0" rtl="0" algn="l">
              <a:lnSpc>
                <a:spcPct val="105000"/>
              </a:lnSpc>
              <a:spcBef>
                <a:spcPts val="1200"/>
              </a:spcBef>
              <a:spcAft>
                <a:spcPts val="1200"/>
              </a:spcAft>
              <a:buSzPts val="1800"/>
              <a:buNone/>
            </a:pPr>
            <a:r>
              <a:rPr lang="es" sz="1900"/>
              <a:t>Es un recurso fundamental para el sistema, ya que para que un programa se ejecute (se transforme en un proceso) debe estar su código y datos alojados en ella, por lo menos en parte</a:t>
            </a:r>
            <a:endParaRPr sz="1900"/>
          </a:p>
        </p:txBody>
      </p:sp>
      <p:pic>
        <p:nvPicPr>
          <p:cNvPr id="92" name="Google Shape;92;p5"/>
          <p:cNvPicPr preferRelativeResize="0"/>
          <p:nvPr/>
        </p:nvPicPr>
        <p:blipFill rotWithShape="1">
          <a:blip r:embed="rId3">
            <a:alphaModFix/>
          </a:blip>
          <a:srcRect b="0" l="0" r="0" t="0"/>
          <a:stretch/>
        </p:blipFill>
        <p:spPr>
          <a:xfrm>
            <a:off x="7717400" y="0"/>
            <a:ext cx="1247175" cy="1247175"/>
          </a:xfrm>
          <a:prstGeom prst="rect">
            <a:avLst/>
          </a:prstGeom>
          <a:noFill/>
          <a:ln>
            <a:noFill/>
          </a:ln>
        </p:spPr>
      </p:pic>
      <p:pic>
        <p:nvPicPr>
          <p:cNvPr id="93" name="Google Shape;93;p5"/>
          <p:cNvPicPr preferRelativeResize="0"/>
          <p:nvPr/>
        </p:nvPicPr>
        <p:blipFill rotWithShape="1">
          <a:blip r:embed="rId4">
            <a:alphaModFix/>
          </a:blip>
          <a:srcRect b="0" l="0" r="0" t="0"/>
          <a:stretch/>
        </p:blipFill>
        <p:spPr>
          <a:xfrm>
            <a:off x="7504300" y="2325825"/>
            <a:ext cx="1584375" cy="2578650"/>
          </a:xfrm>
          <a:prstGeom prst="rect">
            <a:avLst/>
          </a:prstGeom>
          <a:noFill/>
          <a:ln>
            <a:noFill/>
          </a:ln>
        </p:spPr>
      </p:pic>
      <p:sp>
        <p:nvSpPr>
          <p:cNvPr id="94" name="Google Shape;94;p5"/>
          <p:cNvSpPr/>
          <p:nvPr/>
        </p:nvSpPr>
        <p:spPr>
          <a:xfrm>
            <a:off x="8221138" y="1301850"/>
            <a:ext cx="366000" cy="969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Introducción - Gestión de memoria</a:t>
            </a:r>
            <a:endParaRPr/>
          </a:p>
        </p:txBody>
      </p:sp>
      <p:sp>
        <p:nvSpPr>
          <p:cNvPr id="100" name="Google Shape;100;p6"/>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b="1" lang="es" sz="1900">
                <a:solidFill>
                  <a:srgbClr val="6AA84F"/>
                </a:solidFill>
              </a:rPr>
              <a:t>Gestor Memoria</a:t>
            </a:r>
            <a:endParaRPr sz="1900"/>
          </a:p>
          <a:p>
            <a:pPr indent="0" lvl="0" marL="0" rtl="0" algn="l">
              <a:lnSpc>
                <a:spcPct val="115000"/>
              </a:lnSpc>
              <a:spcBef>
                <a:spcPts val="1200"/>
              </a:spcBef>
              <a:spcAft>
                <a:spcPts val="0"/>
              </a:spcAft>
              <a:buSzPts val="1800"/>
              <a:buNone/>
            </a:pPr>
            <a:r>
              <a:rPr lang="es" sz="1900"/>
              <a:t>Componente de sistema operativo (es decir </a:t>
            </a:r>
            <a:r>
              <a:rPr b="1" lang="es" sz="1900">
                <a:solidFill>
                  <a:srgbClr val="4A86E8"/>
                </a:solidFill>
              </a:rPr>
              <a:t>es un programa</a:t>
            </a:r>
            <a:r>
              <a:rPr lang="es" sz="1900"/>
              <a:t>) que se encarga administrar la memoria principal, y donde sus principales tareas son:</a:t>
            </a:r>
            <a:endParaRPr sz="1900"/>
          </a:p>
          <a:p>
            <a:pPr indent="-349250" lvl="0" marL="457200" rtl="0" algn="l">
              <a:lnSpc>
                <a:spcPct val="115000"/>
              </a:lnSpc>
              <a:spcBef>
                <a:spcPts val="1200"/>
              </a:spcBef>
              <a:spcAft>
                <a:spcPts val="0"/>
              </a:spcAft>
              <a:buSzPts val="1900"/>
              <a:buChar char="●"/>
            </a:pPr>
            <a:r>
              <a:rPr lang="es" sz="1900"/>
              <a:t>Asignar memoria a los procesos que la soliciten</a:t>
            </a:r>
            <a:endParaRPr sz="1900"/>
          </a:p>
          <a:p>
            <a:pPr indent="-349250" lvl="0" marL="457200" rtl="0" algn="l">
              <a:lnSpc>
                <a:spcPct val="115000"/>
              </a:lnSpc>
              <a:spcBef>
                <a:spcPts val="0"/>
              </a:spcBef>
              <a:spcAft>
                <a:spcPts val="0"/>
              </a:spcAft>
              <a:buSzPts val="1900"/>
              <a:buChar char="●"/>
            </a:pPr>
            <a:r>
              <a:rPr lang="es" sz="1900"/>
              <a:t>Localizar los espacios libres y ocupados de la memoria, debe manejar una especie de inventario de posiciones de memoria (</a:t>
            </a:r>
            <a:r>
              <a:rPr b="1" lang="es" sz="1900">
                <a:solidFill>
                  <a:srgbClr val="E06666"/>
                </a:solidFill>
              </a:rPr>
              <a:t>los posiciones libres y las utilizadas</a:t>
            </a:r>
            <a:r>
              <a:rPr lang="es" sz="1900"/>
              <a:t>)</a:t>
            </a:r>
            <a:endParaRPr sz="1900"/>
          </a:p>
          <a:p>
            <a:pPr indent="-349250" lvl="0" marL="457200" rtl="0" algn="l">
              <a:lnSpc>
                <a:spcPct val="115000"/>
              </a:lnSpc>
              <a:spcBef>
                <a:spcPts val="0"/>
              </a:spcBef>
              <a:spcAft>
                <a:spcPts val="0"/>
              </a:spcAft>
              <a:buSzPts val="1900"/>
              <a:buChar char="●"/>
            </a:pPr>
            <a:r>
              <a:rPr lang="es" sz="1900"/>
              <a:t>Utilizar los algoritmos adecuados para sacar el mejor provecho a dicha memoria, ya que como sabemos es un recurso limitado</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Introducción - Gestión de memoria</a:t>
            </a:r>
            <a:endParaRPr/>
          </a:p>
        </p:txBody>
      </p:sp>
      <p:sp>
        <p:nvSpPr>
          <p:cNvPr id="106" name="Google Shape;106;p7"/>
          <p:cNvSpPr txBox="1"/>
          <p:nvPr>
            <p:ph idx="1" type="body"/>
          </p:nvPr>
        </p:nvSpPr>
        <p:spPr>
          <a:xfrm>
            <a:off x="82375" y="1266325"/>
            <a:ext cx="6645600" cy="3732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1900">
                <a:solidFill>
                  <a:srgbClr val="6AA84F"/>
                </a:solidFill>
              </a:rPr>
              <a:t>Memoria Secundaria</a:t>
            </a:r>
            <a:endParaRPr sz="1900"/>
          </a:p>
          <a:p>
            <a:pPr indent="-349250" lvl="0" marL="457200" rtl="0" algn="l">
              <a:lnSpc>
                <a:spcPct val="115000"/>
              </a:lnSpc>
              <a:spcBef>
                <a:spcPts val="1200"/>
              </a:spcBef>
              <a:spcAft>
                <a:spcPts val="0"/>
              </a:spcAft>
              <a:buSzPts val="1900"/>
              <a:buChar char="●"/>
            </a:pPr>
            <a:r>
              <a:rPr lang="es" sz="1900"/>
              <a:t>Es el dispositivo físico donde se almacena toda la información que se desea guardar de forma permanente</a:t>
            </a:r>
            <a:endParaRPr sz="1900"/>
          </a:p>
          <a:p>
            <a:pPr indent="0" lvl="0" marL="457200" rtl="0" algn="l">
              <a:lnSpc>
                <a:spcPct val="115000"/>
              </a:lnSpc>
              <a:spcBef>
                <a:spcPts val="1200"/>
              </a:spcBef>
              <a:spcAft>
                <a:spcPts val="0"/>
              </a:spcAft>
              <a:buSzPts val="1800"/>
              <a:buNone/>
            </a:pPr>
            <a:r>
              <a:t/>
            </a:r>
            <a:endParaRPr sz="1900"/>
          </a:p>
          <a:p>
            <a:pPr indent="-349250" lvl="0" marL="457200" rtl="0" algn="l">
              <a:lnSpc>
                <a:spcPct val="115000"/>
              </a:lnSpc>
              <a:spcBef>
                <a:spcPts val="1200"/>
              </a:spcBef>
              <a:spcAft>
                <a:spcPts val="0"/>
              </a:spcAft>
              <a:buSzPts val="1900"/>
              <a:buChar char="●"/>
            </a:pPr>
            <a:r>
              <a:rPr lang="es" sz="1900"/>
              <a:t>Además, en ocasiones se utiliza para apoyar tareas específicas de la gestión de memoria, tareas como el </a:t>
            </a:r>
            <a:r>
              <a:rPr b="1" lang="es" sz="1900"/>
              <a:t>intercambio de memoria</a:t>
            </a:r>
            <a:r>
              <a:rPr lang="es" sz="1900"/>
              <a:t> o la</a:t>
            </a:r>
            <a:r>
              <a:rPr b="1" lang="es" sz="1900"/>
              <a:t> creación de memoria virtual</a:t>
            </a:r>
            <a:r>
              <a:rPr lang="es" sz="1900"/>
              <a:t>, que se detallarán más adelante.</a:t>
            </a:r>
            <a:endParaRPr sz="1900"/>
          </a:p>
        </p:txBody>
      </p:sp>
      <p:pic>
        <p:nvPicPr>
          <p:cNvPr id="107" name="Google Shape;107;p7"/>
          <p:cNvPicPr preferRelativeResize="0"/>
          <p:nvPr/>
        </p:nvPicPr>
        <p:blipFill rotWithShape="1">
          <a:blip r:embed="rId3">
            <a:alphaModFix/>
          </a:blip>
          <a:srcRect b="0" l="0" r="0" t="0"/>
          <a:stretch/>
        </p:blipFill>
        <p:spPr>
          <a:xfrm>
            <a:off x="6965450" y="3505600"/>
            <a:ext cx="1493625" cy="1493625"/>
          </a:xfrm>
          <a:prstGeom prst="rect">
            <a:avLst/>
          </a:prstGeom>
          <a:noFill/>
          <a:ln>
            <a:noFill/>
          </a:ln>
        </p:spPr>
      </p:pic>
      <p:pic>
        <p:nvPicPr>
          <p:cNvPr id="108" name="Google Shape;108;p7"/>
          <p:cNvPicPr preferRelativeResize="0"/>
          <p:nvPr/>
        </p:nvPicPr>
        <p:blipFill rotWithShape="1">
          <a:blip r:embed="rId4">
            <a:alphaModFix/>
          </a:blip>
          <a:srcRect b="0" l="0" r="0" t="0"/>
          <a:stretch/>
        </p:blipFill>
        <p:spPr>
          <a:xfrm>
            <a:off x="6151400" y="177950"/>
            <a:ext cx="2870851" cy="2021876"/>
          </a:xfrm>
          <a:prstGeom prst="rect">
            <a:avLst/>
          </a:prstGeom>
          <a:noFill/>
          <a:ln>
            <a:noFill/>
          </a:ln>
        </p:spPr>
      </p:pic>
      <p:pic>
        <p:nvPicPr>
          <p:cNvPr id="109" name="Google Shape;109;p7"/>
          <p:cNvPicPr preferRelativeResize="0"/>
          <p:nvPr/>
        </p:nvPicPr>
        <p:blipFill rotWithShape="1">
          <a:blip r:embed="rId5">
            <a:alphaModFix/>
          </a:blip>
          <a:srcRect b="0" l="0" r="0" t="0"/>
          <a:stretch/>
        </p:blipFill>
        <p:spPr>
          <a:xfrm>
            <a:off x="7108675" y="2430188"/>
            <a:ext cx="1207175" cy="845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Sistemas elementales de gestión de memoria</a:t>
            </a:r>
            <a:endParaRPr/>
          </a:p>
        </p:txBody>
      </p:sp>
      <p:sp>
        <p:nvSpPr>
          <p:cNvPr id="115" name="Google Shape;115;p8"/>
          <p:cNvSpPr txBox="1"/>
          <p:nvPr>
            <p:ph idx="1" type="body"/>
          </p:nvPr>
        </p:nvSpPr>
        <p:spPr>
          <a:xfrm>
            <a:off x="311700" y="1266325"/>
            <a:ext cx="8520600" cy="834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Los sistemas de gestión de memoria han ido evolucionado a través del tiempo, han pasado desde:</a:t>
            </a:r>
            <a:endParaRPr/>
          </a:p>
        </p:txBody>
      </p:sp>
      <p:sp>
        <p:nvSpPr>
          <p:cNvPr id="116" name="Google Shape;116;p8"/>
          <p:cNvSpPr/>
          <p:nvPr/>
        </p:nvSpPr>
        <p:spPr>
          <a:xfrm>
            <a:off x="233725" y="2635050"/>
            <a:ext cx="1825500" cy="21366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Esquema sin gestión- monoprocesador</a:t>
            </a:r>
            <a:endParaRPr b="0" i="0" sz="1400" u="none" cap="none" strike="noStrike">
              <a:solidFill>
                <a:srgbClr val="000000"/>
              </a:solidFill>
              <a:latin typeface="Open Sans"/>
              <a:ea typeface="Open Sans"/>
              <a:cs typeface="Open Sans"/>
              <a:sym typeface="Open Sans"/>
            </a:endParaRPr>
          </a:p>
        </p:txBody>
      </p:sp>
      <p:sp>
        <p:nvSpPr>
          <p:cNvPr id="117" name="Google Shape;117;p8"/>
          <p:cNvSpPr/>
          <p:nvPr/>
        </p:nvSpPr>
        <p:spPr>
          <a:xfrm>
            <a:off x="862525" y="2397650"/>
            <a:ext cx="514500" cy="5244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1</a:t>
            </a:r>
            <a:endParaRPr b="0" i="0" sz="1400" u="none" cap="none" strike="noStrike">
              <a:solidFill>
                <a:srgbClr val="000000"/>
              </a:solidFill>
              <a:latin typeface="Open Sans"/>
              <a:ea typeface="Open Sans"/>
              <a:cs typeface="Open Sans"/>
              <a:sym typeface="Open Sans"/>
            </a:endParaRPr>
          </a:p>
        </p:txBody>
      </p:sp>
      <p:sp>
        <p:nvSpPr>
          <p:cNvPr id="118" name="Google Shape;118;p8"/>
          <p:cNvSpPr/>
          <p:nvPr/>
        </p:nvSpPr>
        <p:spPr>
          <a:xfrm>
            <a:off x="2256375" y="2635050"/>
            <a:ext cx="1825500" cy="21366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Memoria dividida en dos particiones - monoprocesador</a:t>
            </a:r>
            <a:endParaRPr b="0"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19" name="Google Shape;119;p8"/>
          <p:cNvSpPr/>
          <p:nvPr/>
        </p:nvSpPr>
        <p:spPr>
          <a:xfrm>
            <a:off x="2879475" y="2397650"/>
            <a:ext cx="514500" cy="5244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2</a:t>
            </a:r>
            <a:endParaRPr b="0" i="0" sz="1400" u="none" cap="none" strike="noStrike">
              <a:solidFill>
                <a:srgbClr val="000000"/>
              </a:solidFill>
              <a:latin typeface="Open Sans"/>
              <a:ea typeface="Open Sans"/>
              <a:cs typeface="Open Sans"/>
              <a:sym typeface="Open Sans"/>
            </a:endParaRPr>
          </a:p>
        </p:txBody>
      </p:sp>
      <p:sp>
        <p:nvSpPr>
          <p:cNvPr id="120" name="Google Shape;120;p8"/>
          <p:cNvSpPr/>
          <p:nvPr/>
        </p:nvSpPr>
        <p:spPr>
          <a:xfrm>
            <a:off x="4281375" y="2635050"/>
            <a:ext cx="1825500" cy="21366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Memoria dividida en tres particiones - monoprocesador</a:t>
            </a:r>
            <a:endParaRPr b="0" i="0" sz="1400" u="none" cap="none" strike="noStrike">
              <a:solidFill>
                <a:srgbClr val="000000"/>
              </a:solidFill>
              <a:latin typeface="Open Sans"/>
              <a:ea typeface="Open Sans"/>
              <a:cs typeface="Open Sans"/>
              <a:sym typeface="Open Sans"/>
            </a:endParaRPr>
          </a:p>
        </p:txBody>
      </p:sp>
      <p:sp>
        <p:nvSpPr>
          <p:cNvPr id="121" name="Google Shape;121;p8"/>
          <p:cNvSpPr/>
          <p:nvPr/>
        </p:nvSpPr>
        <p:spPr>
          <a:xfrm>
            <a:off x="4896425" y="2358075"/>
            <a:ext cx="514500" cy="5244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3</a:t>
            </a:r>
            <a:endParaRPr b="0" i="0" sz="1400" u="none" cap="none" strike="noStrike">
              <a:solidFill>
                <a:srgbClr val="000000"/>
              </a:solidFill>
              <a:latin typeface="Open Sans"/>
              <a:ea typeface="Open Sans"/>
              <a:cs typeface="Open Sans"/>
              <a:sym typeface="Open Sans"/>
            </a:endParaRPr>
          </a:p>
        </p:txBody>
      </p:sp>
      <p:sp>
        <p:nvSpPr>
          <p:cNvPr id="122" name="Google Shape;122;p8"/>
          <p:cNvSpPr/>
          <p:nvPr/>
        </p:nvSpPr>
        <p:spPr>
          <a:xfrm>
            <a:off x="6306375" y="2575700"/>
            <a:ext cx="2083500" cy="21366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Memoria dividida en varias particiones - multiprocesador - multiprogramación</a:t>
            </a:r>
            <a:endParaRPr b="0" i="0" sz="1400" u="none" cap="none" strike="noStrike">
              <a:solidFill>
                <a:srgbClr val="000000"/>
              </a:solidFill>
              <a:latin typeface="Open Sans"/>
              <a:ea typeface="Open Sans"/>
              <a:cs typeface="Open Sans"/>
              <a:sym typeface="Open Sans"/>
            </a:endParaRPr>
          </a:p>
        </p:txBody>
      </p:sp>
      <p:sp>
        <p:nvSpPr>
          <p:cNvPr id="123" name="Google Shape;123;p8"/>
          <p:cNvSpPr/>
          <p:nvPr/>
        </p:nvSpPr>
        <p:spPr>
          <a:xfrm>
            <a:off x="7131450" y="2259150"/>
            <a:ext cx="514500" cy="5244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4</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Sistemas elementales de gestión de memoria</a:t>
            </a:r>
            <a:endParaRPr/>
          </a:p>
        </p:txBody>
      </p:sp>
      <p:sp>
        <p:nvSpPr>
          <p:cNvPr id="129" name="Google Shape;129;p9"/>
          <p:cNvSpPr txBox="1"/>
          <p:nvPr>
            <p:ph idx="1" type="body"/>
          </p:nvPr>
        </p:nvSpPr>
        <p:spPr>
          <a:xfrm>
            <a:off x="2041325" y="1266325"/>
            <a:ext cx="7022100" cy="37428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935"/>
              <a:buNone/>
            </a:pPr>
            <a:r>
              <a:rPr lang="es" sz="1629"/>
              <a:t>El usuario cargaba de forma directa el programa sobre el computador (o unidad de procesamiento), solo corría ese programa, con lo cual no existía gestión de la memoria para asignarla al proceso, esto permite:</a:t>
            </a:r>
            <a:endParaRPr sz="1629"/>
          </a:p>
          <a:p>
            <a:pPr indent="0" lvl="0" marL="0" rtl="0" algn="l">
              <a:lnSpc>
                <a:spcPct val="105000"/>
              </a:lnSpc>
              <a:spcBef>
                <a:spcPts val="1200"/>
              </a:spcBef>
              <a:spcAft>
                <a:spcPts val="0"/>
              </a:spcAft>
              <a:buSzPts val="935"/>
              <a:buNone/>
            </a:pPr>
            <a:r>
              <a:t/>
            </a:r>
            <a:endParaRPr sz="1629"/>
          </a:p>
          <a:p>
            <a:pPr indent="0" lvl="0" marL="457200" rtl="0" algn="l">
              <a:lnSpc>
                <a:spcPct val="105000"/>
              </a:lnSpc>
              <a:spcBef>
                <a:spcPts val="1200"/>
              </a:spcBef>
              <a:spcAft>
                <a:spcPts val="0"/>
              </a:spcAft>
              <a:buSzPts val="935"/>
              <a:buNone/>
            </a:pPr>
            <a:r>
              <a:rPr lang="es" sz="1629"/>
              <a:t>1) control total por parte del usuario</a:t>
            </a:r>
            <a:endParaRPr sz="1629"/>
          </a:p>
          <a:p>
            <a:pPr indent="0" lvl="0" marL="457200" rtl="0" algn="l">
              <a:lnSpc>
                <a:spcPct val="105000"/>
              </a:lnSpc>
              <a:spcBef>
                <a:spcPts val="1200"/>
              </a:spcBef>
              <a:spcAft>
                <a:spcPts val="0"/>
              </a:spcAft>
              <a:buSzPts val="935"/>
              <a:buNone/>
            </a:pPr>
            <a:r>
              <a:rPr lang="es" sz="1629"/>
              <a:t>2) simple y de bajo costo</a:t>
            </a:r>
            <a:endParaRPr sz="1629"/>
          </a:p>
          <a:p>
            <a:pPr indent="0" lvl="0" marL="457200" rtl="0" algn="l">
              <a:lnSpc>
                <a:spcPct val="105000"/>
              </a:lnSpc>
              <a:spcBef>
                <a:spcPts val="1200"/>
              </a:spcBef>
              <a:spcAft>
                <a:spcPts val="0"/>
              </a:spcAft>
              <a:buSzPts val="935"/>
              <a:buNone/>
            </a:pPr>
            <a:r>
              <a:rPr lang="es" sz="1629"/>
              <a:t>3) no requiere de un sistema operativo</a:t>
            </a:r>
            <a:endParaRPr sz="1629"/>
          </a:p>
          <a:p>
            <a:pPr indent="0" lvl="0" marL="0" rtl="0" algn="l">
              <a:lnSpc>
                <a:spcPct val="105000"/>
              </a:lnSpc>
              <a:spcBef>
                <a:spcPts val="1200"/>
              </a:spcBef>
              <a:spcAft>
                <a:spcPts val="0"/>
              </a:spcAft>
              <a:buSzPts val="935"/>
              <a:buNone/>
            </a:pPr>
            <a:r>
              <a:t/>
            </a:r>
            <a:endParaRPr sz="1629"/>
          </a:p>
          <a:p>
            <a:pPr indent="0" lvl="0" marL="0" rtl="0" algn="l">
              <a:lnSpc>
                <a:spcPct val="105000"/>
              </a:lnSpc>
              <a:spcBef>
                <a:spcPts val="1200"/>
              </a:spcBef>
              <a:spcAft>
                <a:spcPts val="1200"/>
              </a:spcAft>
              <a:buSzPts val="935"/>
              <a:buNone/>
            </a:pPr>
            <a:r>
              <a:rPr lang="es" sz="1629"/>
              <a:t>Este modelo es antiguo, pero aún se usa en sistemas de cómputo dedicados a trabajos específicos</a:t>
            </a:r>
            <a:endParaRPr sz="1629"/>
          </a:p>
        </p:txBody>
      </p:sp>
      <p:sp>
        <p:nvSpPr>
          <p:cNvPr id="130" name="Google Shape;130;p9"/>
          <p:cNvSpPr/>
          <p:nvPr/>
        </p:nvSpPr>
        <p:spPr>
          <a:xfrm>
            <a:off x="144700" y="2249275"/>
            <a:ext cx="1825500" cy="21366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Esquema sin gestión- monoprocesador</a:t>
            </a:r>
            <a:endParaRPr b="0" i="0" sz="1400" u="none" cap="none" strike="noStrike">
              <a:solidFill>
                <a:srgbClr val="000000"/>
              </a:solidFill>
              <a:latin typeface="Open Sans"/>
              <a:ea typeface="Open Sans"/>
              <a:cs typeface="Open Sans"/>
              <a:sym typeface="Open Sans"/>
            </a:endParaRPr>
          </a:p>
        </p:txBody>
      </p:sp>
      <p:sp>
        <p:nvSpPr>
          <p:cNvPr id="131" name="Google Shape;131;p9"/>
          <p:cNvSpPr/>
          <p:nvPr/>
        </p:nvSpPr>
        <p:spPr>
          <a:xfrm>
            <a:off x="773500" y="2011875"/>
            <a:ext cx="514500" cy="5244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1</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Sistemas elementales de gestión de memoria</a:t>
            </a:r>
            <a:endParaRPr/>
          </a:p>
        </p:txBody>
      </p:sp>
      <p:sp>
        <p:nvSpPr>
          <p:cNvPr id="137" name="Google Shape;137;p10"/>
          <p:cNvSpPr txBox="1"/>
          <p:nvPr>
            <p:ph idx="1" type="body"/>
          </p:nvPr>
        </p:nvSpPr>
        <p:spPr>
          <a:xfrm>
            <a:off x="1860500" y="1266325"/>
            <a:ext cx="5495100" cy="37428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s"/>
              <a:t>Este esquema es utilizado en sistema monoprocesador y divide la memoria en dos partes, </a:t>
            </a:r>
            <a:endParaRPr/>
          </a:p>
          <a:p>
            <a:pPr indent="-342900" lvl="0" marL="457200" rtl="0" algn="l">
              <a:lnSpc>
                <a:spcPct val="115000"/>
              </a:lnSpc>
              <a:spcBef>
                <a:spcPts val="1200"/>
              </a:spcBef>
              <a:spcAft>
                <a:spcPts val="0"/>
              </a:spcAft>
              <a:buSzPts val="1800"/>
              <a:buChar char="●"/>
            </a:pPr>
            <a:r>
              <a:rPr lang="es"/>
              <a:t>la primera encargada del monitoreo del sistema operativo, es decir, coordina el uso de la cpu por múltiples programas y donde esos programas son lanzados uno por vez</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La segunda, permite la interacción con el usuario, para que este pudiera cargar procesos</a:t>
            </a:r>
            <a:endParaRPr/>
          </a:p>
        </p:txBody>
      </p:sp>
      <p:sp>
        <p:nvSpPr>
          <p:cNvPr id="138" name="Google Shape;138;p10"/>
          <p:cNvSpPr/>
          <p:nvPr/>
        </p:nvSpPr>
        <p:spPr>
          <a:xfrm>
            <a:off x="159400" y="2229500"/>
            <a:ext cx="1825500" cy="21366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Memoria dividida en dos particiones - monoprocesador</a:t>
            </a:r>
            <a:endParaRPr b="0"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39" name="Google Shape;139;p10"/>
          <p:cNvSpPr/>
          <p:nvPr/>
        </p:nvSpPr>
        <p:spPr>
          <a:xfrm>
            <a:off x="782500" y="1992100"/>
            <a:ext cx="514500" cy="5244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2</a:t>
            </a:r>
            <a:endParaRPr b="0" i="0" sz="1400" u="none" cap="none" strike="noStrike">
              <a:solidFill>
                <a:srgbClr val="000000"/>
              </a:solidFill>
              <a:latin typeface="Open Sans"/>
              <a:ea typeface="Open Sans"/>
              <a:cs typeface="Open Sans"/>
              <a:sym typeface="Open Sans"/>
            </a:endParaRPr>
          </a:p>
        </p:txBody>
      </p:sp>
      <p:pic>
        <p:nvPicPr>
          <p:cNvPr id="140" name="Google Shape;140;p10"/>
          <p:cNvPicPr preferRelativeResize="0"/>
          <p:nvPr/>
        </p:nvPicPr>
        <p:blipFill rotWithShape="1">
          <a:blip r:embed="rId3">
            <a:alphaModFix/>
          </a:blip>
          <a:srcRect b="0" l="0" r="0" t="0"/>
          <a:stretch/>
        </p:blipFill>
        <p:spPr>
          <a:xfrm>
            <a:off x="7250975" y="1992100"/>
            <a:ext cx="1893025" cy="2195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Sistemas elementales de gestión de memoria</a:t>
            </a:r>
            <a:endParaRPr/>
          </a:p>
        </p:txBody>
      </p:sp>
      <p:sp>
        <p:nvSpPr>
          <p:cNvPr id="146" name="Google Shape;146;p11"/>
          <p:cNvSpPr txBox="1"/>
          <p:nvPr>
            <p:ph idx="1" type="body"/>
          </p:nvPr>
        </p:nvSpPr>
        <p:spPr>
          <a:xfrm>
            <a:off x="1954163" y="1152425"/>
            <a:ext cx="5247000" cy="37428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800"/>
              <a:buNone/>
            </a:pPr>
            <a:r>
              <a:rPr lang="es" sz="1900"/>
              <a:t>Este esquema al igual que el anterior se utiliza en sistemas monoprocesador y añade una sección a la subdivisión anterior que es el Controlador de Dispositivos en ROM, permitiendo que se gestionen los diversos dispositivos, </a:t>
            </a:r>
            <a:endParaRPr sz="1900"/>
          </a:p>
          <a:p>
            <a:pPr indent="0" lvl="0" marL="0" rtl="0" algn="l">
              <a:lnSpc>
                <a:spcPct val="95000"/>
              </a:lnSpc>
              <a:spcBef>
                <a:spcPts val="1200"/>
              </a:spcBef>
              <a:spcAft>
                <a:spcPts val="1200"/>
              </a:spcAft>
              <a:buSzPts val="1800"/>
              <a:buNone/>
            </a:pPr>
            <a:r>
              <a:rPr lang="es" sz="1900"/>
              <a:t>ejemplo: el teclado, donde el usuario introducía una línea de comando, el proceso que es cargado desde el disco a memoria, se le asignaba el procesador a ese proceso y cuando finaliza, devolvía el control al sistema operativo, quien esperaba el ingreso de nuevos comando.</a:t>
            </a:r>
            <a:endParaRPr sz="1900"/>
          </a:p>
        </p:txBody>
      </p:sp>
      <p:sp>
        <p:nvSpPr>
          <p:cNvPr id="147" name="Google Shape;147;p11"/>
          <p:cNvSpPr/>
          <p:nvPr/>
        </p:nvSpPr>
        <p:spPr>
          <a:xfrm>
            <a:off x="48875" y="2229500"/>
            <a:ext cx="1825500" cy="21366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Memoria dividida en tres particiones - monoprocesador</a:t>
            </a:r>
            <a:endParaRPr b="0"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48" name="Google Shape;148;p11"/>
          <p:cNvSpPr/>
          <p:nvPr/>
        </p:nvSpPr>
        <p:spPr>
          <a:xfrm>
            <a:off x="671975" y="1992100"/>
            <a:ext cx="514500" cy="5244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3</a:t>
            </a:r>
            <a:endParaRPr b="0" i="0" sz="1400" u="none" cap="none" strike="noStrike">
              <a:solidFill>
                <a:srgbClr val="000000"/>
              </a:solidFill>
              <a:latin typeface="Open Sans"/>
              <a:ea typeface="Open Sans"/>
              <a:cs typeface="Open Sans"/>
              <a:sym typeface="Open Sans"/>
            </a:endParaRPr>
          </a:p>
        </p:txBody>
      </p:sp>
      <p:pic>
        <p:nvPicPr>
          <p:cNvPr id="149" name="Google Shape;149;p11"/>
          <p:cNvPicPr preferRelativeResize="0"/>
          <p:nvPr/>
        </p:nvPicPr>
        <p:blipFill rotWithShape="1">
          <a:blip r:embed="rId3">
            <a:alphaModFix/>
          </a:blip>
          <a:srcRect b="0" l="0" r="0" t="0"/>
          <a:stretch/>
        </p:blipFill>
        <p:spPr>
          <a:xfrm>
            <a:off x="7280950" y="1670650"/>
            <a:ext cx="1804925" cy="245818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Sistemas elementales de gestión de memoria</a:t>
            </a:r>
            <a:endParaRPr/>
          </a:p>
        </p:txBody>
      </p:sp>
      <p:sp>
        <p:nvSpPr>
          <p:cNvPr id="155" name="Google Shape;155;p12"/>
          <p:cNvSpPr txBox="1"/>
          <p:nvPr>
            <p:ph idx="1" type="body"/>
          </p:nvPr>
        </p:nvSpPr>
        <p:spPr>
          <a:xfrm>
            <a:off x="2131750" y="1216850"/>
            <a:ext cx="7012200" cy="37428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s"/>
              <a:t>Este esquema es utilizado en sistema monoprocesador y divide la memoria en varias particiones, las cuales permiten un manejo dinámico del uso de los recursos.</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 Gracias a esta forma de trabajo y a los equipos de multiprocesamiento se posibilita la multiprogramación, pudiendo dar servicios a varios usuarios al mismo tiempo, es decir, más de un proceso en ejecución al mismo tiempo)</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Además, permite optimizar el tiempo de espera del procesador cuando los proceso realizan operaciones de E/S</a:t>
            </a:r>
            <a:endParaRPr/>
          </a:p>
        </p:txBody>
      </p:sp>
      <p:sp>
        <p:nvSpPr>
          <p:cNvPr id="156" name="Google Shape;156;p12"/>
          <p:cNvSpPr/>
          <p:nvPr/>
        </p:nvSpPr>
        <p:spPr>
          <a:xfrm>
            <a:off x="159400" y="2229500"/>
            <a:ext cx="2097900" cy="2136600"/>
          </a:xfrm>
          <a:prstGeom prst="roundRect">
            <a:avLst>
              <a:gd fmla="val 16667" name="adj"/>
            </a:avLst>
          </a:prstGeom>
          <a:solidFill>
            <a:srgbClr val="FCE5CD"/>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Memoria dividida en varias particiones - </a:t>
            </a:r>
            <a:r>
              <a:rPr b="1" i="0" lang="es" sz="1400" u="none" cap="none" strike="noStrike">
                <a:solidFill>
                  <a:srgbClr val="980000"/>
                </a:solidFill>
                <a:latin typeface="Open Sans"/>
                <a:ea typeface="Open Sans"/>
                <a:cs typeface="Open Sans"/>
                <a:sym typeface="Open Sans"/>
              </a:rPr>
              <a:t>monoprocesador y</a:t>
            </a:r>
            <a:endParaRPr b="1" i="0" sz="1400" u="none" cap="none" strike="noStrike">
              <a:solidFill>
                <a:srgbClr val="98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980000"/>
                </a:solidFill>
                <a:latin typeface="Open Sans"/>
                <a:ea typeface="Open Sans"/>
                <a:cs typeface="Open Sans"/>
                <a:sym typeface="Open Sans"/>
              </a:rPr>
              <a:t>multiprocesador </a:t>
            </a:r>
            <a:endParaRPr b="1" i="0" sz="1400" u="none" cap="none" strike="noStrike">
              <a:solidFill>
                <a:srgbClr val="98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multiprogramación</a:t>
            </a:r>
            <a:endParaRPr b="0"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57" name="Google Shape;157;p12"/>
          <p:cNvSpPr/>
          <p:nvPr/>
        </p:nvSpPr>
        <p:spPr>
          <a:xfrm>
            <a:off x="1019875" y="1992100"/>
            <a:ext cx="514500" cy="5244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4</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p:txBody>
      </p:sp>
      <p:sp>
        <p:nvSpPr>
          <p:cNvPr id="163" name="Google Shape;163;p13"/>
          <p:cNvSpPr txBox="1"/>
          <p:nvPr>
            <p:ph idx="1" type="body"/>
          </p:nvPr>
        </p:nvSpPr>
        <p:spPr>
          <a:xfrm>
            <a:off x="142650" y="1266325"/>
            <a:ext cx="8930700" cy="31278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s"/>
              <a:t>Este tipo de asignación de memoria también se denomina MTF - Multiprogramming with a Fixed number of Tasks (multiprogramación de número fijo de tareas), esto implica:</a:t>
            </a:r>
            <a:endParaRPr/>
          </a:p>
          <a:p>
            <a:pPr indent="0" lvl="0" marL="457200" rtl="0" algn="l">
              <a:lnSpc>
                <a:spcPct val="115000"/>
              </a:lnSpc>
              <a:spcBef>
                <a:spcPts val="1200"/>
              </a:spcBef>
              <a:spcAft>
                <a:spcPts val="0"/>
              </a:spcAft>
              <a:buSzPts val="1800"/>
              <a:buNone/>
            </a:pPr>
            <a:r>
              <a:t/>
            </a:r>
            <a:endParaRPr/>
          </a:p>
          <a:p>
            <a:pPr indent="-342900" lvl="0" marL="914400" rtl="0" algn="l">
              <a:lnSpc>
                <a:spcPct val="115000"/>
              </a:lnSpc>
              <a:spcBef>
                <a:spcPts val="1200"/>
              </a:spcBef>
              <a:spcAft>
                <a:spcPts val="0"/>
              </a:spcAft>
              <a:buSzPts val="1800"/>
              <a:buChar char="●"/>
            </a:pPr>
            <a:r>
              <a:rPr lang="es"/>
              <a:t> La memoria física de divide en varias particiones de tamaño fijo</a:t>
            </a:r>
            <a:endParaRPr/>
          </a:p>
          <a:p>
            <a:pPr indent="0" lvl="0" marL="914400" rtl="0" algn="l">
              <a:lnSpc>
                <a:spcPct val="115000"/>
              </a:lnSpc>
              <a:spcBef>
                <a:spcPts val="1200"/>
              </a:spcBef>
              <a:spcAft>
                <a:spcPts val="0"/>
              </a:spcAft>
              <a:buSzPts val="1800"/>
              <a:buNone/>
            </a:pPr>
            <a:r>
              <a:t/>
            </a:r>
            <a:endParaRPr/>
          </a:p>
          <a:p>
            <a:pPr indent="-342900" lvl="0" marL="914400" rtl="0" algn="l">
              <a:lnSpc>
                <a:spcPct val="115000"/>
              </a:lnSpc>
              <a:spcBef>
                <a:spcPts val="1200"/>
              </a:spcBef>
              <a:spcAft>
                <a:spcPts val="0"/>
              </a:spcAft>
              <a:buSzPts val="1800"/>
              <a:buChar char="●"/>
            </a:pPr>
            <a:r>
              <a:rPr lang="es"/>
              <a:t>Cada una de estas particiones son asignadas a un proceso,  esto con el objetivo de permitir la multiprogramación</a:t>
            </a:r>
            <a:endParaRPr/>
          </a:p>
        </p:txBody>
      </p:sp>
      <p:sp>
        <p:nvSpPr>
          <p:cNvPr id="164" name="Google Shape;164;p13"/>
          <p:cNvSpPr txBox="1"/>
          <p:nvPr/>
        </p:nvSpPr>
        <p:spPr>
          <a:xfrm>
            <a:off x="891000" y="4508025"/>
            <a:ext cx="7434000" cy="38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38761D"/>
                </a:solidFill>
                <a:latin typeface="Open Sans"/>
                <a:ea typeface="Open Sans"/>
                <a:cs typeface="Open Sans"/>
                <a:sym typeface="Open Sans"/>
              </a:rPr>
              <a:t>Nota: esta técnica se utilizaba antiguamente en los S.O. de IBM OS/360, de los 1966</a:t>
            </a:r>
            <a:endParaRPr b="1" i="0" sz="1400" u="none" cap="none" strike="noStrike">
              <a:solidFill>
                <a:srgbClr val="38761D"/>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p:txBody>
      </p:sp>
      <p:sp>
        <p:nvSpPr>
          <p:cNvPr id="170" name="Google Shape;170;p14"/>
          <p:cNvSpPr txBox="1"/>
          <p:nvPr>
            <p:ph idx="1" type="body"/>
          </p:nvPr>
        </p:nvSpPr>
        <p:spPr>
          <a:xfrm>
            <a:off x="0" y="1266325"/>
            <a:ext cx="9073500" cy="3660300"/>
          </a:xfrm>
          <a:prstGeom prst="rect">
            <a:avLst/>
          </a:prstGeom>
          <a:noFill/>
          <a:ln>
            <a:noFill/>
          </a:ln>
        </p:spPr>
        <p:txBody>
          <a:bodyPr anchorCtr="0" anchor="t" bIns="91425" lIns="91425" spcFirstLastPara="1" rIns="91425" wrap="square" tIns="91425">
            <a:noAutofit/>
          </a:bodyPr>
          <a:lstStyle/>
          <a:p>
            <a:pPr indent="-359726" lvl="0" marL="914400" rtl="0" algn="l">
              <a:lnSpc>
                <a:spcPct val="95000"/>
              </a:lnSpc>
              <a:spcBef>
                <a:spcPts val="0"/>
              </a:spcBef>
              <a:spcAft>
                <a:spcPts val="0"/>
              </a:spcAft>
              <a:buSzPts val="2065"/>
              <a:buChar char="●"/>
            </a:pPr>
            <a:r>
              <a:rPr lang="es" sz="2065"/>
              <a:t>El tamaño de estas particiones era determinada por el sysadmin de equipo de forma manual, al inicio de la sesión de la máquina. Donde el el tamaño y número de particiones depende de:</a:t>
            </a:r>
            <a:endParaRPr sz="2065"/>
          </a:p>
          <a:p>
            <a:pPr indent="0" lvl="0" marL="457200" rtl="0" algn="l">
              <a:lnSpc>
                <a:spcPct val="95000"/>
              </a:lnSpc>
              <a:spcBef>
                <a:spcPts val="1200"/>
              </a:spcBef>
              <a:spcAft>
                <a:spcPts val="0"/>
              </a:spcAft>
              <a:buSzPts val="1018"/>
              <a:buNone/>
            </a:pPr>
            <a:r>
              <a:t/>
            </a:r>
            <a:endParaRPr sz="2065"/>
          </a:p>
          <a:p>
            <a:pPr indent="-359726" lvl="0" marL="1371600" rtl="0" algn="l">
              <a:lnSpc>
                <a:spcPct val="95000"/>
              </a:lnSpc>
              <a:spcBef>
                <a:spcPts val="1200"/>
              </a:spcBef>
              <a:spcAft>
                <a:spcPts val="0"/>
              </a:spcAft>
              <a:buSzPts val="2065"/>
              <a:buChar char="●"/>
            </a:pPr>
            <a:r>
              <a:rPr lang="es" sz="2065"/>
              <a:t>La capacidad de memoria física disponible</a:t>
            </a:r>
            <a:endParaRPr sz="2065"/>
          </a:p>
          <a:p>
            <a:pPr indent="-359726" lvl="0" marL="1371600" rtl="0" algn="l">
              <a:lnSpc>
                <a:spcPct val="95000"/>
              </a:lnSpc>
              <a:spcBef>
                <a:spcPts val="0"/>
              </a:spcBef>
              <a:spcAft>
                <a:spcPts val="0"/>
              </a:spcAft>
              <a:buSzPts val="2065"/>
              <a:buChar char="●"/>
            </a:pPr>
            <a:r>
              <a:rPr lang="es" sz="2065"/>
              <a:t>El grado de multiprogramación deseado (número máximo de procesos en el sistema)</a:t>
            </a:r>
            <a:endParaRPr sz="2065"/>
          </a:p>
          <a:p>
            <a:pPr indent="-359726" lvl="0" marL="1371600" rtl="0" algn="l">
              <a:lnSpc>
                <a:spcPct val="95000"/>
              </a:lnSpc>
              <a:spcBef>
                <a:spcPts val="0"/>
              </a:spcBef>
              <a:spcAft>
                <a:spcPts val="0"/>
              </a:spcAft>
              <a:buSzPts val="2065"/>
              <a:buChar char="●"/>
            </a:pPr>
            <a:r>
              <a:rPr lang="es" sz="2065"/>
              <a:t>Tamaño típico de procesos ejecutados frecuentemente </a:t>
            </a:r>
            <a:endParaRPr sz="2065"/>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p:txBody>
      </p:sp>
      <p:sp>
        <p:nvSpPr>
          <p:cNvPr id="176" name="Google Shape;176;p15"/>
          <p:cNvSpPr txBox="1"/>
          <p:nvPr>
            <p:ph idx="1" type="body"/>
          </p:nvPr>
        </p:nvSpPr>
        <p:spPr>
          <a:xfrm>
            <a:off x="192875" y="1266325"/>
            <a:ext cx="8880600" cy="36603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800"/>
              <a:buNone/>
            </a:pPr>
            <a:r>
              <a:rPr b="1" lang="es" sz="2065">
                <a:solidFill>
                  <a:srgbClr val="980000"/>
                </a:solidFill>
              </a:rPr>
              <a:t>Funcionamiento Base</a:t>
            </a:r>
            <a:endParaRPr b="1" sz="2065">
              <a:solidFill>
                <a:srgbClr val="980000"/>
              </a:solidFill>
            </a:endParaRPr>
          </a:p>
          <a:p>
            <a:pPr indent="0" lvl="0" marL="0" rtl="0" algn="l">
              <a:lnSpc>
                <a:spcPct val="95000"/>
              </a:lnSpc>
              <a:spcBef>
                <a:spcPts val="1200"/>
              </a:spcBef>
              <a:spcAft>
                <a:spcPts val="0"/>
              </a:spcAft>
              <a:buSzPts val="1800"/>
              <a:buNone/>
            </a:pPr>
            <a:r>
              <a:t/>
            </a:r>
            <a:endParaRPr sz="2065"/>
          </a:p>
          <a:p>
            <a:pPr indent="-359727" lvl="0" marL="457200" rtl="0" algn="l">
              <a:lnSpc>
                <a:spcPct val="95000"/>
              </a:lnSpc>
              <a:spcBef>
                <a:spcPts val="1200"/>
              </a:spcBef>
              <a:spcAft>
                <a:spcPts val="0"/>
              </a:spcAft>
              <a:buSzPts val="2065"/>
              <a:buAutoNum type="arabicParenR"/>
            </a:pPr>
            <a:r>
              <a:rPr lang="es" sz="2065"/>
              <a:t>Al llegar un proceso, se agrega a una cola</a:t>
            </a:r>
            <a:endParaRPr sz="2065"/>
          </a:p>
          <a:p>
            <a:pPr indent="-359727" lvl="0" marL="457200" rtl="0" algn="l">
              <a:lnSpc>
                <a:spcPct val="95000"/>
              </a:lnSpc>
              <a:spcBef>
                <a:spcPts val="0"/>
              </a:spcBef>
              <a:spcAft>
                <a:spcPts val="0"/>
              </a:spcAft>
              <a:buSzPts val="2065"/>
              <a:buAutoNum type="arabicParenR"/>
            </a:pPr>
            <a:r>
              <a:rPr lang="es" sz="2065"/>
              <a:t>El planificador conoce el escenario (requerimiento de memoria de los y particiones de memoria disponible)</a:t>
            </a:r>
            <a:endParaRPr sz="2065"/>
          </a:p>
          <a:p>
            <a:pPr indent="-359727" lvl="0" marL="457200" rtl="0" algn="l">
              <a:lnSpc>
                <a:spcPct val="95000"/>
              </a:lnSpc>
              <a:spcBef>
                <a:spcPts val="0"/>
              </a:spcBef>
              <a:spcAft>
                <a:spcPts val="0"/>
              </a:spcAft>
              <a:buSzPts val="2065"/>
              <a:buAutoNum type="arabicParenR"/>
            </a:pPr>
            <a:r>
              <a:rPr lang="es" sz="2065"/>
              <a:t>Si existe espacio disponible, el planificador, la asigna (o reasigna) el proceso en una partición, con ellos, puede comenzar a competir por el uso de CPU</a:t>
            </a:r>
            <a:endParaRPr sz="2065"/>
          </a:p>
          <a:p>
            <a:pPr indent="-359727" lvl="0" marL="457200" rtl="0" algn="l">
              <a:lnSpc>
                <a:spcPct val="95000"/>
              </a:lnSpc>
              <a:spcBef>
                <a:spcPts val="0"/>
              </a:spcBef>
              <a:spcAft>
                <a:spcPts val="0"/>
              </a:spcAft>
              <a:buSzPts val="2065"/>
              <a:buAutoNum type="arabicParenR"/>
            </a:pPr>
            <a:r>
              <a:rPr lang="es" sz="2065"/>
              <a:t>Cual el proceso finaliza, la memoria se libera y el planificador puede asignar otro proceso</a:t>
            </a:r>
            <a:endParaRPr sz="2065"/>
          </a:p>
          <a:p>
            <a:pPr indent="0" lvl="0" marL="457200" rtl="0" algn="l">
              <a:lnSpc>
                <a:spcPct val="95000"/>
              </a:lnSpc>
              <a:spcBef>
                <a:spcPts val="1200"/>
              </a:spcBef>
              <a:spcAft>
                <a:spcPts val="0"/>
              </a:spcAft>
              <a:buSzPts val="1800"/>
              <a:buNone/>
            </a:pPr>
            <a:r>
              <a:t/>
            </a:r>
            <a:endParaRPr sz="2065"/>
          </a:p>
          <a:p>
            <a:pPr indent="0" lvl="0" marL="457200" rtl="0" algn="l">
              <a:lnSpc>
                <a:spcPct val="95000"/>
              </a:lnSpc>
              <a:spcBef>
                <a:spcPts val="1200"/>
              </a:spcBef>
              <a:spcAft>
                <a:spcPts val="1200"/>
              </a:spcAft>
              <a:buSzPts val="1800"/>
              <a:buNone/>
            </a:pPr>
            <a:r>
              <a:t/>
            </a:r>
            <a:endParaRPr sz="2065"/>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p:txBody>
      </p:sp>
      <p:sp>
        <p:nvSpPr>
          <p:cNvPr id="182" name="Google Shape;182;p16"/>
          <p:cNvSpPr txBox="1"/>
          <p:nvPr>
            <p:ph idx="1" type="body"/>
          </p:nvPr>
        </p:nvSpPr>
        <p:spPr>
          <a:xfrm>
            <a:off x="82375" y="1152425"/>
            <a:ext cx="8830200" cy="37743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800"/>
              <a:buNone/>
            </a:pPr>
            <a:r>
              <a:rPr lang="es" sz="2065"/>
              <a:t>Existen varias </a:t>
            </a:r>
            <a:r>
              <a:rPr b="1" lang="es" sz="2065">
                <a:solidFill>
                  <a:srgbClr val="0000FF"/>
                </a:solidFill>
              </a:rPr>
              <a:t>estrategias para crear y asignar</a:t>
            </a:r>
            <a:r>
              <a:rPr lang="es" sz="2065"/>
              <a:t> particiones fijas, aquí un par de ejemplos:</a:t>
            </a:r>
            <a:endParaRPr sz="2065"/>
          </a:p>
          <a:p>
            <a:pPr indent="0" lvl="0" marL="0" rtl="0" algn="l">
              <a:lnSpc>
                <a:spcPct val="95000"/>
              </a:lnSpc>
              <a:spcBef>
                <a:spcPts val="1200"/>
              </a:spcBef>
              <a:spcAft>
                <a:spcPts val="0"/>
              </a:spcAft>
              <a:buSzPts val="1800"/>
              <a:buNone/>
            </a:pPr>
            <a:r>
              <a:t/>
            </a:r>
            <a:endParaRPr sz="2065"/>
          </a:p>
          <a:p>
            <a:pPr indent="-359727" lvl="0" marL="457200" rtl="0" algn="l">
              <a:lnSpc>
                <a:spcPct val="95000"/>
              </a:lnSpc>
              <a:spcBef>
                <a:spcPts val="1200"/>
              </a:spcBef>
              <a:spcAft>
                <a:spcPts val="0"/>
              </a:spcAft>
              <a:buSzPts val="2065"/>
              <a:buAutoNum type="arabicParenR"/>
            </a:pPr>
            <a:r>
              <a:rPr lang="es" sz="2065"/>
              <a:t>múltiples colas </a:t>
            </a:r>
            <a:endParaRPr sz="2065"/>
          </a:p>
          <a:p>
            <a:pPr indent="0" lvl="0" marL="0" rtl="0" algn="l">
              <a:lnSpc>
                <a:spcPct val="95000"/>
              </a:lnSpc>
              <a:spcBef>
                <a:spcPts val="1200"/>
              </a:spcBef>
              <a:spcAft>
                <a:spcPts val="0"/>
              </a:spcAft>
              <a:buSzPts val="1800"/>
              <a:buNone/>
            </a:pPr>
            <a:r>
              <a:rPr lang="es" sz="2065"/>
              <a:t>de diferente requerimientos </a:t>
            </a:r>
            <a:endParaRPr sz="2065"/>
          </a:p>
          <a:p>
            <a:pPr indent="0" lvl="0" marL="0" rtl="0" algn="l">
              <a:lnSpc>
                <a:spcPct val="95000"/>
              </a:lnSpc>
              <a:spcBef>
                <a:spcPts val="1200"/>
              </a:spcBef>
              <a:spcAft>
                <a:spcPts val="0"/>
              </a:spcAft>
              <a:buSzPts val="1800"/>
              <a:buNone/>
            </a:pPr>
            <a:r>
              <a:rPr lang="es" sz="2065"/>
              <a:t>de tamaño de memoria</a:t>
            </a:r>
            <a:endParaRPr sz="2065"/>
          </a:p>
          <a:p>
            <a:pPr indent="0" lvl="0" marL="0" rtl="0" algn="l">
              <a:lnSpc>
                <a:spcPct val="95000"/>
              </a:lnSpc>
              <a:spcBef>
                <a:spcPts val="1200"/>
              </a:spcBef>
              <a:spcAft>
                <a:spcPts val="0"/>
              </a:spcAft>
              <a:buSzPts val="1800"/>
              <a:buNone/>
            </a:pPr>
            <a:r>
              <a:rPr lang="es" sz="2065"/>
              <a:t>por proceso y con diferentes</a:t>
            </a:r>
            <a:endParaRPr sz="2065"/>
          </a:p>
          <a:p>
            <a:pPr indent="0" lvl="0" marL="0" rtl="0" algn="l">
              <a:lnSpc>
                <a:spcPct val="95000"/>
              </a:lnSpc>
              <a:spcBef>
                <a:spcPts val="1200"/>
              </a:spcBef>
              <a:spcAft>
                <a:spcPts val="0"/>
              </a:spcAft>
              <a:buSzPts val="1800"/>
              <a:buNone/>
            </a:pPr>
            <a:r>
              <a:rPr lang="es" sz="2065"/>
              <a:t> tamaños de particiones de</a:t>
            </a:r>
            <a:endParaRPr sz="2065"/>
          </a:p>
          <a:p>
            <a:pPr indent="0" lvl="0" marL="0" rtl="0" algn="l">
              <a:lnSpc>
                <a:spcPct val="95000"/>
              </a:lnSpc>
              <a:spcBef>
                <a:spcPts val="1200"/>
              </a:spcBef>
              <a:spcAft>
                <a:spcPts val="0"/>
              </a:spcAft>
              <a:buSzPts val="1800"/>
              <a:buNone/>
            </a:pPr>
            <a:r>
              <a:rPr lang="es" sz="2065"/>
              <a:t> memoria fijas</a:t>
            </a:r>
            <a:endParaRPr sz="2065"/>
          </a:p>
          <a:p>
            <a:pPr indent="0" lvl="0" marL="457200" rtl="0" algn="l">
              <a:lnSpc>
                <a:spcPct val="95000"/>
              </a:lnSpc>
              <a:spcBef>
                <a:spcPts val="1200"/>
              </a:spcBef>
              <a:spcAft>
                <a:spcPts val="1200"/>
              </a:spcAft>
              <a:buSzPts val="1800"/>
              <a:buNone/>
            </a:pPr>
            <a:r>
              <a:t/>
            </a:r>
            <a:endParaRPr sz="2065"/>
          </a:p>
        </p:txBody>
      </p:sp>
      <p:pic>
        <p:nvPicPr>
          <p:cNvPr id="183" name="Google Shape;183;p16"/>
          <p:cNvPicPr preferRelativeResize="0"/>
          <p:nvPr/>
        </p:nvPicPr>
        <p:blipFill rotWithShape="1">
          <a:blip r:embed="rId3">
            <a:alphaModFix/>
          </a:blip>
          <a:srcRect b="0" l="0" r="0" t="0"/>
          <a:stretch/>
        </p:blipFill>
        <p:spPr>
          <a:xfrm>
            <a:off x="4282500" y="2090675"/>
            <a:ext cx="4412450" cy="2890525"/>
          </a:xfrm>
          <a:prstGeom prst="rect">
            <a:avLst/>
          </a:prstGeom>
          <a:noFill/>
          <a:ln>
            <a:noFill/>
          </a:ln>
        </p:spPr>
      </p:pic>
      <p:sp>
        <p:nvSpPr>
          <p:cNvPr id="184" name="Google Shape;184;p16"/>
          <p:cNvSpPr txBox="1"/>
          <p:nvPr/>
        </p:nvSpPr>
        <p:spPr>
          <a:xfrm>
            <a:off x="4689675" y="1988250"/>
            <a:ext cx="1159800" cy="38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38761D"/>
                </a:solidFill>
                <a:latin typeface="Open Sans"/>
                <a:ea typeface="Open Sans"/>
                <a:cs typeface="Open Sans"/>
                <a:sym typeface="Open Sans"/>
              </a:rPr>
              <a:t>procesos</a:t>
            </a:r>
            <a:endParaRPr b="1" i="0" sz="1400" u="none" cap="none" strike="noStrike">
              <a:solidFill>
                <a:srgbClr val="38761D"/>
              </a:solidFill>
              <a:latin typeface="Open Sans"/>
              <a:ea typeface="Open Sans"/>
              <a:cs typeface="Open Sans"/>
              <a:sym typeface="Open Sans"/>
            </a:endParaRPr>
          </a:p>
        </p:txBody>
      </p:sp>
      <p:sp>
        <p:nvSpPr>
          <p:cNvPr id="185" name="Google Shape;185;p16"/>
          <p:cNvSpPr txBox="1"/>
          <p:nvPr/>
        </p:nvSpPr>
        <p:spPr>
          <a:xfrm>
            <a:off x="7132875" y="1658000"/>
            <a:ext cx="1626900" cy="381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38761D"/>
                </a:solidFill>
                <a:latin typeface="Open Sans"/>
                <a:ea typeface="Open Sans"/>
                <a:cs typeface="Open Sans"/>
                <a:sym typeface="Open Sans"/>
              </a:rPr>
              <a:t>particiones de memoria</a:t>
            </a:r>
            <a:endParaRPr b="1" i="0" sz="1400" u="none" cap="none" strike="noStrike">
              <a:solidFill>
                <a:srgbClr val="38761D"/>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p:txBody>
      </p:sp>
      <p:sp>
        <p:nvSpPr>
          <p:cNvPr id="191" name="Google Shape;191;p17"/>
          <p:cNvSpPr txBox="1"/>
          <p:nvPr>
            <p:ph idx="1" type="body"/>
          </p:nvPr>
        </p:nvSpPr>
        <p:spPr>
          <a:xfrm>
            <a:off x="192875" y="1266325"/>
            <a:ext cx="8719800" cy="36603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800"/>
              <a:buNone/>
            </a:pPr>
            <a:r>
              <a:rPr lang="es" sz="2065"/>
              <a:t>Existen varias estrategias para crear y asignar particiones fijas, aquí un par de ejemplos:</a:t>
            </a:r>
            <a:endParaRPr sz="2065"/>
          </a:p>
          <a:p>
            <a:pPr indent="0" lvl="0" marL="0" rtl="0" algn="l">
              <a:lnSpc>
                <a:spcPct val="95000"/>
              </a:lnSpc>
              <a:spcBef>
                <a:spcPts val="1200"/>
              </a:spcBef>
              <a:spcAft>
                <a:spcPts val="0"/>
              </a:spcAft>
              <a:buSzPts val="1800"/>
              <a:buNone/>
            </a:pPr>
            <a:r>
              <a:t/>
            </a:r>
            <a:endParaRPr sz="2065"/>
          </a:p>
          <a:p>
            <a:pPr indent="0" lvl="0" marL="0" rtl="0" algn="l">
              <a:lnSpc>
                <a:spcPct val="95000"/>
              </a:lnSpc>
              <a:spcBef>
                <a:spcPts val="1200"/>
              </a:spcBef>
              <a:spcAft>
                <a:spcPts val="0"/>
              </a:spcAft>
              <a:buSzPts val="1800"/>
              <a:buNone/>
            </a:pPr>
            <a:r>
              <a:rPr lang="es" sz="2065"/>
              <a:t>2)   una cola con diferentes</a:t>
            </a:r>
            <a:endParaRPr sz="2065"/>
          </a:p>
          <a:p>
            <a:pPr indent="0" lvl="0" marL="0" rtl="0" algn="l">
              <a:lnSpc>
                <a:spcPct val="95000"/>
              </a:lnSpc>
              <a:spcBef>
                <a:spcPts val="1200"/>
              </a:spcBef>
              <a:spcAft>
                <a:spcPts val="0"/>
              </a:spcAft>
              <a:buSzPts val="1800"/>
              <a:buNone/>
            </a:pPr>
            <a:r>
              <a:rPr lang="es" sz="2065"/>
              <a:t>tamaños de requerimiento </a:t>
            </a:r>
            <a:endParaRPr sz="2065"/>
          </a:p>
          <a:p>
            <a:pPr indent="0" lvl="0" marL="0" rtl="0" algn="l">
              <a:lnSpc>
                <a:spcPct val="95000"/>
              </a:lnSpc>
              <a:spcBef>
                <a:spcPts val="1200"/>
              </a:spcBef>
              <a:spcAft>
                <a:spcPts val="0"/>
              </a:spcAft>
              <a:buSzPts val="1800"/>
              <a:buNone/>
            </a:pPr>
            <a:r>
              <a:rPr lang="es" sz="2065"/>
              <a:t>de memoria  y con  diferentes </a:t>
            </a:r>
            <a:endParaRPr sz="2065"/>
          </a:p>
          <a:p>
            <a:pPr indent="0" lvl="0" marL="0" rtl="0" algn="l">
              <a:lnSpc>
                <a:spcPct val="95000"/>
              </a:lnSpc>
              <a:spcBef>
                <a:spcPts val="1200"/>
              </a:spcBef>
              <a:spcAft>
                <a:spcPts val="0"/>
              </a:spcAft>
              <a:buSzPts val="1800"/>
              <a:buNone/>
            </a:pPr>
            <a:r>
              <a:rPr lang="es" sz="2065"/>
              <a:t>tamaños de particiones de </a:t>
            </a:r>
            <a:endParaRPr sz="2065"/>
          </a:p>
          <a:p>
            <a:pPr indent="0" lvl="0" marL="0" rtl="0" algn="l">
              <a:lnSpc>
                <a:spcPct val="95000"/>
              </a:lnSpc>
              <a:spcBef>
                <a:spcPts val="1200"/>
              </a:spcBef>
              <a:spcAft>
                <a:spcPts val="0"/>
              </a:spcAft>
              <a:buSzPts val="1800"/>
              <a:buNone/>
            </a:pPr>
            <a:r>
              <a:rPr lang="es" sz="2065"/>
              <a:t>memoria fijas</a:t>
            </a:r>
            <a:endParaRPr sz="2065"/>
          </a:p>
          <a:p>
            <a:pPr indent="0" lvl="0" marL="0" rtl="0" algn="l">
              <a:lnSpc>
                <a:spcPct val="95000"/>
              </a:lnSpc>
              <a:spcBef>
                <a:spcPts val="1200"/>
              </a:spcBef>
              <a:spcAft>
                <a:spcPts val="0"/>
              </a:spcAft>
              <a:buSzPts val="1800"/>
              <a:buNone/>
            </a:pPr>
            <a:r>
              <a:t/>
            </a:r>
            <a:endParaRPr sz="2065"/>
          </a:p>
          <a:p>
            <a:pPr indent="0" lvl="0" marL="457200" rtl="0" algn="l">
              <a:lnSpc>
                <a:spcPct val="95000"/>
              </a:lnSpc>
              <a:spcBef>
                <a:spcPts val="1200"/>
              </a:spcBef>
              <a:spcAft>
                <a:spcPts val="0"/>
              </a:spcAft>
              <a:buSzPts val="1800"/>
              <a:buNone/>
            </a:pPr>
            <a:r>
              <a:t/>
            </a:r>
            <a:endParaRPr sz="2065"/>
          </a:p>
          <a:p>
            <a:pPr indent="0" lvl="0" marL="457200" rtl="0" algn="l">
              <a:lnSpc>
                <a:spcPct val="95000"/>
              </a:lnSpc>
              <a:spcBef>
                <a:spcPts val="1200"/>
              </a:spcBef>
              <a:spcAft>
                <a:spcPts val="1200"/>
              </a:spcAft>
              <a:buSzPts val="1800"/>
              <a:buNone/>
            </a:pPr>
            <a:r>
              <a:t/>
            </a:r>
            <a:endParaRPr sz="2065"/>
          </a:p>
        </p:txBody>
      </p:sp>
      <p:pic>
        <p:nvPicPr>
          <p:cNvPr id="192" name="Google Shape;192;p17"/>
          <p:cNvPicPr preferRelativeResize="0"/>
          <p:nvPr/>
        </p:nvPicPr>
        <p:blipFill rotWithShape="1">
          <a:blip r:embed="rId3">
            <a:alphaModFix/>
          </a:blip>
          <a:srcRect b="0" l="0" r="0" t="0"/>
          <a:stretch/>
        </p:blipFill>
        <p:spPr>
          <a:xfrm>
            <a:off x="4146350" y="2090350"/>
            <a:ext cx="4123576" cy="2931174"/>
          </a:xfrm>
          <a:prstGeom prst="rect">
            <a:avLst/>
          </a:prstGeom>
          <a:noFill/>
          <a:ln>
            <a:noFill/>
          </a:ln>
        </p:spPr>
      </p:pic>
      <p:sp>
        <p:nvSpPr>
          <p:cNvPr id="193" name="Google Shape;193;p17"/>
          <p:cNvSpPr txBox="1"/>
          <p:nvPr/>
        </p:nvSpPr>
        <p:spPr>
          <a:xfrm>
            <a:off x="4572000" y="2283625"/>
            <a:ext cx="1008600" cy="38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38761D"/>
                </a:solidFill>
                <a:latin typeface="Open Sans"/>
                <a:ea typeface="Open Sans"/>
                <a:cs typeface="Open Sans"/>
                <a:sym typeface="Open Sans"/>
              </a:rPr>
              <a:t>procesos</a:t>
            </a:r>
            <a:endParaRPr b="0" i="0" sz="1400" u="none" cap="none" strike="noStrike">
              <a:solidFill>
                <a:srgbClr val="000000"/>
              </a:solidFill>
              <a:latin typeface="Open Sans"/>
              <a:ea typeface="Open Sans"/>
              <a:cs typeface="Open Sans"/>
              <a:sym typeface="Open Sans"/>
            </a:endParaRPr>
          </a:p>
        </p:txBody>
      </p:sp>
      <p:sp>
        <p:nvSpPr>
          <p:cNvPr id="194" name="Google Shape;194;p17"/>
          <p:cNvSpPr txBox="1"/>
          <p:nvPr/>
        </p:nvSpPr>
        <p:spPr>
          <a:xfrm>
            <a:off x="6663500" y="1622000"/>
            <a:ext cx="1606500" cy="381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38761D"/>
                </a:solidFill>
                <a:latin typeface="Open Sans"/>
                <a:ea typeface="Open Sans"/>
                <a:cs typeface="Open Sans"/>
                <a:sym typeface="Open Sans"/>
              </a:rPr>
              <a:t>particiones de memoria</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p:txBody>
      </p:sp>
      <p:sp>
        <p:nvSpPr>
          <p:cNvPr id="200" name="Google Shape;200;p18"/>
          <p:cNvSpPr txBox="1"/>
          <p:nvPr>
            <p:ph idx="1" type="body"/>
          </p:nvPr>
        </p:nvSpPr>
        <p:spPr>
          <a:xfrm>
            <a:off x="192875" y="1266325"/>
            <a:ext cx="8719800" cy="36603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800"/>
              <a:buNone/>
            </a:pPr>
            <a:r>
              <a:rPr b="1" lang="es" sz="2065">
                <a:solidFill>
                  <a:srgbClr val="0000FF"/>
                </a:solidFill>
              </a:rPr>
              <a:t>Intercambio (swapping)</a:t>
            </a:r>
            <a:r>
              <a:rPr lang="es" sz="2065">
                <a:solidFill>
                  <a:srgbClr val="695D46"/>
                </a:solidFill>
              </a:rPr>
              <a:t>, es la operación que permite eliminar de memoria los procesos suspendidos, llevarlos a disco y cargar desde disco a la memoria principal procesos para su ejecución.</a:t>
            </a:r>
            <a:endParaRPr sz="2065">
              <a:solidFill>
                <a:srgbClr val="695D46"/>
              </a:solidFill>
            </a:endParaRPr>
          </a:p>
          <a:p>
            <a:pPr indent="0" lvl="0" marL="0" rtl="0" algn="l">
              <a:lnSpc>
                <a:spcPct val="95000"/>
              </a:lnSpc>
              <a:spcBef>
                <a:spcPts val="1200"/>
              </a:spcBef>
              <a:spcAft>
                <a:spcPts val="0"/>
              </a:spcAft>
              <a:buSzPts val="1800"/>
              <a:buNone/>
            </a:pPr>
            <a:r>
              <a:t/>
            </a:r>
            <a:endParaRPr sz="2065"/>
          </a:p>
          <a:p>
            <a:pPr indent="0" lvl="0" marL="0" rtl="0" algn="l">
              <a:lnSpc>
                <a:spcPct val="95000"/>
              </a:lnSpc>
              <a:spcBef>
                <a:spcPts val="1200"/>
              </a:spcBef>
              <a:spcAft>
                <a:spcPts val="0"/>
              </a:spcAft>
              <a:buSzPts val="1800"/>
              <a:buNone/>
            </a:pPr>
            <a:r>
              <a:rPr lang="es" sz="2065"/>
              <a:t>Esta operación puede ser ejecutada por </a:t>
            </a:r>
            <a:endParaRPr sz="2065"/>
          </a:p>
          <a:p>
            <a:pPr indent="0" lvl="0" marL="0" rtl="0" algn="l">
              <a:lnSpc>
                <a:spcPct val="95000"/>
              </a:lnSpc>
              <a:spcBef>
                <a:spcPts val="1200"/>
              </a:spcBef>
              <a:spcAft>
                <a:spcPts val="0"/>
              </a:spcAft>
              <a:buSzPts val="1800"/>
              <a:buNone/>
            </a:pPr>
            <a:r>
              <a:rPr lang="es" sz="2065"/>
              <a:t>el planificador, cuando requiere lanzar</a:t>
            </a:r>
            <a:endParaRPr sz="2065"/>
          </a:p>
          <a:p>
            <a:pPr indent="0" lvl="0" marL="0" rtl="0" algn="l">
              <a:lnSpc>
                <a:spcPct val="95000"/>
              </a:lnSpc>
              <a:spcBef>
                <a:spcPts val="1200"/>
              </a:spcBef>
              <a:spcAft>
                <a:spcPts val="0"/>
              </a:spcAft>
              <a:buSzPts val="1800"/>
              <a:buNone/>
            </a:pPr>
            <a:r>
              <a:rPr lang="es" sz="2065"/>
              <a:t>un proceso, pero no tiene espacio de </a:t>
            </a:r>
            <a:endParaRPr sz="2065"/>
          </a:p>
          <a:p>
            <a:pPr indent="0" lvl="0" marL="0" rtl="0" algn="l">
              <a:lnSpc>
                <a:spcPct val="95000"/>
              </a:lnSpc>
              <a:spcBef>
                <a:spcPts val="1200"/>
              </a:spcBef>
              <a:spcAft>
                <a:spcPts val="0"/>
              </a:spcAft>
              <a:buSzPts val="1800"/>
              <a:buNone/>
            </a:pPr>
            <a:r>
              <a:rPr lang="es" sz="2065"/>
              <a:t>memoria suficiente para lanzarlo</a:t>
            </a:r>
            <a:endParaRPr sz="2065"/>
          </a:p>
          <a:p>
            <a:pPr indent="0" lvl="0" marL="457200" rtl="0" algn="l">
              <a:lnSpc>
                <a:spcPct val="95000"/>
              </a:lnSpc>
              <a:spcBef>
                <a:spcPts val="1200"/>
              </a:spcBef>
              <a:spcAft>
                <a:spcPts val="0"/>
              </a:spcAft>
              <a:buSzPts val="1800"/>
              <a:buNone/>
            </a:pPr>
            <a:r>
              <a:t/>
            </a:r>
            <a:endParaRPr sz="2065"/>
          </a:p>
          <a:p>
            <a:pPr indent="0" lvl="0" marL="457200" rtl="0" algn="l">
              <a:lnSpc>
                <a:spcPct val="95000"/>
              </a:lnSpc>
              <a:spcBef>
                <a:spcPts val="1200"/>
              </a:spcBef>
              <a:spcAft>
                <a:spcPts val="1200"/>
              </a:spcAft>
              <a:buSzPts val="1800"/>
              <a:buNone/>
            </a:pPr>
            <a:r>
              <a:t/>
            </a:r>
            <a:endParaRPr sz="2065"/>
          </a:p>
        </p:txBody>
      </p:sp>
      <p:pic>
        <p:nvPicPr>
          <p:cNvPr id="201" name="Google Shape;201;p18"/>
          <p:cNvPicPr preferRelativeResize="0"/>
          <p:nvPr/>
        </p:nvPicPr>
        <p:blipFill rotWithShape="1">
          <a:blip r:embed="rId3">
            <a:alphaModFix/>
          </a:blip>
          <a:srcRect b="0" l="0" r="0" t="0"/>
          <a:stretch/>
        </p:blipFill>
        <p:spPr>
          <a:xfrm>
            <a:off x="5691775" y="2498450"/>
            <a:ext cx="2743200" cy="2095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p:txBody>
      </p:sp>
      <p:sp>
        <p:nvSpPr>
          <p:cNvPr id="207" name="Google Shape;207;p19"/>
          <p:cNvSpPr txBox="1"/>
          <p:nvPr>
            <p:ph idx="1" type="body"/>
          </p:nvPr>
        </p:nvSpPr>
        <p:spPr>
          <a:xfrm>
            <a:off x="192875" y="1266325"/>
            <a:ext cx="8719800" cy="37407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800"/>
              <a:buNone/>
            </a:pPr>
            <a:r>
              <a:rPr b="1" lang="es" sz="2165">
                <a:solidFill>
                  <a:srgbClr val="0000FF"/>
                </a:solidFill>
              </a:rPr>
              <a:t>Intercambio (swapping)</a:t>
            </a:r>
            <a:r>
              <a:rPr lang="es" sz="2165">
                <a:solidFill>
                  <a:srgbClr val="695D46"/>
                </a:solidFill>
              </a:rPr>
              <a:t>, </a:t>
            </a:r>
            <a:endParaRPr sz="2165">
              <a:solidFill>
                <a:srgbClr val="695D46"/>
              </a:solidFill>
            </a:endParaRPr>
          </a:p>
          <a:p>
            <a:pPr indent="0" lvl="0" marL="0" rtl="0" algn="l">
              <a:lnSpc>
                <a:spcPct val="95000"/>
              </a:lnSpc>
              <a:spcBef>
                <a:spcPts val="1200"/>
              </a:spcBef>
              <a:spcAft>
                <a:spcPts val="0"/>
              </a:spcAft>
              <a:buSzPts val="1800"/>
              <a:buNone/>
            </a:pPr>
            <a:r>
              <a:rPr lang="es" sz="2165">
                <a:solidFill>
                  <a:srgbClr val="695D46"/>
                </a:solidFill>
              </a:rPr>
              <a:t>Las variables que podrían gatillar un intercambio de memoria son:</a:t>
            </a:r>
            <a:endParaRPr sz="2165">
              <a:solidFill>
                <a:srgbClr val="695D46"/>
              </a:solidFill>
            </a:endParaRPr>
          </a:p>
          <a:p>
            <a:pPr indent="0" lvl="0" marL="0" rtl="0" algn="l">
              <a:lnSpc>
                <a:spcPct val="95000"/>
              </a:lnSpc>
              <a:spcBef>
                <a:spcPts val="1200"/>
              </a:spcBef>
              <a:spcAft>
                <a:spcPts val="0"/>
              </a:spcAft>
              <a:buSzPts val="1800"/>
              <a:buNone/>
            </a:pPr>
            <a:r>
              <a:t/>
            </a:r>
            <a:endParaRPr sz="2165">
              <a:solidFill>
                <a:srgbClr val="695D46"/>
              </a:solidFill>
            </a:endParaRPr>
          </a:p>
          <a:p>
            <a:pPr indent="-366077" lvl="0" marL="457200" rtl="0" algn="l">
              <a:lnSpc>
                <a:spcPct val="95000"/>
              </a:lnSpc>
              <a:spcBef>
                <a:spcPts val="1200"/>
              </a:spcBef>
              <a:spcAft>
                <a:spcPts val="0"/>
              </a:spcAft>
              <a:buClr>
                <a:srgbClr val="695D46"/>
              </a:buClr>
              <a:buSzPts val="2165"/>
              <a:buChar char="●"/>
            </a:pPr>
            <a:r>
              <a:rPr lang="es" sz="2165">
                <a:solidFill>
                  <a:srgbClr val="695D46"/>
                </a:solidFill>
              </a:rPr>
              <a:t>Procesos de baja prioridad, factible de ser suspendido</a:t>
            </a:r>
            <a:endParaRPr sz="2165">
              <a:solidFill>
                <a:srgbClr val="695D46"/>
              </a:solidFill>
            </a:endParaRPr>
          </a:p>
          <a:p>
            <a:pPr indent="-366077" lvl="0" marL="457200" rtl="0" algn="l">
              <a:lnSpc>
                <a:spcPct val="95000"/>
              </a:lnSpc>
              <a:spcBef>
                <a:spcPts val="0"/>
              </a:spcBef>
              <a:spcAft>
                <a:spcPts val="0"/>
              </a:spcAft>
              <a:buClr>
                <a:srgbClr val="695D46"/>
              </a:buClr>
              <a:buSzPts val="2165"/>
              <a:buChar char="●"/>
            </a:pPr>
            <a:r>
              <a:rPr lang="es" sz="2165">
                <a:solidFill>
                  <a:srgbClr val="695D46"/>
                </a:solidFill>
              </a:rPr>
              <a:t>Procesos de alta prioridad, factible de ser cargado</a:t>
            </a:r>
            <a:endParaRPr sz="2165">
              <a:solidFill>
                <a:srgbClr val="695D46"/>
              </a:solidFill>
            </a:endParaRPr>
          </a:p>
          <a:p>
            <a:pPr indent="-366077" lvl="0" marL="457200" rtl="0" algn="l">
              <a:lnSpc>
                <a:spcPct val="95000"/>
              </a:lnSpc>
              <a:spcBef>
                <a:spcPts val="0"/>
              </a:spcBef>
              <a:spcAft>
                <a:spcPts val="0"/>
              </a:spcAft>
              <a:buClr>
                <a:srgbClr val="695D46"/>
              </a:buClr>
              <a:buSzPts val="2165"/>
              <a:buChar char="●"/>
            </a:pPr>
            <a:r>
              <a:rPr lang="es" sz="2165">
                <a:solidFill>
                  <a:srgbClr val="695D46"/>
                </a:solidFill>
              </a:rPr>
              <a:t>Procesos que deben esperar mucho tiempo la finalización de una operación, factible de ser suspendido</a:t>
            </a:r>
            <a:endParaRPr sz="2165">
              <a:solidFill>
                <a:srgbClr val="695D46"/>
              </a:solidFill>
            </a:endParaRPr>
          </a:p>
          <a:p>
            <a:pPr indent="-366077" lvl="0" marL="457200" rtl="0" algn="l">
              <a:lnSpc>
                <a:spcPct val="95000"/>
              </a:lnSpc>
              <a:spcBef>
                <a:spcPts val="0"/>
              </a:spcBef>
              <a:spcAft>
                <a:spcPts val="0"/>
              </a:spcAft>
              <a:buClr>
                <a:srgbClr val="695D46"/>
              </a:buClr>
              <a:buSzPts val="2165"/>
              <a:buChar char="●"/>
            </a:pPr>
            <a:r>
              <a:rPr lang="es" sz="2165">
                <a:solidFill>
                  <a:srgbClr val="695D46"/>
                </a:solidFill>
              </a:rPr>
              <a:t>Proceso rapidos, propenso a ser cargados</a:t>
            </a:r>
            <a:endParaRPr sz="2165">
              <a:solidFill>
                <a:srgbClr val="695D46"/>
              </a:solidFill>
            </a:endParaRPr>
          </a:p>
          <a:p>
            <a:pPr indent="-366077" lvl="0" marL="457200" rtl="0" algn="l">
              <a:lnSpc>
                <a:spcPct val="95000"/>
              </a:lnSpc>
              <a:spcBef>
                <a:spcPts val="0"/>
              </a:spcBef>
              <a:spcAft>
                <a:spcPts val="0"/>
              </a:spcAft>
              <a:buClr>
                <a:srgbClr val="695D46"/>
              </a:buClr>
              <a:buSzPts val="2165"/>
              <a:buChar char="●"/>
            </a:pPr>
            <a:r>
              <a:rPr lang="es" sz="2165">
                <a:solidFill>
                  <a:srgbClr val="695D46"/>
                </a:solidFill>
              </a:rPr>
              <a:t>Procesos que ya llevan demasiado tiempo en memoria, factible de ser suspendido</a:t>
            </a:r>
            <a:endParaRPr sz="2165">
              <a:solidFill>
                <a:srgbClr val="695D4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a:p>
            <a:pPr indent="0" lvl="0" marL="0" rtl="0" algn="l">
              <a:lnSpc>
                <a:spcPct val="100000"/>
              </a:lnSpc>
              <a:spcBef>
                <a:spcPts val="0"/>
              </a:spcBef>
              <a:spcAft>
                <a:spcPts val="0"/>
              </a:spcAft>
              <a:buSzPct val="111111"/>
              <a:buNone/>
            </a:pPr>
            <a:r>
              <a:t/>
            </a:r>
            <a:endParaRPr/>
          </a:p>
        </p:txBody>
      </p:sp>
      <p:sp>
        <p:nvSpPr>
          <p:cNvPr id="213" name="Google Shape;213;p20"/>
          <p:cNvSpPr txBox="1"/>
          <p:nvPr>
            <p:ph idx="1" type="body"/>
          </p:nvPr>
        </p:nvSpPr>
        <p:spPr>
          <a:xfrm>
            <a:off x="311700" y="1266325"/>
            <a:ext cx="8520600" cy="6570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800"/>
              <a:buNone/>
            </a:pPr>
            <a:r>
              <a:rPr b="1" lang="es" sz="2165">
                <a:solidFill>
                  <a:srgbClr val="0000FF"/>
                </a:solidFill>
              </a:rPr>
              <a:t>Intercambio (swapping)</a:t>
            </a:r>
            <a:r>
              <a:rPr lang="es" sz="2165"/>
              <a:t>,</a:t>
            </a:r>
            <a:endParaRPr sz="2165"/>
          </a:p>
        </p:txBody>
      </p:sp>
      <p:pic>
        <p:nvPicPr>
          <p:cNvPr id="214" name="Google Shape;214;p20"/>
          <p:cNvPicPr preferRelativeResize="0"/>
          <p:nvPr/>
        </p:nvPicPr>
        <p:blipFill rotWithShape="1">
          <a:blip r:embed="rId3">
            <a:alphaModFix/>
          </a:blip>
          <a:srcRect b="0" l="0" r="0" t="0"/>
          <a:stretch/>
        </p:blipFill>
        <p:spPr>
          <a:xfrm>
            <a:off x="462275" y="2571762"/>
            <a:ext cx="1518801" cy="1518799"/>
          </a:xfrm>
          <a:prstGeom prst="rect">
            <a:avLst/>
          </a:prstGeom>
          <a:noFill/>
          <a:ln>
            <a:noFill/>
          </a:ln>
        </p:spPr>
      </p:pic>
      <p:pic>
        <p:nvPicPr>
          <p:cNvPr id="215" name="Google Shape;215;p20"/>
          <p:cNvPicPr preferRelativeResize="0"/>
          <p:nvPr/>
        </p:nvPicPr>
        <p:blipFill rotWithShape="1">
          <a:blip r:embed="rId4">
            <a:alphaModFix/>
          </a:blip>
          <a:srcRect b="0" l="0" r="0" t="0"/>
          <a:stretch/>
        </p:blipFill>
        <p:spPr>
          <a:xfrm>
            <a:off x="6448500" y="2854225"/>
            <a:ext cx="956975" cy="1013275"/>
          </a:xfrm>
          <a:prstGeom prst="rect">
            <a:avLst/>
          </a:prstGeom>
          <a:noFill/>
          <a:ln>
            <a:noFill/>
          </a:ln>
        </p:spPr>
      </p:pic>
      <p:pic>
        <p:nvPicPr>
          <p:cNvPr id="216" name="Google Shape;216;p20"/>
          <p:cNvPicPr preferRelativeResize="0"/>
          <p:nvPr/>
        </p:nvPicPr>
        <p:blipFill rotWithShape="1">
          <a:blip r:embed="rId5">
            <a:alphaModFix/>
          </a:blip>
          <a:srcRect b="0" l="0" r="0" t="0"/>
          <a:stretch/>
        </p:blipFill>
        <p:spPr>
          <a:xfrm>
            <a:off x="3398413" y="2900525"/>
            <a:ext cx="1301325" cy="1068575"/>
          </a:xfrm>
          <a:prstGeom prst="rect">
            <a:avLst/>
          </a:prstGeom>
          <a:noFill/>
          <a:ln>
            <a:noFill/>
          </a:ln>
        </p:spPr>
      </p:pic>
      <p:sp>
        <p:nvSpPr>
          <p:cNvPr id="217" name="Google Shape;217;p20"/>
          <p:cNvSpPr txBox="1"/>
          <p:nvPr/>
        </p:nvSpPr>
        <p:spPr>
          <a:xfrm>
            <a:off x="623800" y="2089075"/>
            <a:ext cx="1440600" cy="41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Archivos de Intercambio</a:t>
            </a:r>
            <a:endParaRPr b="0" i="0" sz="1400" u="none" cap="none" strike="noStrike">
              <a:solidFill>
                <a:srgbClr val="000000"/>
              </a:solidFill>
              <a:latin typeface="Open Sans"/>
              <a:ea typeface="Open Sans"/>
              <a:cs typeface="Open Sans"/>
              <a:sym typeface="Open Sans"/>
            </a:endParaRPr>
          </a:p>
        </p:txBody>
      </p:sp>
      <p:sp>
        <p:nvSpPr>
          <p:cNvPr id="218" name="Google Shape;218;p20"/>
          <p:cNvSpPr txBox="1"/>
          <p:nvPr/>
        </p:nvSpPr>
        <p:spPr>
          <a:xfrm>
            <a:off x="6342375" y="2206575"/>
            <a:ext cx="1440600" cy="41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Protección memoria</a:t>
            </a:r>
            <a:endParaRPr b="0" i="0" sz="1400" u="none" cap="none" strike="noStrike">
              <a:solidFill>
                <a:srgbClr val="000000"/>
              </a:solidFill>
              <a:latin typeface="Open Sans"/>
              <a:ea typeface="Open Sans"/>
              <a:cs typeface="Open Sans"/>
              <a:sym typeface="Open Sans"/>
            </a:endParaRPr>
          </a:p>
        </p:txBody>
      </p:sp>
      <p:sp>
        <p:nvSpPr>
          <p:cNvPr id="219" name="Google Shape;219;p20"/>
          <p:cNvSpPr txBox="1"/>
          <p:nvPr/>
        </p:nvSpPr>
        <p:spPr>
          <a:xfrm>
            <a:off x="3441425" y="2206575"/>
            <a:ext cx="1440600" cy="41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Reubicación de archivos</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a:p>
            <a:pPr indent="0" lvl="0" marL="0" rtl="0" algn="l">
              <a:lnSpc>
                <a:spcPct val="100000"/>
              </a:lnSpc>
              <a:spcBef>
                <a:spcPts val="0"/>
              </a:spcBef>
              <a:spcAft>
                <a:spcPts val="0"/>
              </a:spcAft>
              <a:buSzPct val="111111"/>
              <a:buNone/>
            </a:pPr>
            <a:r>
              <a:t/>
            </a:r>
            <a:endParaRPr/>
          </a:p>
        </p:txBody>
      </p:sp>
      <p:sp>
        <p:nvSpPr>
          <p:cNvPr id="225" name="Google Shape;225;p21"/>
          <p:cNvSpPr txBox="1"/>
          <p:nvPr>
            <p:ph idx="1" type="body"/>
          </p:nvPr>
        </p:nvSpPr>
        <p:spPr>
          <a:xfrm>
            <a:off x="311700" y="1266325"/>
            <a:ext cx="8520600" cy="6570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800"/>
              <a:buNone/>
            </a:pPr>
            <a:r>
              <a:rPr b="1" lang="es" sz="2165">
                <a:solidFill>
                  <a:srgbClr val="0000FF"/>
                </a:solidFill>
              </a:rPr>
              <a:t>Intercambio (swapping)</a:t>
            </a:r>
            <a:r>
              <a:rPr lang="es" sz="2165"/>
              <a:t>,</a:t>
            </a:r>
            <a:endParaRPr sz="2165"/>
          </a:p>
        </p:txBody>
      </p:sp>
      <p:pic>
        <p:nvPicPr>
          <p:cNvPr id="226" name="Google Shape;226;p21"/>
          <p:cNvPicPr preferRelativeResize="0"/>
          <p:nvPr/>
        </p:nvPicPr>
        <p:blipFill rotWithShape="1">
          <a:blip r:embed="rId3">
            <a:alphaModFix/>
          </a:blip>
          <a:srcRect b="0" l="0" r="0" t="0"/>
          <a:stretch/>
        </p:blipFill>
        <p:spPr>
          <a:xfrm>
            <a:off x="1636375" y="1794800"/>
            <a:ext cx="5286475" cy="31417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a:p>
            <a:pPr indent="0" lvl="0" marL="0" rtl="0" algn="l">
              <a:lnSpc>
                <a:spcPct val="100000"/>
              </a:lnSpc>
              <a:spcBef>
                <a:spcPts val="0"/>
              </a:spcBef>
              <a:spcAft>
                <a:spcPts val="0"/>
              </a:spcAft>
              <a:buSzPct val="111111"/>
              <a:buNone/>
            </a:pPr>
            <a:r>
              <a:t/>
            </a:r>
            <a:endParaRPr/>
          </a:p>
        </p:txBody>
      </p:sp>
      <p:sp>
        <p:nvSpPr>
          <p:cNvPr id="232" name="Google Shape;232;p22"/>
          <p:cNvSpPr txBox="1"/>
          <p:nvPr>
            <p:ph idx="1" type="body"/>
          </p:nvPr>
        </p:nvSpPr>
        <p:spPr>
          <a:xfrm>
            <a:off x="311700" y="1266325"/>
            <a:ext cx="8520600" cy="6570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800"/>
              <a:buNone/>
            </a:pPr>
            <a:r>
              <a:rPr b="1" lang="es" sz="2165">
                <a:solidFill>
                  <a:srgbClr val="0000FF"/>
                </a:solidFill>
              </a:rPr>
              <a:t>Intercambio (swapping)</a:t>
            </a:r>
            <a:r>
              <a:rPr lang="es" sz="2165"/>
              <a:t>,</a:t>
            </a:r>
            <a:endParaRPr sz="2165"/>
          </a:p>
        </p:txBody>
      </p:sp>
      <p:sp>
        <p:nvSpPr>
          <p:cNvPr id="233" name="Google Shape;233;p22"/>
          <p:cNvSpPr/>
          <p:nvPr/>
        </p:nvSpPr>
        <p:spPr>
          <a:xfrm>
            <a:off x="259325" y="1772125"/>
            <a:ext cx="2672700" cy="31842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Archivo de intercambio,</a:t>
            </a:r>
            <a:endParaRPr b="1"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Archivo o archivos que se crean para realizar el intercambio cuando se está ejecutando un sistema</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317500" lvl="0" marL="457200" marR="0" rtl="0" algn="l">
              <a:lnSpc>
                <a:spcPct val="100000"/>
              </a:lnSpc>
              <a:spcBef>
                <a:spcPts val="0"/>
              </a:spcBef>
              <a:spcAft>
                <a:spcPts val="0"/>
              </a:spcAft>
              <a:buClr>
                <a:srgbClr val="000000"/>
              </a:buClr>
              <a:buSzPts val="1400"/>
              <a:buFont typeface="Open Sans"/>
              <a:buChar char="●"/>
            </a:pPr>
            <a:r>
              <a:rPr b="0" i="0" lang="es" sz="1400" u="none" cap="none" strike="noStrike">
                <a:solidFill>
                  <a:srgbClr val="000000"/>
                </a:solidFill>
                <a:latin typeface="Open Sans"/>
                <a:ea typeface="Open Sans"/>
                <a:cs typeface="Open Sans"/>
                <a:sym typeface="Open Sans"/>
              </a:rPr>
              <a:t>Archivo único para el Sist.Completo</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317500" lvl="0" marL="457200" marR="0" rtl="0" algn="l">
              <a:lnSpc>
                <a:spcPct val="100000"/>
              </a:lnSpc>
              <a:spcBef>
                <a:spcPts val="0"/>
              </a:spcBef>
              <a:spcAft>
                <a:spcPts val="0"/>
              </a:spcAft>
              <a:buClr>
                <a:srgbClr val="000000"/>
              </a:buClr>
              <a:buSzPts val="1400"/>
              <a:buFont typeface="Open Sans"/>
              <a:buChar char="●"/>
            </a:pPr>
            <a:r>
              <a:rPr b="0" i="0" lang="es" sz="1400" u="none" cap="none" strike="noStrike">
                <a:solidFill>
                  <a:srgbClr val="000000"/>
                </a:solidFill>
                <a:latin typeface="Open Sans"/>
                <a:ea typeface="Open Sans"/>
                <a:cs typeface="Open Sans"/>
                <a:sym typeface="Open Sans"/>
              </a:rPr>
              <a:t>Un archivo por proceso</a:t>
            </a:r>
            <a:endParaRPr b="0" i="0" sz="1400" u="none" cap="none" strike="noStrike">
              <a:solidFill>
                <a:srgbClr val="000000"/>
              </a:solidFill>
              <a:latin typeface="Open Sans"/>
              <a:ea typeface="Open Sans"/>
              <a:cs typeface="Open Sans"/>
              <a:sym typeface="Open Sans"/>
            </a:endParaRPr>
          </a:p>
        </p:txBody>
      </p:sp>
      <p:sp>
        <p:nvSpPr>
          <p:cNvPr id="234" name="Google Shape;234;p22"/>
          <p:cNvSpPr txBox="1"/>
          <p:nvPr/>
        </p:nvSpPr>
        <p:spPr>
          <a:xfrm>
            <a:off x="3040000" y="1901800"/>
            <a:ext cx="5943000" cy="30546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000000"/>
              </a:buClr>
              <a:buSzPts val="1500"/>
              <a:buFont typeface="Open Sans"/>
              <a:buChar char="●"/>
            </a:pPr>
            <a:r>
              <a:rPr b="0" i="0" lang="es" sz="1500" u="none" cap="none" strike="noStrike">
                <a:solidFill>
                  <a:srgbClr val="000000"/>
                </a:solidFill>
                <a:latin typeface="Open Sans"/>
                <a:ea typeface="Open Sans"/>
                <a:cs typeface="Open Sans"/>
                <a:sym typeface="Open Sans"/>
              </a:rPr>
              <a:t>Es decir, son archivos que se crean para simular memoria RAM, con lo cual el sistema operativo puede ejecutar programas más grandes y complejos de los que caerían en la RAM</a:t>
            </a:r>
            <a:endParaRPr b="0" i="0" sz="15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Open Sans"/>
              <a:ea typeface="Open Sans"/>
              <a:cs typeface="Open Sans"/>
              <a:sym typeface="Open Sans"/>
            </a:endParaRPr>
          </a:p>
          <a:p>
            <a:pPr indent="-323850" lvl="0" marL="457200" marR="0" rtl="0" algn="l">
              <a:lnSpc>
                <a:spcPct val="100000"/>
              </a:lnSpc>
              <a:spcBef>
                <a:spcPts val="0"/>
              </a:spcBef>
              <a:spcAft>
                <a:spcPts val="0"/>
              </a:spcAft>
              <a:buClr>
                <a:srgbClr val="000000"/>
              </a:buClr>
              <a:buSzPts val="1500"/>
              <a:buFont typeface="Open Sans"/>
              <a:buChar char="●"/>
            </a:pPr>
            <a:r>
              <a:rPr b="0" i="0" lang="es" sz="1500" u="none" cap="none" strike="noStrike">
                <a:solidFill>
                  <a:srgbClr val="000000"/>
                </a:solidFill>
                <a:latin typeface="Open Sans"/>
                <a:ea typeface="Open Sans"/>
                <a:cs typeface="Open Sans"/>
                <a:sym typeface="Open Sans"/>
              </a:rPr>
              <a:t>Es necesario que estos archivos alojados en disco permitan manejar el suficientes espacio (en el mismo disco y en la RAM), para que los sistemas funcionen de manera eficiente </a:t>
            </a:r>
            <a:endParaRPr b="0" i="0" sz="1500" u="none" cap="none" strike="noStrike">
              <a:solidFill>
                <a:srgbClr val="000000"/>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Open Sans"/>
              <a:ea typeface="Open Sans"/>
              <a:cs typeface="Open Sans"/>
              <a:sym typeface="Open Sans"/>
            </a:endParaRPr>
          </a:p>
          <a:p>
            <a:pPr indent="-323850" lvl="0" marL="457200" marR="0" rtl="0" algn="l">
              <a:lnSpc>
                <a:spcPct val="100000"/>
              </a:lnSpc>
              <a:spcBef>
                <a:spcPts val="0"/>
              </a:spcBef>
              <a:spcAft>
                <a:spcPts val="0"/>
              </a:spcAft>
              <a:buClr>
                <a:srgbClr val="000000"/>
              </a:buClr>
              <a:buSzPts val="1500"/>
              <a:buFont typeface="Open Sans"/>
              <a:buChar char="●"/>
            </a:pPr>
            <a:r>
              <a:rPr b="0" i="0" lang="es" sz="1500" u="none" cap="none" strike="noStrike">
                <a:solidFill>
                  <a:srgbClr val="000000"/>
                </a:solidFill>
                <a:latin typeface="Open Sans"/>
                <a:ea typeface="Open Sans"/>
                <a:cs typeface="Open Sans"/>
                <a:sym typeface="Open Sans"/>
              </a:rPr>
              <a:t>Es recomendable crear una partición aparte o tener un disco Rápido para realizar el manejo de estos archivos de intercambio</a:t>
            </a:r>
            <a:endParaRPr b="0" i="0" sz="15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a:p>
            <a:pPr indent="0" lvl="0" marL="0" rtl="0" algn="l">
              <a:lnSpc>
                <a:spcPct val="100000"/>
              </a:lnSpc>
              <a:spcBef>
                <a:spcPts val="0"/>
              </a:spcBef>
              <a:spcAft>
                <a:spcPts val="0"/>
              </a:spcAft>
              <a:buSzPct val="111111"/>
              <a:buNone/>
            </a:pPr>
            <a:r>
              <a:t/>
            </a:r>
            <a:endParaRPr/>
          </a:p>
        </p:txBody>
      </p:sp>
      <p:sp>
        <p:nvSpPr>
          <p:cNvPr id="240" name="Google Shape;240;p23"/>
          <p:cNvSpPr txBox="1"/>
          <p:nvPr>
            <p:ph idx="1" type="body"/>
          </p:nvPr>
        </p:nvSpPr>
        <p:spPr>
          <a:xfrm>
            <a:off x="311700" y="1266325"/>
            <a:ext cx="8520600" cy="6570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800"/>
              <a:buNone/>
            </a:pPr>
            <a:r>
              <a:rPr b="1" lang="es" sz="2165">
                <a:solidFill>
                  <a:srgbClr val="0000FF"/>
                </a:solidFill>
              </a:rPr>
              <a:t>Intercambio (swapping)</a:t>
            </a:r>
            <a:r>
              <a:rPr lang="es" sz="2165"/>
              <a:t>,</a:t>
            </a:r>
            <a:endParaRPr sz="2165"/>
          </a:p>
        </p:txBody>
      </p:sp>
      <p:sp>
        <p:nvSpPr>
          <p:cNvPr id="241" name="Google Shape;241;p23"/>
          <p:cNvSpPr/>
          <p:nvPr/>
        </p:nvSpPr>
        <p:spPr>
          <a:xfrm>
            <a:off x="259325" y="1772125"/>
            <a:ext cx="3558600" cy="31842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Reubicación</a:t>
            </a:r>
            <a:endParaRPr b="0" i="0" sz="1400" u="none" cap="none" strike="noStrike">
              <a:solidFill>
                <a:srgbClr val="000000"/>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Se refiere al mecanismo que ubicar en memoria los archivos de intercambio de un sistema, dependiendo:</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317500" lvl="0" marL="457200" marR="0" rtl="0" algn="l">
              <a:lnSpc>
                <a:spcPct val="100000"/>
              </a:lnSpc>
              <a:spcBef>
                <a:spcPts val="0"/>
              </a:spcBef>
              <a:spcAft>
                <a:spcPts val="0"/>
              </a:spcAft>
              <a:buClr>
                <a:srgbClr val="000000"/>
              </a:buClr>
              <a:buSzPts val="1400"/>
              <a:buFont typeface="Open Sans"/>
              <a:buChar char="●"/>
            </a:pPr>
            <a:r>
              <a:rPr b="0" i="0" lang="es" sz="1400" u="none" cap="none" strike="noStrike">
                <a:solidFill>
                  <a:srgbClr val="000000"/>
                </a:solidFill>
                <a:latin typeface="Open Sans"/>
                <a:ea typeface="Open Sans"/>
                <a:cs typeface="Open Sans"/>
                <a:sym typeface="Open Sans"/>
              </a:rPr>
              <a:t>Tamaño de los archivos de intercambio</a:t>
            </a:r>
            <a:endParaRPr b="0" i="0" sz="1400" u="none" cap="none" strike="noStrike">
              <a:solidFill>
                <a:srgbClr val="000000"/>
              </a:solidFill>
              <a:latin typeface="Open Sans"/>
              <a:ea typeface="Open Sans"/>
              <a:cs typeface="Open Sans"/>
              <a:sym typeface="Open Sans"/>
            </a:endParaRPr>
          </a:p>
          <a:p>
            <a:pPr indent="-317500" lvl="0" marL="457200" marR="0" rtl="0" algn="l">
              <a:lnSpc>
                <a:spcPct val="100000"/>
              </a:lnSpc>
              <a:spcBef>
                <a:spcPts val="0"/>
              </a:spcBef>
              <a:spcAft>
                <a:spcPts val="0"/>
              </a:spcAft>
              <a:buClr>
                <a:srgbClr val="000000"/>
              </a:buClr>
              <a:buSzPts val="1400"/>
              <a:buFont typeface="Open Sans"/>
              <a:buChar char="●"/>
            </a:pPr>
            <a:r>
              <a:rPr b="0" i="0" lang="es" sz="1400" u="none" cap="none" strike="noStrike">
                <a:solidFill>
                  <a:srgbClr val="000000"/>
                </a:solidFill>
                <a:latin typeface="Open Sans"/>
                <a:ea typeface="Open Sans"/>
                <a:cs typeface="Open Sans"/>
                <a:sym typeface="Open Sans"/>
              </a:rPr>
              <a:t>Del espacio de memoria real disponible  </a:t>
            </a:r>
            <a:endParaRPr b="0" i="0" sz="1400" u="none" cap="none" strike="noStrike">
              <a:solidFill>
                <a:srgbClr val="000000"/>
              </a:solidFill>
              <a:latin typeface="Open Sans"/>
              <a:ea typeface="Open Sans"/>
              <a:cs typeface="Open Sans"/>
              <a:sym typeface="Open Sans"/>
            </a:endParaRPr>
          </a:p>
          <a:p>
            <a:pPr indent="-317500" lvl="0" marL="457200" marR="0" rtl="0" algn="l">
              <a:lnSpc>
                <a:spcPct val="100000"/>
              </a:lnSpc>
              <a:spcBef>
                <a:spcPts val="0"/>
              </a:spcBef>
              <a:spcAft>
                <a:spcPts val="0"/>
              </a:spcAft>
              <a:buClr>
                <a:srgbClr val="000000"/>
              </a:buClr>
              <a:buSzPts val="1400"/>
              <a:buFont typeface="Open Sans"/>
              <a:buChar char="●"/>
            </a:pPr>
            <a:r>
              <a:rPr b="0" i="0" lang="es" sz="1400" u="none" cap="none" strike="noStrike">
                <a:solidFill>
                  <a:srgbClr val="000000"/>
                </a:solidFill>
                <a:latin typeface="Open Sans"/>
                <a:ea typeface="Open Sans"/>
                <a:cs typeface="Open Sans"/>
                <a:sym typeface="Open Sans"/>
              </a:rPr>
              <a:t>Las posiciones de memoria</a:t>
            </a:r>
            <a:endParaRPr b="1" i="0" sz="1400" u="none" cap="none" strike="noStrike">
              <a:solidFill>
                <a:srgbClr val="000000"/>
              </a:solidFill>
              <a:latin typeface="Open Sans"/>
              <a:ea typeface="Open Sans"/>
              <a:cs typeface="Open Sans"/>
              <a:sym typeface="Open Sans"/>
            </a:endParaRPr>
          </a:p>
        </p:txBody>
      </p:sp>
      <p:sp>
        <p:nvSpPr>
          <p:cNvPr id="242" name="Google Shape;242;p23"/>
          <p:cNvSpPr txBox="1"/>
          <p:nvPr/>
        </p:nvSpPr>
        <p:spPr>
          <a:xfrm>
            <a:off x="3983700" y="1894600"/>
            <a:ext cx="5028300" cy="309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s" sz="1500" u="none" cap="none" strike="noStrike">
                <a:solidFill>
                  <a:srgbClr val="000000"/>
                </a:solidFill>
                <a:latin typeface="Open Sans"/>
                <a:ea typeface="Open Sans"/>
                <a:cs typeface="Open Sans"/>
                <a:sym typeface="Open Sans"/>
              </a:rPr>
              <a:t>Reubicación estática, </a:t>
            </a:r>
            <a:r>
              <a:rPr b="0" i="0" lang="es" sz="1500" u="none" cap="none" strike="noStrike">
                <a:solidFill>
                  <a:srgbClr val="000000"/>
                </a:solidFill>
                <a:latin typeface="Open Sans"/>
                <a:ea typeface="Open Sans"/>
                <a:cs typeface="Open Sans"/>
                <a:sym typeface="Open Sans"/>
              </a:rPr>
              <a:t>se realiza antes o durante la carga del programa en memoria y asigna directamente la posición de memoria basada tamaño de la partición a utilizar, la ubicación de la misma y el espacio requerido, en este caso particular es estático (constantes, puertos de E/S, Contador de Programa)</a:t>
            </a:r>
            <a:endParaRPr b="0" i="0" sz="15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500"/>
              <a:buFont typeface="Arial"/>
              <a:buNone/>
            </a:pPr>
            <a:r>
              <a:rPr b="1" i="0" lang="es" sz="1500" u="none" cap="none" strike="noStrike">
                <a:solidFill>
                  <a:srgbClr val="000000"/>
                </a:solidFill>
                <a:latin typeface="Open Sans"/>
                <a:ea typeface="Open Sans"/>
                <a:cs typeface="Open Sans"/>
                <a:sym typeface="Open Sans"/>
              </a:rPr>
              <a:t>Reubicación dinámica, </a:t>
            </a:r>
            <a:r>
              <a:rPr b="0" i="0" lang="es" sz="1500" u="none" cap="none" strike="noStrike">
                <a:solidFill>
                  <a:srgbClr val="000000"/>
                </a:solidFill>
                <a:latin typeface="Open Sans"/>
                <a:ea typeface="Open Sans"/>
                <a:cs typeface="Open Sans"/>
                <a:sym typeface="Open Sans"/>
              </a:rPr>
              <a:t>se realiza de forma dinámica durante la ejecución de los procesos generados por los programas, y maneja un registro base de las posiciones de memoria a utilizar</a:t>
            </a:r>
            <a:endParaRPr b="0" i="0" sz="15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a:p>
            <a:pPr indent="0" lvl="0" marL="0" rtl="0" algn="l">
              <a:lnSpc>
                <a:spcPct val="100000"/>
              </a:lnSpc>
              <a:spcBef>
                <a:spcPts val="0"/>
              </a:spcBef>
              <a:spcAft>
                <a:spcPts val="0"/>
              </a:spcAft>
              <a:buSzPct val="111111"/>
              <a:buNone/>
            </a:pPr>
            <a:r>
              <a:t/>
            </a:r>
            <a:endParaRPr/>
          </a:p>
        </p:txBody>
      </p:sp>
      <p:sp>
        <p:nvSpPr>
          <p:cNvPr id="248" name="Google Shape;248;p24"/>
          <p:cNvSpPr txBox="1"/>
          <p:nvPr>
            <p:ph idx="1" type="body"/>
          </p:nvPr>
        </p:nvSpPr>
        <p:spPr>
          <a:xfrm>
            <a:off x="311700" y="1266325"/>
            <a:ext cx="8520600" cy="6570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800"/>
              <a:buNone/>
            </a:pPr>
            <a:r>
              <a:rPr b="1" lang="es" sz="2165">
                <a:solidFill>
                  <a:srgbClr val="0000FF"/>
                </a:solidFill>
              </a:rPr>
              <a:t>Intercambio (swapping)</a:t>
            </a:r>
            <a:r>
              <a:rPr lang="es" sz="2165"/>
              <a:t>,</a:t>
            </a:r>
            <a:endParaRPr sz="2165"/>
          </a:p>
        </p:txBody>
      </p:sp>
      <p:sp>
        <p:nvSpPr>
          <p:cNvPr id="249" name="Google Shape;249;p24"/>
          <p:cNvSpPr txBox="1"/>
          <p:nvPr/>
        </p:nvSpPr>
        <p:spPr>
          <a:xfrm>
            <a:off x="311700" y="1894600"/>
            <a:ext cx="8700300" cy="49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s" sz="1600" u="none" cap="none" strike="noStrike">
                <a:solidFill>
                  <a:srgbClr val="000000"/>
                </a:solidFill>
                <a:latin typeface="Open Sans"/>
                <a:ea typeface="Open Sans"/>
                <a:cs typeface="Open Sans"/>
                <a:sym typeface="Open Sans"/>
              </a:rPr>
              <a:t>Reubicación dinámica</a:t>
            </a:r>
            <a:endParaRPr b="0" i="0" sz="1600" u="none" cap="none" strike="noStrike">
              <a:solidFill>
                <a:srgbClr val="000000"/>
              </a:solidFill>
              <a:latin typeface="Open Sans"/>
              <a:ea typeface="Open Sans"/>
              <a:cs typeface="Open Sans"/>
              <a:sym typeface="Open Sans"/>
            </a:endParaRPr>
          </a:p>
        </p:txBody>
      </p:sp>
      <p:pic>
        <p:nvPicPr>
          <p:cNvPr id="250" name="Google Shape;250;p24"/>
          <p:cNvPicPr preferRelativeResize="0"/>
          <p:nvPr/>
        </p:nvPicPr>
        <p:blipFill rotWithShape="1">
          <a:blip r:embed="rId3">
            <a:alphaModFix/>
          </a:blip>
          <a:srcRect b="0" l="0" r="0" t="0"/>
          <a:stretch/>
        </p:blipFill>
        <p:spPr>
          <a:xfrm>
            <a:off x="2285400" y="2606045"/>
            <a:ext cx="4573199" cy="2128500"/>
          </a:xfrm>
          <a:prstGeom prst="rect">
            <a:avLst/>
          </a:prstGeom>
          <a:noFill/>
          <a:ln>
            <a:noFill/>
          </a:ln>
        </p:spPr>
      </p:pic>
      <p:sp>
        <p:nvSpPr>
          <p:cNvPr id="251" name="Google Shape;251;p24"/>
          <p:cNvSpPr txBox="1"/>
          <p:nvPr/>
        </p:nvSpPr>
        <p:spPr>
          <a:xfrm>
            <a:off x="3637900" y="4142175"/>
            <a:ext cx="777900" cy="70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FF0000"/>
                </a:solidFill>
                <a:latin typeface="Open Sans"/>
                <a:ea typeface="Open Sans"/>
                <a:cs typeface="Open Sans"/>
                <a:sym typeface="Open Sans"/>
              </a:rPr>
              <a:t>CALL</a:t>
            </a:r>
            <a:endParaRPr b="1" i="0" sz="900" u="none" cap="none" strike="noStrike">
              <a:solidFill>
                <a:srgbClr val="FF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rgbClr val="FF0000"/>
                </a:solidFill>
                <a:latin typeface="Open Sans"/>
                <a:ea typeface="Open Sans"/>
                <a:cs typeface="Open Sans"/>
                <a:sym typeface="Open Sans"/>
              </a:rPr>
              <a:t>posición 1000</a:t>
            </a:r>
            <a:endParaRPr b="1" i="0" sz="900" u="none" cap="none" strike="noStrike">
              <a:solidFill>
                <a:srgbClr val="FF0000"/>
              </a:solidFill>
              <a:latin typeface="Open Sans"/>
              <a:ea typeface="Open Sans"/>
              <a:cs typeface="Open Sans"/>
              <a:sym typeface="Open Sans"/>
            </a:endParaRPr>
          </a:p>
        </p:txBody>
      </p:sp>
      <p:sp>
        <p:nvSpPr>
          <p:cNvPr id="252" name="Google Shape;252;p24"/>
          <p:cNvSpPr txBox="1"/>
          <p:nvPr/>
        </p:nvSpPr>
        <p:spPr>
          <a:xfrm>
            <a:off x="4178200" y="2185250"/>
            <a:ext cx="1152600" cy="49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s" sz="1000" u="none" cap="none" strike="noStrike">
                <a:solidFill>
                  <a:srgbClr val="FF0000"/>
                </a:solidFill>
                <a:latin typeface="Open Sans"/>
                <a:ea typeface="Open Sans"/>
                <a:cs typeface="Open Sans"/>
                <a:sym typeface="Open Sans"/>
              </a:rPr>
              <a:t>posición inicial del proceso</a:t>
            </a:r>
            <a:endParaRPr b="1" i="0" sz="1000" u="none" cap="none" strike="noStrike">
              <a:solidFill>
                <a:srgbClr val="FF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rPr b="1" i="0" lang="es" sz="1000" u="none" cap="none" strike="noStrike">
                <a:solidFill>
                  <a:srgbClr val="FF0000"/>
                </a:solidFill>
                <a:latin typeface="Open Sans"/>
                <a:ea typeface="Open Sans"/>
                <a:cs typeface="Open Sans"/>
                <a:sym typeface="Open Sans"/>
              </a:rPr>
              <a:t>200000</a:t>
            </a:r>
            <a:endParaRPr b="1" i="0" sz="500" u="none" cap="none" strike="noStrike">
              <a:solidFill>
                <a:srgbClr val="FF0000"/>
              </a:solidFill>
              <a:latin typeface="Open Sans"/>
              <a:ea typeface="Open Sans"/>
              <a:cs typeface="Open Sans"/>
              <a:sym typeface="Open Sans"/>
            </a:endParaRPr>
          </a:p>
        </p:txBody>
      </p:sp>
      <p:sp>
        <p:nvSpPr>
          <p:cNvPr id="253" name="Google Shape;253;p24"/>
          <p:cNvSpPr txBox="1"/>
          <p:nvPr/>
        </p:nvSpPr>
        <p:spPr>
          <a:xfrm>
            <a:off x="5705375" y="1974950"/>
            <a:ext cx="1296600" cy="70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FF0000"/>
                </a:solidFill>
                <a:latin typeface="Open Sans"/>
                <a:ea typeface="Open Sans"/>
                <a:cs typeface="Open Sans"/>
                <a:sym typeface="Open Sans"/>
              </a:rPr>
              <a:t>CALL</a:t>
            </a:r>
            <a:endParaRPr b="1" i="0" sz="900" u="none" cap="none" strike="noStrike">
              <a:solidFill>
                <a:srgbClr val="FF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rgbClr val="FF0000"/>
                </a:solidFill>
                <a:latin typeface="Open Sans"/>
                <a:ea typeface="Open Sans"/>
                <a:cs typeface="Open Sans"/>
                <a:sym typeface="Open Sans"/>
              </a:rPr>
              <a:t>en memoria física 1000+</a:t>
            </a:r>
            <a:r>
              <a:rPr b="1" i="0" lang="es" sz="1000" u="none" cap="none" strike="noStrike">
                <a:solidFill>
                  <a:srgbClr val="FF0000"/>
                </a:solidFill>
                <a:latin typeface="Open Sans"/>
                <a:ea typeface="Open Sans"/>
                <a:cs typeface="Open Sans"/>
                <a:sym typeface="Open Sans"/>
              </a:rPr>
              <a:t>200000</a:t>
            </a:r>
            <a:r>
              <a:rPr b="1" i="0" lang="es" sz="900" u="none" cap="none" strike="noStrike">
                <a:solidFill>
                  <a:srgbClr val="FF0000"/>
                </a:solidFill>
                <a:latin typeface="Open Sans"/>
                <a:ea typeface="Open Sans"/>
                <a:cs typeface="Open Sans"/>
                <a:sym typeface="Open Sans"/>
              </a:rPr>
              <a:t> </a:t>
            </a:r>
            <a:endParaRPr b="1" i="0" sz="900" u="none" cap="none" strike="noStrike">
              <a:solidFill>
                <a:srgbClr val="FF0000"/>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a:p>
            <a:pPr indent="0" lvl="0" marL="0" rtl="0" algn="l">
              <a:lnSpc>
                <a:spcPct val="100000"/>
              </a:lnSpc>
              <a:spcBef>
                <a:spcPts val="0"/>
              </a:spcBef>
              <a:spcAft>
                <a:spcPts val="0"/>
              </a:spcAft>
              <a:buSzPct val="111111"/>
              <a:buNone/>
            </a:pPr>
            <a:r>
              <a:t/>
            </a:r>
            <a:endParaRPr/>
          </a:p>
        </p:txBody>
      </p:sp>
      <p:sp>
        <p:nvSpPr>
          <p:cNvPr id="259" name="Google Shape;259;p25"/>
          <p:cNvSpPr txBox="1"/>
          <p:nvPr>
            <p:ph idx="1" type="body"/>
          </p:nvPr>
        </p:nvSpPr>
        <p:spPr>
          <a:xfrm>
            <a:off x="311700" y="1266325"/>
            <a:ext cx="8520600" cy="6570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800"/>
              <a:buNone/>
            </a:pPr>
            <a:r>
              <a:rPr b="1" lang="es" sz="2165">
                <a:solidFill>
                  <a:srgbClr val="0000FF"/>
                </a:solidFill>
              </a:rPr>
              <a:t>Intercambio (swapping) - Reubicación</a:t>
            </a:r>
            <a:endParaRPr sz="2165"/>
          </a:p>
        </p:txBody>
      </p:sp>
      <p:pic>
        <p:nvPicPr>
          <p:cNvPr id="260" name="Google Shape;260;p25"/>
          <p:cNvPicPr preferRelativeResize="0"/>
          <p:nvPr/>
        </p:nvPicPr>
        <p:blipFill rotWithShape="1">
          <a:blip r:embed="rId3">
            <a:alphaModFix/>
          </a:blip>
          <a:srcRect b="0" l="0" r="0" t="0"/>
          <a:stretch/>
        </p:blipFill>
        <p:spPr>
          <a:xfrm>
            <a:off x="4572000" y="1996950"/>
            <a:ext cx="4430975" cy="2562575"/>
          </a:xfrm>
          <a:prstGeom prst="rect">
            <a:avLst/>
          </a:prstGeom>
          <a:noFill/>
          <a:ln>
            <a:noFill/>
          </a:ln>
        </p:spPr>
      </p:pic>
      <p:pic>
        <p:nvPicPr>
          <p:cNvPr id="261" name="Google Shape;261;p25"/>
          <p:cNvPicPr preferRelativeResize="0"/>
          <p:nvPr/>
        </p:nvPicPr>
        <p:blipFill rotWithShape="1">
          <a:blip r:embed="rId4">
            <a:alphaModFix/>
          </a:blip>
          <a:srcRect b="0" l="0" r="0" t="0"/>
          <a:stretch/>
        </p:blipFill>
        <p:spPr>
          <a:xfrm>
            <a:off x="49175" y="1996950"/>
            <a:ext cx="4430975" cy="263332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a:p>
            <a:pPr indent="0" lvl="0" marL="0" rtl="0" algn="l">
              <a:lnSpc>
                <a:spcPct val="100000"/>
              </a:lnSpc>
              <a:spcBef>
                <a:spcPts val="0"/>
              </a:spcBef>
              <a:spcAft>
                <a:spcPts val="0"/>
              </a:spcAft>
              <a:buSzPct val="111111"/>
              <a:buNone/>
            </a:pPr>
            <a:r>
              <a:t/>
            </a:r>
            <a:endParaRPr/>
          </a:p>
        </p:txBody>
      </p:sp>
      <p:sp>
        <p:nvSpPr>
          <p:cNvPr id="267" name="Google Shape;267;p26"/>
          <p:cNvSpPr txBox="1"/>
          <p:nvPr>
            <p:ph idx="1" type="body"/>
          </p:nvPr>
        </p:nvSpPr>
        <p:spPr>
          <a:xfrm>
            <a:off x="311700" y="1266325"/>
            <a:ext cx="8520600" cy="6570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800"/>
              <a:buNone/>
            </a:pPr>
            <a:r>
              <a:rPr b="1" lang="es" sz="2165">
                <a:solidFill>
                  <a:srgbClr val="0000FF"/>
                </a:solidFill>
              </a:rPr>
              <a:t>Intercambio (swapping)</a:t>
            </a:r>
            <a:r>
              <a:rPr lang="es" sz="2165"/>
              <a:t>,</a:t>
            </a:r>
            <a:endParaRPr sz="2165"/>
          </a:p>
        </p:txBody>
      </p:sp>
      <p:sp>
        <p:nvSpPr>
          <p:cNvPr id="268" name="Google Shape;268;p26"/>
          <p:cNvSpPr/>
          <p:nvPr/>
        </p:nvSpPr>
        <p:spPr>
          <a:xfrm>
            <a:off x="259325" y="1772125"/>
            <a:ext cx="2672700" cy="31842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Protección,</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Mecanismo que protege los espacios de memoria física, estableciendo límites al uso de un las particiones establecidas</a:t>
            </a:r>
            <a:endParaRPr b="0" i="0" sz="1400" u="none" cap="none" strike="noStrike">
              <a:solidFill>
                <a:srgbClr val="000000"/>
              </a:solidFill>
              <a:latin typeface="Open Sans"/>
              <a:ea typeface="Open Sans"/>
              <a:cs typeface="Open Sans"/>
              <a:sym typeface="Open Sans"/>
            </a:endParaRPr>
          </a:p>
        </p:txBody>
      </p:sp>
      <p:sp>
        <p:nvSpPr>
          <p:cNvPr id="269" name="Google Shape;269;p26"/>
          <p:cNvSpPr txBox="1"/>
          <p:nvPr/>
        </p:nvSpPr>
        <p:spPr>
          <a:xfrm>
            <a:off x="3378575" y="1981050"/>
            <a:ext cx="5453700" cy="283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000000"/>
                </a:solidFill>
                <a:latin typeface="Open Sans"/>
                <a:ea typeface="Open Sans"/>
                <a:cs typeface="Open Sans"/>
                <a:sym typeface="Open Sans"/>
              </a:rPr>
              <a:t>Se puede dar la situación que un programa malicioso podría  buscar alojarse en una dirección fuera de los límites de la partición </a:t>
            </a:r>
            <a:endParaRPr b="0" i="0" sz="15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000000"/>
                </a:solidFill>
                <a:latin typeface="Open Sans"/>
                <a:ea typeface="Open Sans"/>
                <a:cs typeface="Open Sans"/>
                <a:sym typeface="Open Sans"/>
              </a:rPr>
              <a:t>Dado lo anterior, se establece este </a:t>
            </a:r>
            <a:r>
              <a:rPr b="1" i="0" lang="es" sz="1500" u="none" cap="none" strike="noStrike">
                <a:solidFill>
                  <a:srgbClr val="980000"/>
                </a:solidFill>
                <a:latin typeface="Open Sans"/>
                <a:ea typeface="Open Sans"/>
                <a:cs typeface="Open Sans"/>
                <a:sym typeface="Open Sans"/>
              </a:rPr>
              <a:t>registro límite</a:t>
            </a:r>
            <a:r>
              <a:rPr b="0" i="0" lang="es" sz="1500" u="none" cap="none" strike="noStrike">
                <a:solidFill>
                  <a:srgbClr val="000000"/>
                </a:solidFill>
                <a:latin typeface="Open Sans"/>
                <a:ea typeface="Open Sans"/>
                <a:cs typeface="Open Sans"/>
                <a:sym typeface="Open Sans"/>
              </a:rPr>
              <a:t>, el cual permite realizar la verificación antes de acceder a la memoria física</a:t>
            </a:r>
            <a:endParaRPr b="0" i="0" sz="15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000000"/>
                </a:solidFill>
                <a:latin typeface="Open Sans"/>
                <a:ea typeface="Open Sans"/>
                <a:cs typeface="Open Sans"/>
                <a:sym typeface="Open Sans"/>
              </a:rPr>
              <a:t>También, se suele hacer estableciendo </a:t>
            </a:r>
            <a:r>
              <a:rPr b="1" i="0" lang="es" sz="1500" u="none" cap="none" strike="noStrike">
                <a:solidFill>
                  <a:srgbClr val="980000"/>
                </a:solidFill>
                <a:latin typeface="Open Sans"/>
                <a:ea typeface="Open Sans"/>
                <a:cs typeface="Open Sans"/>
                <a:sym typeface="Open Sans"/>
              </a:rPr>
              <a:t>registros de bordes superior e inferior </a:t>
            </a:r>
            <a:r>
              <a:rPr b="0" i="0" lang="es" sz="1500" u="none" cap="none" strike="noStrike">
                <a:solidFill>
                  <a:srgbClr val="000000"/>
                </a:solidFill>
                <a:latin typeface="Open Sans"/>
                <a:ea typeface="Open Sans"/>
                <a:cs typeface="Open Sans"/>
                <a:sym typeface="Open Sans"/>
              </a:rPr>
              <a:t>a los espacios de memoria física</a:t>
            </a:r>
            <a:endParaRPr b="0" i="0" sz="15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a:p>
            <a:pPr indent="0" lvl="0" marL="0" rtl="0" algn="l">
              <a:lnSpc>
                <a:spcPct val="100000"/>
              </a:lnSpc>
              <a:spcBef>
                <a:spcPts val="0"/>
              </a:spcBef>
              <a:spcAft>
                <a:spcPts val="0"/>
              </a:spcAft>
              <a:buSzPct val="111111"/>
              <a:buNone/>
            </a:pPr>
            <a:r>
              <a:t/>
            </a:r>
            <a:endParaRPr/>
          </a:p>
        </p:txBody>
      </p:sp>
      <p:sp>
        <p:nvSpPr>
          <p:cNvPr id="275" name="Google Shape;275;p27"/>
          <p:cNvSpPr txBox="1"/>
          <p:nvPr>
            <p:ph idx="1" type="body"/>
          </p:nvPr>
        </p:nvSpPr>
        <p:spPr>
          <a:xfrm>
            <a:off x="311700" y="1266325"/>
            <a:ext cx="8520600" cy="6570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800"/>
              <a:buNone/>
            </a:pPr>
            <a:r>
              <a:rPr b="1" lang="es" sz="2165">
                <a:solidFill>
                  <a:srgbClr val="0000FF"/>
                </a:solidFill>
              </a:rPr>
              <a:t>Problema de </a:t>
            </a:r>
            <a:endParaRPr sz="2165"/>
          </a:p>
        </p:txBody>
      </p:sp>
      <p:sp>
        <p:nvSpPr>
          <p:cNvPr id="276" name="Google Shape;276;p27"/>
          <p:cNvSpPr txBox="1"/>
          <p:nvPr/>
        </p:nvSpPr>
        <p:spPr>
          <a:xfrm>
            <a:off x="311700" y="1894600"/>
            <a:ext cx="8700300" cy="49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Protección (registro límite y registros de bordes) </a:t>
            </a:r>
            <a:endParaRPr b="1"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Open Sans"/>
              <a:ea typeface="Open Sans"/>
              <a:cs typeface="Open Sans"/>
              <a:sym typeface="Open Sans"/>
            </a:endParaRPr>
          </a:p>
        </p:txBody>
      </p:sp>
      <p:pic>
        <p:nvPicPr>
          <p:cNvPr id="277" name="Google Shape;277;p27"/>
          <p:cNvPicPr preferRelativeResize="0"/>
          <p:nvPr/>
        </p:nvPicPr>
        <p:blipFill rotWithShape="1">
          <a:blip r:embed="rId3">
            <a:alphaModFix/>
          </a:blip>
          <a:srcRect b="0" l="0" r="0" t="0"/>
          <a:stretch/>
        </p:blipFill>
        <p:spPr>
          <a:xfrm>
            <a:off x="57625" y="2687050"/>
            <a:ext cx="4120574" cy="2132275"/>
          </a:xfrm>
          <a:prstGeom prst="rect">
            <a:avLst/>
          </a:prstGeom>
          <a:noFill/>
          <a:ln>
            <a:noFill/>
          </a:ln>
        </p:spPr>
      </p:pic>
      <p:pic>
        <p:nvPicPr>
          <p:cNvPr id="278" name="Google Shape;278;p27"/>
          <p:cNvPicPr preferRelativeResize="0"/>
          <p:nvPr/>
        </p:nvPicPr>
        <p:blipFill rotWithShape="1">
          <a:blip r:embed="rId4">
            <a:alphaModFix/>
          </a:blip>
          <a:srcRect b="0" l="0" r="0" t="0"/>
          <a:stretch/>
        </p:blipFill>
        <p:spPr>
          <a:xfrm>
            <a:off x="4259225" y="2604213"/>
            <a:ext cx="4752776" cy="2297949"/>
          </a:xfrm>
          <a:prstGeom prst="rect">
            <a:avLst/>
          </a:prstGeom>
          <a:noFill/>
          <a:ln>
            <a:noFill/>
          </a:ln>
        </p:spPr>
      </p:pic>
      <p:sp>
        <p:nvSpPr>
          <p:cNvPr id="279" name="Google Shape;279;p27"/>
          <p:cNvSpPr/>
          <p:nvPr/>
        </p:nvSpPr>
        <p:spPr>
          <a:xfrm>
            <a:off x="39663" y="2510550"/>
            <a:ext cx="4156500" cy="2391600"/>
          </a:xfrm>
          <a:prstGeom prst="rect">
            <a:avLst/>
          </a:prstGeom>
          <a:no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80" name="Google Shape;280;p27"/>
          <p:cNvSpPr/>
          <p:nvPr/>
        </p:nvSpPr>
        <p:spPr>
          <a:xfrm>
            <a:off x="4259225" y="2557350"/>
            <a:ext cx="4803000" cy="2391600"/>
          </a:xfrm>
          <a:prstGeom prst="rect">
            <a:avLst/>
          </a:prstGeom>
          <a:no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a:p>
            <a:pPr indent="0" lvl="0" marL="0" rtl="0" algn="l">
              <a:lnSpc>
                <a:spcPct val="100000"/>
              </a:lnSpc>
              <a:spcBef>
                <a:spcPts val="0"/>
              </a:spcBef>
              <a:spcAft>
                <a:spcPts val="0"/>
              </a:spcAft>
              <a:buSzPct val="111111"/>
              <a:buNone/>
            </a:pPr>
            <a:r>
              <a:t/>
            </a:r>
            <a:endParaRPr/>
          </a:p>
        </p:txBody>
      </p:sp>
      <p:sp>
        <p:nvSpPr>
          <p:cNvPr id="286" name="Google Shape;286;p28"/>
          <p:cNvSpPr txBox="1"/>
          <p:nvPr>
            <p:ph idx="1" type="body"/>
          </p:nvPr>
        </p:nvSpPr>
        <p:spPr>
          <a:xfrm>
            <a:off x="311700" y="1266325"/>
            <a:ext cx="8520600" cy="6570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800"/>
              <a:buNone/>
            </a:pPr>
            <a:r>
              <a:rPr b="1" lang="es" sz="2165">
                <a:solidFill>
                  <a:srgbClr val="0000FF"/>
                </a:solidFill>
              </a:rPr>
              <a:t>Fragmentación de memoria</a:t>
            </a:r>
            <a:endParaRPr sz="2165"/>
          </a:p>
        </p:txBody>
      </p:sp>
      <p:sp>
        <p:nvSpPr>
          <p:cNvPr id="287" name="Google Shape;287;p28"/>
          <p:cNvSpPr txBox="1"/>
          <p:nvPr/>
        </p:nvSpPr>
        <p:spPr>
          <a:xfrm>
            <a:off x="311700" y="1894600"/>
            <a:ext cx="8700300" cy="267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Es un problema que se da al seleccionar el tamaño de la partición de memoria a utilizar por un proceso, es un problema que se da cuando se trabaja con particiones fijas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rgbClr val="000000"/>
                </a:solidFill>
                <a:latin typeface="Open Sans"/>
                <a:ea typeface="Open Sans"/>
                <a:cs typeface="Open Sans"/>
                <a:sym typeface="Open Sans"/>
              </a:rPr>
              <a:t>Fragmentación interna			Fragmentación externa</a:t>
            </a:r>
            <a:endParaRPr b="1"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a:p>
            <a:pPr indent="0" lvl="0" marL="0" rtl="0" algn="l">
              <a:lnSpc>
                <a:spcPct val="100000"/>
              </a:lnSpc>
              <a:spcBef>
                <a:spcPts val="0"/>
              </a:spcBef>
              <a:spcAft>
                <a:spcPts val="0"/>
              </a:spcAft>
              <a:buSzPct val="111111"/>
              <a:buNone/>
            </a:pPr>
            <a:r>
              <a:t/>
            </a:r>
            <a:endParaRPr/>
          </a:p>
        </p:txBody>
      </p:sp>
      <p:sp>
        <p:nvSpPr>
          <p:cNvPr id="293" name="Google Shape;293;p29"/>
          <p:cNvSpPr txBox="1"/>
          <p:nvPr>
            <p:ph idx="1" type="body"/>
          </p:nvPr>
        </p:nvSpPr>
        <p:spPr>
          <a:xfrm>
            <a:off x="311700" y="1266325"/>
            <a:ext cx="8520600" cy="6570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800"/>
              <a:buNone/>
            </a:pPr>
            <a:r>
              <a:rPr b="1" lang="es" sz="2165">
                <a:solidFill>
                  <a:srgbClr val="0000FF"/>
                </a:solidFill>
              </a:rPr>
              <a:t>Fragmentación de memoria - Fragmentación interna	</a:t>
            </a:r>
            <a:r>
              <a:rPr b="1" lang="es">
                <a:solidFill>
                  <a:srgbClr val="000000"/>
                </a:solidFill>
              </a:rPr>
              <a:t>	</a:t>
            </a:r>
            <a:endParaRPr sz="2165"/>
          </a:p>
        </p:txBody>
      </p:sp>
      <p:sp>
        <p:nvSpPr>
          <p:cNvPr id="294" name="Google Shape;294;p29"/>
          <p:cNvSpPr txBox="1"/>
          <p:nvPr/>
        </p:nvSpPr>
        <p:spPr>
          <a:xfrm>
            <a:off x="311700" y="1894600"/>
            <a:ext cx="8700300" cy="267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000000"/>
                </a:solidFill>
                <a:latin typeface="Open Sans"/>
                <a:ea typeface="Open Sans"/>
                <a:cs typeface="Open Sans"/>
                <a:sym typeface="Open Sans"/>
              </a:rPr>
              <a:t>son aquellas partes de memoria que no se está usando pero pertenecen a una partición ya asignada a una tarea específica. Ejemplo: se necesita M de memoria para ejecutar, pero se asigna N, </a:t>
            </a:r>
            <a:endParaRPr b="0" i="0" sz="15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000000"/>
                </a:solidFill>
                <a:latin typeface="Open Sans"/>
                <a:ea typeface="Open Sans"/>
                <a:cs typeface="Open Sans"/>
                <a:sym typeface="Open Sans"/>
              </a:rPr>
              <a:t>donde N&gt;M </a:t>
            </a:r>
            <a:endParaRPr b="0" i="0" sz="15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000000"/>
                </a:solidFill>
                <a:latin typeface="Open Sans"/>
                <a:ea typeface="Open Sans"/>
                <a:cs typeface="Open Sans"/>
                <a:sym typeface="Open Sans"/>
              </a:rPr>
              <a:t>  ⇒ desaprovecha </a:t>
            </a:r>
            <a:endParaRPr b="0" i="0" sz="15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000000"/>
                </a:solidFill>
                <a:latin typeface="Open Sans"/>
                <a:ea typeface="Open Sans"/>
                <a:cs typeface="Open Sans"/>
                <a:sym typeface="Open Sans"/>
              </a:rPr>
              <a:t>       N-M memoria</a:t>
            </a:r>
            <a:endParaRPr b="1" i="0" sz="1500" u="none" cap="none" strike="noStrike">
              <a:solidFill>
                <a:srgbClr val="000000"/>
              </a:solidFill>
              <a:latin typeface="Open Sans"/>
              <a:ea typeface="Open Sans"/>
              <a:cs typeface="Open Sans"/>
              <a:sym typeface="Open Sans"/>
            </a:endParaRPr>
          </a:p>
        </p:txBody>
      </p:sp>
      <p:pic>
        <p:nvPicPr>
          <p:cNvPr id="295" name="Google Shape;295;p29"/>
          <p:cNvPicPr preferRelativeResize="0"/>
          <p:nvPr/>
        </p:nvPicPr>
        <p:blipFill rotWithShape="1">
          <a:blip r:embed="rId3">
            <a:alphaModFix/>
          </a:blip>
          <a:srcRect b="0" l="0" r="0" t="0"/>
          <a:stretch/>
        </p:blipFill>
        <p:spPr>
          <a:xfrm>
            <a:off x="2556700" y="2763325"/>
            <a:ext cx="5755700" cy="22072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fijas</a:t>
            </a:r>
            <a:endParaRPr/>
          </a:p>
          <a:p>
            <a:pPr indent="0" lvl="0" marL="0" rtl="0" algn="l">
              <a:lnSpc>
                <a:spcPct val="100000"/>
              </a:lnSpc>
              <a:spcBef>
                <a:spcPts val="0"/>
              </a:spcBef>
              <a:spcAft>
                <a:spcPts val="0"/>
              </a:spcAft>
              <a:buSzPct val="111111"/>
              <a:buNone/>
            </a:pPr>
            <a:r>
              <a:t/>
            </a:r>
            <a:endParaRPr/>
          </a:p>
        </p:txBody>
      </p:sp>
      <p:sp>
        <p:nvSpPr>
          <p:cNvPr id="301" name="Google Shape;301;p30"/>
          <p:cNvSpPr txBox="1"/>
          <p:nvPr>
            <p:ph idx="1" type="body"/>
          </p:nvPr>
        </p:nvSpPr>
        <p:spPr>
          <a:xfrm>
            <a:off x="311700" y="1266325"/>
            <a:ext cx="8520600" cy="6570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800"/>
              <a:buNone/>
            </a:pPr>
            <a:r>
              <a:rPr b="1" lang="es" sz="2165">
                <a:solidFill>
                  <a:srgbClr val="0000FF"/>
                </a:solidFill>
              </a:rPr>
              <a:t>Fragmentación de memoria - Fragmentación externa	</a:t>
            </a:r>
            <a:endParaRPr b="1" sz="2165">
              <a:solidFill>
                <a:srgbClr val="0000FF"/>
              </a:solidFill>
            </a:endParaRPr>
          </a:p>
        </p:txBody>
      </p:sp>
      <p:sp>
        <p:nvSpPr>
          <p:cNvPr id="302" name="Google Shape;302;p30"/>
          <p:cNvSpPr txBox="1"/>
          <p:nvPr/>
        </p:nvSpPr>
        <p:spPr>
          <a:xfrm>
            <a:off x="311700" y="1894600"/>
            <a:ext cx="8700300" cy="267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Open Sans"/>
                <a:ea typeface="Open Sans"/>
                <a:cs typeface="Open Sans"/>
                <a:sym typeface="Open Sans"/>
              </a:rPr>
              <a:t>Este tipo de fragmentación se da cuando la partición es más pequeña que la memoria que se requiere ocupar por cualquiera de los proceso es espera.	</a:t>
            </a:r>
            <a:r>
              <a:rPr b="1" i="0" lang="es" sz="1800" u="none" cap="none" strike="noStrike">
                <a:solidFill>
                  <a:srgbClr val="000000"/>
                </a:solidFill>
                <a:latin typeface="Open Sans"/>
                <a:ea typeface="Open Sans"/>
                <a:cs typeface="Open Sans"/>
                <a:sym typeface="Open Sans"/>
              </a:rPr>
              <a:t>	</a:t>
            </a:r>
            <a:endParaRPr b="1" i="0" sz="1400" u="none" cap="none" strike="noStrike">
              <a:solidFill>
                <a:srgbClr val="000000"/>
              </a:solidFill>
              <a:latin typeface="Open Sans"/>
              <a:ea typeface="Open Sans"/>
              <a:cs typeface="Open Sans"/>
              <a:sym typeface="Open Sans"/>
            </a:endParaRPr>
          </a:p>
        </p:txBody>
      </p:sp>
      <p:pic>
        <p:nvPicPr>
          <p:cNvPr id="303" name="Google Shape;303;p30"/>
          <p:cNvPicPr preferRelativeResize="0"/>
          <p:nvPr/>
        </p:nvPicPr>
        <p:blipFill rotWithShape="1">
          <a:blip r:embed="rId3">
            <a:alphaModFix/>
          </a:blip>
          <a:srcRect b="0" l="0" r="0" t="0"/>
          <a:stretch/>
        </p:blipFill>
        <p:spPr>
          <a:xfrm>
            <a:off x="1772150" y="2715850"/>
            <a:ext cx="5233924" cy="21395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7" name="Shape 307"/>
        <p:cNvGrpSpPr/>
        <p:nvPr/>
      </p:nvGrpSpPr>
      <p:grpSpPr>
        <a:xfrm>
          <a:off x="0" y="0"/>
          <a:ext cx="0" cy="0"/>
          <a:chOff x="0" y="0"/>
          <a:chExt cx="0" cy="0"/>
        </a:xfrm>
      </p:grpSpPr>
      <p:sp>
        <p:nvSpPr>
          <p:cNvPr id="308" name="Google Shape;308;p3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variables</a:t>
            </a:r>
            <a:endParaRPr/>
          </a:p>
          <a:p>
            <a:pPr indent="0" lvl="0" marL="0" rtl="0" algn="l">
              <a:lnSpc>
                <a:spcPct val="100000"/>
              </a:lnSpc>
              <a:spcBef>
                <a:spcPts val="0"/>
              </a:spcBef>
              <a:spcAft>
                <a:spcPts val="0"/>
              </a:spcAft>
              <a:buSzPct val="111111"/>
              <a:buNone/>
            </a:pPr>
            <a:r>
              <a:t/>
            </a:r>
            <a:endParaRPr/>
          </a:p>
        </p:txBody>
      </p:sp>
      <p:sp>
        <p:nvSpPr>
          <p:cNvPr id="309" name="Google Shape;309;p31"/>
          <p:cNvSpPr txBox="1"/>
          <p:nvPr/>
        </p:nvSpPr>
        <p:spPr>
          <a:xfrm>
            <a:off x="311700" y="1239050"/>
            <a:ext cx="8700300" cy="370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Open Sans"/>
                <a:ea typeface="Open Sans"/>
                <a:cs typeface="Open Sans"/>
                <a:sym typeface="Open Sans"/>
              </a:rPr>
              <a:t>La memoria principal no se divide en particiones, el sistema operativo mantendrá una tabla donde controla los espacios o zonas libres y ocupadas de la memoria.</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342900" lvl="0" marL="457200" marR="0" rtl="0" algn="l">
              <a:lnSpc>
                <a:spcPct val="100000"/>
              </a:lnSpc>
              <a:spcBef>
                <a:spcPts val="0"/>
              </a:spcBef>
              <a:spcAft>
                <a:spcPts val="0"/>
              </a:spcAft>
              <a:buClr>
                <a:srgbClr val="000000"/>
              </a:buClr>
              <a:buSzPts val="1800"/>
              <a:buFont typeface="Open Sans"/>
              <a:buChar char="●"/>
            </a:pPr>
            <a:r>
              <a:rPr b="0" i="0" lang="es" sz="1800" u="none" cap="none" strike="noStrike">
                <a:solidFill>
                  <a:srgbClr val="000000"/>
                </a:solidFill>
                <a:latin typeface="Open Sans"/>
                <a:ea typeface="Open Sans"/>
                <a:cs typeface="Open Sans"/>
                <a:sym typeface="Open Sans"/>
              </a:rPr>
              <a:t>Cuando llega un proceso, se busca un espacio de memoria lo suficientemente grande para que contenga todo el proceso y se le asigna</a:t>
            </a:r>
            <a:endParaRPr b="0" i="0" sz="1800" u="none" cap="none" strike="noStrike">
              <a:solidFill>
                <a:srgbClr val="000000"/>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342900" lvl="0" marL="457200" marR="0" rtl="0" algn="l">
              <a:lnSpc>
                <a:spcPct val="100000"/>
              </a:lnSpc>
              <a:spcBef>
                <a:spcPts val="0"/>
              </a:spcBef>
              <a:spcAft>
                <a:spcPts val="0"/>
              </a:spcAft>
              <a:buClr>
                <a:srgbClr val="000000"/>
              </a:buClr>
              <a:buSzPts val="1800"/>
              <a:buFont typeface="Open Sans"/>
              <a:buChar char="●"/>
            </a:pPr>
            <a:r>
              <a:rPr b="0" i="0" lang="es" sz="1800" u="none" cap="none" strike="noStrike">
                <a:solidFill>
                  <a:srgbClr val="000000"/>
                </a:solidFill>
                <a:latin typeface="Open Sans"/>
                <a:ea typeface="Open Sans"/>
                <a:cs typeface="Open Sans"/>
                <a:sym typeface="Open Sans"/>
              </a:rPr>
              <a:t>El resto de los bloques queda libre</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342900" lvl="0" marL="457200" marR="0" rtl="0" algn="l">
              <a:lnSpc>
                <a:spcPct val="100000"/>
              </a:lnSpc>
              <a:spcBef>
                <a:spcPts val="0"/>
              </a:spcBef>
              <a:spcAft>
                <a:spcPts val="0"/>
              </a:spcAft>
              <a:buClr>
                <a:srgbClr val="000000"/>
              </a:buClr>
              <a:buSzPts val="1800"/>
              <a:buFont typeface="Open Sans"/>
              <a:buChar char="●"/>
            </a:pPr>
            <a:r>
              <a:rPr b="0" i="0" lang="es" sz="1800" u="none" cap="none" strike="noStrike">
                <a:solidFill>
                  <a:srgbClr val="000000"/>
                </a:solidFill>
                <a:latin typeface="Open Sans"/>
                <a:ea typeface="Open Sans"/>
                <a:cs typeface="Open Sans"/>
                <a:sym typeface="Open Sans"/>
              </a:rPr>
              <a:t>Cuando el proceso termina, se libera la memoria, y si hay algún bloque de memoria libre junto a él, se unen los bloques.</a:t>
            </a:r>
            <a:endParaRPr b="0" i="0" sz="18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variables</a:t>
            </a:r>
            <a:endParaRPr/>
          </a:p>
          <a:p>
            <a:pPr indent="0" lvl="0" marL="0" rtl="0" algn="l">
              <a:lnSpc>
                <a:spcPct val="100000"/>
              </a:lnSpc>
              <a:spcBef>
                <a:spcPts val="0"/>
              </a:spcBef>
              <a:spcAft>
                <a:spcPts val="0"/>
              </a:spcAft>
              <a:buSzPct val="111111"/>
              <a:buNone/>
            </a:pPr>
            <a:r>
              <a:t/>
            </a:r>
            <a:endParaRPr/>
          </a:p>
        </p:txBody>
      </p:sp>
      <p:pic>
        <p:nvPicPr>
          <p:cNvPr id="315" name="Google Shape;315;p32"/>
          <p:cNvPicPr preferRelativeResize="0"/>
          <p:nvPr/>
        </p:nvPicPr>
        <p:blipFill rotWithShape="1">
          <a:blip r:embed="rId3">
            <a:alphaModFix/>
          </a:blip>
          <a:srcRect b="0" l="0" r="0" t="0"/>
          <a:stretch/>
        </p:blipFill>
        <p:spPr>
          <a:xfrm>
            <a:off x="2965600" y="1330675"/>
            <a:ext cx="6050049" cy="3281250"/>
          </a:xfrm>
          <a:prstGeom prst="rect">
            <a:avLst/>
          </a:prstGeom>
          <a:noFill/>
          <a:ln>
            <a:noFill/>
          </a:ln>
        </p:spPr>
      </p:pic>
      <p:sp>
        <p:nvSpPr>
          <p:cNvPr id="316" name="Google Shape;316;p32"/>
          <p:cNvSpPr txBox="1"/>
          <p:nvPr/>
        </p:nvSpPr>
        <p:spPr>
          <a:xfrm>
            <a:off x="60050" y="1564750"/>
            <a:ext cx="2994600" cy="333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Open Sans"/>
                <a:ea typeface="Open Sans"/>
                <a:cs typeface="Open Sans"/>
                <a:sym typeface="Open Sans"/>
              </a:rPr>
              <a:t>En este caso, también se genera </a:t>
            </a:r>
            <a:r>
              <a:rPr b="1" i="0" lang="es" sz="1700" u="none" cap="none" strike="noStrike">
                <a:solidFill>
                  <a:srgbClr val="980000"/>
                </a:solidFill>
                <a:latin typeface="Open Sans"/>
                <a:ea typeface="Open Sans"/>
                <a:cs typeface="Open Sans"/>
                <a:sym typeface="Open Sans"/>
              </a:rPr>
              <a:t>fragmentación externa de memoria</a:t>
            </a:r>
            <a:r>
              <a:rPr b="0" i="0" lang="es" sz="1700" u="none" cap="none" strike="noStrike">
                <a:solidFill>
                  <a:srgbClr val="000000"/>
                </a:solidFill>
                <a:latin typeface="Open Sans"/>
                <a:ea typeface="Open Sans"/>
                <a:cs typeface="Open Sans"/>
                <a:sym typeface="Open Sans"/>
              </a:rPr>
              <a:t>, es decir, pueden quedar bloques de memoria continuos muy pequeños para asignar un proceso, esto debido al dinamismo de las múltiples asignaciones y liberaciones de memoria</a:t>
            </a:r>
            <a:endParaRPr b="0" i="0" sz="17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variables</a:t>
            </a:r>
            <a:endParaRPr/>
          </a:p>
          <a:p>
            <a:pPr indent="0" lvl="0" marL="0" rtl="0" algn="l">
              <a:lnSpc>
                <a:spcPct val="100000"/>
              </a:lnSpc>
              <a:spcBef>
                <a:spcPts val="0"/>
              </a:spcBef>
              <a:spcAft>
                <a:spcPts val="0"/>
              </a:spcAft>
              <a:buSzPct val="111111"/>
              <a:buNone/>
            </a:pPr>
            <a:r>
              <a:t/>
            </a:r>
            <a:endParaRPr/>
          </a:p>
        </p:txBody>
      </p:sp>
      <p:sp>
        <p:nvSpPr>
          <p:cNvPr id="322" name="Google Shape;322;p33"/>
          <p:cNvSpPr txBox="1"/>
          <p:nvPr/>
        </p:nvSpPr>
        <p:spPr>
          <a:xfrm>
            <a:off x="54875" y="1341450"/>
            <a:ext cx="9014700" cy="344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3C78D8"/>
                </a:solidFill>
                <a:latin typeface="Open Sans"/>
                <a:ea typeface="Open Sans"/>
                <a:cs typeface="Open Sans"/>
                <a:sym typeface="Open Sans"/>
              </a:rPr>
              <a:t>La Compactación,</a:t>
            </a:r>
            <a:r>
              <a:rPr b="0" i="0" lang="es" sz="1800" u="none" cap="none" strike="noStrike">
                <a:solidFill>
                  <a:srgbClr val="3C78D8"/>
                </a:solidFill>
                <a:latin typeface="Open Sans"/>
                <a:ea typeface="Open Sans"/>
                <a:cs typeface="Open Sans"/>
                <a:sym typeface="Open Sans"/>
              </a:rPr>
              <a:t> </a:t>
            </a:r>
            <a:r>
              <a:rPr b="0" i="0" lang="es" sz="1800" u="none" cap="none" strike="noStrike">
                <a:solidFill>
                  <a:srgbClr val="000000"/>
                </a:solidFill>
                <a:latin typeface="Open Sans"/>
                <a:ea typeface="Open Sans"/>
                <a:cs typeface="Open Sans"/>
                <a:sym typeface="Open Sans"/>
              </a:rPr>
              <a:t>es una mecanismo mediante el cual se busca reducir la fragmentación externa. Su objetivo es arrastrar los contenidos de la memoria (reubicarlos) a un un extremo, reuniendo todos los bloques libres en un gran bloque.</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980000"/>
                </a:solidFill>
                <a:latin typeface="Open Sans"/>
                <a:ea typeface="Open Sans"/>
                <a:cs typeface="Open Sans"/>
                <a:sym typeface="Open Sans"/>
              </a:rPr>
              <a:t>Los problemas</a:t>
            </a:r>
            <a:r>
              <a:rPr b="0" i="0" lang="es" sz="1800" u="none" cap="none" strike="noStrike">
                <a:solidFill>
                  <a:srgbClr val="000000"/>
                </a:solidFill>
                <a:latin typeface="Open Sans"/>
                <a:ea typeface="Open Sans"/>
                <a:cs typeface="Open Sans"/>
                <a:sym typeface="Open Sans"/>
              </a:rPr>
              <a:t> que conlleva son:</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Open Sans"/>
              <a:ea typeface="Open Sans"/>
              <a:cs typeface="Open Sans"/>
              <a:sym typeface="Open Sans"/>
            </a:endParaRPr>
          </a:p>
          <a:p>
            <a:pPr indent="-336550" lvl="0" marL="457200" marR="0" rtl="0" algn="l">
              <a:lnSpc>
                <a:spcPct val="100000"/>
              </a:lnSpc>
              <a:spcBef>
                <a:spcPts val="0"/>
              </a:spcBef>
              <a:spcAft>
                <a:spcPts val="0"/>
              </a:spcAft>
              <a:buClr>
                <a:srgbClr val="000000"/>
              </a:buClr>
              <a:buSzPts val="1700"/>
              <a:buFont typeface="Open Sans"/>
              <a:buChar char="●"/>
            </a:pPr>
            <a:r>
              <a:rPr b="0" i="0" lang="es" sz="1700" u="none" cap="none" strike="noStrike">
                <a:solidFill>
                  <a:srgbClr val="000000"/>
                </a:solidFill>
                <a:latin typeface="Open Sans"/>
                <a:ea typeface="Open Sans"/>
                <a:cs typeface="Open Sans"/>
                <a:sym typeface="Open Sans"/>
              </a:rPr>
              <a:t>Requiere reubicación dinámica</a:t>
            </a:r>
            <a:endParaRPr b="0" i="0" sz="1700" u="none" cap="none" strike="noStrike">
              <a:solidFill>
                <a:srgbClr val="000000"/>
              </a:solidFill>
              <a:latin typeface="Open Sans"/>
              <a:ea typeface="Open Sans"/>
              <a:cs typeface="Open Sans"/>
              <a:sym typeface="Open Sans"/>
            </a:endParaRPr>
          </a:p>
          <a:p>
            <a:pPr indent="-336550" lvl="0" marL="457200" marR="0" rtl="0" algn="l">
              <a:lnSpc>
                <a:spcPct val="100000"/>
              </a:lnSpc>
              <a:spcBef>
                <a:spcPts val="0"/>
              </a:spcBef>
              <a:spcAft>
                <a:spcPts val="0"/>
              </a:spcAft>
              <a:buClr>
                <a:srgbClr val="000000"/>
              </a:buClr>
              <a:buSzPts val="1700"/>
              <a:buFont typeface="Open Sans"/>
              <a:buChar char="●"/>
            </a:pPr>
            <a:r>
              <a:rPr b="0" i="0" lang="es" sz="1700" u="none" cap="none" strike="noStrike">
                <a:solidFill>
                  <a:srgbClr val="000000"/>
                </a:solidFill>
                <a:latin typeface="Open Sans"/>
                <a:ea typeface="Open Sans"/>
                <a:cs typeface="Open Sans"/>
                <a:sym typeface="Open Sans"/>
              </a:rPr>
              <a:t>Consume recursos de sistema </a:t>
            </a:r>
            <a:endParaRPr b="0" i="0" sz="1700" u="none" cap="none" strike="noStrike">
              <a:solidFill>
                <a:srgbClr val="000000"/>
              </a:solidFill>
              <a:latin typeface="Open Sans"/>
              <a:ea typeface="Open Sans"/>
              <a:cs typeface="Open Sans"/>
              <a:sym typeface="Open Sans"/>
            </a:endParaRPr>
          </a:p>
          <a:p>
            <a:pPr indent="-336550" lvl="0" marL="457200" marR="0" rtl="0" algn="l">
              <a:lnSpc>
                <a:spcPct val="100000"/>
              </a:lnSpc>
              <a:spcBef>
                <a:spcPts val="0"/>
              </a:spcBef>
              <a:spcAft>
                <a:spcPts val="0"/>
              </a:spcAft>
              <a:buClr>
                <a:srgbClr val="000000"/>
              </a:buClr>
              <a:buSzPts val="1700"/>
              <a:buFont typeface="Open Sans"/>
              <a:buChar char="●"/>
            </a:pPr>
            <a:r>
              <a:rPr b="0" i="0" lang="es" sz="1700" u="none" cap="none" strike="noStrike">
                <a:solidFill>
                  <a:srgbClr val="000000"/>
                </a:solidFill>
                <a:latin typeface="Open Sans"/>
                <a:ea typeface="Open Sans"/>
                <a:cs typeface="Open Sans"/>
                <a:sym typeface="Open Sans"/>
              </a:rPr>
              <a:t>El sistema se detiene mientras se realiza ⇒ no conviene hacerlo con gran frecuencia</a:t>
            </a:r>
            <a:endParaRPr b="0" i="0" sz="1700" u="none" cap="none" strike="noStrike">
              <a:solidFill>
                <a:srgbClr val="000000"/>
              </a:solidFill>
              <a:latin typeface="Open Sans"/>
              <a:ea typeface="Open Sans"/>
              <a:cs typeface="Open Sans"/>
              <a:sym typeface="Open Sans"/>
            </a:endParaRPr>
          </a:p>
          <a:p>
            <a:pPr indent="-336550" lvl="0" marL="457200" marR="0" rtl="0" algn="l">
              <a:lnSpc>
                <a:spcPct val="100000"/>
              </a:lnSpc>
              <a:spcBef>
                <a:spcPts val="0"/>
              </a:spcBef>
              <a:spcAft>
                <a:spcPts val="0"/>
              </a:spcAft>
              <a:buClr>
                <a:srgbClr val="000000"/>
              </a:buClr>
              <a:buSzPts val="1700"/>
              <a:buFont typeface="Open Sans"/>
              <a:buChar char="●"/>
            </a:pPr>
            <a:r>
              <a:rPr b="0" i="0" lang="es" sz="1700" u="none" cap="none" strike="noStrike">
                <a:solidFill>
                  <a:srgbClr val="000000"/>
                </a:solidFill>
                <a:latin typeface="Open Sans"/>
                <a:ea typeface="Open Sans"/>
                <a:cs typeface="Open Sans"/>
                <a:sym typeface="Open Sans"/>
              </a:rPr>
              <a:t>Gasta demasiado tiempo, sin poder hacer otras acciones </a:t>
            </a:r>
            <a:r>
              <a:rPr b="1" i="0" lang="es" sz="1700" u="none" cap="none" strike="noStrike">
                <a:solidFill>
                  <a:srgbClr val="FF0000"/>
                </a:solidFill>
                <a:latin typeface="Open Sans"/>
                <a:ea typeface="Open Sans"/>
                <a:cs typeface="Open Sans"/>
                <a:sym typeface="Open Sans"/>
              </a:rPr>
              <a:t>(desaprovecha el procesador)</a:t>
            </a:r>
            <a:endParaRPr b="1" i="0" sz="1700" u="none" cap="none" strike="noStrike">
              <a:solidFill>
                <a:srgbClr val="FF0000"/>
              </a:solidFill>
              <a:latin typeface="Open Sans"/>
              <a:ea typeface="Open Sans"/>
              <a:cs typeface="Open Sans"/>
              <a:sym typeface="Open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variables</a:t>
            </a:r>
            <a:endParaRPr/>
          </a:p>
        </p:txBody>
      </p:sp>
      <p:sp>
        <p:nvSpPr>
          <p:cNvPr id="328" name="Google Shape;328;p34"/>
          <p:cNvSpPr txBox="1"/>
          <p:nvPr/>
        </p:nvSpPr>
        <p:spPr>
          <a:xfrm>
            <a:off x="60050" y="1275075"/>
            <a:ext cx="8976600" cy="373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Open Sans"/>
                <a:ea typeface="Open Sans"/>
                <a:cs typeface="Open Sans"/>
                <a:sym typeface="Open Sans"/>
              </a:rPr>
              <a:t>Existen varios </a:t>
            </a:r>
            <a:r>
              <a:rPr b="1" i="0" lang="es" sz="1800" u="none" cap="none" strike="noStrike">
                <a:solidFill>
                  <a:srgbClr val="FF0000"/>
                </a:solidFill>
                <a:latin typeface="Open Sans"/>
                <a:ea typeface="Open Sans"/>
                <a:cs typeface="Open Sans"/>
                <a:sym typeface="Open Sans"/>
              </a:rPr>
              <a:t>algoritmos que permiten asignar la memoria</a:t>
            </a:r>
            <a:r>
              <a:rPr b="0" i="0" lang="es" sz="1800" u="none" cap="none" strike="noStrike">
                <a:solidFill>
                  <a:srgbClr val="000000"/>
                </a:solidFill>
                <a:latin typeface="Open Sans"/>
                <a:ea typeface="Open Sans"/>
                <a:cs typeface="Open Sans"/>
                <a:sym typeface="Open Sans"/>
              </a:rPr>
              <a:t> cuando se trabaja con </a:t>
            </a:r>
            <a:r>
              <a:rPr b="1" i="0" lang="es" sz="1800" u="none" cap="none" strike="noStrike">
                <a:solidFill>
                  <a:srgbClr val="6AA84F"/>
                </a:solidFill>
                <a:latin typeface="Open Sans"/>
                <a:ea typeface="Open Sans"/>
                <a:cs typeface="Open Sans"/>
                <a:sym typeface="Open Sans"/>
              </a:rPr>
              <a:t>particiones variables</a:t>
            </a:r>
            <a:r>
              <a:rPr b="0" i="0" lang="es" sz="1800" u="none" cap="none" strike="noStrike">
                <a:solidFill>
                  <a:srgbClr val="000000"/>
                </a:solidFill>
                <a:latin typeface="Open Sans"/>
                <a:ea typeface="Open Sans"/>
                <a:cs typeface="Open Sans"/>
                <a:sym typeface="Open Sans"/>
              </a:rPr>
              <a:t>, estos se debe utilizar cuando se debe cargar o traer un proceso a la memoria principal (real) y hay suficiente espacio disponible para cargarlo. Los cuatros algoritmos más comunes son:</a:t>
            </a:r>
            <a:endParaRPr b="0" i="0" sz="1800" u="none" cap="none" strike="noStrike">
              <a:solidFill>
                <a:srgbClr val="000000"/>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342900" lvl="0" marL="457200" marR="0" rtl="0" algn="l">
              <a:lnSpc>
                <a:spcPct val="100000"/>
              </a:lnSpc>
              <a:spcBef>
                <a:spcPts val="0"/>
              </a:spcBef>
              <a:spcAft>
                <a:spcPts val="0"/>
              </a:spcAft>
              <a:buClr>
                <a:srgbClr val="000000"/>
              </a:buClr>
              <a:buSzPts val="1800"/>
              <a:buFont typeface="Open Sans"/>
              <a:buAutoNum type="arabicPeriod"/>
            </a:pPr>
            <a:r>
              <a:rPr b="0" i="0" lang="es" sz="1800" u="none" cap="none" strike="noStrike">
                <a:solidFill>
                  <a:srgbClr val="000000"/>
                </a:solidFill>
                <a:latin typeface="Open Sans"/>
                <a:ea typeface="Open Sans"/>
                <a:cs typeface="Open Sans"/>
                <a:sym typeface="Open Sans"/>
              </a:rPr>
              <a:t>Primer ajuste (First-Fit)</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342900" lvl="0" marL="457200" marR="0" rtl="0" algn="l">
              <a:lnSpc>
                <a:spcPct val="100000"/>
              </a:lnSpc>
              <a:spcBef>
                <a:spcPts val="0"/>
              </a:spcBef>
              <a:spcAft>
                <a:spcPts val="0"/>
              </a:spcAft>
              <a:buClr>
                <a:srgbClr val="000000"/>
              </a:buClr>
              <a:buSzPts val="1800"/>
              <a:buFont typeface="Open Sans"/>
              <a:buAutoNum type="arabicPeriod"/>
            </a:pPr>
            <a:r>
              <a:rPr b="0" i="0" lang="es" sz="1800" u="none" cap="none" strike="noStrike">
                <a:solidFill>
                  <a:srgbClr val="000000"/>
                </a:solidFill>
                <a:latin typeface="Open Sans"/>
                <a:ea typeface="Open Sans"/>
                <a:cs typeface="Open Sans"/>
                <a:sym typeface="Open Sans"/>
              </a:rPr>
              <a:t>Siguiente ajuste (Next-Fit)</a:t>
            </a:r>
            <a:endParaRPr b="0" i="0" sz="1800" u="none" cap="none" strike="noStrike">
              <a:solidFill>
                <a:srgbClr val="000000"/>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342900" lvl="0" marL="457200" marR="0" rtl="0" algn="l">
              <a:lnSpc>
                <a:spcPct val="100000"/>
              </a:lnSpc>
              <a:spcBef>
                <a:spcPts val="0"/>
              </a:spcBef>
              <a:spcAft>
                <a:spcPts val="0"/>
              </a:spcAft>
              <a:buClr>
                <a:srgbClr val="000000"/>
              </a:buClr>
              <a:buSzPts val="1800"/>
              <a:buFont typeface="Open Sans"/>
              <a:buAutoNum type="arabicPeriod"/>
            </a:pPr>
            <a:r>
              <a:rPr b="0" i="0" lang="es" sz="1800" u="none" cap="none" strike="noStrike">
                <a:solidFill>
                  <a:srgbClr val="000000"/>
                </a:solidFill>
                <a:latin typeface="Open Sans"/>
                <a:ea typeface="Open Sans"/>
                <a:cs typeface="Open Sans"/>
                <a:sym typeface="Open Sans"/>
              </a:rPr>
              <a:t>Mejor ajuste (Best-Fit)</a:t>
            </a:r>
            <a:endParaRPr b="0" i="0" sz="1800" u="none" cap="none" strike="noStrike">
              <a:solidFill>
                <a:srgbClr val="000000"/>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342900" lvl="0" marL="457200" marR="0" rtl="0" algn="l">
              <a:lnSpc>
                <a:spcPct val="100000"/>
              </a:lnSpc>
              <a:spcBef>
                <a:spcPts val="0"/>
              </a:spcBef>
              <a:spcAft>
                <a:spcPts val="0"/>
              </a:spcAft>
              <a:buClr>
                <a:srgbClr val="000000"/>
              </a:buClr>
              <a:buSzPts val="1800"/>
              <a:buFont typeface="Open Sans"/>
              <a:buAutoNum type="arabicPeriod"/>
            </a:pPr>
            <a:r>
              <a:rPr b="0" i="0" lang="es" sz="1800" u="none" cap="none" strike="noStrike">
                <a:solidFill>
                  <a:srgbClr val="000000"/>
                </a:solidFill>
                <a:latin typeface="Open Sans"/>
                <a:ea typeface="Open Sans"/>
                <a:cs typeface="Open Sans"/>
                <a:sym typeface="Open Sans"/>
              </a:rPr>
              <a:t>Peor ajuste (Worst-Fit)</a:t>
            </a:r>
            <a:endParaRPr b="0" i="0" sz="1800" u="none" cap="none" strike="noStrike">
              <a:solidFill>
                <a:srgbClr val="000000"/>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variables</a:t>
            </a:r>
            <a:endParaRPr/>
          </a:p>
        </p:txBody>
      </p:sp>
      <p:sp>
        <p:nvSpPr>
          <p:cNvPr id="334" name="Google Shape;334;p35"/>
          <p:cNvSpPr txBox="1"/>
          <p:nvPr/>
        </p:nvSpPr>
        <p:spPr>
          <a:xfrm>
            <a:off x="201700" y="1275075"/>
            <a:ext cx="8702100" cy="366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3C78D8"/>
                </a:solidFill>
                <a:latin typeface="Open Sans"/>
                <a:ea typeface="Open Sans"/>
                <a:cs typeface="Open Sans"/>
                <a:sym typeface="Open Sans"/>
              </a:rPr>
              <a:t>Algoritmo - Primer ajuste (First-Fit)</a:t>
            </a:r>
            <a:r>
              <a:rPr b="0" i="0" lang="es" sz="1800" u="none" cap="none" strike="noStrike">
                <a:solidFill>
                  <a:srgbClr val="000000"/>
                </a:solidFill>
                <a:latin typeface="Open Sans"/>
                <a:ea typeface="Open Sans"/>
                <a:cs typeface="Open Sans"/>
                <a:sym typeface="Open Sans"/>
              </a:rPr>
              <a:t>,</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Open Sans"/>
                <a:ea typeface="Open Sans"/>
                <a:cs typeface="Open Sans"/>
                <a:sym typeface="Open Sans"/>
              </a:rPr>
              <a:t>El gestor de memoria asigna al proceso entrante el primer bloque libre suficientemente grande que encuentre al recorrer la lista. Este bloque se divide en 2 partes, la primera para el proceso y la siguiente queda como bloque libre.</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980000"/>
                </a:solidFill>
                <a:latin typeface="Open Sans"/>
                <a:ea typeface="Open Sans"/>
                <a:cs typeface="Open Sans"/>
                <a:sym typeface="Open Sans"/>
              </a:rPr>
              <a:t>Problema:</a:t>
            </a:r>
            <a:r>
              <a:rPr b="0" i="0" lang="es" sz="1800" u="none" cap="none" strike="noStrike">
                <a:solidFill>
                  <a:srgbClr val="000000"/>
                </a:solidFill>
                <a:latin typeface="Open Sans"/>
                <a:ea typeface="Open Sans"/>
                <a:cs typeface="Open Sans"/>
                <a:sym typeface="Open Sans"/>
              </a:rPr>
              <a:t> se desgasta mucho la primera sección de la memoria, por ende podría afectar la circuiteria de la memoria física</a:t>
            </a:r>
            <a:endParaRPr b="0" i="0" sz="18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variables</a:t>
            </a:r>
            <a:endParaRPr/>
          </a:p>
        </p:txBody>
      </p:sp>
      <p:sp>
        <p:nvSpPr>
          <p:cNvPr id="340" name="Google Shape;340;p36"/>
          <p:cNvSpPr txBox="1"/>
          <p:nvPr/>
        </p:nvSpPr>
        <p:spPr>
          <a:xfrm>
            <a:off x="201700" y="1275075"/>
            <a:ext cx="8702100" cy="366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3C78D8"/>
                </a:solidFill>
                <a:latin typeface="Open Sans"/>
                <a:ea typeface="Open Sans"/>
                <a:cs typeface="Open Sans"/>
                <a:sym typeface="Open Sans"/>
              </a:rPr>
              <a:t>Algoritmo - Siguiente ajuste (Next-Fit)</a:t>
            </a:r>
            <a:r>
              <a:rPr b="0" i="0" lang="es" sz="1800" u="none" cap="none" strike="noStrike">
                <a:solidFill>
                  <a:srgbClr val="000000"/>
                </a:solidFill>
                <a:latin typeface="Open Sans"/>
                <a:ea typeface="Open Sans"/>
                <a:cs typeface="Open Sans"/>
                <a:sym typeface="Open Sans"/>
              </a:rPr>
              <a:t>,</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Open Sans"/>
                <a:ea typeface="Open Sans"/>
                <a:cs typeface="Open Sans"/>
                <a:sym typeface="Open Sans"/>
              </a:rPr>
              <a:t>Es una variación del algoritmo anterior, luego de que encuentra el espacio y realiza la asignación, guarda la posición de memoria asignada, así la siguiente vez que deba asignar memoria, partirá desde esa posición en adelante.</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Open Sans"/>
                <a:ea typeface="Open Sans"/>
                <a:cs typeface="Open Sans"/>
                <a:sym typeface="Open Sans"/>
              </a:rPr>
              <a:t>Cuando llega al final de la memoria, vuelve a comenzar, por eso también llaman a este algoritmo </a:t>
            </a:r>
            <a:r>
              <a:rPr b="1" i="0" lang="es" sz="1800" u="none" cap="none" strike="noStrike">
                <a:solidFill>
                  <a:srgbClr val="E06666"/>
                </a:solidFill>
                <a:latin typeface="Open Sans"/>
                <a:ea typeface="Open Sans"/>
                <a:cs typeface="Open Sans"/>
                <a:sym typeface="Open Sans"/>
              </a:rPr>
              <a:t>Primer Ajuste Circular</a:t>
            </a:r>
            <a:endParaRPr b="1" i="0" sz="1800" u="none" cap="none" strike="noStrike">
              <a:solidFill>
                <a:srgbClr val="E06666"/>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E06666"/>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202124"/>
                </a:solidFill>
                <a:latin typeface="Open Sans"/>
                <a:ea typeface="Open Sans"/>
                <a:cs typeface="Open Sans"/>
                <a:sym typeface="Open Sans"/>
              </a:rPr>
              <a:t>Las ventajas que presenta son:</a:t>
            </a:r>
            <a:endParaRPr b="0" i="0" sz="1800" u="none" cap="none" strike="noStrike">
              <a:solidFill>
                <a:srgbClr val="202124"/>
              </a:solidFill>
              <a:latin typeface="Open Sans"/>
              <a:ea typeface="Open Sans"/>
              <a:cs typeface="Open Sans"/>
              <a:sym typeface="Open Sans"/>
            </a:endParaRPr>
          </a:p>
          <a:p>
            <a:pPr indent="-342900" lvl="0" marL="457200" marR="0" rtl="0" algn="l">
              <a:lnSpc>
                <a:spcPct val="100000"/>
              </a:lnSpc>
              <a:spcBef>
                <a:spcPts val="0"/>
              </a:spcBef>
              <a:spcAft>
                <a:spcPts val="0"/>
              </a:spcAft>
              <a:buClr>
                <a:srgbClr val="202124"/>
              </a:buClr>
              <a:buSzPts val="1800"/>
              <a:buFont typeface="Open Sans"/>
              <a:buChar char="●"/>
            </a:pPr>
            <a:r>
              <a:rPr b="0" i="0" lang="es" sz="1800" u="none" cap="none" strike="noStrike">
                <a:solidFill>
                  <a:srgbClr val="202124"/>
                </a:solidFill>
                <a:latin typeface="Open Sans"/>
                <a:ea typeface="Open Sans"/>
                <a:cs typeface="Open Sans"/>
                <a:sym typeface="Open Sans"/>
              </a:rPr>
              <a:t>Es muy probable que luego de signar memoria desde esa posición en adelante haya memoria disponible</a:t>
            </a:r>
            <a:endParaRPr b="0" i="0" sz="1800" u="none" cap="none" strike="noStrike">
              <a:solidFill>
                <a:srgbClr val="202124"/>
              </a:solidFill>
              <a:latin typeface="Open Sans"/>
              <a:ea typeface="Open Sans"/>
              <a:cs typeface="Open Sans"/>
              <a:sym typeface="Open Sans"/>
            </a:endParaRPr>
          </a:p>
          <a:p>
            <a:pPr indent="-342900" lvl="0" marL="457200" marR="0" rtl="0" algn="l">
              <a:lnSpc>
                <a:spcPct val="100000"/>
              </a:lnSpc>
              <a:spcBef>
                <a:spcPts val="0"/>
              </a:spcBef>
              <a:spcAft>
                <a:spcPts val="0"/>
              </a:spcAft>
              <a:buClr>
                <a:srgbClr val="202124"/>
              </a:buClr>
              <a:buSzPts val="1800"/>
              <a:buFont typeface="Open Sans"/>
              <a:buChar char="●"/>
            </a:pPr>
            <a:r>
              <a:rPr b="0" i="0" lang="es" sz="1800" u="none" cap="none" strike="noStrike">
                <a:solidFill>
                  <a:srgbClr val="202124"/>
                </a:solidFill>
                <a:latin typeface="Open Sans"/>
                <a:ea typeface="Open Sans"/>
                <a:cs typeface="Open Sans"/>
                <a:sym typeface="Open Sans"/>
              </a:rPr>
              <a:t>Se evita el desgaste de la primera sección de la memoria principal</a:t>
            </a:r>
            <a:endParaRPr b="0" i="0" sz="1800" u="none" cap="none" strike="noStrike">
              <a:solidFill>
                <a:srgbClr val="202124"/>
              </a:solidFill>
              <a:latin typeface="Open Sans"/>
              <a:ea typeface="Open Sans"/>
              <a:cs typeface="Open Sans"/>
              <a:sym typeface="Open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variables</a:t>
            </a:r>
            <a:endParaRPr/>
          </a:p>
        </p:txBody>
      </p:sp>
      <p:sp>
        <p:nvSpPr>
          <p:cNvPr id="346" name="Google Shape;346;p37"/>
          <p:cNvSpPr txBox="1"/>
          <p:nvPr/>
        </p:nvSpPr>
        <p:spPr>
          <a:xfrm>
            <a:off x="201700" y="1275075"/>
            <a:ext cx="8702100" cy="366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3C78D8"/>
                </a:solidFill>
                <a:latin typeface="Open Sans"/>
                <a:ea typeface="Open Sans"/>
                <a:cs typeface="Open Sans"/>
                <a:sym typeface="Open Sans"/>
              </a:rPr>
              <a:t>Algoritmo - Mejor ajuste (Best-Fit)</a:t>
            </a:r>
            <a:r>
              <a:rPr b="0" i="0" lang="es" sz="1800" u="none" cap="none" strike="noStrike">
                <a:solidFill>
                  <a:srgbClr val="000000"/>
                </a:solidFill>
                <a:latin typeface="Open Sans"/>
                <a:ea typeface="Open Sans"/>
                <a:cs typeface="Open Sans"/>
                <a:sym typeface="Open Sans"/>
              </a:rPr>
              <a:t>,</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342900" lvl="0" marL="457200" marR="0" rtl="0" algn="l">
              <a:lnSpc>
                <a:spcPct val="100000"/>
              </a:lnSpc>
              <a:spcBef>
                <a:spcPts val="0"/>
              </a:spcBef>
              <a:spcAft>
                <a:spcPts val="0"/>
              </a:spcAft>
              <a:buClr>
                <a:srgbClr val="202124"/>
              </a:buClr>
              <a:buSzPts val="1800"/>
              <a:buFont typeface="Open Sans"/>
              <a:buChar char="●"/>
            </a:pPr>
            <a:r>
              <a:rPr b="0" i="0" lang="es" sz="1800" u="none" cap="none" strike="noStrike">
                <a:solidFill>
                  <a:srgbClr val="000000"/>
                </a:solidFill>
                <a:latin typeface="Open Sans"/>
                <a:ea typeface="Open Sans"/>
                <a:cs typeface="Open Sans"/>
                <a:sym typeface="Open Sans"/>
              </a:rPr>
              <a:t>Este algoritmo asigna el proceso al bloque de memoria que presente menos desperdicio, es decir, se trata de ajustar de tal forma que quede el menor espacio sin utilizar</a:t>
            </a:r>
            <a:endParaRPr b="0" i="0" sz="1800" u="none" cap="none" strike="noStrike">
              <a:solidFill>
                <a:srgbClr val="000000"/>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342900" lvl="0" marL="457200" marR="0" rtl="0" algn="l">
              <a:lnSpc>
                <a:spcPct val="100000"/>
              </a:lnSpc>
              <a:spcBef>
                <a:spcPts val="0"/>
              </a:spcBef>
              <a:spcAft>
                <a:spcPts val="0"/>
              </a:spcAft>
              <a:buClr>
                <a:srgbClr val="000000"/>
              </a:buClr>
              <a:buSzPts val="1800"/>
              <a:buFont typeface="Open Sans"/>
              <a:buChar char="●"/>
            </a:pPr>
            <a:r>
              <a:rPr b="1" i="0" lang="es" sz="1800" u="none" cap="none" strike="noStrike">
                <a:solidFill>
                  <a:srgbClr val="000000"/>
                </a:solidFill>
                <a:latin typeface="Open Sans"/>
                <a:ea typeface="Open Sans"/>
                <a:cs typeface="Open Sans"/>
                <a:sym typeface="Open Sans"/>
              </a:rPr>
              <a:t>Problemas:</a:t>
            </a:r>
            <a:endParaRPr b="1" i="0" sz="1800" u="none" cap="none" strike="noStrike">
              <a:solidFill>
                <a:srgbClr val="000000"/>
              </a:solidFill>
              <a:latin typeface="Open Sans"/>
              <a:ea typeface="Open Sans"/>
              <a:cs typeface="Open Sans"/>
              <a:sym typeface="Open Sans"/>
            </a:endParaRPr>
          </a:p>
          <a:p>
            <a:pPr indent="-342900" lvl="1" marL="914400" marR="0" rtl="0" algn="l">
              <a:lnSpc>
                <a:spcPct val="100000"/>
              </a:lnSpc>
              <a:spcBef>
                <a:spcPts val="0"/>
              </a:spcBef>
              <a:spcAft>
                <a:spcPts val="0"/>
              </a:spcAft>
              <a:buClr>
                <a:srgbClr val="000000"/>
              </a:buClr>
              <a:buSzPts val="1800"/>
              <a:buFont typeface="Open Sans"/>
              <a:buChar char="○"/>
            </a:pPr>
            <a:r>
              <a:rPr b="0" i="0" lang="es" sz="1800" u="none" cap="none" strike="noStrike">
                <a:solidFill>
                  <a:srgbClr val="000000"/>
                </a:solidFill>
                <a:latin typeface="Open Sans"/>
                <a:ea typeface="Open Sans"/>
                <a:cs typeface="Open Sans"/>
                <a:sym typeface="Open Sans"/>
              </a:rPr>
              <a:t>Debe recorrer toda la lista, se podría mantener una lista de tamaños de bloques ordenada en orden creciente</a:t>
            </a:r>
            <a:endParaRPr b="0" i="0" sz="1800" u="none" cap="none" strike="noStrike">
              <a:solidFill>
                <a:srgbClr val="000000"/>
              </a:solidFill>
              <a:latin typeface="Open Sans"/>
              <a:ea typeface="Open Sans"/>
              <a:cs typeface="Open Sans"/>
              <a:sym typeface="Open Sans"/>
            </a:endParaRPr>
          </a:p>
          <a:p>
            <a:pPr indent="-342900" lvl="1" marL="914400" marR="0" rtl="0" algn="l">
              <a:lnSpc>
                <a:spcPct val="100000"/>
              </a:lnSpc>
              <a:spcBef>
                <a:spcPts val="0"/>
              </a:spcBef>
              <a:spcAft>
                <a:spcPts val="0"/>
              </a:spcAft>
              <a:buClr>
                <a:srgbClr val="000000"/>
              </a:buClr>
              <a:buSzPts val="1800"/>
              <a:buFont typeface="Open Sans"/>
              <a:buChar char="○"/>
            </a:pPr>
            <a:r>
              <a:rPr b="0" i="0" lang="es" sz="1800" u="none" cap="none" strike="noStrike">
                <a:solidFill>
                  <a:srgbClr val="000000"/>
                </a:solidFill>
                <a:latin typeface="Open Sans"/>
                <a:ea typeface="Open Sans"/>
                <a:cs typeface="Open Sans"/>
                <a:sym typeface="Open Sans"/>
              </a:rPr>
              <a:t>Fragmentación externa, como se busca desperdiciar el menor espacio posible, es poco probable que el espacio que restante sirva para alojar otro proceso</a:t>
            </a:r>
            <a:endParaRPr b="0" i="0" sz="18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Gestión de la memoria con particiones variables</a:t>
            </a:r>
            <a:endParaRPr/>
          </a:p>
        </p:txBody>
      </p:sp>
      <p:sp>
        <p:nvSpPr>
          <p:cNvPr id="352" name="Google Shape;352;p38"/>
          <p:cNvSpPr txBox="1"/>
          <p:nvPr/>
        </p:nvSpPr>
        <p:spPr>
          <a:xfrm>
            <a:off x="201700" y="1275075"/>
            <a:ext cx="8702100" cy="366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3C78D8"/>
                </a:solidFill>
                <a:latin typeface="Open Sans"/>
                <a:ea typeface="Open Sans"/>
                <a:cs typeface="Open Sans"/>
                <a:sym typeface="Open Sans"/>
              </a:rPr>
              <a:t>Algoritmo - Peor ajuste (Worst-Fit),</a:t>
            </a:r>
            <a:endParaRPr b="0" i="0" sz="18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342900" lvl="0" marL="457200" marR="0" rtl="0" algn="l">
              <a:lnSpc>
                <a:spcPct val="100000"/>
              </a:lnSpc>
              <a:spcBef>
                <a:spcPts val="0"/>
              </a:spcBef>
              <a:spcAft>
                <a:spcPts val="0"/>
              </a:spcAft>
              <a:buClr>
                <a:srgbClr val="202124"/>
              </a:buClr>
              <a:buSzPts val="1800"/>
              <a:buFont typeface="Open Sans"/>
              <a:buChar char="●"/>
            </a:pPr>
            <a:r>
              <a:rPr b="0" i="0" lang="es" sz="1800" u="none" cap="none" strike="noStrike">
                <a:solidFill>
                  <a:srgbClr val="000000"/>
                </a:solidFill>
                <a:latin typeface="Open Sans"/>
                <a:ea typeface="Open Sans"/>
                <a:cs typeface="Open Sans"/>
                <a:sym typeface="Open Sans"/>
              </a:rPr>
              <a:t>Este algoritmo utiliza la lógica contraria al algoritmo anterior, es decir, busca desperdiciar el mayor tamaño de bloque, así el bloque disponible probablemente podrá ser utilizado pronto</a:t>
            </a:r>
            <a:endParaRPr b="0" i="0" sz="1800" u="none" cap="none" strike="noStrike">
              <a:solidFill>
                <a:srgbClr val="000000"/>
              </a:solidFill>
              <a:latin typeface="Open Sans"/>
              <a:ea typeface="Open Sans"/>
              <a:cs typeface="Open Sans"/>
              <a:sym typeface="Open Sans"/>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342900" lvl="0" marL="457200" marR="0" rtl="0" algn="l">
              <a:lnSpc>
                <a:spcPct val="100000"/>
              </a:lnSpc>
              <a:spcBef>
                <a:spcPts val="0"/>
              </a:spcBef>
              <a:spcAft>
                <a:spcPts val="0"/>
              </a:spcAft>
              <a:buClr>
                <a:srgbClr val="000000"/>
              </a:buClr>
              <a:buSzPts val="1800"/>
              <a:buFont typeface="Open Sans"/>
              <a:buChar char="●"/>
            </a:pPr>
            <a:r>
              <a:rPr b="1" i="0" lang="es" sz="1800" u="none" cap="none" strike="noStrike">
                <a:solidFill>
                  <a:srgbClr val="000000"/>
                </a:solidFill>
                <a:latin typeface="Open Sans"/>
                <a:ea typeface="Open Sans"/>
                <a:cs typeface="Open Sans"/>
                <a:sym typeface="Open Sans"/>
              </a:rPr>
              <a:t>Problemas:</a:t>
            </a:r>
            <a:endParaRPr b="1" i="0" sz="1800" u="none" cap="none" strike="noStrike">
              <a:solidFill>
                <a:srgbClr val="000000"/>
              </a:solidFill>
              <a:latin typeface="Open Sans"/>
              <a:ea typeface="Open Sans"/>
              <a:cs typeface="Open Sans"/>
              <a:sym typeface="Open Sans"/>
            </a:endParaRPr>
          </a:p>
          <a:p>
            <a:pPr indent="-342900" lvl="1" marL="914400" marR="0" rtl="0" algn="l">
              <a:lnSpc>
                <a:spcPct val="100000"/>
              </a:lnSpc>
              <a:spcBef>
                <a:spcPts val="0"/>
              </a:spcBef>
              <a:spcAft>
                <a:spcPts val="0"/>
              </a:spcAft>
              <a:buClr>
                <a:srgbClr val="000000"/>
              </a:buClr>
              <a:buSzPts val="1800"/>
              <a:buFont typeface="Open Sans"/>
              <a:buChar char="○"/>
            </a:pPr>
            <a:r>
              <a:rPr b="0" i="0" lang="es" sz="1800" u="none" cap="none" strike="noStrike">
                <a:solidFill>
                  <a:srgbClr val="000000"/>
                </a:solidFill>
                <a:latin typeface="Open Sans"/>
                <a:ea typeface="Open Sans"/>
                <a:cs typeface="Open Sans"/>
                <a:sym typeface="Open Sans"/>
              </a:rPr>
              <a:t>Tienen que recorrer toda la lista, podría tener una lista con los tamaños ordenados de forma decreciente</a:t>
            </a:r>
            <a:endParaRPr b="0" i="0" sz="1800" u="none" cap="none" strike="noStrike">
              <a:solidFill>
                <a:srgbClr val="000000"/>
              </a:solidFill>
              <a:latin typeface="Open Sans"/>
              <a:ea typeface="Open Sans"/>
              <a:cs typeface="Open Sans"/>
              <a:sym typeface="Open Sans"/>
            </a:endParaRPr>
          </a:p>
          <a:p>
            <a:pPr indent="-342900" lvl="1" marL="914400" marR="0" rtl="0" algn="l">
              <a:lnSpc>
                <a:spcPct val="100000"/>
              </a:lnSpc>
              <a:spcBef>
                <a:spcPts val="0"/>
              </a:spcBef>
              <a:spcAft>
                <a:spcPts val="0"/>
              </a:spcAft>
              <a:buClr>
                <a:srgbClr val="000000"/>
              </a:buClr>
              <a:buSzPts val="1800"/>
              <a:buFont typeface="Open Sans"/>
              <a:buChar char="○"/>
            </a:pPr>
            <a:r>
              <a:rPr b="0" i="0" lang="es" sz="1800" u="none" cap="none" strike="noStrike">
                <a:solidFill>
                  <a:srgbClr val="000000"/>
                </a:solidFill>
                <a:latin typeface="Open Sans"/>
                <a:ea typeface="Open Sans"/>
                <a:cs typeface="Open Sans"/>
                <a:sym typeface="Open Sans"/>
              </a:rPr>
              <a:t>También presenta problemas de fragmentación externa, pero no tan grave como como el algoritmo anterior</a:t>
            </a:r>
            <a:endParaRPr b="0" i="0" sz="1800" u="none" cap="none" strike="noStrike">
              <a:solidFill>
                <a:srgbClr val="000000"/>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
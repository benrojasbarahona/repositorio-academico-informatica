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T Sans Narrow"/>
      <p:regular r:id="rId31"/>
      <p:bold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7" roundtripDataSignature="AMtx7mgxwlEVBne3c216rAULWY576NmK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TSansNarrow-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penSans-regular.fntdata"/><Relationship Id="rId10" Type="http://schemas.openxmlformats.org/officeDocument/2006/relationships/slide" Target="slides/slide5.xml"/><Relationship Id="rId32" Type="http://schemas.openxmlformats.org/officeDocument/2006/relationships/font" Target="fonts/PTSansNarrow-bold.fntdata"/><Relationship Id="rId13" Type="http://schemas.openxmlformats.org/officeDocument/2006/relationships/slide" Target="slides/slide8.xml"/><Relationship Id="rId35" Type="http://schemas.openxmlformats.org/officeDocument/2006/relationships/font" Target="fonts/OpenSans-italic.fntdata"/><Relationship Id="rId12" Type="http://schemas.openxmlformats.org/officeDocument/2006/relationships/slide" Target="slides/slide7.xml"/><Relationship Id="rId34" Type="http://schemas.openxmlformats.org/officeDocument/2006/relationships/font" Target="fonts/OpenSans-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7"/>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7"/>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7"/>
          <p:cNvGrpSpPr/>
          <p:nvPr/>
        </p:nvGrpSpPr>
        <p:grpSpPr>
          <a:xfrm>
            <a:off x="1004144" y="1022025"/>
            <a:ext cx="7136668" cy="152400"/>
            <a:chOff x="1346429" y="1011300"/>
            <a:chExt cx="6452100" cy="152400"/>
          </a:xfrm>
        </p:grpSpPr>
        <p:cxnSp>
          <p:nvCxnSpPr>
            <p:cNvPr id="13" name="Google Shape;13;p27"/>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7"/>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7"/>
          <p:cNvGrpSpPr/>
          <p:nvPr/>
        </p:nvGrpSpPr>
        <p:grpSpPr>
          <a:xfrm>
            <a:off x="1004151" y="3969100"/>
            <a:ext cx="7136668" cy="152400"/>
            <a:chOff x="1346435" y="3969088"/>
            <a:chExt cx="6452100" cy="152400"/>
          </a:xfrm>
        </p:grpSpPr>
        <p:cxnSp>
          <p:nvCxnSpPr>
            <p:cNvPr id="16" name="Google Shape;16;p27"/>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7"/>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7"/>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27"/>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28"/>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28"/>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29"/>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30"/>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0"/>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33"/>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34"/>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3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34"/>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34"/>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3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35"/>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36"/>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6"/>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36"/>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2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support.apple.com/es-lamr/HT202944" TargetMode="External"/><Relationship Id="rId4" Type="http://schemas.openxmlformats.org/officeDocument/2006/relationships/hyperlink" Target="https://es.wikipedia.org/wiki/Anexo:Puertos_de_re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Unidad 2: Comunicación entre proceso </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solidFill>
                  <a:srgbClr val="695D46"/>
                </a:solidFill>
              </a:rPr>
              <a:t>2023-02 (lvc)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 a tratar</a:t>
            </a:r>
            <a:endParaRPr/>
          </a:p>
        </p:txBody>
      </p:sp>
      <p:sp>
        <p:nvSpPr>
          <p:cNvPr id="73" name="Google Shape;73;p2"/>
          <p:cNvSpPr txBox="1"/>
          <p:nvPr>
            <p:ph idx="1" type="body"/>
          </p:nvPr>
        </p:nvSpPr>
        <p:spPr>
          <a:xfrm>
            <a:off x="311700" y="1266325"/>
            <a:ext cx="8520600" cy="3690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t>Introducción</a:t>
            </a:r>
            <a:endParaRPr/>
          </a:p>
          <a:p>
            <a:pPr indent="0" lvl="0" marL="0" rtl="0" algn="l">
              <a:lnSpc>
                <a:spcPct val="115000"/>
              </a:lnSpc>
              <a:spcBef>
                <a:spcPts val="1200"/>
              </a:spcBef>
              <a:spcAft>
                <a:spcPts val="0"/>
              </a:spcAft>
              <a:buSzPts val="1800"/>
              <a:buNone/>
            </a:pPr>
            <a:r>
              <a:rPr lang="es"/>
              <a:t>Tipos de Comunicación</a:t>
            </a:r>
            <a:endParaRPr/>
          </a:p>
          <a:p>
            <a:pPr indent="-342900" lvl="0" marL="914400" rtl="0" algn="l">
              <a:lnSpc>
                <a:spcPct val="115000"/>
              </a:lnSpc>
              <a:spcBef>
                <a:spcPts val="1200"/>
              </a:spcBef>
              <a:spcAft>
                <a:spcPts val="0"/>
              </a:spcAft>
              <a:buSzPts val="1800"/>
              <a:buChar char="●"/>
            </a:pPr>
            <a:r>
              <a:rPr lang="es"/>
              <a:t>Cola de mensajes</a:t>
            </a:r>
            <a:endParaRPr/>
          </a:p>
          <a:p>
            <a:pPr indent="-342900" lvl="0" marL="914400" rtl="0" algn="l">
              <a:lnSpc>
                <a:spcPct val="115000"/>
              </a:lnSpc>
              <a:spcBef>
                <a:spcPts val="0"/>
              </a:spcBef>
              <a:spcAft>
                <a:spcPts val="0"/>
              </a:spcAft>
              <a:buSzPts val="1800"/>
              <a:buChar char="●"/>
            </a:pPr>
            <a:r>
              <a:rPr lang="es"/>
              <a:t>Paso de mensajes</a:t>
            </a:r>
            <a:endParaRPr/>
          </a:p>
          <a:p>
            <a:pPr indent="-342900" lvl="0" marL="914400" rtl="0" algn="l">
              <a:lnSpc>
                <a:spcPct val="115000"/>
              </a:lnSpc>
              <a:spcBef>
                <a:spcPts val="0"/>
              </a:spcBef>
              <a:spcAft>
                <a:spcPts val="0"/>
              </a:spcAft>
              <a:buSzPts val="1800"/>
              <a:buChar char="●"/>
            </a:pPr>
            <a:r>
              <a:rPr lang="es"/>
              <a:t>PIPE</a:t>
            </a:r>
            <a:endParaRPr/>
          </a:p>
          <a:p>
            <a:pPr indent="-342900" lvl="0" marL="914400" rtl="0" algn="l">
              <a:lnSpc>
                <a:spcPct val="115000"/>
              </a:lnSpc>
              <a:spcBef>
                <a:spcPts val="0"/>
              </a:spcBef>
              <a:spcAft>
                <a:spcPts val="0"/>
              </a:spcAft>
              <a:buSzPts val="1800"/>
              <a:buChar char="●"/>
            </a:pPr>
            <a:r>
              <a:rPr lang="es"/>
              <a:t>FIFO</a:t>
            </a:r>
            <a:endParaRPr/>
          </a:p>
          <a:p>
            <a:pPr indent="-342900" lvl="0" marL="914400" rtl="0" algn="l">
              <a:lnSpc>
                <a:spcPct val="115000"/>
              </a:lnSpc>
              <a:spcBef>
                <a:spcPts val="0"/>
              </a:spcBef>
              <a:spcAft>
                <a:spcPts val="0"/>
              </a:spcAft>
              <a:buSzPts val="1800"/>
              <a:buChar char="●"/>
            </a:pPr>
            <a:r>
              <a:rPr lang="es"/>
              <a:t>Semáforos</a:t>
            </a:r>
            <a:endParaRPr/>
          </a:p>
          <a:p>
            <a:pPr indent="-342900" lvl="0" marL="914400" rtl="0" algn="l">
              <a:lnSpc>
                <a:spcPct val="115000"/>
              </a:lnSpc>
              <a:spcBef>
                <a:spcPts val="0"/>
              </a:spcBef>
              <a:spcAft>
                <a:spcPts val="0"/>
              </a:spcAft>
              <a:buSzPts val="1800"/>
              <a:buChar char="●"/>
            </a:pPr>
            <a:r>
              <a:rPr lang="es"/>
              <a:t>Socket</a:t>
            </a:r>
            <a:endParaRPr/>
          </a:p>
          <a:p>
            <a:pPr indent="0" lvl="0" marL="0" rtl="0" algn="l">
              <a:lnSpc>
                <a:spcPct val="115000"/>
              </a:lnSpc>
              <a:spcBef>
                <a:spcPts val="1200"/>
              </a:spcBef>
              <a:spcAft>
                <a:spcPts val="0"/>
              </a:spcAft>
              <a:buSzPts val="1800"/>
              <a:buNone/>
            </a:pPr>
            <a:r>
              <a:rPr lang="es"/>
              <a:t>Sincronización de procesos</a:t>
            </a:r>
            <a:endParaRPr/>
          </a:p>
          <a:p>
            <a:pPr indent="0" lvl="0" marL="0" rtl="0" algn="l">
              <a:lnSpc>
                <a:spcPct val="115000"/>
              </a:lnSpc>
              <a:spcBef>
                <a:spcPts val="1200"/>
              </a:spcBef>
              <a:spcAft>
                <a:spcPts val="1200"/>
              </a:spcAft>
              <a:buSzPts val="1800"/>
              <a:buNone/>
            </a:pPr>
            <a:r>
              <a:rPr lang="es"/>
              <a:t>Exclusión mutua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79" name="Google Shape;79;p3"/>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lnSpcReduction="20000"/>
          </a:bodyPr>
          <a:lstStyle/>
          <a:p>
            <a:pPr indent="-342900" lvl="0" marL="914400" rtl="0" algn="l">
              <a:lnSpc>
                <a:spcPct val="115000"/>
              </a:lnSpc>
              <a:spcBef>
                <a:spcPts val="0"/>
              </a:spcBef>
              <a:spcAft>
                <a:spcPts val="0"/>
              </a:spcAft>
              <a:buSzPts val="1800"/>
              <a:buChar char="●"/>
            </a:pPr>
            <a:r>
              <a:rPr lang="es"/>
              <a:t>La comunicación entre proceso o IPC (Inter-Process Comunication) es una de las funcionalidades básicas que brinda el sistema operativo.</a:t>
            </a:r>
            <a:endParaRPr/>
          </a:p>
          <a:p>
            <a:pPr indent="0" lvl="0" marL="914400" rtl="0" algn="l">
              <a:lnSpc>
                <a:spcPct val="115000"/>
              </a:lnSpc>
              <a:spcBef>
                <a:spcPts val="1200"/>
              </a:spcBef>
              <a:spcAft>
                <a:spcPts val="0"/>
              </a:spcAft>
              <a:buSzPts val="1800"/>
              <a:buNone/>
            </a:pPr>
            <a:r>
              <a:t/>
            </a:r>
            <a:endParaRPr/>
          </a:p>
          <a:p>
            <a:pPr indent="-342900" lvl="0" marL="914400" rtl="0" algn="l">
              <a:lnSpc>
                <a:spcPct val="115000"/>
              </a:lnSpc>
              <a:spcBef>
                <a:spcPts val="1200"/>
              </a:spcBef>
              <a:spcAft>
                <a:spcPts val="0"/>
              </a:spcAft>
              <a:buSzPts val="1800"/>
              <a:buChar char="●"/>
            </a:pPr>
            <a:r>
              <a:rPr lang="es"/>
              <a:t>Los procesos se suelen comunicar mediante diferentes canales, algunos de estos son:</a:t>
            </a:r>
            <a:endParaRPr/>
          </a:p>
          <a:p>
            <a:pPr indent="0" lvl="0" marL="914400" rtl="0" algn="l">
              <a:lnSpc>
                <a:spcPct val="115000"/>
              </a:lnSpc>
              <a:spcBef>
                <a:spcPts val="1200"/>
              </a:spcBef>
              <a:spcAft>
                <a:spcPts val="0"/>
              </a:spcAft>
              <a:buSzPts val="1800"/>
              <a:buNone/>
            </a:pPr>
            <a:r>
              <a:t/>
            </a:r>
            <a:endParaRPr/>
          </a:p>
          <a:p>
            <a:pPr indent="-317500" lvl="1" marL="1371600" rtl="0" algn="l">
              <a:lnSpc>
                <a:spcPct val="115000"/>
              </a:lnSpc>
              <a:spcBef>
                <a:spcPts val="1200"/>
              </a:spcBef>
              <a:spcAft>
                <a:spcPts val="0"/>
              </a:spcAft>
              <a:buSzPts val="1400"/>
              <a:buChar char="○"/>
            </a:pPr>
            <a:r>
              <a:rPr lang="es"/>
              <a:t>Archivos</a:t>
            </a:r>
            <a:endParaRPr/>
          </a:p>
          <a:p>
            <a:pPr indent="-317500" lvl="1" marL="1371600" rtl="0" algn="l">
              <a:lnSpc>
                <a:spcPct val="115000"/>
              </a:lnSpc>
              <a:spcBef>
                <a:spcPts val="0"/>
              </a:spcBef>
              <a:spcAft>
                <a:spcPts val="0"/>
              </a:spcAft>
              <a:buSzPts val="1400"/>
              <a:buChar char="○"/>
            </a:pPr>
            <a:r>
              <a:rPr lang="es"/>
              <a:t>buffer</a:t>
            </a:r>
            <a:endParaRPr/>
          </a:p>
          <a:p>
            <a:pPr indent="-317500" lvl="1" marL="1371600" rtl="0" algn="l">
              <a:lnSpc>
                <a:spcPct val="115000"/>
              </a:lnSpc>
              <a:spcBef>
                <a:spcPts val="0"/>
              </a:spcBef>
              <a:spcAft>
                <a:spcPts val="0"/>
              </a:spcAft>
              <a:buSzPts val="1400"/>
              <a:buChar char="○"/>
            </a:pPr>
            <a:r>
              <a:rPr lang="es"/>
              <a:t>Variables compartidas</a:t>
            </a:r>
            <a:endParaRPr/>
          </a:p>
          <a:p>
            <a:pPr indent="-317500" lvl="1" marL="1371600" rtl="0" algn="l">
              <a:lnSpc>
                <a:spcPct val="115000"/>
              </a:lnSpc>
              <a:spcBef>
                <a:spcPts val="0"/>
              </a:spcBef>
              <a:spcAft>
                <a:spcPts val="0"/>
              </a:spcAft>
              <a:buSzPts val="1400"/>
              <a:buChar char="○"/>
            </a:pPr>
            <a:r>
              <a:rPr lang="es"/>
              <a:t>Memoria compartida</a:t>
            </a:r>
            <a:endParaRPr/>
          </a:p>
          <a:p>
            <a:pPr indent="-317500" lvl="1" marL="1371600" rtl="0" algn="l">
              <a:lnSpc>
                <a:spcPct val="115000"/>
              </a:lnSpc>
              <a:spcBef>
                <a:spcPts val="0"/>
              </a:spcBef>
              <a:spcAft>
                <a:spcPts val="0"/>
              </a:spcAft>
              <a:buSzPts val="1400"/>
              <a:buChar char="○"/>
            </a:pPr>
            <a:r>
              <a:rPr lang="es"/>
              <a:t>bases de datos</a:t>
            </a:r>
            <a:endParaRPr/>
          </a:p>
          <a:p>
            <a:pPr indent="-317500" lvl="1" marL="1371600" rtl="0" algn="l">
              <a:lnSpc>
                <a:spcPct val="115000"/>
              </a:lnSpc>
              <a:spcBef>
                <a:spcPts val="0"/>
              </a:spcBef>
              <a:spcAft>
                <a:spcPts val="0"/>
              </a:spcAft>
              <a:buSzPts val="1400"/>
              <a:buChar char="○"/>
            </a:pPr>
            <a:r>
              <a:rPr lang="es"/>
              <a:t>Colas</a:t>
            </a:r>
            <a:endParaRPr/>
          </a:p>
        </p:txBody>
      </p:sp>
      <p:pic>
        <p:nvPicPr>
          <p:cNvPr id="80" name="Google Shape;80;p3"/>
          <p:cNvPicPr preferRelativeResize="0"/>
          <p:nvPr/>
        </p:nvPicPr>
        <p:blipFill rotWithShape="1">
          <a:blip r:embed="rId3">
            <a:alphaModFix/>
          </a:blip>
          <a:srcRect b="0" l="0" r="0" t="0"/>
          <a:stretch/>
        </p:blipFill>
        <p:spPr>
          <a:xfrm>
            <a:off x="4572000" y="2917576"/>
            <a:ext cx="4260300" cy="19429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86" name="Google Shape;86;p4"/>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914400" rtl="0" algn="l">
              <a:lnSpc>
                <a:spcPct val="115000"/>
              </a:lnSpc>
              <a:spcBef>
                <a:spcPts val="0"/>
              </a:spcBef>
              <a:spcAft>
                <a:spcPts val="0"/>
              </a:spcAft>
              <a:buSzPts val="1800"/>
              <a:buChar char="●"/>
            </a:pPr>
            <a:r>
              <a:rPr lang="es"/>
              <a:t>Lo que finalmente se realiza es establecer o utilizar mecanismos que permitan sincronizar el traspaso de mensajes a través de diversos canales utilizando dos funciones base, que son: SEND y RECEIVE</a:t>
            </a:r>
            <a:endParaRPr/>
          </a:p>
          <a:p>
            <a:pPr indent="0" lvl="0" marL="914400" rtl="0" algn="l">
              <a:lnSpc>
                <a:spcPct val="115000"/>
              </a:lnSpc>
              <a:spcBef>
                <a:spcPts val="1200"/>
              </a:spcBef>
              <a:spcAft>
                <a:spcPts val="0"/>
              </a:spcAft>
              <a:buSzPts val="1800"/>
              <a:buNone/>
            </a:pPr>
            <a:r>
              <a:t/>
            </a:r>
            <a:endParaRPr/>
          </a:p>
          <a:p>
            <a:pPr indent="0" lvl="0" marL="914400" rtl="0" algn="l">
              <a:lnSpc>
                <a:spcPct val="115000"/>
              </a:lnSpc>
              <a:spcBef>
                <a:spcPts val="1200"/>
              </a:spcBef>
              <a:spcAft>
                <a:spcPts val="0"/>
              </a:spcAft>
              <a:buSzPts val="1800"/>
              <a:buNone/>
            </a:pPr>
            <a:r>
              <a:t/>
            </a:r>
            <a:endParaRPr/>
          </a:p>
          <a:p>
            <a:pPr indent="0" lvl="0" marL="914400" rtl="0" algn="l">
              <a:lnSpc>
                <a:spcPct val="115000"/>
              </a:lnSpc>
              <a:spcBef>
                <a:spcPts val="1200"/>
              </a:spcBef>
              <a:spcAft>
                <a:spcPts val="1200"/>
              </a:spcAft>
              <a:buSzPts val="1800"/>
              <a:buNone/>
            </a:pPr>
            <a:r>
              <a:t/>
            </a:r>
            <a:endParaRPr/>
          </a:p>
        </p:txBody>
      </p:sp>
      <p:pic>
        <p:nvPicPr>
          <p:cNvPr id="87" name="Google Shape;87;p4"/>
          <p:cNvPicPr preferRelativeResize="0"/>
          <p:nvPr/>
        </p:nvPicPr>
        <p:blipFill rotWithShape="1">
          <a:blip r:embed="rId3">
            <a:alphaModFix/>
          </a:blip>
          <a:srcRect b="0" l="0" r="0" t="0"/>
          <a:stretch/>
        </p:blipFill>
        <p:spPr>
          <a:xfrm>
            <a:off x="1707997" y="2902587"/>
            <a:ext cx="5985650" cy="1159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93" name="Google Shape;93;p5"/>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914400" rtl="0" algn="l">
              <a:lnSpc>
                <a:spcPct val="115000"/>
              </a:lnSpc>
              <a:spcBef>
                <a:spcPts val="0"/>
              </a:spcBef>
              <a:spcAft>
                <a:spcPts val="0"/>
              </a:spcAft>
              <a:buSzPts val="1800"/>
              <a:buChar char="●"/>
            </a:pPr>
            <a:r>
              <a:rPr lang="es"/>
              <a:t>Otro punto importante a destacar es que el canal de comunicación puede ser Unidireccional o Multidireccional (SEND y RECEIVE)</a:t>
            </a:r>
            <a:endParaRPr/>
          </a:p>
        </p:txBody>
      </p:sp>
      <p:pic>
        <p:nvPicPr>
          <p:cNvPr id="94" name="Google Shape;94;p5"/>
          <p:cNvPicPr preferRelativeResize="0"/>
          <p:nvPr/>
        </p:nvPicPr>
        <p:blipFill rotWithShape="1">
          <a:blip r:embed="rId3">
            <a:alphaModFix/>
          </a:blip>
          <a:srcRect b="0" l="0" r="0" t="0"/>
          <a:stretch/>
        </p:blipFill>
        <p:spPr>
          <a:xfrm>
            <a:off x="311700" y="2695774"/>
            <a:ext cx="8225574" cy="1567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100" name="Google Shape;100;p6"/>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lnSpcReduction="10000"/>
          </a:bodyPr>
          <a:lstStyle/>
          <a:p>
            <a:pPr indent="-342900" lvl="0" marL="914400" rtl="0" algn="l">
              <a:lnSpc>
                <a:spcPct val="115000"/>
              </a:lnSpc>
              <a:spcBef>
                <a:spcPts val="0"/>
              </a:spcBef>
              <a:spcAft>
                <a:spcPts val="0"/>
              </a:spcAft>
              <a:buSzPts val="1800"/>
              <a:buChar char="●"/>
            </a:pPr>
            <a:r>
              <a:rPr lang="es"/>
              <a:t>El mecanismo mencionado es un PROTOCOLO, que no es más que una serie de reglas que deben cumplir los actores que participan en la comunicación, es decir, Origen-Destino</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Ejemplo: </a:t>
            </a:r>
            <a:endParaRPr/>
          </a:p>
          <a:p>
            <a:pPr indent="-342900" lvl="0" marL="1371600" rtl="0" algn="l">
              <a:lnSpc>
                <a:spcPct val="115000"/>
              </a:lnSpc>
              <a:spcBef>
                <a:spcPts val="1200"/>
              </a:spcBef>
              <a:spcAft>
                <a:spcPts val="0"/>
              </a:spcAft>
              <a:buSzPts val="1800"/>
              <a:buChar char="●"/>
            </a:pPr>
            <a:r>
              <a:rPr lang="es"/>
              <a:t>protocolo UDP/IP (solo envío de mensajes)</a:t>
            </a:r>
            <a:endParaRPr/>
          </a:p>
          <a:p>
            <a:pPr indent="-317500" lvl="1" marL="2286000" rtl="0" algn="l">
              <a:lnSpc>
                <a:spcPct val="115000"/>
              </a:lnSpc>
              <a:spcBef>
                <a:spcPts val="0"/>
              </a:spcBef>
              <a:spcAft>
                <a:spcPts val="0"/>
              </a:spcAft>
              <a:buSzPts val="1400"/>
              <a:buChar char="○"/>
            </a:pPr>
            <a:r>
              <a:rPr lang="es"/>
              <a:t>muy utilizando en streaming como: Netflix</a:t>
            </a:r>
            <a:endParaRPr/>
          </a:p>
          <a:p>
            <a:pPr indent="0" lvl="0" marL="1828800" rtl="0" algn="l">
              <a:lnSpc>
                <a:spcPct val="115000"/>
              </a:lnSpc>
              <a:spcBef>
                <a:spcPts val="1200"/>
              </a:spcBef>
              <a:spcAft>
                <a:spcPts val="0"/>
              </a:spcAft>
              <a:buSzPts val="1800"/>
              <a:buNone/>
            </a:pPr>
            <a:r>
              <a:t/>
            </a:r>
            <a:endParaRPr/>
          </a:p>
          <a:p>
            <a:pPr indent="-342900" lvl="0" marL="1371600" rtl="0" algn="l">
              <a:lnSpc>
                <a:spcPct val="115000"/>
              </a:lnSpc>
              <a:spcBef>
                <a:spcPts val="1200"/>
              </a:spcBef>
              <a:spcAft>
                <a:spcPts val="0"/>
              </a:spcAft>
              <a:buSzPts val="1800"/>
              <a:buChar char="●"/>
            </a:pPr>
            <a:r>
              <a:rPr lang="es"/>
              <a:t>protocolo TCP/IP (envío-notificación de respuesta)</a:t>
            </a:r>
            <a:endParaRPr/>
          </a:p>
          <a:p>
            <a:pPr indent="-317500" lvl="1" marL="2286000" rtl="0" algn="l">
              <a:lnSpc>
                <a:spcPct val="115000"/>
              </a:lnSpc>
              <a:spcBef>
                <a:spcPts val="0"/>
              </a:spcBef>
              <a:spcAft>
                <a:spcPts val="0"/>
              </a:spcAft>
              <a:buSzPts val="1400"/>
              <a:buChar char="○"/>
            </a:pPr>
            <a:r>
              <a:rPr lang="es"/>
              <a:t>http, https (internet)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Introducción</a:t>
            </a:r>
            <a:endParaRPr/>
          </a:p>
        </p:txBody>
      </p:sp>
      <p:sp>
        <p:nvSpPr>
          <p:cNvPr id="106" name="Google Shape;106;p7"/>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Ejemplo: protocolo TCP/IP (envío-notificación de respuesta)</a:t>
            </a:r>
            <a:endParaRPr/>
          </a:p>
        </p:txBody>
      </p:sp>
      <p:pic>
        <p:nvPicPr>
          <p:cNvPr id="107" name="Google Shape;107;p7"/>
          <p:cNvPicPr preferRelativeResize="0"/>
          <p:nvPr/>
        </p:nvPicPr>
        <p:blipFill rotWithShape="1">
          <a:blip r:embed="rId3">
            <a:alphaModFix/>
          </a:blip>
          <a:srcRect b="0" l="0" r="0" t="0"/>
          <a:stretch/>
        </p:blipFill>
        <p:spPr>
          <a:xfrm>
            <a:off x="73999" y="2250925"/>
            <a:ext cx="4241074" cy="1362075"/>
          </a:xfrm>
          <a:prstGeom prst="rect">
            <a:avLst/>
          </a:prstGeom>
          <a:noFill/>
          <a:ln>
            <a:noFill/>
          </a:ln>
        </p:spPr>
      </p:pic>
      <p:pic>
        <p:nvPicPr>
          <p:cNvPr id="108" name="Google Shape;108;p7"/>
          <p:cNvPicPr preferRelativeResize="0"/>
          <p:nvPr/>
        </p:nvPicPr>
        <p:blipFill rotWithShape="1">
          <a:blip r:embed="rId4">
            <a:alphaModFix/>
          </a:blip>
          <a:srcRect b="0" l="0" r="0" t="0"/>
          <a:stretch/>
        </p:blipFill>
        <p:spPr>
          <a:xfrm>
            <a:off x="4407826" y="1800950"/>
            <a:ext cx="4664451" cy="292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14" name="Google Shape;114;p8"/>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Existen diversas tipos de mecanismos por los cuales es posible comunicar procesos, algunos de estos son:</a:t>
            </a:r>
            <a:endParaRPr/>
          </a:p>
          <a:p>
            <a:pPr indent="-342900" lvl="0" marL="457200" rtl="0" algn="l">
              <a:lnSpc>
                <a:spcPct val="115000"/>
              </a:lnSpc>
              <a:spcBef>
                <a:spcPts val="1200"/>
              </a:spcBef>
              <a:spcAft>
                <a:spcPts val="0"/>
              </a:spcAft>
              <a:buSzPts val="1800"/>
              <a:buChar char="●"/>
            </a:pPr>
            <a:r>
              <a:rPr b="1" lang="es"/>
              <a:t>Cola de mensajes, </a:t>
            </a:r>
            <a:r>
              <a:rPr lang="es"/>
              <a:t>(básicamente este es un mecanismo asíncrono de comunicación de mensajes) </a:t>
            </a:r>
            <a:endParaRPr/>
          </a:p>
          <a:p>
            <a:pPr indent="-317500" lvl="1" marL="914400" rtl="0" algn="l">
              <a:lnSpc>
                <a:spcPct val="115000"/>
              </a:lnSpc>
              <a:spcBef>
                <a:spcPts val="0"/>
              </a:spcBef>
              <a:spcAft>
                <a:spcPts val="0"/>
              </a:spcAft>
              <a:buSzPts val="1400"/>
              <a:buChar char="○"/>
            </a:pPr>
            <a:r>
              <a:rPr lang="es"/>
              <a:t>Se establece una especie de memoria común entre los procesos que se desean comunicar, </a:t>
            </a:r>
            <a:endParaRPr/>
          </a:p>
          <a:p>
            <a:pPr indent="-317500" lvl="1" marL="914400" rtl="0" algn="l">
              <a:lnSpc>
                <a:spcPct val="115000"/>
              </a:lnSpc>
              <a:spcBef>
                <a:spcPts val="0"/>
              </a:spcBef>
              <a:spcAft>
                <a:spcPts val="0"/>
              </a:spcAft>
              <a:buSzPts val="1400"/>
              <a:buChar char="○"/>
            </a:pPr>
            <a:r>
              <a:rPr lang="es"/>
              <a:t>se establece un protocolo según el cual se extraen y procesan los los mensajes</a:t>
            </a:r>
            <a:endParaRPr/>
          </a:p>
          <a:p>
            <a:pPr indent="-317500" lvl="1" marL="914400" rtl="0" algn="l">
              <a:lnSpc>
                <a:spcPct val="115000"/>
              </a:lnSpc>
              <a:spcBef>
                <a:spcPts val="0"/>
              </a:spcBef>
              <a:spcAft>
                <a:spcPts val="0"/>
              </a:spcAft>
              <a:buSzPts val="1400"/>
              <a:buChar char="○"/>
            </a:pPr>
            <a:r>
              <a:rPr lang="es"/>
              <a:t>De ser necesario se establece un mecanismo según el cual se notifica, al origen  del mensaje, que el proceso fue resuelto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20" name="Google Shape;120;p9"/>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sz="1800"/>
              <a:t>Paso de mensajes</a:t>
            </a:r>
            <a:r>
              <a:rPr lang="es" sz="1800"/>
              <a:t> (mecanismo </a:t>
            </a:r>
            <a:r>
              <a:rPr lang="es"/>
              <a:t>síncrono</a:t>
            </a:r>
            <a:r>
              <a:rPr lang="es" sz="1800"/>
              <a:t>, ya que el mensaje va directo al destinatario, no existe </a:t>
            </a:r>
            <a:r>
              <a:rPr lang="es"/>
              <a:t>un canal intermedio</a:t>
            </a:r>
            <a:r>
              <a:rPr lang="es" sz="1800"/>
              <a:t>)</a:t>
            </a:r>
            <a:endParaRPr sz="1800"/>
          </a:p>
          <a:p>
            <a:pPr indent="-317500" lvl="1" marL="914400" rtl="0" algn="l">
              <a:lnSpc>
                <a:spcPct val="115000"/>
              </a:lnSpc>
              <a:spcBef>
                <a:spcPts val="0"/>
              </a:spcBef>
              <a:spcAft>
                <a:spcPts val="0"/>
              </a:spcAft>
              <a:buSzPts val="1400"/>
              <a:buChar char="○"/>
            </a:pPr>
            <a:r>
              <a:rPr lang="es"/>
              <a:t>el origen sabe a quien desea enviarle el mensaje, este puede ser a unicast, multicast, broadcast</a:t>
            </a:r>
            <a:endParaRPr/>
          </a:p>
          <a:p>
            <a:pPr indent="-317500" lvl="1" marL="914400" rtl="0" algn="l">
              <a:lnSpc>
                <a:spcPct val="115000"/>
              </a:lnSpc>
              <a:spcBef>
                <a:spcPts val="0"/>
              </a:spcBef>
              <a:spcAft>
                <a:spcPts val="0"/>
              </a:spcAft>
              <a:buSzPts val="1400"/>
              <a:buChar char="○"/>
            </a:pPr>
            <a:r>
              <a:rPr lang="es"/>
              <a:t>el o los destinatarios reciben el mensaje y realizan una acción</a:t>
            </a:r>
            <a:endParaRPr/>
          </a:p>
          <a:p>
            <a:pPr indent="-317500" lvl="1" marL="914400" rtl="0" algn="l">
              <a:lnSpc>
                <a:spcPct val="115000"/>
              </a:lnSpc>
              <a:spcBef>
                <a:spcPts val="0"/>
              </a:spcBef>
              <a:spcAft>
                <a:spcPts val="0"/>
              </a:spcAft>
              <a:buSzPts val="1400"/>
              <a:buChar char="○"/>
            </a:pPr>
            <a:r>
              <a:rPr lang="es"/>
              <a:t>de estar estipulado en el protocolo establecido, se envía una respuesta</a:t>
            </a:r>
            <a:endParaRPr/>
          </a:p>
          <a:p>
            <a:pPr indent="0" lvl="0" marL="1371600" rtl="0" algn="l">
              <a:lnSpc>
                <a:spcPct val="115000"/>
              </a:lnSpc>
              <a:spcBef>
                <a:spcPts val="1200"/>
              </a:spcBef>
              <a:spcAft>
                <a:spcPts val="1200"/>
              </a:spcAft>
              <a:buSzPts val="1800"/>
              <a:buNone/>
            </a:pPr>
            <a:r>
              <a:t/>
            </a:r>
            <a:endParaRPr sz="1800"/>
          </a:p>
        </p:txBody>
      </p:sp>
      <p:pic>
        <p:nvPicPr>
          <p:cNvPr id="121" name="Google Shape;121;p9"/>
          <p:cNvPicPr preferRelativeResize="0"/>
          <p:nvPr/>
        </p:nvPicPr>
        <p:blipFill rotWithShape="1">
          <a:blip r:embed="rId3">
            <a:alphaModFix/>
          </a:blip>
          <a:srcRect b="0" l="0" r="0" t="0"/>
          <a:stretch/>
        </p:blipFill>
        <p:spPr>
          <a:xfrm>
            <a:off x="1400950" y="3215125"/>
            <a:ext cx="5686325" cy="1748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27" name="Google Shape;127;p10"/>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Char char="●"/>
            </a:pPr>
            <a:r>
              <a:rPr b="1" lang="es"/>
              <a:t>PIPE o tubería,</a:t>
            </a:r>
            <a:r>
              <a:rPr lang="es"/>
              <a:t> es un mecanismo utilizado en C para comunicar procesos que se ejecutan como un flujo directo de acciones, es decir, son acciones que se deben ejecutar una detrás de otra y si alguna de estas falla, falla todo el proceso.</a:t>
            </a:r>
            <a:endParaRPr/>
          </a:p>
          <a:p>
            <a:pPr indent="0" lvl="0" marL="457200" rtl="0" algn="l">
              <a:lnSpc>
                <a:spcPct val="115000"/>
              </a:lnSpc>
              <a:spcBef>
                <a:spcPts val="1200"/>
              </a:spcBef>
              <a:spcAft>
                <a:spcPts val="0"/>
              </a:spcAft>
              <a:buSzPct val="108108"/>
              <a:buNone/>
            </a:pPr>
            <a:r>
              <a:t/>
            </a:r>
            <a:endParaRPr/>
          </a:p>
          <a:p>
            <a:pPr indent="0" lvl="0" marL="914400" rtl="0" algn="l">
              <a:lnSpc>
                <a:spcPct val="115000"/>
              </a:lnSpc>
              <a:spcBef>
                <a:spcPts val="1200"/>
              </a:spcBef>
              <a:spcAft>
                <a:spcPts val="0"/>
              </a:spcAft>
              <a:buSzPct val="108108"/>
              <a:buNone/>
            </a:pPr>
            <a:r>
              <a:rPr lang="es" sz="1800"/>
              <a:t>Otra forma de verlo es penando es que son encadenando acciones de entre proceso, donde el origen genera el mensaje, lo deja en la tubería, el siguiente proceso lo toma de la tubería y realiza acciones sobre éste</a:t>
            </a:r>
            <a:endParaRPr sz="1800"/>
          </a:p>
          <a:p>
            <a:pPr indent="0" lvl="0" marL="457200" rtl="0" algn="l">
              <a:lnSpc>
                <a:spcPct val="115000"/>
              </a:lnSpc>
              <a:spcBef>
                <a:spcPts val="1200"/>
              </a:spcBef>
              <a:spcAft>
                <a:spcPts val="0"/>
              </a:spcAft>
              <a:buSzPct val="108108"/>
              <a:buNone/>
            </a:pPr>
            <a:r>
              <a:t/>
            </a:r>
            <a:endParaRPr/>
          </a:p>
          <a:p>
            <a:pPr indent="0" lvl="0" marL="914400" rtl="0" algn="l">
              <a:lnSpc>
                <a:spcPct val="115000"/>
              </a:lnSpc>
              <a:spcBef>
                <a:spcPts val="1200"/>
              </a:spcBef>
              <a:spcAft>
                <a:spcPts val="1200"/>
              </a:spcAft>
              <a:buSzPct val="108108"/>
              <a:buNone/>
            </a:pPr>
            <a:r>
              <a:rPr lang="es" sz="1800"/>
              <a:t>Utiliza como mecanismo de comunicación entre proceso archivos y funciones específicas de C, y siempre la comunicaci</a:t>
            </a:r>
            <a:r>
              <a:rPr lang="es"/>
              <a:t>ón se realiza entre procesos padre e hijo</a:t>
            </a:r>
            <a:r>
              <a:rPr lang="es" sz="1800"/>
              <a:t>.</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33" name="Google Shape;133;p11"/>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PIPE o tubería,</a:t>
            </a:r>
            <a:r>
              <a:rPr lang="es"/>
              <a:t> </a:t>
            </a:r>
            <a:endParaRPr/>
          </a:p>
          <a:p>
            <a:pPr indent="0" lvl="0" marL="457200" rtl="0" algn="l">
              <a:lnSpc>
                <a:spcPct val="115000"/>
              </a:lnSpc>
              <a:spcBef>
                <a:spcPts val="1200"/>
              </a:spcBef>
              <a:spcAft>
                <a:spcPts val="1200"/>
              </a:spcAft>
              <a:buSzPts val="1800"/>
              <a:buNone/>
            </a:pPr>
            <a:r>
              <a:t/>
            </a:r>
            <a:endParaRPr/>
          </a:p>
        </p:txBody>
      </p:sp>
      <p:pic>
        <p:nvPicPr>
          <p:cNvPr id="134" name="Google Shape;134;p11"/>
          <p:cNvPicPr preferRelativeResize="0"/>
          <p:nvPr/>
        </p:nvPicPr>
        <p:blipFill rotWithShape="1">
          <a:blip r:embed="rId3">
            <a:alphaModFix/>
          </a:blip>
          <a:srcRect b="0" l="0" r="0" t="0"/>
          <a:stretch/>
        </p:blipFill>
        <p:spPr>
          <a:xfrm>
            <a:off x="108050" y="2177149"/>
            <a:ext cx="8586926" cy="2067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40" name="Google Shape;140;p12"/>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PIPE o tubería,</a:t>
            </a:r>
            <a:r>
              <a:rPr lang="es"/>
              <a:t> las funciones son:</a:t>
            </a:r>
            <a:endParaRPr/>
          </a:p>
          <a:p>
            <a:pPr indent="0" lvl="0" marL="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rPr lang="es"/>
              <a:t>pipe() =&gt; establece el archivo tipo tubería, indicando la cantidad procesos que interactúan (</a:t>
            </a:r>
            <a:r>
              <a:rPr b="1" lang="es">
                <a:solidFill>
                  <a:schemeClr val="accent1"/>
                </a:solidFill>
              </a:rPr>
              <a:t>es específico para el uso de fork</a:t>
            </a:r>
            <a:r>
              <a:rPr lang="es"/>
              <a:t>)</a:t>
            </a:r>
            <a:endParaRPr/>
          </a:p>
          <a:p>
            <a:pPr indent="0" lvl="0" marL="457200" rtl="0" algn="l">
              <a:lnSpc>
                <a:spcPct val="115000"/>
              </a:lnSpc>
              <a:spcBef>
                <a:spcPts val="1200"/>
              </a:spcBef>
              <a:spcAft>
                <a:spcPts val="0"/>
              </a:spcAft>
              <a:buSzPts val="1800"/>
              <a:buNone/>
            </a:pPr>
            <a:r>
              <a:rPr lang="es"/>
              <a:t>write()=&gt; escribe sobre el archivo, indicando el proceso que escribe </a:t>
            </a:r>
            <a:endParaRPr/>
          </a:p>
          <a:p>
            <a:pPr indent="0" lvl="0" marL="457200" rtl="0" algn="l">
              <a:lnSpc>
                <a:spcPct val="115000"/>
              </a:lnSpc>
              <a:spcBef>
                <a:spcPts val="1200"/>
              </a:spcBef>
              <a:spcAft>
                <a:spcPts val="0"/>
              </a:spcAft>
              <a:buSzPts val="1800"/>
              <a:buNone/>
            </a:pPr>
            <a:r>
              <a:rPr lang="es"/>
              <a:t>read()=&gt; lee desde el archivo, indicando el proceso que lee</a:t>
            </a:r>
            <a:endParaRPr/>
          </a:p>
          <a:p>
            <a:pPr indent="0" lvl="0" marL="457200" rtl="0" algn="l">
              <a:lnSpc>
                <a:spcPct val="115000"/>
              </a:lnSpc>
              <a:spcBef>
                <a:spcPts val="1200"/>
              </a:spcBef>
              <a:spcAft>
                <a:spcPts val="1200"/>
              </a:spcAft>
              <a:buSzPts val="1800"/>
              <a:buNone/>
            </a:pPr>
            <a:r>
              <a:rPr lang="es"/>
              <a:t>close()=&gt; cierra la comunicación del proceso con el archivo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46" name="Google Shape;146;p13"/>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FIFO (First In First Out),</a:t>
            </a:r>
            <a:r>
              <a:rPr lang="es"/>
              <a:t> establece el canal de comunicación para dos procesos externos que deben ser programados es C o C++, ya que utilizan funciones específicas que crean un archivo que es el punto de comunicación entre dicho proceso.</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Esto quiere decir que se deben crear a lo menos 2 programas, que utilicen el mismo conjunto de funciones (relacionadas con FIFO), y donde estas funciones son de lectura, escritura y cierre del canal FIFO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52" name="Google Shape;152;p14"/>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FIFO (First In First Out),</a:t>
            </a:r>
            <a:r>
              <a:rPr lang="es"/>
              <a:t> </a:t>
            </a:r>
            <a:endParaRPr/>
          </a:p>
          <a:p>
            <a:pPr indent="0" lvl="0" marL="457200" rtl="0" algn="l">
              <a:lnSpc>
                <a:spcPct val="115000"/>
              </a:lnSpc>
              <a:spcBef>
                <a:spcPts val="1200"/>
              </a:spcBef>
              <a:spcAft>
                <a:spcPts val="1200"/>
              </a:spcAft>
              <a:buSzPts val="1800"/>
              <a:buNone/>
            </a:pPr>
            <a:r>
              <a:t/>
            </a:r>
            <a:endParaRPr/>
          </a:p>
        </p:txBody>
      </p:sp>
      <p:pic>
        <p:nvPicPr>
          <p:cNvPr id="153" name="Google Shape;153;p14"/>
          <p:cNvPicPr preferRelativeResize="0"/>
          <p:nvPr/>
        </p:nvPicPr>
        <p:blipFill rotWithShape="1">
          <a:blip r:embed="rId3">
            <a:alphaModFix/>
          </a:blip>
          <a:srcRect b="0" l="0" r="0" t="0"/>
          <a:stretch/>
        </p:blipFill>
        <p:spPr>
          <a:xfrm>
            <a:off x="4413500" y="1450825"/>
            <a:ext cx="4533600" cy="3400200"/>
          </a:xfrm>
          <a:prstGeom prst="rect">
            <a:avLst/>
          </a:prstGeom>
          <a:noFill/>
          <a:ln>
            <a:noFill/>
          </a:ln>
        </p:spPr>
      </p:pic>
      <p:pic>
        <p:nvPicPr>
          <p:cNvPr id="154" name="Google Shape;154;p14"/>
          <p:cNvPicPr preferRelativeResize="0"/>
          <p:nvPr/>
        </p:nvPicPr>
        <p:blipFill rotWithShape="1">
          <a:blip r:embed="rId4">
            <a:alphaModFix/>
          </a:blip>
          <a:srcRect b="0" l="0" r="0" t="0"/>
          <a:stretch/>
        </p:blipFill>
        <p:spPr>
          <a:xfrm>
            <a:off x="154100" y="2136449"/>
            <a:ext cx="4025450" cy="2221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60" name="Google Shape;160;p15"/>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b="1" lang="es"/>
              <a:t>Semáforos, </a:t>
            </a:r>
            <a:r>
              <a:rPr lang="es"/>
              <a:t>es un mecanismo de sincronización entre procesos o threads, el cual sirve para proteger la zona crítica durante la ejecución,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rPr lang="es"/>
              <a:t>En otras palabras, establece bloqueos transitorios de uso de la zona crítica para el resto de los procesos o threads cuando un thread o proceso específico está haciendo uso de ella</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1200"/>
              </a:spcAft>
              <a:buSzPts val="1800"/>
              <a:buNone/>
            </a:pPr>
            <a:r>
              <a:rPr b="1" lang="es">
                <a:solidFill>
                  <a:srgbClr val="93C47D"/>
                </a:solidFill>
              </a:rPr>
              <a:t>ZONA CRÍTICA ⇒ PUNTO COMÚN ENTRE LOS PROCESOS O THREAD, SUELE SER UNA MEMORIA (memoria ram, archivo, cache, base de datos, ....)</a:t>
            </a:r>
            <a:endParaRPr b="1">
              <a:solidFill>
                <a:srgbClr val="93C47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66" name="Google Shape;166;p16"/>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Semáforos,</a:t>
            </a:r>
            <a:endParaRPr b="1">
              <a:solidFill>
                <a:srgbClr val="93C47D"/>
              </a:solidFill>
            </a:endParaRPr>
          </a:p>
        </p:txBody>
      </p:sp>
      <p:pic>
        <p:nvPicPr>
          <p:cNvPr id="167" name="Google Shape;167;p16"/>
          <p:cNvPicPr preferRelativeResize="0"/>
          <p:nvPr/>
        </p:nvPicPr>
        <p:blipFill rotWithShape="1">
          <a:blip r:embed="rId3">
            <a:alphaModFix/>
          </a:blip>
          <a:srcRect b="0" l="0" r="0" t="0"/>
          <a:stretch/>
        </p:blipFill>
        <p:spPr>
          <a:xfrm>
            <a:off x="146075" y="2044275"/>
            <a:ext cx="4289025" cy="2450875"/>
          </a:xfrm>
          <a:prstGeom prst="rect">
            <a:avLst/>
          </a:prstGeom>
          <a:noFill/>
          <a:ln>
            <a:noFill/>
          </a:ln>
        </p:spPr>
      </p:pic>
      <p:pic>
        <p:nvPicPr>
          <p:cNvPr id="168" name="Google Shape;168;p16"/>
          <p:cNvPicPr preferRelativeResize="0"/>
          <p:nvPr/>
        </p:nvPicPr>
        <p:blipFill rotWithShape="1">
          <a:blip r:embed="rId4">
            <a:alphaModFix/>
          </a:blip>
          <a:srcRect b="0" l="0" r="0" t="0"/>
          <a:stretch/>
        </p:blipFill>
        <p:spPr>
          <a:xfrm>
            <a:off x="4777225" y="1266313"/>
            <a:ext cx="4000500" cy="3362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74" name="Google Shape;174;p17"/>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Socket, </a:t>
            </a:r>
            <a:r>
              <a:rPr lang="es"/>
              <a:t>Los sockets son canales de comunicación que permiten que procesos no relacionados intercambien datos localmente y entre redes. Un único socket es un punto final de un canal de comunicación bidireccional.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En términos de de conexión, Inicialmente, se crea un socket en estado no conectado, lo que significa que el socket no está asociado con ningún destino foráneo.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180" name="Google Shape;180;p18"/>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El socket se encarga de enlazar una dirección local o se conecta a través de la red a un destino, se deben establecer protocolos como el máximo tiempo de espera y la posibilidad de retransmitir  la información en caso de fallo.</a:t>
            </a:r>
            <a:endParaRPr sz="1200">
              <a:solidFill>
                <a:srgbClr val="161616"/>
              </a:solidFill>
              <a:highlight>
                <a:srgbClr val="FFFFFF"/>
              </a:highlight>
              <a:latin typeface="Arial"/>
              <a:ea typeface="Arial"/>
              <a:cs typeface="Arial"/>
              <a:sym typeface="Arial"/>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La mayor parte del trabajo realizado por la capa de sockets está en el envío y recepción de datos. La propia capa de sockets se abstiene explícitamente de imponer cualquier estructura sobre los datos transmitidos o recibidos a través de sockets.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pic>
        <p:nvPicPr>
          <p:cNvPr id="186" name="Google Shape;186;p19"/>
          <p:cNvPicPr preferRelativeResize="0"/>
          <p:nvPr/>
        </p:nvPicPr>
        <p:blipFill rotWithShape="1">
          <a:blip r:embed="rId3">
            <a:alphaModFix/>
          </a:blip>
          <a:srcRect b="0" l="0" r="0" t="0"/>
          <a:stretch/>
        </p:blipFill>
        <p:spPr>
          <a:xfrm>
            <a:off x="152400" y="1274875"/>
            <a:ext cx="5353050" cy="2133600"/>
          </a:xfrm>
          <a:prstGeom prst="rect">
            <a:avLst/>
          </a:prstGeom>
          <a:noFill/>
          <a:ln>
            <a:noFill/>
          </a:ln>
        </p:spPr>
      </p:pic>
      <p:pic>
        <p:nvPicPr>
          <p:cNvPr id="187" name="Google Shape;187;p19"/>
          <p:cNvPicPr preferRelativeResize="0"/>
          <p:nvPr/>
        </p:nvPicPr>
        <p:blipFill rotWithShape="1">
          <a:blip r:embed="rId4">
            <a:alphaModFix/>
          </a:blip>
          <a:srcRect b="0" l="0" r="0" t="0"/>
          <a:stretch/>
        </p:blipFill>
        <p:spPr>
          <a:xfrm>
            <a:off x="743850" y="3530925"/>
            <a:ext cx="3537925" cy="1430225"/>
          </a:xfrm>
          <a:prstGeom prst="rect">
            <a:avLst/>
          </a:prstGeom>
          <a:noFill/>
          <a:ln>
            <a:noFill/>
          </a:ln>
        </p:spPr>
      </p:pic>
      <p:pic>
        <p:nvPicPr>
          <p:cNvPr id="188" name="Google Shape;188;p19"/>
          <p:cNvPicPr preferRelativeResize="0"/>
          <p:nvPr/>
        </p:nvPicPr>
        <p:blipFill rotWithShape="1">
          <a:blip r:embed="rId5">
            <a:alphaModFix/>
          </a:blip>
          <a:srcRect b="0" l="0" r="0" t="0"/>
          <a:stretch/>
        </p:blipFill>
        <p:spPr>
          <a:xfrm>
            <a:off x="5912400" y="548650"/>
            <a:ext cx="2218993" cy="3686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pic>
        <p:nvPicPr>
          <p:cNvPr id="194" name="Google Shape;194;p20"/>
          <p:cNvPicPr preferRelativeResize="0"/>
          <p:nvPr/>
        </p:nvPicPr>
        <p:blipFill rotWithShape="1">
          <a:blip r:embed="rId3">
            <a:alphaModFix/>
          </a:blip>
          <a:srcRect b="0" l="0" r="0" t="0"/>
          <a:stretch/>
        </p:blipFill>
        <p:spPr>
          <a:xfrm>
            <a:off x="67375" y="1393618"/>
            <a:ext cx="9144001" cy="1315864"/>
          </a:xfrm>
          <a:prstGeom prst="rect">
            <a:avLst/>
          </a:prstGeom>
          <a:noFill/>
          <a:ln>
            <a:noFill/>
          </a:ln>
        </p:spPr>
      </p:pic>
      <p:sp>
        <p:nvSpPr>
          <p:cNvPr id="195" name="Google Shape;195;p20"/>
          <p:cNvSpPr txBox="1"/>
          <p:nvPr>
            <p:ph idx="1" type="body"/>
          </p:nvPr>
        </p:nvSpPr>
        <p:spPr>
          <a:xfrm>
            <a:off x="67375" y="3114550"/>
            <a:ext cx="8984100" cy="19209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1200"/>
              </a:spcAft>
              <a:buSzPts val="1800"/>
              <a:buNone/>
            </a:pPr>
            <a:r>
              <a:rPr lang="es"/>
              <a:t>Se utiliza un par (host, port) para la familia de direcciones AF_INET, donde host es una cadena que representa un nombre de host en notación de dominio de Internet como 'chilelindo.cl' o una dirección IPv4 como '100.50.200.5', y port es un número entero. Se utiliza para la comunicación entre procesos a través de Internet.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201" name="Google Shape;201;p21"/>
          <p:cNvSpPr txBox="1"/>
          <p:nvPr>
            <p:ph idx="1" type="body"/>
          </p:nvPr>
        </p:nvSpPr>
        <p:spPr>
          <a:xfrm>
            <a:off x="67375" y="1931625"/>
            <a:ext cx="8984100" cy="3103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1200"/>
              </a:spcAft>
              <a:buSzPts val="1800"/>
              <a:buNone/>
            </a:pPr>
            <a:r>
              <a:rPr lang="es"/>
              <a:t> Se utiliza una sola cadena para la familia de direcciones AF_UNIX/AF_LOCAL. Esta opción se utiliza para IPC en máquinas locales donde no se requiere una dirección IP.</a:t>
            </a:r>
            <a:endParaRPr/>
          </a:p>
        </p:txBody>
      </p:sp>
      <p:pic>
        <p:nvPicPr>
          <p:cNvPr id="202" name="Google Shape;202;p21"/>
          <p:cNvPicPr preferRelativeResize="0"/>
          <p:nvPr/>
        </p:nvPicPr>
        <p:blipFill rotWithShape="1">
          <a:blip r:embed="rId3">
            <a:alphaModFix/>
          </a:blip>
          <a:srcRect b="0" l="0" r="0" t="0"/>
          <a:stretch/>
        </p:blipFill>
        <p:spPr>
          <a:xfrm>
            <a:off x="227275" y="1694125"/>
            <a:ext cx="8555676" cy="776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Tipos de Comunicación </a:t>
            </a:r>
            <a:endParaRPr/>
          </a:p>
        </p:txBody>
      </p:sp>
      <p:sp>
        <p:nvSpPr>
          <p:cNvPr id="208" name="Google Shape;208;p22"/>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s"/>
              <a:t>Socket, </a:t>
            </a:r>
            <a:endParaRPr b="1"/>
          </a:p>
          <a:p>
            <a:pPr indent="0" lvl="0" marL="457200" rtl="0" algn="l">
              <a:lnSpc>
                <a:spcPct val="115000"/>
              </a:lnSpc>
              <a:spcBef>
                <a:spcPts val="1200"/>
              </a:spcBef>
              <a:spcAft>
                <a:spcPts val="0"/>
              </a:spcAft>
              <a:buSzPts val="1800"/>
              <a:buNone/>
            </a:pPr>
            <a:r>
              <a:t/>
            </a:r>
            <a:endParaRPr b="1"/>
          </a:p>
          <a:p>
            <a:pPr indent="0" lvl="0" marL="457200" rtl="0" algn="l">
              <a:lnSpc>
                <a:spcPct val="115000"/>
              </a:lnSpc>
              <a:spcBef>
                <a:spcPts val="1200"/>
              </a:spcBef>
              <a:spcAft>
                <a:spcPts val="0"/>
              </a:spcAft>
              <a:buSzPts val="1800"/>
              <a:buNone/>
            </a:pPr>
            <a:r>
              <a:rPr b="1" lang="es"/>
              <a:t>(puertos restringidos)</a:t>
            </a:r>
            <a:endParaRPr b="1"/>
          </a:p>
          <a:p>
            <a:pPr indent="-342900" lvl="0" marL="457200" rtl="0" algn="l">
              <a:lnSpc>
                <a:spcPct val="115000"/>
              </a:lnSpc>
              <a:spcBef>
                <a:spcPts val="1200"/>
              </a:spcBef>
              <a:spcAft>
                <a:spcPts val="0"/>
              </a:spcAft>
              <a:buSzPts val="1800"/>
              <a:buChar char="●"/>
            </a:pPr>
            <a:r>
              <a:rPr b="1" lang="es" u="sng">
                <a:solidFill>
                  <a:schemeClr val="hlink"/>
                </a:solidFill>
                <a:hlinkClick r:id="rId3"/>
              </a:rPr>
              <a:t>https://support.apple.com/es-lamr/HT202944</a:t>
            </a:r>
            <a:endParaRPr b="1"/>
          </a:p>
          <a:p>
            <a:pPr indent="0" lvl="0" marL="457200" rtl="0" algn="l">
              <a:lnSpc>
                <a:spcPct val="115000"/>
              </a:lnSpc>
              <a:spcBef>
                <a:spcPts val="1200"/>
              </a:spcBef>
              <a:spcAft>
                <a:spcPts val="0"/>
              </a:spcAft>
              <a:buSzPts val="1800"/>
              <a:buNone/>
            </a:pPr>
            <a:r>
              <a:t/>
            </a:r>
            <a:endParaRPr b="1"/>
          </a:p>
          <a:p>
            <a:pPr indent="-342900" lvl="0" marL="457200" rtl="0" algn="l">
              <a:lnSpc>
                <a:spcPct val="115000"/>
              </a:lnSpc>
              <a:spcBef>
                <a:spcPts val="1200"/>
              </a:spcBef>
              <a:spcAft>
                <a:spcPts val="0"/>
              </a:spcAft>
              <a:buSzPts val="1800"/>
              <a:buChar char="●"/>
            </a:pPr>
            <a:r>
              <a:rPr b="1" lang="es" u="sng">
                <a:solidFill>
                  <a:schemeClr val="hlink"/>
                </a:solidFill>
                <a:hlinkClick r:id="rId4"/>
              </a:rPr>
              <a:t>https://es.wikipedia.org/wiki/Anexo:Puertos_de_red</a:t>
            </a:r>
            <a:endParaRPr b="1"/>
          </a:p>
          <a:p>
            <a:pPr indent="0" lvl="0" marL="457200" rtl="0" algn="l">
              <a:lnSpc>
                <a:spcPct val="115000"/>
              </a:lnSpc>
              <a:spcBef>
                <a:spcPts val="1200"/>
              </a:spcBef>
              <a:spcAft>
                <a:spcPts val="1200"/>
              </a:spcAft>
              <a:buSzPts val="1800"/>
              <a:buNone/>
            </a:pPr>
            <a:r>
              <a:rPr b="1" lang="es"/>
              <a:t>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Sincronización de procesos</a:t>
            </a:r>
            <a:endParaRPr/>
          </a:p>
        </p:txBody>
      </p:sp>
      <p:sp>
        <p:nvSpPr>
          <p:cNvPr id="214" name="Google Shape;214;p23"/>
          <p:cNvSpPr txBox="1"/>
          <p:nvPr>
            <p:ph idx="1" type="body"/>
          </p:nvPr>
        </p:nvSpPr>
        <p:spPr>
          <a:xfrm>
            <a:off x="311700" y="1266325"/>
            <a:ext cx="8520600" cy="37692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800"/>
              <a:buNone/>
            </a:pPr>
            <a:r>
              <a:rPr lang="es"/>
              <a:t>El el mecanismo mediante el cual los proceso pueden trabajar de forma concurrente, estableciendo políticas para comunicarse entre sí y para el uso de los recursos computacionales, recursos tales como:</a:t>
            </a:r>
            <a:endParaRPr/>
          </a:p>
          <a:p>
            <a:pPr indent="0" lvl="0" marL="0" rtl="0" algn="just">
              <a:lnSpc>
                <a:spcPct val="115000"/>
              </a:lnSpc>
              <a:spcBef>
                <a:spcPts val="1200"/>
              </a:spcBef>
              <a:spcAft>
                <a:spcPts val="0"/>
              </a:spcAft>
              <a:buSzPts val="1800"/>
              <a:buNone/>
            </a:pPr>
            <a:r>
              <a:t/>
            </a:r>
            <a:endParaRPr/>
          </a:p>
          <a:p>
            <a:pPr indent="0" lvl="0" marL="0" rtl="0" algn="just">
              <a:lnSpc>
                <a:spcPct val="115000"/>
              </a:lnSpc>
              <a:spcBef>
                <a:spcPts val="1200"/>
              </a:spcBef>
              <a:spcAft>
                <a:spcPts val="0"/>
              </a:spcAft>
              <a:buSzPts val="1800"/>
              <a:buNone/>
            </a:pPr>
            <a:r>
              <a:rPr lang="es"/>
              <a:t>CPU</a:t>
            </a:r>
            <a:endParaRPr/>
          </a:p>
          <a:p>
            <a:pPr indent="0" lvl="0" marL="0" rtl="0" algn="just">
              <a:lnSpc>
                <a:spcPct val="115000"/>
              </a:lnSpc>
              <a:spcBef>
                <a:spcPts val="1200"/>
              </a:spcBef>
              <a:spcAft>
                <a:spcPts val="0"/>
              </a:spcAft>
              <a:buSzPts val="1800"/>
              <a:buNone/>
            </a:pPr>
            <a:r>
              <a:rPr lang="es"/>
              <a:t>RAM</a:t>
            </a:r>
            <a:endParaRPr/>
          </a:p>
          <a:p>
            <a:pPr indent="0" lvl="0" marL="0" rtl="0" algn="just">
              <a:lnSpc>
                <a:spcPct val="115000"/>
              </a:lnSpc>
              <a:spcBef>
                <a:spcPts val="1200"/>
              </a:spcBef>
              <a:spcAft>
                <a:spcPts val="0"/>
              </a:spcAft>
              <a:buSzPts val="1800"/>
              <a:buNone/>
            </a:pPr>
            <a:r>
              <a:rPr lang="es"/>
              <a:t>Disco HDD</a:t>
            </a:r>
            <a:endParaRPr/>
          </a:p>
          <a:p>
            <a:pPr indent="0" lvl="0" marL="0" rtl="0" algn="just">
              <a:lnSpc>
                <a:spcPct val="115000"/>
              </a:lnSpc>
              <a:spcBef>
                <a:spcPts val="1200"/>
              </a:spcBef>
              <a:spcAft>
                <a:spcPts val="0"/>
              </a:spcAft>
              <a:buSzPts val="1800"/>
              <a:buNone/>
            </a:pPr>
            <a:r>
              <a:rPr lang="es"/>
              <a:t>Dispositivos </a:t>
            </a:r>
            <a:endParaRPr/>
          </a:p>
          <a:p>
            <a:pPr indent="0" lvl="0" marL="0" rtl="0" algn="just">
              <a:lnSpc>
                <a:spcPct val="115000"/>
              </a:lnSpc>
              <a:spcBef>
                <a:spcPts val="1200"/>
              </a:spcBef>
              <a:spcAft>
                <a:spcPts val="1200"/>
              </a:spcAft>
              <a:buSzPts val="1800"/>
              <a:buNone/>
            </a:pPr>
            <a:r>
              <a:rPr lang="es"/>
              <a:t>etc….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Exclusión mutua</a:t>
            </a:r>
            <a:endParaRPr/>
          </a:p>
        </p:txBody>
      </p:sp>
      <p:sp>
        <p:nvSpPr>
          <p:cNvPr id="220" name="Google Shape;220;p24"/>
          <p:cNvSpPr txBox="1"/>
          <p:nvPr>
            <p:ph idx="1" type="body"/>
          </p:nvPr>
        </p:nvSpPr>
        <p:spPr>
          <a:xfrm>
            <a:off x="311700" y="1266325"/>
            <a:ext cx="8520600" cy="370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Es un problema de sincronización de procesos, el cual se produce cuando se da el acceso concurrente de un recurso desde múltiples procesos, estos problemas son:</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rPr lang="es"/>
              <a:t>1. Deadlock - Cerrojo ⇒ interbloqueo entre proceso</a:t>
            </a:r>
            <a:endParaRPr/>
          </a:p>
          <a:p>
            <a:pPr indent="0" lvl="0" marL="457200" rtl="0" algn="l">
              <a:lnSpc>
                <a:spcPct val="115000"/>
              </a:lnSpc>
              <a:spcBef>
                <a:spcPts val="0"/>
              </a:spcBef>
              <a:spcAft>
                <a:spcPts val="0"/>
              </a:spcAft>
              <a:buSzPts val="1800"/>
              <a:buNone/>
            </a:pPr>
            <a:r>
              <a:rPr lang="es"/>
              <a:t> </a:t>
            </a:r>
            <a:endParaRPr/>
          </a:p>
          <a:p>
            <a:pPr indent="0" lvl="0" marL="457200" rtl="0" algn="l">
              <a:lnSpc>
                <a:spcPct val="115000"/>
              </a:lnSpc>
              <a:spcBef>
                <a:spcPts val="0"/>
              </a:spcBef>
              <a:spcAft>
                <a:spcPts val="0"/>
              </a:spcAft>
              <a:buSzPts val="1800"/>
              <a:buNone/>
            </a:pPr>
            <a:br>
              <a:rPr lang="es"/>
            </a:br>
            <a:endParaRPr/>
          </a:p>
        </p:txBody>
      </p:sp>
      <p:pic>
        <p:nvPicPr>
          <p:cNvPr id="221" name="Google Shape;221;p24"/>
          <p:cNvPicPr preferRelativeResize="0"/>
          <p:nvPr/>
        </p:nvPicPr>
        <p:blipFill rotWithShape="1">
          <a:blip r:embed="rId3">
            <a:alphaModFix/>
          </a:blip>
          <a:srcRect b="0" l="0" r="0" t="0"/>
          <a:stretch/>
        </p:blipFill>
        <p:spPr>
          <a:xfrm>
            <a:off x="2160450" y="3511063"/>
            <a:ext cx="2697325" cy="628325"/>
          </a:xfrm>
          <a:prstGeom prst="rect">
            <a:avLst/>
          </a:prstGeom>
          <a:noFill/>
          <a:ln>
            <a:noFill/>
          </a:ln>
        </p:spPr>
      </p:pic>
      <p:sp>
        <p:nvSpPr>
          <p:cNvPr id="222" name="Google Shape;222;p24"/>
          <p:cNvSpPr txBox="1"/>
          <p:nvPr/>
        </p:nvSpPr>
        <p:spPr>
          <a:xfrm>
            <a:off x="6656300" y="2329625"/>
            <a:ext cx="1721700" cy="110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rgbClr val="FF0000"/>
                </a:solidFill>
                <a:latin typeface="Open Sans"/>
                <a:ea typeface="Open Sans"/>
                <a:cs typeface="Open Sans"/>
                <a:sym typeface="Open Sans"/>
              </a:rPr>
              <a:t>“El recurso” </a:t>
            </a:r>
            <a:r>
              <a:rPr b="1" i="0" lang="es" sz="1400" u="none" cap="none" strike="noStrike">
                <a:solidFill>
                  <a:srgbClr val="3D85C6"/>
                </a:solidFill>
                <a:latin typeface="Open Sans"/>
                <a:ea typeface="Open Sans"/>
                <a:cs typeface="Open Sans"/>
                <a:sym typeface="Open Sans"/>
              </a:rPr>
              <a:t>⇒ concepto fundamental es </a:t>
            </a:r>
            <a:r>
              <a:rPr b="1" i="0" lang="es" sz="1400" u="none" cap="none" strike="noStrike">
                <a:solidFill>
                  <a:srgbClr val="00FF00"/>
                </a:solidFill>
                <a:latin typeface="Open Sans"/>
                <a:ea typeface="Open Sans"/>
                <a:cs typeface="Open Sans"/>
                <a:sym typeface="Open Sans"/>
              </a:rPr>
              <a:t>”Sección Crítica”</a:t>
            </a:r>
            <a:endParaRPr b="1" i="0" sz="1400" u="none" cap="none" strike="noStrike">
              <a:solidFill>
                <a:srgbClr val="00FF00"/>
              </a:solidFill>
              <a:latin typeface="Open Sans"/>
              <a:ea typeface="Open Sans"/>
              <a:cs typeface="Open Sans"/>
              <a:sym typeface="Open Sans"/>
            </a:endParaRPr>
          </a:p>
        </p:txBody>
      </p:sp>
      <p:sp>
        <p:nvSpPr>
          <p:cNvPr id="223" name="Google Shape;223;p24"/>
          <p:cNvSpPr/>
          <p:nvPr/>
        </p:nvSpPr>
        <p:spPr>
          <a:xfrm>
            <a:off x="6548146" y="2098639"/>
            <a:ext cx="2073875" cy="1955900"/>
          </a:xfrm>
          <a:custGeom>
            <a:rect b="b" l="l" r="r" t="t"/>
            <a:pathLst>
              <a:path extrusionOk="0" h="78236" w="82955">
                <a:moveTo>
                  <a:pt x="59363" y="63587"/>
                </a:moveTo>
                <a:cubicBezTo>
                  <a:pt x="50376" y="59737"/>
                  <a:pt x="40325" y="58113"/>
                  <a:pt x="30548" y="58113"/>
                </a:cubicBezTo>
                <a:cubicBezTo>
                  <a:pt x="24340" y="58113"/>
                  <a:pt x="16229" y="60159"/>
                  <a:pt x="12106" y="55519"/>
                </a:cubicBezTo>
                <a:cubicBezTo>
                  <a:pt x="5761" y="48378"/>
                  <a:pt x="5964" y="37314"/>
                  <a:pt x="4614" y="27857"/>
                </a:cubicBezTo>
                <a:cubicBezTo>
                  <a:pt x="3759" y="21869"/>
                  <a:pt x="-2833" y="14268"/>
                  <a:pt x="1444" y="9991"/>
                </a:cubicBezTo>
                <a:cubicBezTo>
                  <a:pt x="6448" y="4987"/>
                  <a:pt x="14787" y="5226"/>
                  <a:pt x="21615" y="3364"/>
                </a:cubicBezTo>
                <a:cubicBezTo>
                  <a:pt x="27633" y="1723"/>
                  <a:pt x="33868" y="-579"/>
                  <a:pt x="40057" y="194"/>
                </a:cubicBezTo>
                <a:cubicBezTo>
                  <a:pt x="45415" y="864"/>
                  <a:pt x="47496" y="8969"/>
                  <a:pt x="52735" y="10279"/>
                </a:cubicBezTo>
                <a:cubicBezTo>
                  <a:pt x="61414" y="12450"/>
                  <a:pt x="73705" y="9751"/>
                  <a:pt x="78669" y="17195"/>
                </a:cubicBezTo>
                <a:cubicBezTo>
                  <a:pt x="81079" y="20809"/>
                  <a:pt x="83645" y="25346"/>
                  <a:pt x="82703" y="29586"/>
                </a:cubicBezTo>
                <a:cubicBezTo>
                  <a:pt x="81716" y="34029"/>
                  <a:pt x="75606" y="35524"/>
                  <a:pt x="73194" y="39383"/>
                </a:cubicBezTo>
                <a:cubicBezTo>
                  <a:pt x="69636" y="45076"/>
                  <a:pt x="69060" y="52168"/>
                  <a:pt x="66566" y="58401"/>
                </a:cubicBezTo>
                <a:cubicBezTo>
                  <a:pt x="65011" y="62286"/>
                  <a:pt x="64549" y="66607"/>
                  <a:pt x="64549" y="70791"/>
                </a:cubicBezTo>
                <a:cubicBezTo>
                  <a:pt x="64549" y="73194"/>
                  <a:pt x="66183" y="79438"/>
                  <a:pt x="64261" y="77995"/>
                </a:cubicBezTo>
                <a:cubicBezTo>
                  <a:pt x="59349" y="74307"/>
                  <a:pt x="61731" y="63519"/>
                  <a:pt x="55905" y="61570"/>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a:off x="7967375" y="4185400"/>
            <a:ext cx="554700" cy="511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Exclusión mutua</a:t>
            </a:r>
            <a:endParaRPr/>
          </a:p>
        </p:txBody>
      </p:sp>
      <p:sp>
        <p:nvSpPr>
          <p:cNvPr id="230" name="Google Shape;230;p25"/>
          <p:cNvSpPr txBox="1"/>
          <p:nvPr>
            <p:ph idx="1" type="body"/>
          </p:nvPr>
        </p:nvSpPr>
        <p:spPr>
          <a:xfrm>
            <a:off x="0" y="1259125"/>
            <a:ext cx="5069400" cy="3704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800"/>
              <a:buNone/>
            </a:pPr>
            <a:r>
              <a:rPr lang="es"/>
              <a:t>2. Starvation - (Hambre - Inanición)⇒ procesos con baja prioridad no son atendidos</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rPr lang="es"/>
              <a:t>3. Overhead (sobrecosto - sobrecarga) ⇒ exceso de tiempos al usar (cómputo, memoria ancho de banda u otro recurso) o satura el uso del recurso</a:t>
            </a:r>
            <a:endParaRPr/>
          </a:p>
        </p:txBody>
      </p:sp>
      <p:pic>
        <p:nvPicPr>
          <p:cNvPr id="231" name="Google Shape;231;p25"/>
          <p:cNvPicPr preferRelativeResize="0"/>
          <p:nvPr/>
        </p:nvPicPr>
        <p:blipFill rotWithShape="1">
          <a:blip r:embed="rId3">
            <a:alphaModFix/>
          </a:blip>
          <a:srcRect b="0" l="0" r="0" t="0"/>
          <a:stretch/>
        </p:blipFill>
        <p:spPr>
          <a:xfrm>
            <a:off x="4828676" y="477351"/>
            <a:ext cx="4156050" cy="2346525"/>
          </a:xfrm>
          <a:prstGeom prst="rect">
            <a:avLst/>
          </a:prstGeom>
          <a:noFill/>
          <a:ln cap="flat" cmpd="sng" w="9525">
            <a:solidFill>
              <a:schemeClr val="dk2"/>
            </a:solidFill>
            <a:prstDash val="solid"/>
            <a:round/>
            <a:headEnd len="sm" w="sm" type="none"/>
            <a:tailEnd len="sm" w="sm" type="none"/>
          </a:ln>
        </p:spPr>
      </p:pic>
      <p:pic>
        <p:nvPicPr>
          <p:cNvPr id="232" name="Google Shape;232;p25"/>
          <p:cNvPicPr preferRelativeResize="0"/>
          <p:nvPr/>
        </p:nvPicPr>
        <p:blipFill rotWithShape="1">
          <a:blip r:embed="rId4">
            <a:alphaModFix/>
          </a:blip>
          <a:srcRect b="0" l="0" r="0" t="0"/>
          <a:stretch/>
        </p:blipFill>
        <p:spPr>
          <a:xfrm>
            <a:off x="5120925" y="3095076"/>
            <a:ext cx="3769800" cy="18684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
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PT Sans Narrow"/>
      <p:regular r:id="rId25"/>
      <p:bold r:id="rId26"/>
    </p:embeddedFont>
    <p:embeddedFont>
      <p:font typeface="Merriweather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96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hG+bm0mwHinnamjOnogr8Rf631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TSansNarrow-bold.fntdata"/><Relationship Id="rId25" Type="http://schemas.openxmlformats.org/officeDocument/2006/relationships/font" Target="fonts/PTSansNarrow-regular.fntdata"/><Relationship Id="rId28" Type="http://schemas.openxmlformats.org/officeDocument/2006/relationships/font" Target="fonts/Merriweather-bold.fntdata"/><Relationship Id="rId27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regular.fntdata"/><Relationship Id="rId3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33" Type="http://schemas.openxmlformats.org/officeDocument/2006/relationships/font" Target="fonts/OpenSans-italic.fntdata"/><Relationship Id="rId10" Type="http://schemas.openxmlformats.org/officeDocument/2006/relationships/slide" Target="slides/slide5.xml"/><Relationship Id="rId32" Type="http://schemas.openxmlformats.org/officeDocument/2006/relationships/font" Target="fonts/OpenSans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1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1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1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1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1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1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1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1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1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1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4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28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28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28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2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0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30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9.png"/><Relationship Id="rId7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Unidad 1 - Sistemas Operativos Generalidades</a:t>
            </a:r>
            <a:endParaRPr/>
          </a:p>
        </p:txBody>
      </p:sp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1700"/>
              <a:t>2023-02 (lvc)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Temas a Tratar</a:t>
            </a:r>
            <a:endParaRPr/>
          </a:p>
        </p:txBody>
      </p:sp>
      <p:sp>
        <p:nvSpPr>
          <p:cNvPr id="73" name="Google Shape;73;p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Tipos de Sistemas Operativos</a:t>
            </a:r>
            <a:endParaRPr sz="20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Ventajas/Desventajas</a:t>
            </a:r>
            <a:endParaRPr sz="16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Evolución de las interfaces de usuario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Ejemplos de S.O.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Diferencias de S.O.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Tipos de Sistemas Operativos</a:t>
            </a:r>
            <a:endParaRPr/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311700" y="1266325"/>
            <a:ext cx="85206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"/>
              <a:t>Dentro de los sistemas operativos existen distintos tipos y formas de clasificarlos, algunos de estos son:</a:t>
            </a:r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1434075" y="2578450"/>
            <a:ext cx="10647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por lotes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3231025" y="2402900"/>
            <a:ext cx="19953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 multitareas o de tiempo compartido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6089300" y="2518550"/>
            <a:ext cx="10647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en tiempo real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1310900" y="3784775"/>
            <a:ext cx="13773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distribuidos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3363425" y="3784775"/>
            <a:ext cx="13773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de red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5827725" y="3735525"/>
            <a:ext cx="13773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móviles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87450" y="4408075"/>
            <a:ext cx="475200" cy="516000"/>
          </a:xfrm>
          <a:prstGeom prst="smileyFace">
            <a:avLst>
              <a:gd fmla="val 4653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09925" y="2147550"/>
            <a:ext cx="6811975" cy="2627875"/>
          </a:xfrm>
          <a:custGeom>
            <a:rect b="b" l="l" r="r" t="t"/>
            <a:pathLst>
              <a:path extrusionOk="0" h="105115" w="272479">
                <a:moveTo>
                  <a:pt x="327" y="94025"/>
                </a:moveTo>
                <a:cubicBezTo>
                  <a:pt x="10904" y="83448"/>
                  <a:pt x="16562" y="67881"/>
                  <a:pt x="18673" y="53073"/>
                </a:cubicBezTo>
                <a:cubicBezTo>
                  <a:pt x="20617" y="39437"/>
                  <a:pt x="18404" y="21712"/>
                  <a:pt x="29157" y="13105"/>
                </a:cubicBezTo>
                <a:cubicBezTo>
                  <a:pt x="36899" y="6909"/>
                  <a:pt x="48694" y="4804"/>
                  <a:pt x="58314" y="7208"/>
                </a:cubicBezTo>
                <a:cubicBezTo>
                  <a:pt x="62815" y="8333"/>
                  <a:pt x="66160" y="12858"/>
                  <a:pt x="70764" y="13432"/>
                </a:cubicBezTo>
                <a:cubicBezTo>
                  <a:pt x="76399" y="14135"/>
                  <a:pt x="82121" y="13432"/>
                  <a:pt x="87799" y="13432"/>
                </a:cubicBezTo>
                <a:cubicBezTo>
                  <a:pt x="103641" y="13432"/>
                  <a:pt x="117888" y="2419"/>
                  <a:pt x="133665" y="983"/>
                </a:cubicBezTo>
                <a:cubicBezTo>
                  <a:pt x="144555" y="-8"/>
                  <a:pt x="156721" y="275"/>
                  <a:pt x="166099" y="5897"/>
                </a:cubicBezTo>
                <a:cubicBezTo>
                  <a:pt x="169583" y="7986"/>
                  <a:pt x="171961" y="12223"/>
                  <a:pt x="175927" y="13105"/>
                </a:cubicBezTo>
                <a:cubicBezTo>
                  <a:pt x="192254" y="16738"/>
                  <a:pt x="208667" y="6228"/>
                  <a:pt x="225069" y="2949"/>
                </a:cubicBezTo>
                <a:cubicBezTo>
                  <a:pt x="234861" y="991"/>
                  <a:pt x="244895" y="0"/>
                  <a:pt x="254881" y="0"/>
                </a:cubicBezTo>
                <a:cubicBezTo>
                  <a:pt x="260503" y="0"/>
                  <a:pt x="268405" y="2702"/>
                  <a:pt x="269624" y="8190"/>
                </a:cubicBezTo>
                <a:cubicBezTo>
                  <a:pt x="270703" y="13045"/>
                  <a:pt x="273617" y="18259"/>
                  <a:pt x="271917" y="22933"/>
                </a:cubicBezTo>
                <a:cubicBezTo>
                  <a:pt x="270139" y="27821"/>
                  <a:pt x="262733" y="29893"/>
                  <a:pt x="262089" y="35055"/>
                </a:cubicBezTo>
                <a:cubicBezTo>
                  <a:pt x="261513" y="39675"/>
                  <a:pt x="270170" y="41273"/>
                  <a:pt x="270934" y="45866"/>
                </a:cubicBezTo>
                <a:cubicBezTo>
                  <a:pt x="271816" y="51166"/>
                  <a:pt x="264545" y="54515"/>
                  <a:pt x="261106" y="58643"/>
                </a:cubicBezTo>
                <a:cubicBezTo>
                  <a:pt x="259144" y="60998"/>
                  <a:pt x="262362" y="64810"/>
                  <a:pt x="261761" y="67816"/>
                </a:cubicBezTo>
                <a:cubicBezTo>
                  <a:pt x="260988" y="71684"/>
                  <a:pt x="255209" y="72468"/>
                  <a:pt x="252916" y="75678"/>
                </a:cubicBezTo>
                <a:cubicBezTo>
                  <a:pt x="251484" y="77683"/>
                  <a:pt x="254554" y="80422"/>
                  <a:pt x="254554" y="82886"/>
                </a:cubicBezTo>
                <a:cubicBezTo>
                  <a:pt x="254554" y="85182"/>
                  <a:pt x="251930" y="86837"/>
                  <a:pt x="251605" y="89110"/>
                </a:cubicBezTo>
                <a:cubicBezTo>
                  <a:pt x="251274" y="91421"/>
                  <a:pt x="251946" y="94339"/>
                  <a:pt x="250295" y="95990"/>
                </a:cubicBezTo>
                <a:cubicBezTo>
                  <a:pt x="244976" y="101309"/>
                  <a:pt x="235851" y="100731"/>
                  <a:pt x="228345" y="101232"/>
                </a:cubicBezTo>
                <a:cubicBezTo>
                  <a:pt x="217449" y="101959"/>
                  <a:pt x="206437" y="102439"/>
                  <a:pt x="195584" y="101232"/>
                </a:cubicBezTo>
                <a:cubicBezTo>
                  <a:pt x="188925" y="100491"/>
                  <a:pt x="183249" y="95347"/>
                  <a:pt x="176582" y="94680"/>
                </a:cubicBezTo>
                <a:cubicBezTo>
                  <a:pt x="172970" y="94318"/>
                  <a:pt x="169576" y="96585"/>
                  <a:pt x="166099" y="97628"/>
                </a:cubicBezTo>
                <a:cubicBezTo>
                  <a:pt x="157193" y="100300"/>
                  <a:pt x="148079" y="102323"/>
                  <a:pt x="138907" y="103853"/>
                </a:cubicBezTo>
                <a:cubicBezTo>
                  <a:pt x="120336" y="106951"/>
                  <a:pt x="101051" y="101596"/>
                  <a:pt x="82885" y="96646"/>
                </a:cubicBezTo>
                <a:cubicBezTo>
                  <a:pt x="68127" y="92625"/>
                  <a:pt x="52878" y="102822"/>
                  <a:pt x="37675" y="104508"/>
                </a:cubicBezTo>
                <a:cubicBezTo>
                  <a:pt x="33007" y="105026"/>
                  <a:pt x="28044" y="105667"/>
                  <a:pt x="23588" y="104181"/>
                </a:cubicBezTo>
                <a:cubicBezTo>
                  <a:pt x="20654" y="103203"/>
                  <a:pt x="19642" y="98934"/>
                  <a:pt x="16708" y="97956"/>
                </a:cubicBezTo>
                <a:cubicBezTo>
                  <a:pt x="11201" y="96120"/>
                  <a:pt x="4105" y="97147"/>
                  <a:pt x="0" y="93042"/>
                </a:cubicBezTo>
              </a:path>
            </a:pathLst>
          </a:custGeom>
          <a:noFill/>
          <a:ln cap="flat" cmpd="sng" w="28575">
            <a:solidFill>
              <a:srgbClr val="FFD9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Tipos de Sistemas Operativos</a:t>
            </a:r>
            <a:endParaRPr/>
          </a:p>
        </p:txBody>
      </p:sp>
      <p:sp>
        <p:nvSpPr>
          <p:cNvPr id="93" name="Google Shape;93;p4"/>
          <p:cNvSpPr txBox="1"/>
          <p:nvPr/>
        </p:nvSpPr>
        <p:spPr>
          <a:xfrm>
            <a:off x="246500" y="2488375"/>
            <a:ext cx="1679100" cy="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por lotes</a:t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0725" y="1861750"/>
            <a:ext cx="3606949" cy="18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 txBox="1"/>
          <p:nvPr/>
        </p:nvSpPr>
        <p:spPr>
          <a:xfrm>
            <a:off x="5271225" y="1500500"/>
            <a:ext cx="8355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A61C00"/>
                </a:solidFill>
                <a:latin typeface="Open Sans"/>
                <a:ea typeface="Open Sans"/>
                <a:cs typeface="Open Sans"/>
                <a:sym typeface="Open Sans"/>
              </a:rPr>
              <a:t>Process</a:t>
            </a:r>
            <a:endParaRPr b="1" i="0" sz="1200" u="none" cap="none" strike="noStrike">
              <a:solidFill>
                <a:srgbClr val="A61C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06375" y="1811750"/>
            <a:ext cx="565200" cy="199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2310450" y="1197500"/>
            <a:ext cx="3014100" cy="3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ejecutar proceso sin la necesidad del usuario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existe una interacción directa con el usuario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orquestador encargado de agrupar y dividir los trabajos a procesar, generalmente basado en la similitud de las tareas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bajo nivel de inactividad, es decir, se busca mantener la mayor parte del tiempo trabajando para resolver las tareas 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8" name="Google Shape;98;p4"/>
          <p:cNvCxnSpPr/>
          <p:nvPr/>
        </p:nvCxnSpPr>
        <p:spPr>
          <a:xfrm flipH="1" rot="10800000">
            <a:off x="1548750" y="1648100"/>
            <a:ext cx="753600" cy="96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" name="Google Shape;99;p4"/>
          <p:cNvCxnSpPr/>
          <p:nvPr/>
        </p:nvCxnSpPr>
        <p:spPr>
          <a:xfrm flipH="1" rot="10800000">
            <a:off x="1794475" y="2245800"/>
            <a:ext cx="581400" cy="45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" name="Google Shape;100;p4"/>
          <p:cNvCxnSpPr>
            <a:endCxn id="97" idx="1"/>
          </p:cNvCxnSpPr>
          <p:nvPr/>
        </p:nvCxnSpPr>
        <p:spPr>
          <a:xfrm flipH="1" rot="10800000">
            <a:off x="1794450" y="3089450"/>
            <a:ext cx="516000" cy="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" name="Google Shape;101;p4"/>
          <p:cNvCxnSpPr/>
          <p:nvPr/>
        </p:nvCxnSpPr>
        <p:spPr>
          <a:xfrm>
            <a:off x="1655225" y="3367900"/>
            <a:ext cx="687900" cy="73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Tipos de Sistemas Operativos</a:t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57625" y="2291325"/>
            <a:ext cx="1396500" cy="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por lotes</a:t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996175" y="1685050"/>
            <a:ext cx="3000000" cy="3210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Múltiples usuarios pueden compartir los sistemas por lotes.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tiempo de inactividad del sistema por lotes es muy inferior.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fácil gestionar grandes trabajos repetidamente en sistemas por lotes</a:t>
            </a:r>
            <a:endParaRPr b="0" i="0" sz="1250" u="none" cap="none" strike="noStrike">
              <a:solidFill>
                <a:srgbClr val="44444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342750" y="1648575"/>
            <a:ext cx="3000000" cy="32106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difíciles de depurar.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Algunas opciones son costosas.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otros trabajos tendrán que esperar un tiempo desconocido si falla alguna ejecución.</a:t>
            </a:r>
            <a:endParaRPr b="0" i="0" sz="1150" u="none" cap="none" strike="noStrike">
              <a:solidFill>
                <a:srgbClr val="44444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2831000" y="1266788"/>
            <a:ext cx="1231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Ventajas</a:t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5986825" y="1248550"/>
            <a:ext cx="15402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Desventajas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Tipos de Sistemas Operativos</a:t>
            </a:r>
            <a:endParaRPr/>
          </a:p>
        </p:txBody>
      </p:sp>
      <p:sp>
        <p:nvSpPr>
          <p:cNvPr id="117" name="Google Shape;117;p6"/>
          <p:cNvSpPr txBox="1"/>
          <p:nvPr/>
        </p:nvSpPr>
        <p:spPr>
          <a:xfrm>
            <a:off x="0" y="2488375"/>
            <a:ext cx="20157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 multitareas o de tiempo compartido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2310450" y="1197500"/>
            <a:ext cx="3390900" cy="3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permite la ejecución de distintas tareas al mismo tiempo y funcionar sin problemas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aprovechan la multiprogramación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 ser utilizado por uno o por varios usuarios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definen un tiempo de ejecución genérico para todas las tareas, este tiempo es llamado quantum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cuando se cumple el tiempo de ejecución pasa a la siguiente tarea en espera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300" y="1799050"/>
            <a:ext cx="3514650" cy="1757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6"/>
          <p:cNvCxnSpPr/>
          <p:nvPr/>
        </p:nvCxnSpPr>
        <p:spPr>
          <a:xfrm flipH="1" rot="10800000">
            <a:off x="1827225" y="1582475"/>
            <a:ext cx="491400" cy="7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1" name="Google Shape;121;p6"/>
          <p:cNvCxnSpPr/>
          <p:nvPr/>
        </p:nvCxnSpPr>
        <p:spPr>
          <a:xfrm flipH="1" rot="10800000">
            <a:off x="1802650" y="2286900"/>
            <a:ext cx="5814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" name="Google Shape;122;p6"/>
          <p:cNvCxnSpPr/>
          <p:nvPr/>
        </p:nvCxnSpPr>
        <p:spPr>
          <a:xfrm>
            <a:off x="1917325" y="2770025"/>
            <a:ext cx="426000" cy="4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" name="Google Shape;123;p6"/>
          <p:cNvCxnSpPr/>
          <p:nvPr/>
        </p:nvCxnSpPr>
        <p:spPr>
          <a:xfrm>
            <a:off x="1974650" y="3515325"/>
            <a:ext cx="2703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" name="Google Shape;124;p6"/>
          <p:cNvCxnSpPr/>
          <p:nvPr/>
        </p:nvCxnSpPr>
        <p:spPr>
          <a:xfrm>
            <a:off x="1868175" y="3605425"/>
            <a:ext cx="434100" cy="87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Tipos de Sistemas Operativos</a:t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0" y="2488375"/>
            <a:ext cx="20157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 multitareas o de tiempo compartido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996175" y="1685050"/>
            <a:ext cx="3000000" cy="3210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tarea recibe atención por igual.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Menos posibilidades de duplicación de software.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tiempo de inactividad de la CPU se puede reducir.</a:t>
            </a:r>
            <a:endParaRPr b="0" i="0" sz="1150" u="none" cap="none" strike="noStrike">
              <a:solidFill>
                <a:srgbClr val="44444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rgbClr val="44444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342750" y="1648575"/>
            <a:ext cx="3000000" cy="32106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 de confiabilidad.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debe cuidar por sí mismo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seguridad e integridad de los programas y datos del usuario.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 de comunicación de datos.</a:t>
            </a:r>
            <a:endParaRPr b="0" i="0" sz="1150" u="none" cap="none" strike="noStrike">
              <a:solidFill>
                <a:srgbClr val="44444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rgbClr val="44444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2831000" y="1266788"/>
            <a:ext cx="1231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Ventajas</a:t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5986825" y="1248550"/>
            <a:ext cx="15402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Desventajas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Tipos de Sistemas Operativos</a:t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90100" y="2480200"/>
            <a:ext cx="15651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en tiempo real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2156650" y="1197500"/>
            <a:ext cx="3544800" cy="3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deja un espacio de tiempo muy pequeño para el proceso de entradas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trata de responder cada solicitud lo más rápido posible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utiliza cuando los SLA de tiempo de procesamiento y respuesta son muy cortos y estrictos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emplean en robots, sistemas encargados del control del tráfico aéreo o sistemas industriales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utiliza en control de procesos y en algunos tipos de experimentos científicos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6741375" y="229550"/>
            <a:ext cx="22359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Service Level Agreement (SLA) es un </a:t>
            </a:r>
            <a:r>
              <a:rPr b="0" i="0" lang="es" sz="1000" u="none" cap="none" strike="noStrike">
                <a:solidFill>
                  <a:srgbClr val="040C28"/>
                </a:solidFill>
                <a:latin typeface="Arial"/>
                <a:ea typeface="Arial"/>
                <a:cs typeface="Arial"/>
                <a:sym typeface="Arial"/>
              </a:rPr>
              <a:t>contrato que describe el nivel de servicio que un cliente espera de su proveedor</a:t>
            </a:r>
            <a:r>
              <a:rPr b="0" i="0" lang="es" sz="1000" u="none" cap="none" strike="noStrike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3" name="Google Shape;1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278" y="973500"/>
            <a:ext cx="672000" cy="93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/>
          <p:nvPr/>
        </p:nvSpPr>
        <p:spPr>
          <a:xfrm>
            <a:off x="6590350" y="175989"/>
            <a:ext cx="2405250" cy="923200"/>
          </a:xfrm>
          <a:custGeom>
            <a:rect b="b" l="l" r="r" t="t"/>
            <a:pathLst>
              <a:path extrusionOk="0" h="36928" w="96210">
                <a:moveTo>
                  <a:pt x="66650" y="35945"/>
                </a:moveTo>
                <a:cubicBezTo>
                  <a:pt x="63528" y="35320"/>
                  <a:pt x="60964" y="32736"/>
                  <a:pt x="57805" y="32341"/>
                </a:cubicBezTo>
                <a:cubicBezTo>
                  <a:pt x="44009" y="30615"/>
                  <a:pt x="29687" y="32764"/>
                  <a:pt x="16198" y="29393"/>
                </a:cubicBezTo>
                <a:cubicBezTo>
                  <a:pt x="12054" y="28357"/>
                  <a:pt x="7241" y="30321"/>
                  <a:pt x="3421" y="28410"/>
                </a:cubicBezTo>
                <a:cubicBezTo>
                  <a:pt x="-3969" y="24713"/>
                  <a:pt x="2448" y="10926"/>
                  <a:pt x="6697" y="3839"/>
                </a:cubicBezTo>
                <a:cubicBezTo>
                  <a:pt x="9098" y="-166"/>
                  <a:pt x="15788" y="1218"/>
                  <a:pt x="20457" y="1218"/>
                </a:cubicBezTo>
                <a:cubicBezTo>
                  <a:pt x="31506" y="1218"/>
                  <a:pt x="42648" y="1365"/>
                  <a:pt x="53546" y="3184"/>
                </a:cubicBezTo>
                <a:cubicBezTo>
                  <a:pt x="57729" y="3882"/>
                  <a:pt x="61769" y="916"/>
                  <a:pt x="65995" y="563"/>
                </a:cubicBezTo>
                <a:cubicBezTo>
                  <a:pt x="75999" y="-271"/>
                  <a:pt x="91627" y="-1301"/>
                  <a:pt x="95152" y="8098"/>
                </a:cubicBezTo>
                <a:cubicBezTo>
                  <a:pt x="95961" y="10255"/>
                  <a:pt x="96535" y="12792"/>
                  <a:pt x="95807" y="14978"/>
                </a:cubicBezTo>
                <a:cubicBezTo>
                  <a:pt x="95079" y="17163"/>
                  <a:pt x="91752" y="18616"/>
                  <a:pt x="92204" y="20875"/>
                </a:cubicBezTo>
                <a:cubicBezTo>
                  <a:pt x="92611" y="22907"/>
                  <a:pt x="95787" y="25477"/>
                  <a:pt x="94169" y="26772"/>
                </a:cubicBezTo>
                <a:cubicBezTo>
                  <a:pt x="86535" y="32882"/>
                  <a:pt x="63555" y="27653"/>
                  <a:pt x="66650" y="36928"/>
                </a:cubicBezTo>
              </a:path>
            </a:pathLst>
          </a:cu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0775" y="2397900"/>
            <a:ext cx="3137849" cy="187532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 txBox="1"/>
          <p:nvPr/>
        </p:nvSpPr>
        <p:spPr>
          <a:xfrm>
            <a:off x="5859175" y="4273225"/>
            <a:ext cx="301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Sistema de regulación de nivel de un depósito de agua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1019" y="1427400"/>
            <a:ext cx="1289300" cy="121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 txBox="1"/>
          <p:nvPr/>
        </p:nvSpPr>
        <p:spPr>
          <a:xfrm>
            <a:off x="7201075" y="1839125"/>
            <a:ext cx="8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controlador de flujo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9" name="Google Shape;149;p8"/>
          <p:cNvCxnSpPr>
            <a:stCxn id="140" idx="3"/>
          </p:cNvCxnSpPr>
          <p:nvPr/>
        </p:nvCxnSpPr>
        <p:spPr>
          <a:xfrm flipH="1" rot="10800000">
            <a:off x="1655200" y="1563250"/>
            <a:ext cx="558900" cy="135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" name="Google Shape;150;p8"/>
          <p:cNvCxnSpPr>
            <a:stCxn id="140" idx="3"/>
          </p:cNvCxnSpPr>
          <p:nvPr/>
        </p:nvCxnSpPr>
        <p:spPr>
          <a:xfrm flipH="1" rot="10800000">
            <a:off x="1655200" y="2171050"/>
            <a:ext cx="509700" cy="74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" name="Google Shape;151;p8"/>
          <p:cNvCxnSpPr>
            <a:stCxn id="140" idx="3"/>
          </p:cNvCxnSpPr>
          <p:nvPr/>
        </p:nvCxnSpPr>
        <p:spPr>
          <a:xfrm flipH="1" rot="10800000">
            <a:off x="1655200" y="2819650"/>
            <a:ext cx="591900" cy="9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" name="Google Shape;152;p8"/>
          <p:cNvCxnSpPr>
            <a:stCxn id="140" idx="3"/>
          </p:cNvCxnSpPr>
          <p:nvPr/>
        </p:nvCxnSpPr>
        <p:spPr>
          <a:xfrm>
            <a:off x="1655200" y="2918350"/>
            <a:ext cx="485100" cy="78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" name="Google Shape;153;p8"/>
          <p:cNvCxnSpPr>
            <a:stCxn id="140" idx="3"/>
          </p:cNvCxnSpPr>
          <p:nvPr/>
        </p:nvCxnSpPr>
        <p:spPr>
          <a:xfrm>
            <a:off x="1655200" y="2918350"/>
            <a:ext cx="460500" cy="16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Tipos de Sistemas Operativos</a:t>
            </a:r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90100" y="2480200"/>
            <a:ext cx="15651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en tiempo real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1996175" y="1685050"/>
            <a:ext cx="3000000" cy="3210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Tiempo de resolución de solicitud en términos de milisegundos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Encola solicitudes poco relevantes para el sistema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busca utilizar al máximo los dispositivos asociados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342750" y="1648575"/>
            <a:ext cx="3000000" cy="32106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pocas tareas pueden ejecutarse al mismo tiempo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los recursos de estos sistemas suelen ser costosos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complejos de implementar, ya que dependen de controladores específicos y manejo de interrupciones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2831000" y="1266788"/>
            <a:ext cx="1231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Ventajas</a:t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5986825" y="1248550"/>
            <a:ext cx="15402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Desventajas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Tipos de Sistemas Operativos</a:t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0" y="2488375"/>
            <a:ext cx="20157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distribuidos</a:t>
            </a:r>
            <a:endParaRPr b="0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1967800" y="1197500"/>
            <a:ext cx="3733500" cy="3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creados gracias a la creación de la 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trabajan con varios dispositivos a la vez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dispositivo tiene su propio procesador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buscan ofrecer al usuario una elevada potencia de cómputo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permiten el acceso remoto a archivos y funcionalidades 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aprecia como una gran máquina que el usuario accede de manera remota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1" name="Google Shape;1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6275" y="658525"/>
            <a:ext cx="1764400" cy="150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1825" y="2555425"/>
            <a:ext cx="3252700" cy="179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0"/>
          <p:cNvSpPr txBox="1"/>
          <p:nvPr/>
        </p:nvSpPr>
        <p:spPr>
          <a:xfrm>
            <a:off x="6697450" y="2276250"/>
            <a:ext cx="17160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Servidor DNS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4" name="Google Shape;174;p10"/>
          <p:cNvCxnSpPr/>
          <p:nvPr/>
        </p:nvCxnSpPr>
        <p:spPr>
          <a:xfrm flipH="1" rot="10800000">
            <a:off x="1557225" y="1652325"/>
            <a:ext cx="501000" cy="89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5" name="Google Shape;175;p10"/>
          <p:cNvCxnSpPr/>
          <p:nvPr/>
        </p:nvCxnSpPr>
        <p:spPr>
          <a:xfrm flipH="1" rot="10800000">
            <a:off x="1606500" y="2079075"/>
            <a:ext cx="418800" cy="50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" name="Google Shape;176;p10"/>
          <p:cNvCxnSpPr/>
          <p:nvPr/>
        </p:nvCxnSpPr>
        <p:spPr>
          <a:xfrm flipH="1" rot="10800000">
            <a:off x="1598300" y="2465025"/>
            <a:ext cx="394200" cy="2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" name="Google Shape;177;p10"/>
          <p:cNvCxnSpPr>
            <a:endCxn id="170" idx="1"/>
          </p:cNvCxnSpPr>
          <p:nvPr/>
        </p:nvCxnSpPr>
        <p:spPr>
          <a:xfrm>
            <a:off x="1705000" y="2867450"/>
            <a:ext cx="262800" cy="22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8" name="Google Shape;178;p10"/>
          <p:cNvCxnSpPr/>
          <p:nvPr/>
        </p:nvCxnSpPr>
        <p:spPr>
          <a:xfrm>
            <a:off x="1622925" y="2867450"/>
            <a:ext cx="312300" cy="73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9" name="Google Shape;179;p10"/>
          <p:cNvCxnSpPr/>
          <p:nvPr/>
        </p:nvCxnSpPr>
        <p:spPr>
          <a:xfrm>
            <a:off x="1680400" y="3039900"/>
            <a:ext cx="312000" cy="143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Tipos de Sistemas Operativos</a:t>
            </a: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0" y="2488375"/>
            <a:ext cx="20157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distribuidos</a:t>
            </a:r>
            <a:endParaRPr b="0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996175" y="1685050"/>
            <a:ext cx="3000000" cy="3210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Una falla no afectará la comunicación de la otra red, ya que todos los sistemas son independientes entre sí.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reduce el retraso en el procesamiento de datos.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190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rgbClr val="44444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190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Permite procesamiento de alto desempeño con equipos de bajo costo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342750" y="1648575"/>
            <a:ext cx="3000000" cy="32106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fallo de la red principal detendrá toda la comunicación.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190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hay un lenguaje bien definido para establecer sistemas distribuidos todavía.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costosos, difíciles de implementar y entender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2831000" y="1266788"/>
            <a:ext cx="1231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Ventajas</a:t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5986825" y="1248550"/>
            <a:ext cx="15402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Desventajas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Tipos de Sistemas Operativos</a:t>
            </a:r>
            <a:endParaRPr/>
          </a:p>
        </p:txBody>
      </p:sp>
      <p:sp>
        <p:nvSpPr>
          <p:cNvPr id="195" name="Google Shape;195;p12"/>
          <p:cNvSpPr txBox="1"/>
          <p:nvPr/>
        </p:nvSpPr>
        <p:spPr>
          <a:xfrm>
            <a:off x="0" y="2630525"/>
            <a:ext cx="14094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</a:t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 red</a:t>
            </a:r>
            <a:endParaRPr b="0" i="0" sz="2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1754200" y="1200575"/>
            <a:ext cx="4639500" cy="3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ejecutan y administran en un servidor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pueden interactuar con otros sistemas operativos por medio de un canal de comunicación con la finalidad gestionar recursos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gestionan diversas tareas de red, como por ejemplo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compartir recursos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usuarios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permisos de accesibilidad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puede implementar mediante una red local, una red, privada, una red pública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325" y="1942927"/>
            <a:ext cx="3075050" cy="246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 txBox="1"/>
          <p:nvPr/>
        </p:nvSpPr>
        <p:spPr>
          <a:xfrm>
            <a:off x="6019325" y="4194150"/>
            <a:ext cx="1790100" cy="208800"/>
          </a:xfrm>
          <a:prstGeom prst="rect">
            <a:avLst/>
          </a:prstGeom>
          <a:solidFill>
            <a:srgbClr val="F8FCC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Servidor Central</a:t>
            </a:r>
            <a:endParaRPr b="0" i="0" sz="11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199" name="Google Shape;199;p12"/>
          <p:cNvCxnSpPr/>
          <p:nvPr/>
        </p:nvCxnSpPr>
        <p:spPr>
          <a:xfrm flipH="1" rot="10800000">
            <a:off x="1253425" y="1570000"/>
            <a:ext cx="517200" cy="11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" name="Google Shape;200;p12"/>
          <p:cNvCxnSpPr/>
          <p:nvPr/>
        </p:nvCxnSpPr>
        <p:spPr>
          <a:xfrm flipH="1" rot="10800000">
            <a:off x="1278050" y="2235250"/>
            <a:ext cx="468000" cy="55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" name="Google Shape;201;p12"/>
          <p:cNvCxnSpPr/>
          <p:nvPr/>
        </p:nvCxnSpPr>
        <p:spPr>
          <a:xfrm>
            <a:off x="1278100" y="2842925"/>
            <a:ext cx="476100" cy="19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" name="Google Shape;202;p12"/>
          <p:cNvCxnSpPr/>
          <p:nvPr/>
        </p:nvCxnSpPr>
        <p:spPr>
          <a:xfrm>
            <a:off x="1278050" y="2957775"/>
            <a:ext cx="509100" cy="165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Tipos de Sistemas Operativos</a:t>
            </a:r>
            <a:endParaRPr/>
          </a:p>
        </p:txBody>
      </p:sp>
      <p:sp>
        <p:nvSpPr>
          <p:cNvPr id="208" name="Google Shape;208;p13"/>
          <p:cNvSpPr txBox="1"/>
          <p:nvPr/>
        </p:nvSpPr>
        <p:spPr>
          <a:xfrm>
            <a:off x="0" y="2488375"/>
            <a:ext cx="20157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</a:t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 red</a:t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1708775" y="1685075"/>
            <a:ext cx="3489600" cy="3210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190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nuevas tecnologías y la actualización de hardware se integran fácilmente en el sistema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190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190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Servidores centralizados altamente estables y seguros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190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puede acceder al servidor es posible de forma remota desde diferentes ubicaciones y tipos de sistemas.</a:t>
            </a:r>
            <a:endParaRPr b="0" i="0" sz="1250" u="none" cap="none" strike="noStrike">
              <a:solidFill>
                <a:srgbClr val="44444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5342750" y="1648575"/>
            <a:ext cx="3000000" cy="32106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usuario depende de la ubicación central para la mayoría de las operaciones.</a:t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requiere mantenimiento y actualizaciones constantes.</a:t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servidores son costosos.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2831000" y="1266788"/>
            <a:ext cx="1231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Ventajas</a:t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5986825" y="1248550"/>
            <a:ext cx="15402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Desventajas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Tipos de Sistemas Operativos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0" y="2630525"/>
            <a:ext cx="14094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móviles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1754200" y="1200575"/>
            <a:ext cx="4639500" cy="3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creados y desarrollados para dispositivos móviles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fundamentalmente móviles y tablets, pero también relojes inteligentes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también existen para dispositivos de propósito específicos, por ejemplo para GPS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Android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Windows phone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BlackBerry OS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webOS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watchOS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14"/>
          <p:cNvCxnSpPr/>
          <p:nvPr/>
        </p:nvCxnSpPr>
        <p:spPr>
          <a:xfrm flipH="1" rot="10800000">
            <a:off x="1253425" y="1570000"/>
            <a:ext cx="517200" cy="11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1" name="Google Shape;221;p14"/>
          <p:cNvCxnSpPr/>
          <p:nvPr/>
        </p:nvCxnSpPr>
        <p:spPr>
          <a:xfrm flipH="1" rot="10800000">
            <a:off x="1278050" y="2235250"/>
            <a:ext cx="468000" cy="55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" name="Google Shape;222;p14"/>
          <p:cNvCxnSpPr/>
          <p:nvPr/>
        </p:nvCxnSpPr>
        <p:spPr>
          <a:xfrm flipH="1" rot="10800000">
            <a:off x="1278100" y="2801825"/>
            <a:ext cx="501000" cy="4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" name="Google Shape;223;p14"/>
          <p:cNvCxnSpPr/>
          <p:nvPr/>
        </p:nvCxnSpPr>
        <p:spPr>
          <a:xfrm>
            <a:off x="1286275" y="2908525"/>
            <a:ext cx="459900" cy="87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24" name="Google Shape;2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3975" y="2348038"/>
            <a:ext cx="1409400" cy="21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2175" y="2670400"/>
            <a:ext cx="1220800" cy="206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76525" y="272734"/>
            <a:ext cx="1078950" cy="183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9575" y="3778825"/>
            <a:ext cx="2133175" cy="105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94995" y="315711"/>
            <a:ext cx="1078950" cy="1919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Tipos de Sistemas Operativos</a:t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0" y="2488375"/>
            <a:ext cx="20157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operativos móviles</a:t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2015700" y="1685075"/>
            <a:ext cx="3182700" cy="3210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Muchas funcionalidades al alcance de la mano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Alta competencia de los proveedores, lo que causa una rápida evolución de los dispositivos y los SO</a:t>
            </a:r>
            <a:endParaRPr b="0" i="0" sz="1250" u="none" cap="none" strike="noStrike">
              <a:solidFill>
                <a:srgbClr val="44444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5342750" y="1648575"/>
            <a:ext cx="3000000" cy="32106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Dispositivos costosos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evolución causa incompatibilidad de nuevas funcionalidades con equipos antiguos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Alto consumo de recursos computacionales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2831000" y="1266788"/>
            <a:ext cx="1231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Ventajas</a:t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5986825" y="1248550"/>
            <a:ext cx="15402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Desventajas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Evolución de la interfaces de usuario en S.O.</a:t>
            </a:r>
            <a:endParaRPr/>
          </a:p>
        </p:txBody>
      </p:sp>
      <p:pic>
        <p:nvPicPr>
          <p:cNvPr id="244" name="Google Shape;2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225" y="1722525"/>
            <a:ext cx="4848225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3525" y="1078700"/>
            <a:ext cx="3096774" cy="15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4867" y="2712700"/>
            <a:ext cx="2696932" cy="20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1150" y="2799550"/>
            <a:ext cx="1038225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Ejemplos de S.O.</a:t>
            </a:r>
            <a:endParaRPr/>
          </a:p>
        </p:txBody>
      </p:sp>
      <p:sp>
        <p:nvSpPr>
          <p:cNvPr id="253" name="Google Shape;253;p17"/>
          <p:cNvSpPr txBox="1"/>
          <p:nvPr>
            <p:ph idx="1" type="body"/>
          </p:nvPr>
        </p:nvSpPr>
        <p:spPr>
          <a:xfrm>
            <a:off x="311700" y="1266325"/>
            <a:ext cx="8520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Unix (servidores)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s"/>
              <a:t>Windows (nt, 98, 11, server, …)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s"/>
              <a:t>Linux (ubuntu, debian, fedora, ..)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s"/>
              <a:t>MACOs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s"/>
              <a:t>Android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s"/>
              <a:t>iOS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s"/>
              <a:t>OS/400 (IBM) de 1988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s" sz="1300"/>
              <a:t>            (server AS/400 de 1985)</a:t>
            </a:r>
            <a:endParaRPr sz="1300"/>
          </a:p>
        </p:txBody>
      </p:sp>
      <p:pic>
        <p:nvPicPr>
          <p:cNvPr id="254" name="Google Shape;2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0622" y="920400"/>
            <a:ext cx="5153029" cy="330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Google Shape;255;p17"/>
          <p:cNvCxnSpPr/>
          <p:nvPr/>
        </p:nvCxnSpPr>
        <p:spPr>
          <a:xfrm flipH="1" rot="10800000">
            <a:off x="2776225" y="3615025"/>
            <a:ext cx="952500" cy="40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Diferencias de S.O.</a:t>
            </a:r>
            <a:endParaRPr/>
          </a:p>
        </p:txBody>
      </p:sp>
      <p:sp>
        <p:nvSpPr>
          <p:cNvPr id="261" name="Google Shape;261;p18"/>
          <p:cNvSpPr/>
          <p:nvPr/>
        </p:nvSpPr>
        <p:spPr>
          <a:xfrm>
            <a:off x="50100" y="1463350"/>
            <a:ext cx="3030000" cy="3506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usado por la mayoría de computadores personales en el mundo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propenso a tener virus, ya que el sistema operativo suele tener fallas o brechas de vulnerabilidad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Instalación fácil e intuitiva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poco configurable a la hora de instalar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3133900" y="1463225"/>
            <a:ext cx="3030000" cy="3506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interfaz de usuario estética y fácil de utilizar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operativo estable, confiable y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libre de virus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solo funciona en el computador del fabricante</a:t>
            </a:r>
            <a:endParaRPr b="1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es portable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gran mayoría de sus usuarios no utiliza la línea de comando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6217700" y="1463225"/>
            <a:ext cx="2832000" cy="35064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tiene versiones gratis y de pago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potente, estable y seguro frente a virus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más difícil de utilizar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completamente configurable y personalizable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línea de comandos robusta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1027250" y="1152413"/>
            <a:ext cx="1239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Windows</a:t>
            </a:r>
            <a:endParaRPr b="1" i="0" sz="1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3952050" y="1152425"/>
            <a:ext cx="1239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MAC</a:t>
            </a:r>
            <a:endParaRPr b="1" i="0" sz="1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7153825" y="1152425"/>
            <a:ext cx="1239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Linux</a:t>
            </a:r>
            <a:endParaRPr b="1" i="0" sz="1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4336350" y="527275"/>
            <a:ext cx="640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6610400" y="106075"/>
            <a:ext cx="24393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UNIX</a:t>
            </a:r>
            <a:r>
              <a:rPr b="0" i="0" lang="e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de pago - utilizado principalmente para servidores multitareas, estables y seguros</a:t>
            </a:r>
            <a:endParaRPr b="0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69" name="Google Shape;2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450" y="336000"/>
            <a:ext cx="542152" cy="61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8"/>
          <p:cNvSpPr/>
          <p:nvPr/>
        </p:nvSpPr>
        <p:spPr>
          <a:xfrm>
            <a:off x="6430225" y="66924"/>
            <a:ext cx="2606025" cy="850150"/>
          </a:xfrm>
          <a:custGeom>
            <a:rect b="b" l="l" r="r" t="t"/>
            <a:pathLst>
              <a:path extrusionOk="0" h="34006" w="104241">
                <a:moveTo>
                  <a:pt x="328" y="28267"/>
                </a:moveTo>
                <a:cubicBezTo>
                  <a:pt x="2011" y="22378"/>
                  <a:pt x="7044" y="17908"/>
                  <a:pt x="9196" y="12173"/>
                </a:cubicBezTo>
                <a:cubicBezTo>
                  <a:pt x="10390" y="8990"/>
                  <a:pt x="8641" y="3514"/>
                  <a:pt x="11824" y="2320"/>
                </a:cubicBezTo>
                <a:cubicBezTo>
                  <a:pt x="27308" y="-3489"/>
                  <a:pt x="44882" y="3634"/>
                  <a:pt x="61419" y="3634"/>
                </a:cubicBezTo>
                <a:cubicBezTo>
                  <a:pt x="70397" y="3634"/>
                  <a:pt x="80321" y="-379"/>
                  <a:pt x="88352" y="3634"/>
                </a:cubicBezTo>
                <a:cubicBezTo>
                  <a:pt x="91041" y="4978"/>
                  <a:pt x="90464" y="10133"/>
                  <a:pt x="93279" y="11188"/>
                </a:cubicBezTo>
                <a:cubicBezTo>
                  <a:pt x="97403" y="12734"/>
                  <a:pt x="103679" y="14360"/>
                  <a:pt x="104118" y="18742"/>
                </a:cubicBezTo>
                <a:cubicBezTo>
                  <a:pt x="104612" y="23669"/>
                  <a:pt x="100462" y="30079"/>
                  <a:pt x="95578" y="30895"/>
                </a:cubicBezTo>
                <a:cubicBezTo>
                  <a:pt x="87238" y="32288"/>
                  <a:pt x="78387" y="30434"/>
                  <a:pt x="70288" y="32865"/>
                </a:cubicBezTo>
                <a:cubicBezTo>
                  <a:pt x="58945" y="36270"/>
                  <a:pt x="46658" y="30895"/>
                  <a:pt x="34815" y="30895"/>
                </a:cubicBezTo>
                <a:cubicBezTo>
                  <a:pt x="28026" y="30895"/>
                  <a:pt x="21240" y="30566"/>
                  <a:pt x="14451" y="30566"/>
                </a:cubicBezTo>
                <a:cubicBezTo>
                  <a:pt x="11274" y="30566"/>
                  <a:pt x="7467" y="32802"/>
                  <a:pt x="4926" y="30895"/>
                </a:cubicBezTo>
                <a:cubicBezTo>
                  <a:pt x="3188" y="29591"/>
                  <a:pt x="2173" y="26625"/>
                  <a:pt x="0" y="26625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1575" y="1019946"/>
            <a:ext cx="386800" cy="41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2349" y="995349"/>
            <a:ext cx="356249" cy="41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5275" y="1056143"/>
            <a:ext cx="386800" cy="375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Similitudes de S.O.</a:t>
            </a:r>
            <a:endParaRPr/>
          </a:p>
        </p:txBody>
      </p:sp>
      <p:sp>
        <p:nvSpPr>
          <p:cNvPr id="279" name="Google Shape;279;p19"/>
          <p:cNvSpPr txBox="1"/>
          <p:nvPr/>
        </p:nvSpPr>
        <p:spPr>
          <a:xfrm>
            <a:off x="468875" y="2630438"/>
            <a:ext cx="1239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Windows</a:t>
            </a:r>
            <a:endParaRPr b="1" i="0" sz="1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468875" y="3065625"/>
            <a:ext cx="1239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MAC</a:t>
            </a:r>
            <a:endParaRPr b="1" i="0" sz="1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468875" y="3500800"/>
            <a:ext cx="1239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Linux</a:t>
            </a:r>
            <a:endParaRPr b="1" i="0" sz="1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2467063" y="2621475"/>
            <a:ext cx="120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interfaz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amigable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4430450" y="2578200"/>
            <a:ext cx="123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pueden configurar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2829625" y="3376975"/>
            <a:ext cx="123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pueden interconectar por 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2726900" y="1590825"/>
            <a:ext cx="123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capaces de manejar multimedia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4912325" y="3693275"/>
            <a:ext cx="123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todos tiene papelera de reciclaje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9"/>
          <p:cNvSpPr txBox="1"/>
          <p:nvPr/>
        </p:nvSpPr>
        <p:spPr>
          <a:xfrm>
            <a:off x="6706950" y="993550"/>
            <a:ext cx="147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manejan multiprocesos y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6892200" y="2513625"/>
            <a:ext cx="147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manejan ventanas y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9"/>
          <p:cNvSpPr txBox="1"/>
          <p:nvPr/>
        </p:nvSpPr>
        <p:spPr>
          <a:xfrm>
            <a:off x="6706950" y="3693275"/>
            <a:ext cx="1472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pueden tener una interfaz de usuario de forma gráfica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4430450" y="1070300"/>
            <a:ext cx="1743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presentan una gran cantidad de funcionalidades de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775" y="3729088"/>
            <a:ext cx="1204975" cy="12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9"/>
          <p:cNvSpPr/>
          <p:nvPr/>
        </p:nvSpPr>
        <p:spPr>
          <a:xfrm>
            <a:off x="2384739" y="1547287"/>
            <a:ext cx="1600175" cy="2716100"/>
          </a:xfrm>
          <a:custGeom>
            <a:rect b="b" l="l" r="r" t="t"/>
            <a:pathLst>
              <a:path extrusionOk="0" h="108644" w="64007">
                <a:moveTo>
                  <a:pt x="23870" y="35728"/>
                </a:moveTo>
                <a:cubicBezTo>
                  <a:pt x="19708" y="35728"/>
                  <a:pt x="18504" y="29269"/>
                  <a:pt x="16644" y="25546"/>
                </a:cubicBezTo>
                <a:cubicBezTo>
                  <a:pt x="13851" y="19956"/>
                  <a:pt x="10460" y="10291"/>
                  <a:pt x="15659" y="6825"/>
                </a:cubicBezTo>
                <a:cubicBezTo>
                  <a:pt x="29029" y="-2088"/>
                  <a:pt x="59714" y="-3838"/>
                  <a:pt x="63613" y="11751"/>
                </a:cubicBezTo>
                <a:cubicBezTo>
                  <a:pt x="65407" y="18924"/>
                  <a:pt x="60540" y="29426"/>
                  <a:pt x="53431" y="31458"/>
                </a:cubicBezTo>
                <a:cubicBezTo>
                  <a:pt x="41849" y="34768"/>
                  <a:pt x="27434" y="29386"/>
                  <a:pt x="17630" y="36385"/>
                </a:cubicBezTo>
                <a:cubicBezTo>
                  <a:pt x="7216" y="43819"/>
                  <a:pt x="3782" y="58833"/>
                  <a:pt x="2193" y="71529"/>
                </a:cubicBezTo>
                <a:cubicBezTo>
                  <a:pt x="656" y="83805"/>
                  <a:pt x="-1723" y="96908"/>
                  <a:pt x="2193" y="108644"/>
                </a:cubicBezTo>
              </a:path>
            </a:pathLst>
          </a:custGeom>
          <a:noFill/>
          <a:ln cap="flat" cmpd="sng" w="9525">
            <a:solidFill>
              <a:srgbClr val="00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2379847" y="2593691"/>
            <a:ext cx="1118475" cy="1694300"/>
          </a:xfrm>
          <a:custGeom>
            <a:rect b="b" l="l" r="r" t="t"/>
            <a:pathLst>
              <a:path extrusionOk="0" h="67772" w="44739">
                <a:moveTo>
                  <a:pt x="33263" y="25074"/>
                </a:moveTo>
                <a:cubicBezTo>
                  <a:pt x="27237" y="25074"/>
                  <a:pt x="19459" y="28678"/>
                  <a:pt x="15198" y="24417"/>
                </a:cubicBezTo>
                <a:cubicBezTo>
                  <a:pt x="12020" y="21239"/>
                  <a:pt x="14045" y="15417"/>
                  <a:pt x="14541" y="10950"/>
                </a:cubicBezTo>
                <a:cubicBezTo>
                  <a:pt x="14783" y="8771"/>
                  <a:pt x="12997" y="6205"/>
                  <a:pt x="14213" y="4381"/>
                </a:cubicBezTo>
                <a:cubicBezTo>
                  <a:pt x="19775" y="-3962"/>
                  <a:pt x="40048" y="655"/>
                  <a:pt x="43773" y="9965"/>
                </a:cubicBezTo>
                <a:cubicBezTo>
                  <a:pt x="45568" y="14452"/>
                  <a:pt x="44812" y="21926"/>
                  <a:pt x="40489" y="24088"/>
                </a:cubicBezTo>
                <a:cubicBezTo>
                  <a:pt x="32964" y="27850"/>
                  <a:pt x="21769" y="25402"/>
                  <a:pt x="16512" y="31971"/>
                </a:cubicBezTo>
                <a:cubicBezTo>
                  <a:pt x="12902" y="36482"/>
                  <a:pt x="11603" y="42455"/>
                  <a:pt x="8629" y="47408"/>
                </a:cubicBezTo>
                <a:cubicBezTo>
                  <a:pt x="4974" y="53494"/>
                  <a:pt x="-4348" y="65531"/>
                  <a:pt x="2389" y="6777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2379850" y="3344921"/>
            <a:ext cx="1750525" cy="895400"/>
          </a:xfrm>
          <a:custGeom>
            <a:rect b="b" l="l" r="r" t="t"/>
            <a:pathLst>
              <a:path extrusionOk="0" h="35816" w="70021">
                <a:moveTo>
                  <a:pt x="35144" y="33189"/>
                </a:moveTo>
                <a:cubicBezTo>
                  <a:pt x="33364" y="27850"/>
                  <a:pt x="25192" y="27402"/>
                  <a:pt x="21677" y="23007"/>
                </a:cubicBezTo>
                <a:cubicBezTo>
                  <a:pt x="17979" y="18383"/>
                  <a:pt x="15250" y="7605"/>
                  <a:pt x="20692" y="5271"/>
                </a:cubicBezTo>
                <a:cubicBezTo>
                  <a:pt x="32580" y="172"/>
                  <a:pt x="47879" y="-2485"/>
                  <a:pt x="59449" y="3300"/>
                </a:cubicBezTo>
                <a:cubicBezTo>
                  <a:pt x="62899" y="5025"/>
                  <a:pt x="66732" y="6730"/>
                  <a:pt x="68974" y="9869"/>
                </a:cubicBezTo>
                <a:cubicBezTo>
                  <a:pt x="70948" y="12632"/>
                  <a:pt x="69578" y="16786"/>
                  <a:pt x="68645" y="20051"/>
                </a:cubicBezTo>
                <a:cubicBezTo>
                  <a:pt x="67922" y="22580"/>
                  <a:pt x="69776" y="25746"/>
                  <a:pt x="68317" y="27934"/>
                </a:cubicBezTo>
                <a:cubicBezTo>
                  <a:pt x="67312" y="29442"/>
                  <a:pt x="64944" y="29300"/>
                  <a:pt x="63390" y="30233"/>
                </a:cubicBezTo>
                <a:cubicBezTo>
                  <a:pt x="49382" y="38639"/>
                  <a:pt x="30787" y="32860"/>
                  <a:pt x="14451" y="32860"/>
                </a:cubicBezTo>
                <a:cubicBezTo>
                  <a:pt x="9534" y="32860"/>
                  <a:pt x="1827" y="31251"/>
                  <a:pt x="0" y="35816"/>
                </a:cubicBezTo>
              </a:path>
            </a:pathLst>
          </a:custGeom>
          <a:noFill/>
          <a:ln cap="flat" cmpd="sng" w="9525">
            <a:solidFill>
              <a:srgbClr val="F6B26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2434772" y="887653"/>
            <a:ext cx="3793800" cy="3383925"/>
          </a:xfrm>
          <a:custGeom>
            <a:rect b="b" l="l" r="r" t="t"/>
            <a:pathLst>
              <a:path extrusionOk="0" h="135357" w="151752">
                <a:moveTo>
                  <a:pt x="150621" y="23356"/>
                </a:moveTo>
                <a:cubicBezTo>
                  <a:pt x="149903" y="16885"/>
                  <a:pt x="149191" y="8960"/>
                  <a:pt x="144052" y="4963"/>
                </a:cubicBezTo>
                <a:cubicBezTo>
                  <a:pt x="133802" y="-3009"/>
                  <a:pt x="118281" y="1022"/>
                  <a:pt x="105295" y="1022"/>
                </a:cubicBezTo>
                <a:cubicBezTo>
                  <a:pt x="93662" y="1022"/>
                  <a:pt x="73765" y="345"/>
                  <a:pt x="72122" y="11861"/>
                </a:cubicBezTo>
                <a:cubicBezTo>
                  <a:pt x="71161" y="18600"/>
                  <a:pt x="77394" y="24610"/>
                  <a:pt x="81647" y="29925"/>
                </a:cubicBezTo>
                <a:cubicBezTo>
                  <a:pt x="84676" y="33710"/>
                  <a:pt x="80471" y="40432"/>
                  <a:pt x="83289" y="44377"/>
                </a:cubicBezTo>
                <a:cubicBezTo>
                  <a:pt x="85203" y="47057"/>
                  <a:pt x="89659" y="46059"/>
                  <a:pt x="92814" y="47005"/>
                </a:cubicBezTo>
                <a:cubicBezTo>
                  <a:pt x="96230" y="48029"/>
                  <a:pt x="99444" y="49967"/>
                  <a:pt x="102996" y="50289"/>
                </a:cubicBezTo>
                <a:cubicBezTo>
                  <a:pt x="106097" y="50571"/>
                  <a:pt x="109103" y="49033"/>
                  <a:pt x="112193" y="48647"/>
                </a:cubicBezTo>
                <a:cubicBezTo>
                  <a:pt x="122364" y="47377"/>
                  <a:pt x="133881" y="47570"/>
                  <a:pt x="142081" y="41421"/>
                </a:cubicBezTo>
                <a:cubicBezTo>
                  <a:pt x="145507" y="38852"/>
                  <a:pt x="147064" y="34412"/>
                  <a:pt x="148979" y="30582"/>
                </a:cubicBezTo>
                <a:cubicBezTo>
                  <a:pt x="150001" y="28537"/>
                  <a:pt x="153235" y="24013"/>
                  <a:pt x="150949" y="24013"/>
                </a:cubicBezTo>
                <a:cubicBezTo>
                  <a:pt x="149832" y="24013"/>
                  <a:pt x="149940" y="26239"/>
                  <a:pt x="150293" y="27298"/>
                </a:cubicBezTo>
                <a:cubicBezTo>
                  <a:pt x="151595" y="31210"/>
                  <a:pt x="149295" y="35538"/>
                  <a:pt x="147993" y="39450"/>
                </a:cubicBezTo>
                <a:cubicBezTo>
                  <a:pt x="146056" y="45271"/>
                  <a:pt x="138921" y="48863"/>
                  <a:pt x="132885" y="49961"/>
                </a:cubicBezTo>
                <a:cubicBezTo>
                  <a:pt x="122871" y="51782"/>
                  <a:pt x="113095" y="54940"/>
                  <a:pt x="102996" y="56201"/>
                </a:cubicBezTo>
                <a:cubicBezTo>
                  <a:pt x="91655" y="57617"/>
                  <a:pt x="78674" y="55443"/>
                  <a:pt x="69166" y="61785"/>
                </a:cubicBezTo>
                <a:cubicBezTo>
                  <a:pt x="63719" y="65418"/>
                  <a:pt x="65738" y="74625"/>
                  <a:pt x="62268" y="80178"/>
                </a:cubicBezTo>
                <a:cubicBezTo>
                  <a:pt x="58485" y="86233"/>
                  <a:pt x="51246" y="89465"/>
                  <a:pt x="44861" y="92659"/>
                </a:cubicBezTo>
                <a:cubicBezTo>
                  <a:pt x="37141" y="96521"/>
                  <a:pt x="28199" y="97184"/>
                  <a:pt x="19899" y="99556"/>
                </a:cubicBezTo>
                <a:cubicBezTo>
                  <a:pt x="12623" y="101635"/>
                  <a:pt x="11457" y="112166"/>
                  <a:pt x="8074" y="118935"/>
                </a:cubicBezTo>
                <a:cubicBezTo>
                  <a:pt x="5401" y="124285"/>
                  <a:pt x="-2469" y="130382"/>
                  <a:pt x="849" y="135357"/>
                </a:cubicBezTo>
              </a:path>
            </a:pathLst>
          </a:custGeom>
          <a:noFill/>
          <a:ln cap="flat" cmpd="sng" w="9525">
            <a:solidFill>
              <a:srgbClr val="A2C4C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"/>
          <p:cNvSpPr/>
          <p:nvPr/>
        </p:nvSpPr>
        <p:spPr>
          <a:xfrm>
            <a:off x="2341025" y="2555335"/>
            <a:ext cx="3228325" cy="1909775"/>
          </a:xfrm>
          <a:custGeom>
            <a:rect b="b" l="l" r="r" t="t"/>
            <a:pathLst>
              <a:path extrusionOk="0" h="76391" w="129133">
                <a:moveTo>
                  <a:pt x="95250" y="26609"/>
                </a:moveTo>
                <a:cubicBezTo>
                  <a:pt x="89738" y="25231"/>
                  <a:pt x="82736" y="24255"/>
                  <a:pt x="79813" y="19383"/>
                </a:cubicBezTo>
                <a:cubicBezTo>
                  <a:pt x="77672" y="15814"/>
                  <a:pt x="76885" y="10151"/>
                  <a:pt x="79485" y="6902"/>
                </a:cubicBezTo>
                <a:cubicBezTo>
                  <a:pt x="89844" y="-6042"/>
                  <a:pt x="135158" y="621"/>
                  <a:pt x="128424" y="15770"/>
                </a:cubicBezTo>
                <a:cubicBezTo>
                  <a:pt x="123375" y="27128"/>
                  <a:pt x="104070" y="21709"/>
                  <a:pt x="92951" y="27266"/>
                </a:cubicBezTo>
                <a:cubicBezTo>
                  <a:pt x="88361" y="29560"/>
                  <a:pt x="91618" y="37506"/>
                  <a:pt x="89995" y="42374"/>
                </a:cubicBezTo>
                <a:cubicBezTo>
                  <a:pt x="86680" y="52320"/>
                  <a:pt x="84816" y="64126"/>
                  <a:pt x="76857" y="70949"/>
                </a:cubicBezTo>
                <a:cubicBezTo>
                  <a:pt x="65716" y="80500"/>
                  <a:pt x="47171" y="75114"/>
                  <a:pt x="32845" y="71935"/>
                </a:cubicBezTo>
                <a:cubicBezTo>
                  <a:pt x="22052" y="69540"/>
                  <a:pt x="10724" y="70021"/>
                  <a:pt x="0" y="67336"/>
                </a:cubicBezTo>
              </a:path>
            </a:pathLst>
          </a:custGeom>
          <a:noFill/>
          <a:ln cap="flat" cmpd="sng" w="9525">
            <a:solidFill>
              <a:srgbClr val="A4C2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2373875" y="3565403"/>
            <a:ext cx="3734950" cy="1069450"/>
          </a:xfrm>
          <a:custGeom>
            <a:rect b="b" l="l" r="r" t="t"/>
            <a:pathLst>
              <a:path extrusionOk="0" h="42778" w="149398">
                <a:moveTo>
                  <a:pt x="111016" y="42370"/>
                </a:moveTo>
                <a:cubicBezTo>
                  <a:pt x="105072" y="30490"/>
                  <a:pt x="101710" y="7737"/>
                  <a:pt x="113972" y="2628"/>
                </a:cubicBezTo>
                <a:cubicBezTo>
                  <a:pt x="123649" y="-1404"/>
                  <a:pt x="138159" y="-1221"/>
                  <a:pt x="145174" y="6570"/>
                </a:cubicBezTo>
                <a:cubicBezTo>
                  <a:pt x="151405" y="13490"/>
                  <a:pt x="149830" y="25930"/>
                  <a:pt x="146160" y="34488"/>
                </a:cubicBezTo>
                <a:cubicBezTo>
                  <a:pt x="143972" y="39589"/>
                  <a:pt x="136107" y="39382"/>
                  <a:pt x="130723" y="40728"/>
                </a:cubicBezTo>
                <a:cubicBezTo>
                  <a:pt x="112540" y="45274"/>
                  <a:pt x="93046" y="41179"/>
                  <a:pt x="74558" y="38101"/>
                </a:cubicBezTo>
                <a:cubicBezTo>
                  <a:pt x="63758" y="36303"/>
                  <a:pt x="52595" y="38979"/>
                  <a:pt x="41713" y="37772"/>
                </a:cubicBezTo>
                <a:cubicBezTo>
                  <a:pt x="32697" y="36772"/>
                  <a:pt x="24489" y="32054"/>
                  <a:pt x="15766" y="29561"/>
                </a:cubicBezTo>
                <a:cubicBezTo>
                  <a:pt x="10531" y="28065"/>
                  <a:pt x="3021" y="29821"/>
                  <a:pt x="0" y="25291"/>
                </a:cubicBezTo>
              </a:path>
            </a:pathLst>
          </a:custGeom>
          <a:noFill/>
          <a:ln cap="flat" cmpd="sng" w="952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2398500" y="970197"/>
            <a:ext cx="5819750" cy="3528750"/>
          </a:xfrm>
          <a:custGeom>
            <a:rect b="b" l="l" r="r" t="t"/>
            <a:pathLst>
              <a:path extrusionOk="0" h="141150" w="232790">
                <a:moveTo>
                  <a:pt x="195427" y="34834"/>
                </a:moveTo>
                <a:cubicBezTo>
                  <a:pt x="190926" y="34834"/>
                  <a:pt x="185430" y="34079"/>
                  <a:pt x="182618" y="30565"/>
                </a:cubicBezTo>
                <a:cubicBezTo>
                  <a:pt x="179391" y="26533"/>
                  <a:pt x="178849" y="20948"/>
                  <a:pt x="177034" y="16113"/>
                </a:cubicBezTo>
                <a:cubicBezTo>
                  <a:pt x="176022" y="13417"/>
                  <a:pt x="173683" y="9610"/>
                  <a:pt x="175720" y="7573"/>
                </a:cubicBezTo>
                <a:cubicBezTo>
                  <a:pt x="178857" y="4436"/>
                  <a:pt x="184411" y="5607"/>
                  <a:pt x="188530" y="3960"/>
                </a:cubicBezTo>
                <a:cubicBezTo>
                  <a:pt x="198393" y="16"/>
                  <a:pt x="211280" y="-2161"/>
                  <a:pt x="220389" y="3303"/>
                </a:cubicBezTo>
                <a:cubicBezTo>
                  <a:pt x="227401" y="7509"/>
                  <a:pt x="236337" y="18925"/>
                  <a:pt x="231228" y="25309"/>
                </a:cubicBezTo>
                <a:cubicBezTo>
                  <a:pt x="229106" y="27960"/>
                  <a:pt x="224894" y="27761"/>
                  <a:pt x="221703" y="28922"/>
                </a:cubicBezTo>
                <a:cubicBezTo>
                  <a:pt x="213543" y="31890"/>
                  <a:pt x="204977" y="33733"/>
                  <a:pt x="196413" y="35163"/>
                </a:cubicBezTo>
                <a:cubicBezTo>
                  <a:pt x="193003" y="35732"/>
                  <a:pt x="188887" y="34921"/>
                  <a:pt x="186231" y="37134"/>
                </a:cubicBezTo>
                <a:cubicBezTo>
                  <a:pt x="181793" y="40833"/>
                  <a:pt x="182859" y="48961"/>
                  <a:pt x="178348" y="52571"/>
                </a:cubicBezTo>
                <a:cubicBezTo>
                  <a:pt x="169321" y="59795"/>
                  <a:pt x="156855" y="61285"/>
                  <a:pt x="146817" y="67022"/>
                </a:cubicBezTo>
                <a:cubicBezTo>
                  <a:pt x="135371" y="73564"/>
                  <a:pt x="127854" y="85614"/>
                  <a:pt x="120541" y="96583"/>
                </a:cubicBezTo>
                <a:cubicBezTo>
                  <a:pt x="118570" y="99539"/>
                  <a:pt x="114477" y="100314"/>
                  <a:pt x="111673" y="102495"/>
                </a:cubicBezTo>
                <a:cubicBezTo>
                  <a:pt x="108769" y="104753"/>
                  <a:pt x="107565" y="108629"/>
                  <a:pt x="105104" y="111363"/>
                </a:cubicBezTo>
                <a:cubicBezTo>
                  <a:pt x="102251" y="114532"/>
                  <a:pt x="97407" y="115125"/>
                  <a:pt x="93937" y="117603"/>
                </a:cubicBezTo>
                <a:cubicBezTo>
                  <a:pt x="89948" y="120452"/>
                  <a:pt x="88905" y="126029"/>
                  <a:pt x="86711" y="130413"/>
                </a:cubicBezTo>
                <a:cubicBezTo>
                  <a:pt x="82960" y="137908"/>
                  <a:pt x="71360" y="137769"/>
                  <a:pt x="63063" y="138953"/>
                </a:cubicBezTo>
                <a:cubicBezTo>
                  <a:pt x="51140" y="140654"/>
                  <a:pt x="38359" y="142760"/>
                  <a:pt x="26933" y="138953"/>
                </a:cubicBezTo>
                <a:cubicBezTo>
                  <a:pt x="20252" y="136727"/>
                  <a:pt x="13241" y="135460"/>
                  <a:pt x="6241" y="134683"/>
                </a:cubicBezTo>
                <a:cubicBezTo>
                  <a:pt x="3998" y="134434"/>
                  <a:pt x="0" y="134312"/>
                  <a:pt x="0" y="132055"/>
                </a:cubicBezTo>
              </a:path>
            </a:pathLst>
          </a:custGeom>
          <a:noFill/>
          <a:ln cap="flat" cmpd="sng" w="952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2439575" y="2465244"/>
            <a:ext cx="5625900" cy="2318075"/>
          </a:xfrm>
          <a:custGeom>
            <a:rect b="b" l="l" r="r" t="t"/>
            <a:pathLst>
              <a:path extrusionOk="0" h="92723" w="225036">
                <a:moveTo>
                  <a:pt x="178019" y="32511"/>
                </a:moveTo>
                <a:cubicBezTo>
                  <a:pt x="171277" y="25769"/>
                  <a:pt x="160766" y="12649"/>
                  <a:pt x="167508" y="5907"/>
                </a:cubicBezTo>
                <a:cubicBezTo>
                  <a:pt x="171549" y="1866"/>
                  <a:pt x="178251" y="1612"/>
                  <a:pt x="183931" y="980"/>
                </a:cubicBezTo>
                <a:cubicBezTo>
                  <a:pt x="193190" y="-51"/>
                  <a:pt x="203126" y="-977"/>
                  <a:pt x="211849" y="2294"/>
                </a:cubicBezTo>
                <a:cubicBezTo>
                  <a:pt x="219303" y="5089"/>
                  <a:pt x="227391" y="15308"/>
                  <a:pt x="224330" y="22657"/>
                </a:cubicBezTo>
                <a:cubicBezTo>
                  <a:pt x="219816" y="33494"/>
                  <a:pt x="202824" y="35781"/>
                  <a:pt x="191157" y="34482"/>
                </a:cubicBezTo>
                <a:cubicBezTo>
                  <a:pt x="186908" y="34009"/>
                  <a:pt x="182824" y="30489"/>
                  <a:pt x="178676" y="31526"/>
                </a:cubicBezTo>
                <a:cubicBezTo>
                  <a:pt x="177174" y="31902"/>
                  <a:pt x="178173" y="34583"/>
                  <a:pt x="178019" y="36124"/>
                </a:cubicBezTo>
                <a:cubicBezTo>
                  <a:pt x="177688" y="39432"/>
                  <a:pt x="176199" y="42525"/>
                  <a:pt x="175063" y="45649"/>
                </a:cubicBezTo>
                <a:cubicBezTo>
                  <a:pt x="171997" y="54080"/>
                  <a:pt x="166170" y="61525"/>
                  <a:pt x="164224" y="70282"/>
                </a:cubicBezTo>
                <a:cubicBezTo>
                  <a:pt x="162590" y="77635"/>
                  <a:pt x="158994" y="86366"/>
                  <a:pt x="152071" y="89332"/>
                </a:cubicBezTo>
                <a:cubicBezTo>
                  <a:pt x="146292" y="91808"/>
                  <a:pt x="139552" y="90600"/>
                  <a:pt x="133350" y="91632"/>
                </a:cubicBezTo>
                <a:cubicBezTo>
                  <a:pt x="118659" y="94077"/>
                  <a:pt x="103549" y="91522"/>
                  <a:pt x="88681" y="90646"/>
                </a:cubicBezTo>
                <a:cubicBezTo>
                  <a:pt x="75272" y="89856"/>
                  <a:pt x="61526" y="90067"/>
                  <a:pt x="48610" y="86376"/>
                </a:cubicBezTo>
                <a:cubicBezTo>
                  <a:pt x="44715" y="85263"/>
                  <a:pt x="40477" y="86878"/>
                  <a:pt x="36457" y="86376"/>
                </a:cubicBezTo>
                <a:cubicBezTo>
                  <a:pt x="26309" y="85109"/>
                  <a:pt x="15406" y="83838"/>
                  <a:pt x="6897" y="78165"/>
                </a:cubicBezTo>
                <a:cubicBezTo>
                  <a:pt x="4255" y="76404"/>
                  <a:pt x="2641" y="73358"/>
                  <a:pt x="0" y="71596"/>
                </a:cubicBezTo>
              </a:path>
            </a:pathLst>
          </a:custGeom>
          <a:noFill/>
          <a:ln cap="flat" cmpd="sng" w="952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2423150" y="3678596"/>
            <a:ext cx="5762025" cy="1253475"/>
          </a:xfrm>
          <a:custGeom>
            <a:rect b="b" l="l" r="r" t="t"/>
            <a:pathLst>
              <a:path extrusionOk="0" h="50139" w="230481">
                <a:moveTo>
                  <a:pt x="224330" y="40470"/>
                </a:moveTo>
                <a:cubicBezTo>
                  <a:pt x="210420" y="43000"/>
                  <a:pt x="194607" y="48761"/>
                  <a:pt x="181960" y="42441"/>
                </a:cubicBezTo>
                <a:cubicBezTo>
                  <a:pt x="177704" y="40314"/>
                  <a:pt x="178504" y="33559"/>
                  <a:pt x="176377" y="29303"/>
                </a:cubicBezTo>
                <a:cubicBezTo>
                  <a:pt x="173165" y="22877"/>
                  <a:pt x="169725" y="14115"/>
                  <a:pt x="173421" y="7954"/>
                </a:cubicBezTo>
                <a:cubicBezTo>
                  <a:pt x="175085" y="5180"/>
                  <a:pt x="179179" y="4901"/>
                  <a:pt x="182289" y="4012"/>
                </a:cubicBezTo>
                <a:cubicBezTo>
                  <a:pt x="188900" y="2123"/>
                  <a:pt x="196129" y="-1446"/>
                  <a:pt x="202652" y="728"/>
                </a:cubicBezTo>
                <a:cubicBezTo>
                  <a:pt x="209262" y="2931"/>
                  <a:pt x="217845" y="-594"/>
                  <a:pt x="223345" y="3684"/>
                </a:cubicBezTo>
                <a:cubicBezTo>
                  <a:pt x="232790" y="11030"/>
                  <a:pt x="231908" y="29095"/>
                  <a:pt x="225972" y="39485"/>
                </a:cubicBezTo>
                <a:cubicBezTo>
                  <a:pt x="224417" y="42207"/>
                  <a:pt x="220517" y="42865"/>
                  <a:pt x="217433" y="43426"/>
                </a:cubicBezTo>
                <a:cubicBezTo>
                  <a:pt x="209638" y="44843"/>
                  <a:pt x="201882" y="46469"/>
                  <a:pt x="194113" y="48024"/>
                </a:cubicBezTo>
                <a:cubicBezTo>
                  <a:pt x="181445" y="50559"/>
                  <a:pt x="168176" y="49297"/>
                  <a:pt x="155356" y="47696"/>
                </a:cubicBezTo>
                <a:cubicBezTo>
                  <a:pt x="143835" y="46258"/>
                  <a:pt x="132130" y="49364"/>
                  <a:pt x="120540" y="48681"/>
                </a:cubicBezTo>
                <a:cubicBezTo>
                  <a:pt x="101741" y="47573"/>
                  <a:pt x="82621" y="52110"/>
                  <a:pt x="64047" y="49010"/>
                </a:cubicBezTo>
                <a:cubicBezTo>
                  <a:pt x="53306" y="47217"/>
                  <a:pt x="42818" y="44147"/>
                  <a:pt x="32188" y="41784"/>
                </a:cubicBezTo>
                <a:cubicBezTo>
                  <a:pt x="25189" y="40228"/>
                  <a:pt x="16986" y="42847"/>
                  <a:pt x="10839" y="39156"/>
                </a:cubicBezTo>
                <a:cubicBezTo>
                  <a:pt x="5294" y="35826"/>
                  <a:pt x="2042" y="29199"/>
                  <a:pt x="0" y="23062"/>
                </a:cubicBezTo>
              </a:path>
            </a:pathLst>
          </a:custGeom>
          <a:noFill/>
          <a:ln cap="flat" cmpd="sng" w="9525">
            <a:solidFill>
              <a:srgbClr val="674EA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
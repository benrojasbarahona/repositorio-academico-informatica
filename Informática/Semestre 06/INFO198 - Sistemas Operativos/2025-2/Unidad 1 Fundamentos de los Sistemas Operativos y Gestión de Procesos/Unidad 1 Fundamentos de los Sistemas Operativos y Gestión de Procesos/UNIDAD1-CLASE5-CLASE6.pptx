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143500" cx="9144000"/>
  <p:notesSz cx="6858000" cy="9144000"/>
  <p:embeddedFontLst>
    <p:embeddedFont>
      <p:font typeface="PT Sans Narrow"/>
      <p:regular r:id="rId57"/>
      <p:bold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96">
          <p15:clr>
            <a:srgbClr val="747775"/>
          </p15:clr>
        </p15:guide>
      </p15:sldGuideLst>
    </p:ext>
    <p:ext uri="GoogleSlidesCustomDataVersion2">
      <go:slidesCustomData xmlns:go="http://customooxmlschemas.google.com/" r:id="rId63" roundtripDataSignature="AMtx7mioXIbkkQnFO2kUK8JAweaTijjF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Italic.fntdata"/><Relationship Id="rId61" Type="http://schemas.openxmlformats.org/officeDocument/2006/relationships/font" Target="fonts/OpenSans-italic.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PTSansNarrow-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OpenSans-regular.fntdata"/><Relationship Id="rId14" Type="http://schemas.openxmlformats.org/officeDocument/2006/relationships/slide" Target="slides/slide9.xml"/><Relationship Id="rId58" Type="http://schemas.openxmlformats.org/officeDocument/2006/relationships/font" Target="fonts/PTSansNarrow-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7" name="Google Shape;557;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53"/>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53"/>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53"/>
          <p:cNvGrpSpPr/>
          <p:nvPr/>
        </p:nvGrpSpPr>
        <p:grpSpPr>
          <a:xfrm>
            <a:off x="1004144" y="1022025"/>
            <a:ext cx="7136668" cy="152400"/>
            <a:chOff x="1346429" y="1011300"/>
            <a:chExt cx="6452100" cy="152400"/>
          </a:xfrm>
        </p:grpSpPr>
        <p:cxnSp>
          <p:nvCxnSpPr>
            <p:cNvPr id="13" name="Google Shape;13;p53"/>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53"/>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53"/>
          <p:cNvGrpSpPr/>
          <p:nvPr/>
        </p:nvGrpSpPr>
        <p:grpSpPr>
          <a:xfrm>
            <a:off x="1004151" y="3969100"/>
            <a:ext cx="7136668" cy="152400"/>
            <a:chOff x="1346435" y="3969088"/>
            <a:chExt cx="6452100" cy="152400"/>
          </a:xfrm>
        </p:grpSpPr>
        <p:cxnSp>
          <p:nvCxnSpPr>
            <p:cNvPr id="16" name="Google Shape;16;p53"/>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53"/>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53"/>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53"/>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5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5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5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55"/>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56"/>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56"/>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5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5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5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59"/>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60"/>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6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60"/>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60"/>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6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61"/>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62"/>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62"/>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62"/>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5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1.png"/><Relationship Id="rId7"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10.png"/><Relationship Id="rId8"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2.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37.png"/><Relationship Id="rId5"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1.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48.png"/><Relationship Id="rId5" Type="http://schemas.openxmlformats.org/officeDocument/2006/relationships/image" Target="../media/image6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2.png"/><Relationship Id="rId4" Type="http://schemas.openxmlformats.org/officeDocument/2006/relationships/image" Target="../media/image50.png"/><Relationship Id="rId5"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2.png"/><Relationship Id="rId4" Type="http://schemas.openxmlformats.org/officeDocument/2006/relationships/image" Target="../media/image43.png"/><Relationship Id="rId5" Type="http://schemas.openxmlformats.org/officeDocument/2006/relationships/image" Target="../media/image5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6.png"/><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man7.org/linux/man-pages/man7/signal.7.html" TargetMode="External"/><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5400"/>
              <a:buNone/>
            </a:pPr>
            <a:r>
              <a:rPr lang="es"/>
              <a:t>Unidad 1 - Proceso</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sz="1700"/>
              <a:t>2023-02 (lvc)</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Temas a Tratar</a:t>
            </a:r>
            <a:endParaRPr/>
          </a:p>
        </p:txBody>
      </p:sp>
      <p:sp>
        <p:nvSpPr>
          <p:cNvPr id="73" name="Google Shape;73;p2"/>
          <p:cNvSpPr txBox="1"/>
          <p:nvPr>
            <p:ph idx="1" type="body"/>
          </p:nvPr>
        </p:nvSpPr>
        <p:spPr>
          <a:xfrm>
            <a:off x="89925" y="1234350"/>
            <a:ext cx="4542600" cy="3552600"/>
          </a:xfrm>
          <a:prstGeom prst="rect">
            <a:avLst/>
          </a:prstGeom>
          <a:noFill/>
          <a:ln>
            <a:noFill/>
          </a:ln>
        </p:spPr>
        <p:txBody>
          <a:bodyPr anchorCtr="0" anchor="t" bIns="91425" lIns="91425" spcFirstLastPara="1" rIns="91425" wrap="square" tIns="91425">
            <a:normAutofit/>
          </a:bodyPr>
          <a:lstStyle/>
          <a:p>
            <a:pPr indent="-342900" lvl="0" marL="457200" rtl="0" algn="l">
              <a:lnSpc>
                <a:spcPct val="95000"/>
              </a:lnSpc>
              <a:spcBef>
                <a:spcPts val="0"/>
              </a:spcBef>
              <a:spcAft>
                <a:spcPts val="0"/>
              </a:spcAft>
              <a:buSzPts val="1800"/>
              <a:buChar char="●"/>
            </a:pPr>
            <a:r>
              <a:rPr lang="es"/>
              <a:t>Proceso</a:t>
            </a:r>
            <a:endParaRPr/>
          </a:p>
          <a:p>
            <a:pPr indent="-330200" lvl="1" marL="914400" rtl="0" algn="l">
              <a:lnSpc>
                <a:spcPct val="95000"/>
              </a:lnSpc>
              <a:spcBef>
                <a:spcPts val="0"/>
              </a:spcBef>
              <a:spcAft>
                <a:spcPts val="0"/>
              </a:spcAft>
              <a:buSzPts val="1600"/>
              <a:buChar char="○"/>
            </a:pPr>
            <a:r>
              <a:rPr lang="es" sz="1600"/>
              <a:t>Definición</a:t>
            </a:r>
            <a:endParaRPr sz="1600"/>
          </a:p>
          <a:p>
            <a:pPr indent="-330200" lvl="1" marL="914400" rtl="0" algn="l">
              <a:lnSpc>
                <a:spcPct val="95000"/>
              </a:lnSpc>
              <a:spcBef>
                <a:spcPts val="0"/>
              </a:spcBef>
              <a:spcAft>
                <a:spcPts val="0"/>
              </a:spcAft>
              <a:buSzPts val="1600"/>
              <a:buChar char="○"/>
            </a:pPr>
            <a:r>
              <a:rPr lang="es" sz="1600"/>
              <a:t>Contador de programa (PC)</a:t>
            </a:r>
            <a:endParaRPr sz="1600"/>
          </a:p>
          <a:p>
            <a:pPr indent="-330200" lvl="1" marL="914400" rtl="0" algn="l">
              <a:lnSpc>
                <a:spcPct val="95000"/>
              </a:lnSpc>
              <a:spcBef>
                <a:spcPts val="0"/>
              </a:spcBef>
              <a:spcAft>
                <a:spcPts val="0"/>
              </a:spcAft>
              <a:buSzPts val="1600"/>
              <a:buChar char="○"/>
            </a:pPr>
            <a:r>
              <a:rPr lang="es" sz="1600"/>
              <a:t>Memoria de los procesos</a:t>
            </a:r>
            <a:endParaRPr sz="1600"/>
          </a:p>
          <a:p>
            <a:pPr indent="-342900" lvl="0" marL="457200" rtl="0" algn="l">
              <a:lnSpc>
                <a:spcPct val="95000"/>
              </a:lnSpc>
              <a:spcBef>
                <a:spcPts val="0"/>
              </a:spcBef>
              <a:spcAft>
                <a:spcPts val="0"/>
              </a:spcAft>
              <a:buSzPts val="1800"/>
              <a:buChar char="●"/>
            </a:pPr>
            <a:r>
              <a:rPr lang="es"/>
              <a:t>Distinción entre programas y procesos</a:t>
            </a:r>
            <a:endParaRPr/>
          </a:p>
          <a:p>
            <a:pPr indent="-342900" lvl="0" marL="457200" rtl="0" algn="l">
              <a:lnSpc>
                <a:spcPct val="95000"/>
              </a:lnSpc>
              <a:spcBef>
                <a:spcPts val="0"/>
              </a:spcBef>
              <a:spcAft>
                <a:spcPts val="0"/>
              </a:spcAft>
              <a:buSzPts val="1800"/>
              <a:buChar char="●"/>
            </a:pPr>
            <a:r>
              <a:rPr lang="es"/>
              <a:t>Relación entre procesos</a:t>
            </a:r>
            <a:endParaRPr/>
          </a:p>
          <a:p>
            <a:pPr indent="-342900" lvl="0" marL="457200" rtl="0" algn="l">
              <a:lnSpc>
                <a:spcPct val="95000"/>
              </a:lnSpc>
              <a:spcBef>
                <a:spcPts val="0"/>
              </a:spcBef>
              <a:spcAft>
                <a:spcPts val="0"/>
              </a:spcAft>
              <a:buSzPts val="1800"/>
              <a:buChar char="●"/>
            </a:pPr>
            <a:r>
              <a:rPr lang="es"/>
              <a:t>Especificación de los procesos</a:t>
            </a:r>
            <a:endParaRPr/>
          </a:p>
          <a:p>
            <a:pPr indent="-342900" lvl="0" marL="457200" rtl="0" algn="l">
              <a:lnSpc>
                <a:spcPct val="95000"/>
              </a:lnSpc>
              <a:spcBef>
                <a:spcPts val="0"/>
              </a:spcBef>
              <a:spcAft>
                <a:spcPts val="0"/>
              </a:spcAft>
              <a:buSzPts val="1800"/>
              <a:buChar char="●"/>
            </a:pPr>
            <a:r>
              <a:rPr lang="es"/>
              <a:t>Ejemplos de definición de procesos en c++</a:t>
            </a:r>
            <a:endParaRPr/>
          </a:p>
          <a:p>
            <a:pPr indent="-342900" lvl="0" marL="457200" rtl="0" algn="l">
              <a:lnSpc>
                <a:spcPct val="95000"/>
              </a:lnSpc>
              <a:spcBef>
                <a:spcPts val="0"/>
              </a:spcBef>
              <a:spcAft>
                <a:spcPts val="0"/>
              </a:spcAft>
              <a:buSzPts val="1800"/>
              <a:buChar char="●"/>
            </a:pPr>
            <a:r>
              <a:rPr lang="es"/>
              <a:t>Creación de proceso</a:t>
            </a:r>
            <a:endParaRPr/>
          </a:p>
        </p:txBody>
      </p:sp>
      <p:sp>
        <p:nvSpPr>
          <p:cNvPr id="74" name="Google Shape;74;p2"/>
          <p:cNvSpPr txBox="1"/>
          <p:nvPr/>
        </p:nvSpPr>
        <p:spPr>
          <a:xfrm>
            <a:off x="4415350" y="1234350"/>
            <a:ext cx="4659300" cy="3453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Estados de los procesos </a:t>
            </a:r>
            <a:endParaRPr b="0" i="0" sz="1800" u="none" cap="none" strike="noStrike">
              <a:solidFill>
                <a:schemeClr val="dk2"/>
              </a:solidFill>
              <a:latin typeface="Open Sans"/>
              <a:ea typeface="Open Sans"/>
              <a:cs typeface="Open Sans"/>
              <a:sym typeface="Open Sans"/>
            </a:endParaRPr>
          </a:p>
          <a:p>
            <a:pPr indent="-330200" lvl="1" marL="914400" marR="0" rtl="0" algn="l">
              <a:lnSpc>
                <a:spcPct val="115000"/>
              </a:lnSpc>
              <a:spcBef>
                <a:spcPts val="0"/>
              </a:spcBef>
              <a:spcAft>
                <a:spcPts val="0"/>
              </a:spcAft>
              <a:buClr>
                <a:schemeClr val="dk2"/>
              </a:buClr>
              <a:buSzPts val="1600"/>
              <a:buFont typeface="Open Sans"/>
              <a:buChar char="○"/>
            </a:pPr>
            <a:r>
              <a:rPr b="0" i="0" lang="es" sz="1600" u="none" cap="none" strike="noStrike">
                <a:solidFill>
                  <a:schemeClr val="dk2"/>
                </a:solidFill>
                <a:latin typeface="Open Sans"/>
                <a:ea typeface="Open Sans"/>
                <a:cs typeface="Open Sans"/>
                <a:sym typeface="Open Sans"/>
              </a:rPr>
              <a:t>Transiciones entre estados</a:t>
            </a:r>
            <a:endParaRPr b="0" i="0" sz="16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Bloque de control de procesos (PCB)</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Listas y colas de procesos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Cambio de contexto (context switch)</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Cooperación entre procesos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Hilos (thread)</a:t>
            </a:r>
            <a:endParaRPr b="0" i="0" sz="1800" u="none" cap="none" strike="noStrike">
              <a:solidFill>
                <a:schemeClr val="dk2"/>
              </a:solidFill>
              <a:latin typeface="Open Sans"/>
              <a:ea typeface="Open Sans"/>
              <a:cs typeface="Open Sans"/>
              <a:sym typeface="Open Sans"/>
            </a:endParaRPr>
          </a:p>
          <a:p>
            <a:pPr indent="-323850" lvl="1" marL="914400" marR="0" rtl="0" algn="l">
              <a:lnSpc>
                <a:spcPct val="115000"/>
              </a:lnSpc>
              <a:spcBef>
                <a:spcPts val="0"/>
              </a:spcBef>
              <a:spcAft>
                <a:spcPts val="0"/>
              </a:spcAft>
              <a:buClr>
                <a:schemeClr val="dk2"/>
              </a:buClr>
              <a:buSzPts val="1500"/>
              <a:buFont typeface="Open Sans"/>
              <a:buChar char="○"/>
            </a:pPr>
            <a:r>
              <a:rPr b="0" i="0" lang="es" sz="1500" u="none" cap="none" strike="noStrike">
                <a:solidFill>
                  <a:schemeClr val="dk2"/>
                </a:solidFill>
                <a:latin typeface="Open Sans"/>
                <a:ea typeface="Open Sans"/>
                <a:cs typeface="Open Sans"/>
                <a:sym typeface="Open Sans"/>
              </a:rPr>
              <a:t>Threads a nivel de usuario</a:t>
            </a:r>
            <a:endParaRPr b="0" i="0" sz="1500" u="none" cap="none" strike="noStrike">
              <a:solidFill>
                <a:schemeClr val="dk2"/>
              </a:solidFill>
              <a:latin typeface="Open Sans"/>
              <a:ea typeface="Open Sans"/>
              <a:cs typeface="Open Sans"/>
              <a:sym typeface="Open Sans"/>
            </a:endParaRPr>
          </a:p>
          <a:p>
            <a:pPr indent="-323850" lvl="1" marL="914400" marR="0" rtl="0" algn="l">
              <a:lnSpc>
                <a:spcPct val="115000"/>
              </a:lnSpc>
              <a:spcBef>
                <a:spcPts val="0"/>
              </a:spcBef>
              <a:spcAft>
                <a:spcPts val="0"/>
              </a:spcAft>
              <a:buClr>
                <a:schemeClr val="dk2"/>
              </a:buClr>
              <a:buSzPts val="1500"/>
              <a:buFont typeface="Open Sans"/>
              <a:buChar char="○"/>
            </a:pPr>
            <a:r>
              <a:rPr b="0" i="0" lang="es" sz="1500" u="none" cap="none" strike="noStrike">
                <a:solidFill>
                  <a:schemeClr val="dk2"/>
                </a:solidFill>
                <a:latin typeface="Open Sans"/>
                <a:ea typeface="Open Sans"/>
                <a:cs typeface="Open Sans"/>
                <a:sym typeface="Open Sans"/>
              </a:rPr>
              <a:t>Threads a nivel de núcleo del sistema</a:t>
            </a:r>
            <a:endParaRPr b="0" i="0" sz="1500" u="none" cap="none" strike="noStrike">
              <a:solidFill>
                <a:schemeClr val="dk2"/>
              </a:solidFill>
              <a:latin typeface="Open Sans"/>
              <a:ea typeface="Open Sans"/>
              <a:cs typeface="Open Sans"/>
              <a:sym typeface="Open Sans"/>
            </a:endParaRPr>
          </a:p>
          <a:p>
            <a:pPr indent="-323850" lvl="1" marL="914400" marR="0" rtl="0" algn="l">
              <a:lnSpc>
                <a:spcPct val="115000"/>
              </a:lnSpc>
              <a:spcBef>
                <a:spcPts val="0"/>
              </a:spcBef>
              <a:spcAft>
                <a:spcPts val="0"/>
              </a:spcAft>
              <a:buClr>
                <a:schemeClr val="dk2"/>
              </a:buClr>
              <a:buSzPts val="1500"/>
              <a:buFont typeface="Open Sans"/>
              <a:buChar char="○"/>
            </a:pPr>
            <a:r>
              <a:rPr b="0" i="0" lang="es" sz="1500" u="none" cap="none" strike="noStrike">
                <a:solidFill>
                  <a:schemeClr val="dk2"/>
                </a:solidFill>
                <a:latin typeface="Open Sans"/>
                <a:ea typeface="Open Sans"/>
                <a:cs typeface="Open Sans"/>
                <a:sym typeface="Open Sans"/>
              </a:rPr>
              <a:t>Modelos de threads</a:t>
            </a:r>
            <a:endParaRPr b="0" i="0" sz="1500" u="none" cap="none" strike="noStrike">
              <a:solidFill>
                <a:schemeClr val="dk2"/>
              </a:solidFill>
              <a:latin typeface="Open Sans"/>
              <a:ea typeface="Open Sans"/>
              <a:cs typeface="Open Sans"/>
              <a:sym typeface="Open Sans"/>
            </a:endParaRPr>
          </a:p>
          <a:p>
            <a:pPr indent="-323850" lvl="0" marL="457200" marR="0" rtl="0" algn="l">
              <a:lnSpc>
                <a:spcPct val="115000"/>
              </a:lnSpc>
              <a:spcBef>
                <a:spcPts val="0"/>
              </a:spcBef>
              <a:spcAft>
                <a:spcPts val="0"/>
              </a:spcAft>
              <a:buClr>
                <a:schemeClr val="dk2"/>
              </a:buClr>
              <a:buSzPts val="1500"/>
              <a:buFont typeface="Open Sans"/>
              <a:buChar char="●"/>
            </a:pPr>
            <a:r>
              <a:rPr b="0" i="0" lang="es" sz="1800" u="none" cap="none" strike="noStrike">
                <a:solidFill>
                  <a:schemeClr val="dk2"/>
                </a:solidFill>
                <a:latin typeface="Open Sans"/>
                <a:ea typeface="Open Sans"/>
                <a:cs typeface="Open Sans"/>
                <a:sym typeface="Open Sans"/>
              </a:rPr>
              <a:t>Señales</a:t>
            </a:r>
            <a:endParaRPr b="0" i="0" sz="1500" u="none" cap="none" strike="noStrike">
              <a:solidFill>
                <a:schemeClr val="dk2"/>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Proceso - Definición</a:t>
            </a:r>
            <a:endParaRPr/>
          </a:p>
        </p:txBody>
      </p:sp>
      <p:sp>
        <p:nvSpPr>
          <p:cNvPr id="80" name="Google Shape;80;p3"/>
          <p:cNvSpPr txBox="1"/>
          <p:nvPr>
            <p:ph idx="1" type="body"/>
          </p:nvPr>
        </p:nvSpPr>
        <p:spPr>
          <a:xfrm>
            <a:off x="311700" y="1266325"/>
            <a:ext cx="8520600" cy="36660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SzPct val="100000"/>
              <a:buChar char="●"/>
            </a:pPr>
            <a:r>
              <a:rPr lang="es"/>
              <a:t>Es el principal concepto a reconocer en cualquier sistema operativo.</a:t>
            </a:r>
            <a:endParaRPr/>
          </a:p>
          <a:p>
            <a:pPr indent="0" lvl="0" marL="457200" rtl="0" algn="l">
              <a:lnSpc>
                <a:spcPct val="115000"/>
              </a:lnSpc>
              <a:spcBef>
                <a:spcPts val="1200"/>
              </a:spcBef>
              <a:spcAft>
                <a:spcPts val="0"/>
              </a:spcAft>
              <a:buSzPct val="117647"/>
              <a:buNone/>
            </a:pPr>
            <a:r>
              <a:t/>
            </a:r>
            <a:endParaRPr/>
          </a:p>
          <a:p>
            <a:pPr indent="-325755" lvl="0" marL="457200" rtl="0" algn="l">
              <a:lnSpc>
                <a:spcPct val="115000"/>
              </a:lnSpc>
              <a:spcBef>
                <a:spcPts val="1200"/>
              </a:spcBef>
              <a:spcAft>
                <a:spcPts val="0"/>
              </a:spcAft>
              <a:buSzPct val="100000"/>
              <a:buChar char="●"/>
            </a:pPr>
            <a:r>
              <a:rPr lang="es"/>
              <a:t>Un proceso es un programa en ejecución, incluyendo el valor del program counter, los registros y las variables.  </a:t>
            </a:r>
            <a:endParaRPr/>
          </a:p>
          <a:p>
            <a:pPr indent="0" lvl="0" marL="457200" rtl="0" algn="l">
              <a:lnSpc>
                <a:spcPct val="115000"/>
              </a:lnSpc>
              <a:spcBef>
                <a:spcPts val="1200"/>
              </a:spcBef>
              <a:spcAft>
                <a:spcPts val="0"/>
              </a:spcAft>
              <a:buSzPct val="117647"/>
              <a:buNone/>
            </a:pPr>
            <a:r>
              <a:t/>
            </a:r>
            <a:endParaRPr/>
          </a:p>
          <a:p>
            <a:pPr indent="-325755" lvl="0" marL="457200" rtl="0" algn="l">
              <a:lnSpc>
                <a:spcPct val="115000"/>
              </a:lnSpc>
              <a:spcBef>
                <a:spcPts val="1200"/>
              </a:spcBef>
              <a:spcAft>
                <a:spcPts val="0"/>
              </a:spcAft>
              <a:buSzPct val="100000"/>
              <a:buChar char="●"/>
            </a:pPr>
            <a:r>
              <a:rPr lang="es"/>
              <a:t>Cada proceso tiene un hilo (thread) de ejecución que es visto como un CPU virtual. (ej: un un pc de 7 core puede mantener X cantidad de threads corriendo de forma concurrente)  </a:t>
            </a:r>
            <a:endParaRPr/>
          </a:p>
          <a:p>
            <a:pPr indent="0" lvl="0" marL="457200" rtl="0" algn="l">
              <a:lnSpc>
                <a:spcPct val="115000"/>
              </a:lnSpc>
              <a:spcBef>
                <a:spcPts val="1200"/>
              </a:spcBef>
              <a:spcAft>
                <a:spcPts val="0"/>
              </a:spcAft>
              <a:buSzPct val="117647"/>
              <a:buNone/>
            </a:pPr>
            <a:r>
              <a:t/>
            </a:r>
            <a:endParaRPr/>
          </a:p>
          <a:p>
            <a:pPr indent="-325755" lvl="0" marL="457200" rtl="0" algn="l">
              <a:lnSpc>
                <a:spcPct val="115000"/>
              </a:lnSpc>
              <a:spcBef>
                <a:spcPts val="1200"/>
              </a:spcBef>
              <a:spcAft>
                <a:spcPts val="0"/>
              </a:spcAft>
              <a:buSzPct val="100000"/>
              <a:buChar char="●"/>
            </a:pPr>
            <a:r>
              <a:rPr lang="es"/>
              <a:t>El recurso procesador es alternado entre los diferentes procesos que existan en el sistema, dando la idea de que ejecutan en paralelo (multiprogramación)</a:t>
            </a:r>
            <a:endParaRPr/>
          </a:p>
        </p:txBody>
      </p:sp>
      <p:pic>
        <p:nvPicPr>
          <p:cNvPr id="81" name="Google Shape;81;p3"/>
          <p:cNvPicPr preferRelativeResize="0"/>
          <p:nvPr/>
        </p:nvPicPr>
        <p:blipFill rotWithShape="1">
          <a:blip r:embed="rId3">
            <a:alphaModFix/>
          </a:blip>
          <a:srcRect b="0" l="0" r="0" t="0"/>
          <a:stretch/>
        </p:blipFill>
        <p:spPr>
          <a:xfrm>
            <a:off x="7572718" y="181125"/>
            <a:ext cx="1101575" cy="971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Proceso - Contador de programa (PC)</a:t>
            </a:r>
            <a:endParaRPr/>
          </a:p>
        </p:txBody>
      </p:sp>
      <p:sp>
        <p:nvSpPr>
          <p:cNvPr id="87" name="Google Shape;87;p4"/>
          <p:cNvSpPr txBox="1"/>
          <p:nvPr>
            <p:ph idx="1" type="body"/>
          </p:nvPr>
        </p:nvSpPr>
        <p:spPr>
          <a:xfrm>
            <a:off x="0" y="1320325"/>
            <a:ext cx="5148600" cy="3546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Cada proceso tiene su program counter, y avanza cuando el proceso tiene asignado el recurso procesador, avanza a medida que se van procesando la secuencia de instrucciones.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A su vez, a cada proceso se le asigna un número que lo identifica entre los demás: identificador de proceso (process id)</a:t>
            </a:r>
            <a:endParaRPr/>
          </a:p>
        </p:txBody>
      </p:sp>
      <p:pic>
        <p:nvPicPr>
          <p:cNvPr id="88" name="Google Shape;88;p4"/>
          <p:cNvPicPr preferRelativeResize="0"/>
          <p:nvPr/>
        </p:nvPicPr>
        <p:blipFill rotWithShape="1">
          <a:blip r:embed="rId3">
            <a:alphaModFix/>
          </a:blip>
          <a:srcRect b="0" l="0" r="0" t="0"/>
          <a:stretch/>
        </p:blipFill>
        <p:spPr>
          <a:xfrm>
            <a:off x="5148675" y="1427675"/>
            <a:ext cx="3957601" cy="29408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Proceso - Memoria de los procesos</a:t>
            </a:r>
            <a:endParaRPr/>
          </a:p>
        </p:txBody>
      </p:sp>
      <p:pic>
        <p:nvPicPr>
          <p:cNvPr id="94" name="Google Shape;94;p5"/>
          <p:cNvPicPr preferRelativeResize="0"/>
          <p:nvPr/>
        </p:nvPicPr>
        <p:blipFill rotWithShape="1">
          <a:blip r:embed="rId3">
            <a:alphaModFix/>
          </a:blip>
          <a:srcRect b="0" l="0" r="0" t="0"/>
          <a:stretch/>
        </p:blipFill>
        <p:spPr>
          <a:xfrm>
            <a:off x="6787275" y="1009975"/>
            <a:ext cx="2249425" cy="3537325"/>
          </a:xfrm>
          <a:prstGeom prst="rect">
            <a:avLst/>
          </a:prstGeom>
          <a:noFill/>
          <a:ln>
            <a:noFill/>
          </a:ln>
        </p:spPr>
      </p:pic>
      <p:sp>
        <p:nvSpPr>
          <p:cNvPr id="95" name="Google Shape;95;p5"/>
          <p:cNvSpPr txBox="1"/>
          <p:nvPr/>
        </p:nvSpPr>
        <p:spPr>
          <a:xfrm>
            <a:off x="90900" y="2499750"/>
            <a:ext cx="1687200" cy="1138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secciones de la memoria utilizada por un proceso</a:t>
            </a:r>
            <a:endParaRPr b="0" i="0" sz="1400" u="none" cap="none" strike="noStrike">
              <a:solidFill>
                <a:srgbClr val="000000"/>
              </a:solidFill>
              <a:latin typeface="Open Sans"/>
              <a:ea typeface="Open Sans"/>
              <a:cs typeface="Open Sans"/>
              <a:sym typeface="Open Sans"/>
            </a:endParaRPr>
          </a:p>
        </p:txBody>
      </p:sp>
      <p:sp>
        <p:nvSpPr>
          <p:cNvPr id="96" name="Google Shape;96;p5"/>
          <p:cNvSpPr txBox="1"/>
          <p:nvPr/>
        </p:nvSpPr>
        <p:spPr>
          <a:xfrm>
            <a:off x="1892750" y="1231125"/>
            <a:ext cx="4160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Arial"/>
                <a:ea typeface="Arial"/>
                <a:cs typeface="Arial"/>
                <a:sym typeface="Arial"/>
              </a:rPr>
              <a:t>Código (text) ⇒ Instrucciones del proceso.</a:t>
            </a:r>
            <a:r>
              <a:rPr b="0" i="0" lang="es"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97" name="Google Shape;97;p5"/>
          <p:cNvSpPr txBox="1"/>
          <p:nvPr/>
        </p:nvSpPr>
        <p:spPr>
          <a:xfrm>
            <a:off x="2072950" y="1942800"/>
            <a:ext cx="3882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Open Sans"/>
                <a:ea typeface="Open Sans"/>
                <a:cs typeface="Open Sans"/>
                <a:sym typeface="Open Sans"/>
              </a:rPr>
              <a:t>Datos (data) ⇒ Variables globales del proceso</a:t>
            </a:r>
            <a:endParaRPr b="0" i="0" sz="1500" u="none" cap="none" strike="noStrike">
              <a:solidFill>
                <a:srgbClr val="000000"/>
              </a:solidFill>
              <a:latin typeface="Open Sans"/>
              <a:ea typeface="Open Sans"/>
              <a:cs typeface="Open Sans"/>
              <a:sym typeface="Open Sans"/>
            </a:endParaRPr>
          </a:p>
        </p:txBody>
      </p:sp>
      <p:sp>
        <p:nvSpPr>
          <p:cNvPr id="98" name="Google Shape;98;p5"/>
          <p:cNvSpPr txBox="1"/>
          <p:nvPr/>
        </p:nvSpPr>
        <p:spPr>
          <a:xfrm>
            <a:off x="2122100" y="3121325"/>
            <a:ext cx="4063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Arial"/>
                <a:ea typeface="Arial"/>
                <a:cs typeface="Arial"/>
                <a:sym typeface="Arial"/>
              </a:rPr>
              <a:t>Memoria dinámica (heap) ⇒ Memoria dinámica que genera el proceso</a:t>
            </a:r>
            <a:endParaRPr b="0" i="0" sz="1400" u="none" cap="none" strike="noStrike">
              <a:solidFill>
                <a:srgbClr val="000000"/>
              </a:solidFill>
              <a:latin typeface="Arial"/>
              <a:ea typeface="Arial"/>
              <a:cs typeface="Arial"/>
              <a:sym typeface="Arial"/>
            </a:endParaRPr>
          </a:p>
        </p:txBody>
      </p:sp>
      <p:sp>
        <p:nvSpPr>
          <p:cNvPr id="99" name="Google Shape;99;p5"/>
          <p:cNvSpPr txBox="1"/>
          <p:nvPr/>
        </p:nvSpPr>
        <p:spPr>
          <a:xfrm>
            <a:off x="639650" y="4127850"/>
            <a:ext cx="63147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000000"/>
                </a:solidFill>
                <a:latin typeface="Arial"/>
                <a:ea typeface="Arial"/>
                <a:cs typeface="Arial"/>
                <a:sym typeface="Arial"/>
              </a:rPr>
              <a:t>Pila (stack) ⇒ Utilizado para preservar el estado en la invocación anidada de procedimientos y funciones (ej: memoria adicional que se suma al llamar una función que declara sus propias variables</a:t>
            </a:r>
            <a:endParaRPr b="0" i="0" sz="1100" u="none" cap="none" strike="noStrike">
              <a:solidFill>
                <a:srgbClr val="000000"/>
              </a:solidFill>
              <a:latin typeface="Arial"/>
              <a:ea typeface="Arial"/>
              <a:cs typeface="Arial"/>
              <a:sym typeface="Arial"/>
            </a:endParaRPr>
          </a:p>
        </p:txBody>
      </p:sp>
      <p:cxnSp>
        <p:nvCxnSpPr>
          <p:cNvPr id="100" name="Google Shape;100;p5"/>
          <p:cNvCxnSpPr>
            <a:stCxn id="95" idx="0"/>
          </p:cNvCxnSpPr>
          <p:nvPr/>
        </p:nvCxnSpPr>
        <p:spPr>
          <a:xfrm flipH="1" rot="10800000">
            <a:off x="934500" y="1590750"/>
            <a:ext cx="1097400" cy="909000"/>
          </a:xfrm>
          <a:prstGeom prst="straightConnector1">
            <a:avLst/>
          </a:prstGeom>
          <a:noFill/>
          <a:ln cap="flat" cmpd="sng" w="9525">
            <a:solidFill>
              <a:schemeClr val="dk2"/>
            </a:solidFill>
            <a:prstDash val="solid"/>
            <a:round/>
            <a:headEnd len="sm" w="sm" type="none"/>
            <a:tailEnd len="med" w="med" type="triangle"/>
          </a:ln>
        </p:spPr>
      </p:cxnSp>
      <p:cxnSp>
        <p:nvCxnSpPr>
          <p:cNvPr id="101" name="Google Shape;101;p5"/>
          <p:cNvCxnSpPr>
            <a:endCxn id="97" idx="1"/>
          </p:cNvCxnSpPr>
          <p:nvPr/>
        </p:nvCxnSpPr>
        <p:spPr>
          <a:xfrm flipH="1" rot="10800000">
            <a:off x="1319350" y="2266050"/>
            <a:ext cx="753600" cy="250200"/>
          </a:xfrm>
          <a:prstGeom prst="straightConnector1">
            <a:avLst/>
          </a:prstGeom>
          <a:noFill/>
          <a:ln cap="flat" cmpd="sng" w="9525">
            <a:solidFill>
              <a:schemeClr val="dk2"/>
            </a:solidFill>
            <a:prstDash val="solid"/>
            <a:round/>
            <a:headEnd len="sm" w="sm" type="none"/>
            <a:tailEnd len="med" w="med" type="triangle"/>
          </a:ln>
        </p:spPr>
      </p:cxnSp>
      <p:cxnSp>
        <p:nvCxnSpPr>
          <p:cNvPr id="102" name="Google Shape;102;p5"/>
          <p:cNvCxnSpPr>
            <a:stCxn id="95" idx="3"/>
            <a:endCxn id="98" idx="1"/>
          </p:cNvCxnSpPr>
          <p:nvPr/>
        </p:nvCxnSpPr>
        <p:spPr>
          <a:xfrm>
            <a:off x="1778100" y="3069000"/>
            <a:ext cx="344100" cy="375600"/>
          </a:xfrm>
          <a:prstGeom prst="straightConnector1">
            <a:avLst/>
          </a:prstGeom>
          <a:noFill/>
          <a:ln cap="flat" cmpd="sng" w="9525">
            <a:solidFill>
              <a:schemeClr val="dk2"/>
            </a:solidFill>
            <a:prstDash val="solid"/>
            <a:round/>
            <a:headEnd len="sm" w="sm" type="none"/>
            <a:tailEnd len="med" w="med" type="triangle"/>
          </a:ln>
        </p:spPr>
      </p:cxnSp>
      <p:cxnSp>
        <p:nvCxnSpPr>
          <p:cNvPr id="103" name="Google Shape;103;p5"/>
          <p:cNvCxnSpPr/>
          <p:nvPr/>
        </p:nvCxnSpPr>
        <p:spPr>
          <a:xfrm>
            <a:off x="426675" y="3916650"/>
            <a:ext cx="147300" cy="466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Distinción entre programas y procesos</a:t>
            </a:r>
            <a:endParaRPr/>
          </a:p>
        </p:txBody>
      </p:sp>
      <p:sp>
        <p:nvSpPr>
          <p:cNvPr id="109" name="Google Shape;109;p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l">
              <a:lnSpc>
                <a:spcPct val="115000"/>
              </a:lnSpc>
              <a:spcBef>
                <a:spcPts val="0"/>
              </a:spcBef>
              <a:spcAft>
                <a:spcPts val="0"/>
              </a:spcAft>
              <a:buSzPct val="100000"/>
              <a:buChar char="●"/>
            </a:pPr>
            <a:r>
              <a:rPr lang="es"/>
              <a:t>El programa es el concepto de lo que se ejecutará o el código fuente</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El proceso es el programa en ejecución, el cual tiene un identificador único, lo cual implica que uno puede tener varias veces corriendo el mismo programa, pero este habrá creado un proceso por cada instancia de ejecución</a:t>
            </a:r>
            <a:endParaRPr/>
          </a:p>
          <a:p>
            <a:pPr indent="0" lvl="0" marL="457200" rtl="0" algn="l">
              <a:lnSpc>
                <a:spcPct val="115000"/>
              </a:lnSpc>
              <a:spcBef>
                <a:spcPts val="1200"/>
              </a:spcBef>
              <a:spcAft>
                <a:spcPts val="0"/>
              </a:spcAft>
              <a:buSzPct val="108108"/>
              <a:buNone/>
            </a:pPr>
            <a:r>
              <a:t/>
            </a:r>
            <a:endParaRPr/>
          </a:p>
          <a:p>
            <a:pPr indent="-334327" lvl="0" marL="457200" rtl="0" algn="l">
              <a:lnSpc>
                <a:spcPct val="115000"/>
              </a:lnSpc>
              <a:spcBef>
                <a:spcPts val="1200"/>
              </a:spcBef>
              <a:spcAft>
                <a:spcPts val="0"/>
              </a:spcAft>
              <a:buSzPct val="100000"/>
              <a:buChar char="●"/>
            </a:pPr>
            <a:r>
              <a:rPr lang="es"/>
              <a:t>Los procesos compiten por los recursos del computador, por ende, necesitan herramientas (programas) que se encarguen de la gestión de los recursos, la sincronización de uso de los recursos y la comunicación entre procesos de existir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Distinción entre programa y proceso</a:t>
            </a:r>
            <a:endParaRPr/>
          </a:p>
        </p:txBody>
      </p:sp>
      <p:sp>
        <p:nvSpPr>
          <p:cNvPr id="115" name="Google Shape;115;p7"/>
          <p:cNvSpPr txBox="1"/>
          <p:nvPr>
            <p:ph idx="1" type="body"/>
          </p:nvPr>
        </p:nvSpPr>
        <p:spPr>
          <a:xfrm>
            <a:off x="311700" y="1266325"/>
            <a:ext cx="5242200" cy="37068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s"/>
              <a:t>Dado lo anterior, podemos decir, que el proceso es de </a:t>
            </a:r>
            <a:r>
              <a:rPr b="1" lang="es">
                <a:solidFill>
                  <a:srgbClr val="C27BA0"/>
                </a:solidFill>
              </a:rPr>
              <a:t>naturaleza dinámica</a:t>
            </a:r>
            <a:r>
              <a:rPr lang="es"/>
              <a:t> y que este pasa por distintos </a:t>
            </a:r>
            <a:r>
              <a:rPr b="1" lang="es">
                <a:solidFill>
                  <a:srgbClr val="FF0000"/>
                </a:solidFill>
              </a:rPr>
              <a:t>estados</a:t>
            </a:r>
            <a:r>
              <a:rPr lang="es"/>
              <a:t> antes de finalizar su vida (fin de ejecución)</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En un core, solo un proceso estará en </a:t>
            </a:r>
            <a:r>
              <a:rPr b="1" lang="es">
                <a:solidFill>
                  <a:srgbClr val="3C78D8"/>
                </a:solidFill>
              </a:rPr>
              <a:t>ejecución</a:t>
            </a:r>
            <a:r>
              <a:rPr lang="es"/>
              <a:t>, los demás están </a:t>
            </a:r>
            <a:r>
              <a:rPr b="1" lang="es">
                <a:solidFill>
                  <a:srgbClr val="3C78D8"/>
                </a:solidFill>
              </a:rPr>
              <a:t>preparados</a:t>
            </a:r>
            <a:r>
              <a:rPr lang="es"/>
              <a:t> para la ejecución o </a:t>
            </a:r>
            <a:r>
              <a:rPr b="1" lang="es">
                <a:solidFill>
                  <a:srgbClr val="3C78D8"/>
                </a:solidFill>
              </a:rPr>
              <a:t>bloqueados</a:t>
            </a:r>
            <a:r>
              <a:rPr lang="es"/>
              <a:t>, esperando a que ocurra un eventos que lo habilite para tener la posibilidad de usar el procesador  </a:t>
            </a:r>
            <a:endParaRPr/>
          </a:p>
        </p:txBody>
      </p:sp>
      <p:pic>
        <p:nvPicPr>
          <p:cNvPr id="116" name="Google Shape;116;p7"/>
          <p:cNvPicPr preferRelativeResize="0"/>
          <p:nvPr/>
        </p:nvPicPr>
        <p:blipFill rotWithShape="1">
          <a:blip r:embed="rId3">
            <a:alphaModFix/>
          </a:blip>
          <a:srcRect b="0" l="0" r="0" t="0"/>
          <a:stretch/>
        </p:blipFill>
        <p:spPr>
          <a:xfrm>
            <a:off x="5927325" y="322000"/>
            <a:ext cx="2998424" cy="4528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Relación entre los procesos</a:t>
            </a:r>
            <a:endParaRPr/>
          </a:p>
        </p:txBody>
      </p:sp>
      <p:sp>
        <p:nvSpPr>
          <p:cNvPr id="122" name="Google Shape;122;p8"/>
          <p:cNvSpPr txBox="1"/>
          <p:nvPr>
            <p:ph idx="1" type="body"/>
          </p:nvPr>
        </p:nvSpPr>
        <p:spPr>
          <a:xfrm>
            <a:off x="311700" y="1266325"/>
            <a:ext cx="8520600" cy="840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Existen varias miradas respecto de cómo se relacionan los proceso en un sistema operativo, algunas de estas son:</a:t>
            </a:r>
            <a:endParaRPr/>
          </a:p>
        </p:txBody>
      </p:sp>
      <p:sp>
        <p:nvSpPr>
          <p:cNvPr id="123" name="Google Shape;123;p8"/>
          <p:cNvSpPr txBox="1"/>
          <p:nvPr/>
        </p:nvSpPr>
        <p:spPr>
          <a:xfrm>
            <a:off x="2662625" y="2220525"/>
            <a:ext cx="1245000" cy="70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debe cubrir 3 aristas</a:t>
            </a:r>
            <a:endParaRPr b="0" i="0" sz="1400" u="none" cap="none" strike="noStrike">
              <a:solidFill>
                <a:srgbClr val="000000"/>
              </a:solidFill>
              <a:latin typeface="Open Sans"/>
              <a:ea typeface="Open Sans"/>
              <a:cs typeface="Open Sans"/>
              <a:sym typeface="Open Sans"/>
            </a:endParaRPr>
          </a:p>
        </p:txBody>
      </p:sp>
      <p:cxnSp>
        <p:nvCxnSpPr>
          <p:cNvPr id="124" name="Google Shape;124;p8"/>
          <p:cNvCxnSpPr/>
          <p:nvPr/>
        </p:nvCxnSpPr>
        <p:spPr>
          <a:xfrm flipH="1" rot="10800000">
            <a:off x="2654450" y="2819050"/>
            <a:ext cx="1351500" cy="507900"/>
          </a:xfrm>
          <a:prstGeom prst="straightConnector1">
            <a:avLst/>
          </a:prstGeom>
          <a:noFill/>
          <a:ln cap="flat" cmpd="sng" w="9525">
            <a:solidFill>
              <a:schemeClr val="dk2"/>
            </a:solidFill>
            <a:prstDash val="solid"/>
            <a:round/>
            <a:headEnd len="sm" w="sm" type="none"/>
            <a:tailEnd len="med" w="med" type="triangle"/>
          </a:ln>
        </p:spPr>
      </p:cxnSp>
      <p:cxnSp>
        <p:nvCxnSpPr>
          <p:cNvPr id="125" name="Google Shape;125;p8"/>
          <p:cNvCxnSpPr/>
          <p:nvPr/>
        </p:nvCxnSpPr>
        <p:spPr>
          <a:xfrm>
            <a:off x="2793675" y="3449800"/>
            <a:ext cx="1203900" cy="24600"/>
          </a:xfrm>
          <a:prstGeom prst="straightConnector1">
            <a:avLst/>
          </a:prstGeom>
          <a:noFill/>
          <a:ln cap="flat" cmpd="sng" w="9525">
            <a:solidFill>
              <a:schemeClr val="dk2"/>
            </a:solidFill>
            <a:prstDash val="solid"/>
            <a:round/>
            <a:headEnd len="sm" w="sm" type="none"/>
            <a:tailEnd len="med" w="med" type="triangle"/>
          </a:ln>
        </p:spPr>
      </p:cxnSp>
      <p:cxnSp>
        <p:nvCxnSpPr>
          <p:cNvPr id="126" name="Google Shape;126;p8"/>
          <p:cNvCxnSpPr/>
          <p:nvPr/>
        </p:nvCxnSpPr>
        <p:spPr>
          <a:xfrm>
            <a:off x="2621675" y="3654575"/>
            <a:ext cx="1228500" cy="548700"/>
          </a:xfrm>
          <a:prstGeom prst="straightConnector1">
            <a:avLst/>
          </a:prstGeom>
          <a:noFill/>
          <a:ln cap="flat" cmpd="sng" w="9525">
            <a:solidFill>
              <a:schemeClr val="dk2"/>
            </a:solidFill>
            <a:prstDash val="solid"/>
            <a:round/>
            <a:headEnd len="sm" w="sm" type="none"/>
            <a:tailEnd len="med" w="med" type="triangle"/>
          </a:ln>
        </p:spPr>
      </p:cxnSp>
      <p:sp>
        <p:nvSpPr>
          <p:cNvPr id="127" name="Google Shape;127;p8"/>
          <p:cNvSpPr txBox="1"/>
          <p:nvPr/>
        </p:nvSpPr>
        <p:spPr>
          <a:xfrm>
            <a:off x="4112325" y="2477350"/>
            <a:ext cx="3505500" cy="50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ejecución concurrente de procesos</a:t>
            </a:r>
            <a:endParaRPr b="0" i="0" sz="1400" u="none" cap="none" strike="noStrike">
              <a:solidFill>
                <a:srgbClr val="000000"/>
              </a:solidFill>
              <a:latin typeface="Open Sans"/>
              <a:ea typeface="Open Sans"/>
              <a:cs typeface="Open Sans"/>
              <a:sym typeface="Open Sans"/>
            </a:endParaRPr>
          </a:p>
        </p:txBody>
      </p:sp>
      <p:sp>
        <p:nvSpPr>
          <p:cNvPr id="128" name="Google Shape;128;p8"/>
          <p:cNvSpPr txBox="1"/>
          <p:nvPr/>
        </p:nvSpPr>
        <p:spPr>
          <a:xfrm>
            <a:off x="4223775" y="3241325"/>
            <a:ext cx="3505500" cy="50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sincronización entre procesos</a:t>
            </a:r>
            <a:endParaRPr b="0" i="0" sz="1400" u="none" cap="none" strike="noStrike">
              <a:solidFill>
                <a:srgbClr val="000000"/>
              </a:solidFill>
              <a:latin typeface="Open Sans"/>
              <a:ea typeface="Open Sans"/>
              <a:cs typeface="Open Sans"/>
              <a:sym typeface="Open Sans"/>
            </a:endParaRPr>
          </a:p>
        </p:txBody>
      </p:sp>
      <p:sp>
        <p:nvSpPr>
          <p:cNvPr id="129" name="Google Shape;129;p8"/>
          <p:cNvSpPr txBox="1"/>
          <p:nvPr/>
        </p:nvSpPr>
        <p:spPr>
          <a:xfrm>
            <a:off x="4005950" y="3958450"/>
            <a:ext cx="3505500" cy="50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comunicación entre procesos</a:t>
            </a:r>
            <a:endParaRPr b="0" i="0" sz="1400" u="none" cap="none" strike="noStrike">
              <a:solidFill>
                <a:srgbClr val="000000"/>
              </a:solidFill>
              <a:latin typeface="Open Sans"/>
              <a:ea typeface="Open Sans"/>
              <a:cs typeface="Open Sans"/>
              <a:sym typeface="Open Sans"/>
            </a:endParaRPr>
          </a:p>
        </p:txBody>
      </p:sp>
      <p:sp>
        <p:nvSpPr>
          <p:cNvPr id="130" name="Google Shape;130;p8"/>
          <p:cNvSpPr/>
          <p:nvPr/>
        </p:nvSpPr>
        <p:spPr>
          <a:xfrm>
            <a:off x="385725" y="2655350"/>
            <a:ext cx="2129400" cy="1359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El SO debe disponer de servicios para realizar procesamiento concurrente</a:t>
            </a:r>
            <a:endParaRPr b="0" i="0" sz="1400" u="none" cap="none" strike="noStrike">
              <a:solidFill>
                <a:srgbClr val="000000"/>
              </a:solidFill>
              <a:latin typeface="Arial"/>
              <a:ea typeface="Arial"/>
              <a:cs typeface="Arial"/>
              <a:sym typeface="Arial"/>
            </a:endParaRPr>
          </a:p>
        </p:txBody>
      </p:sp>
      <p:pic>
        <p:nvPicPr>
          <p:cNvPr id="131" name="Google Shape;131;p8"/>
          <p:cNvPicPr preferRelativeResize="0"/>
          <p:nvPr/>
        </p:nvPicPr>
        <p:blipFill rotWithShape="1">
          <a:blip r:embed="rId3">
            <a:alphaModFix/>
          </a:blip>
          <a:srcRect b="0" l="0" r="0" t="0"/>
          <a:stretch/>
        </p:blipFill>
        <p:spPr>
          <a:xfrm>
            <a:off x="5112775" y="146577"/>
            <a:ext cx="3654801" cy="1173750"/>
          </a:xfrm>
          <a:prstGeom prst="rect">
            <a:avLst/>
          </a:prstGeom>
          <a:noFill/>
          <a:ln>
            <a:noFill/>
          </a:ln>
        </p:spPr>
      </p:pic>
      <p:sp>
        <p:nvSpPr>
          <p:cNvPr id="132" name="Google Shape;132;p8"/>
          <p:cNvSpPr txBox="1"/>
          <p:nvPr/>
        </p:nvSpPr>
        <p:spPr>
          <a:xfrm>
            <a:off x="512625" y="4129600"/>
            <a:ext cx="18756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ejecutar más de un proceso al mismo tiempo</a:t>
            </a:r>
            <a:endParaRPr b="0" i="0" sz="1200" u="none" cap="none" strike="noStrike">
              <a:solidFill>
                <a:srgbClr val="000000"/>
              </a:solidFill>
              <a:latin typeface="Open Sans"/>
              <a:ea typeface="Open Sans"/>
              <a:cs typeface="Open Sans"/>
              <a:sym typeface="Open Sans"/>
            </a:endParaRPr>
          </a:p>
        </p:txBody>
      </p:sp>
      <p:sp>
        <p:nvSpPr>
          <p:cNvPr id="133" name="Google Shape;133;p8"/>
          <p:cNvSpPr/>
          <p:nvPr/>
        </p:nvSpPr>
        <p:spPr>
          <a:xfrm>
            <a:off x="567671" y="4106100"/>
            <a:ext cx="1796675" cy="779100"/>
          </a:xfrm>
          <a:custGeom>
            <a:rect b="b" l="l" r="r" t="t"/>
            <a:pathLst>
              <a:path extrusionOk="0" h="31164" w="71867">
                <a:moveTo>
                  <a:pt x="24173" y="29442"/>
                </a:moveTo>
                <a:cubicBezTo>
                  <a:pt x="20526" y="27253"/>
                  <a:pt x="18211" y="23283"/>
                  <a:pt x="14672" y="20924"/>
                </a:cubicBezTo>
                <a:cubicBezTo>
                  <a:pt x="9336" y="17367"/>
                  <a:pt x="-2715" y="13319"/>
                  <a:pt x="585" y="7820"/>
                </a:cubicBezTo>
                <a:cubicBezTo>
                  <a:pt x="1786" y="5818"/>
                  <a:pt x="5186" y="7017"/>
                  <a:pt x="7465" y="6510"/>
                </a:cubicBezTo>
                <a:cubicBezTo>
                  <a:pt x="10139" y="5915"/>
                  <a:pt x="12282" y="3573"/>
                  <a:pt x="15000" y="3233"/>
                </a:cubicBezTo>
                <a:cubicBezTo>
                  <a:pt x="21293" y="2445"/>
                  <a:pt x="27745" y="5258"/>
                  <a:pt x="34001" y="4216"/>
                </a:cubicBezTo>
                <a:cubicBezTo>
                  <a:pt x="46412" y="2149"/>
                  <a:pt x="67005" y="-5173"/>
                  <a:pt x="71677" y="6510"/>
                </a:cubicBezTo>
                <a:cubicBezTo>
                  <a:pt x="72970" y="9744"/>
                  <a:pt x="65745" y="10491"/>
                  <a:pt x="63814" y="13389"/>
                </a:cubicBezTo>
                <a:cubicBezTo>
                  <a:pt x="62316" y="15637"/>
                  <a:pt x="65397" y="18578"/>
                  <a:pt x="65780" y="21252"/>
                </a:cubicBezTo>
                <a:cubicBezTo>
                  <a:pt x="66133" y="23722"/>
                  <a:pt x="64907" y="26748"/>
                  <a:pt x="62831" y="28132"/>
                </a:cubicBezTo>
                <a:cubicBezTo>
                  <a:pt x="56446" y="32386"/>
                  <a:pt x="47494" y="31181"/>
                  <a:pt x="39898" y="30098"/>
                </a:cubicBezTo>
                <a:cubicBezTo>
                  <a:pt x="34346" y="29306"/>
                  <a:pt x="28206" y="30638"/>
                  <a:pt x="23190" y="28132"/>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Relación entre los procesos</a:t>
            </a:r>
            <a:endParaRPr/>
          </a:p>
          <a:p>
            <a:pPr indent="0" lvl="0" marL="0" rtl="0" algn="l">
              <a:lnSpc>
                <a:spcPct val="100000"/>
              </a:lnSpc>
              <a:spcBef>
                <a:spcPts val="0"/>
              </a:spcBef>
              <a:spcAft>
                <a:spcPts val="0"/>
              </a:spcAft>
              <a:buSzPct val="111111"/>
              <a:buNone/>
            </a:pPr>
            <a:r>
              <a:t/>
            </a:r>
            <a:endParaRPr/>
          </a:p>
        </p:txBody>
      </p:sp>
      <p:sp>
        <p:nvSpPr>
          <p:cNvPr id="139" name="Google Shape;139;p9"/>
          <p:cNvSpPr/>
          <p:nvPr/>
        </p:nvSpPr>
        <p:spPr>
          <a:xfrm>
            <a:off x="232500" y="2000125"/>
            <a:ext cx="2302200" cy="1302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El SO debe disponer algoritmos de planificación y gestión de procesos</a:t>
            </a:r>
            <a:endParaRPr b="0" i="0" sz="1700" u="none" cap="none" strike="noStrike">
              <a:solidFill>
                <a:srgbClr val="000000"/>
              </a:solidFill>
              <a:latin typeface="Arial"/>
              <a:ea typeface="Arial"/>
              <a:cs typeface="Arial"/>
              <a:sym typeface="Arial"/>
            </a:endParaRPr>
          </a:p>
        </p:txBody>
      </p:sp>
      <p:cxnSp>
        <p:nvCxnSpPr>
          <p:cNvPr id="140" name="Google Shape;140;p9"/>
          <p:cNvCxnSpPr/>
          <p:nvPr/>
        </p:nvCxnSpPr>
        <p:spPr>
          <a:xfrm flipH="1" rot="10800000">
            <a:off x="2597100" y="2057400"/>
            <a:ext cx="860100" cy="565200"/>
          </a:xfrm>
          <a:prstGeom prst="straightConnector1">
            <a:avLst/>
          </a:prstGeom>
          <a:noFill/>
          <a:ln cap="flat" cmpd="sng" w="9525">
            <a:solidFill>
              <a:schemeClr val="dk2"/>
            </a:solidFill>
            <a:prstDash val="solid"/>
            <a:round/>
            <a:headEnd len="sm" w="sm" type="none"/>
            <a:tailEnd len="med" w="med" type="triangle"/>
          </a:ln>
        </p:spPr>
      </p:cxnSp>
      <p:cxnSp>
        <p:nvCxnSpPr>
          <p:cNvPr id="141" name="Google Shape;141;p9"/>
          <p:cNvCxnSpPr/>
          <p:nvPr/>
        </p:nvCxnSpPr>
        <p:spPr>
          <a:xfrm>
            <a:off x="2572550" y="2786400"/>
            <a:ext cx="720600" cy="671700"/>
          </a:xfrm>
          <a:prstGeom prst="straightConnector1">
            <a:avLst/>
          </a:prstGeom>
          <a:noFill/>
          <a:ln cap="flat" cmpd="sng" w="9525">
            <a:solidFill>
              <a:schemeClr val="dk2"/>
            </a:solidFill>
            <a:prstDash val="solid"/>
            <a:round/>
            <a:headEnd len="sm" w="sm" type="none"/>
            <a:tailEnd len="med" w="med" type="triangle"/>
          </a:ln>
        </p:spPr>
      </p:cxnSp>
      <p:sp>
        <p:nvSpPr>
          <p:cNvPr id="142" name="Google Shape;142;p9"/>
          <p:cNvSpPr txBox="1"/>
          <p:nvPr/>
        </p:nvSpPr>
        <p:spPr>
          <a:xfrm>
            <a:off x="3596325" y="1746225"/>
            <a:ext cx="2760000" cy="47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Open Sans"/>
                <a:ea typeface="Open Sans"/>
                <a:cs typeface="Open Sans"/>
                <a:sym typeface="Open Sans"/>
              </a:rPr>
              <a:t>decidir qué proceso se ejecutará o tomará  procesador</a:t>
            </a:r>
            <a:endParaRPr b="0" i="0" sz="1600" u="none" cap="none" strike="noStrike">
              <a:solidFill>
                <a:srgbClr val="000000"/>
              </a:solidFill>
              <a:latin typeface="Open Sans"/>
              <a:ea typeface="Open Sans"/>
              <a:cs typeface="Open Sans"/>
              <a:sym typeface="Open Sans"/>
            </a:endParaRPr>
          </a:p>
        </p:txBody>
      </p:sp>
      <p:sp>
        <p:nvSpPr>
          <p:cNvPr id="143" name="Google Shape;143;p9"/>
          <p:cNvSpPr txBox="1"/>
          <p:nvPr/>
        </p:nvSpPr>
        <p:spPr>
          <a:xfrm>
            <a:off x="3331000" y="2936225"/>
            <a:ext cx="3477000" cy="93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Open Sans"/>
                <a:ea typeface="Open Sans"/>
                <a:cs typeface="Open Sans"/>
                <a:sym typeface="Open Sans"/>
              </a:rPr>
              <a:t>llevar cuenta de los estados de los procesos, su prioridad y toda la restante información relevante de ellos</a:t>
            </a:r>
            <a:endParaRPr b="0" i="0" sz="1600" u="none" cap="none" strike="noStrike">
              <a:solidFill>
                <a:srgbClr val="000000"/>
              </a:solidFill>
              <a:latin typeface="Open Sans"/>
              <a:ea typeface="Open Sans"/>
              <a:cs typeface="Open Sans"/>
              <a:sym typeface="Open Sans"/>
            </a:endParaRPr>
          </a:p>
        </p:txBody>
      </p:sp>
      <p:pic>
        <p:nvPicPr>
          <p:cNvPr id="144" name="Google Shape;144;p9"/>
          <p:cNvPicPr preferRelativeResize="0"/>
          <p:nvPr/>
        </p:nvPicPr>
        <p:blipFill rotWithShape="1">
          <a:blip r:embed="rId3">
            <a:alphaModFix/>
          </a:blip>
          <a:srcRect b="0" l="0" r="0" t="0"/>
          <a:stretch/>
        </p:blipFill>
        <p:spPr>
          <a:xfrm>
            <a:off x="6150475" y="1152424"/>
            <a:ext cx="1028700" cy="1142550"/>
          </a:xfrm>
          <a:prstGeom prst="rect">
            <a:avLst/>
          </a:prstGeom>
          <a:noFill/>
          <a:ln>
            <a:noFill/>
          </a:ln>
        </p:spPr>
      </p:pic>
      <p:pic>
        <p:nvPicPr>
          <p:cNvPr id="145" name="Google Shape;145;p9"/>
          <p:cNvPicPr preferRelativeResize="0"/>
          <p:nvPr/>
        </p:nvPicPr>
        <p:blipFill rotWithShape="1">
          <a:blip r:embed="rId4">
            <a:alphaModFix/>
          </a:blip>
          <a:srcRect b="0" l="0" r="0" t="0"/>
          <a:stretch/>
        </p:blipFill>
        <p:spPr>
          <a:xfrm>
            <a:off x="6975000" y="3717124"/>
            <a:ext cx="720600" cy="715281"/>
          </a:xfrm>
          <a:prstGeom prst="rect">
            <a:avLst/>
          </a:prstGeom>
          <a:noFill/>
          <a:ln>
            <a:noFill/>
          </a:ln>
        </p:spPr>
      </p:pic>
      <p:pic>
        <p:nvPicPr>
          <p:cNvPr id="146" name="Google Shape;146;p9"/>
          <p:cNvPicPr preferRelativeResize="0"/>
          <p:nvPr/>
        </p:nvPicPr>
        <p:blipFill rotWithShape="1">
          <a:blip r:embed="rId5">
            <a:alphaModFix/>
          </a:blip>
          <a:srcRect b="0" l="0" r="0" t="0"/>
          <a:stretch/>
        </p:blipFill>
        <p:spPr>
          <a:xfrm>
            <a:off x="6845842" y="2764613"/>
            <a:ext cx="899108" cy="715275"/>
          </a:xfrm>
          <a:prstGeom prst="rect">
            <a:avLst/>
          </a:prstGeom>
          <a:noFill/>
          <a:ln>
            <a:noFill/>
          </a:ln>
        </p:spPr>
      </p:pic>
      <p:pic>
        <p:nvPicPr>
          <p:cNvPr id="147" name="Google Shape;147;p9"/>
          <p:cNvPicPr preferRelativeResize="0"/>
          <p:nvPr/>
        </p:nvPicPr>
        <p:blipFill rotWithShape="1">
          <a:blip r:embed="rId6">
            <a:alphaModFix/>
          </a:blip>
          <a:srcRect b="0" l="0" r="0" t="0"/>
          <a:stretch/>
        </p:blipFill>
        <p:spPr>
          <a:xfrm>
            <a:off x="6150466" y="4292866"/>
            <a:ext cx="657559" cy="671700"/>
          </a:xfrm>
          <a:prstGeom prst="rect">
            <a:avLst/>
          </a:prstGeom>
          <a:noFill/>
          <a:ln>
            <a:noFill/>
          </a:ln>
        </p:spPr>
      </p:pic>
      <p:pic>
        <p:nvPicPr>
          <p:cNvPr id="148" name="Google Shape;148;p9"/>
          <p:cNvPicPr preferRelativeResize="0"/>
          <p:nvPr/>
        </p:nvPicPr>
        <p:blipFill rotWithShape="1">
          <a:blip r:embed="rId7">
            <a:alphaModFix/>
          </a:blip>
          <a:srcRect b="0" l="0" r="0" t="0"/>
          <a:stretch/>
        </p:blipFill>
        <p:spPr>
          <a:xfrm>
            <a:off x="5615766" y="3972225"/>
            <a:ext cx="657550" cy="6846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Relación entre los procesos</a:t>
            </a:r>
            <a:endParaRPr/>
          </a:p>
          <a:p>
            <a:pPr indent="0" lvl="0" marL="0" rtl="0" algn="l">
              <a:lnSpc>
                <a:spcPct val="100000"/>
              </a:lnSpc>
              <a:spcBef>
                <a:spcPts val="0"/>
              </a:spcBef>
              <a:spcAft>
                <a:spcPts val="0"/>
              </a:spcAft>
              <a:buSzPct val="111111"/>
              <a:buNone/>
            </a:pPr>
            <a:r>
              <a:t/>
            </a:r>
            <a:endParaRPr/>
          </a:p>
        </p:txBody>
      </p:sp>
      <p:sp>
        <p:nvSpPr>
          <p:cNvPr id="154" name="Google Shape;154;p10"/>
          <p:cNvSpPr/>
          <p:nvPr/>
        </p:nvSpPr>
        <p:spPr>
          <a:xfrm>
            <a:off x="221925" y="1869075"/>
            <a:ext cx="2080200" cy="1449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Dependiendo de la interacción entre procesos, se pueden clasificar</a:t>
            </a:r>
            <a:r>
              <a:rPr b="0" i="0" lang="e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cxnSp>
        <p:nvCxnSpPr>
          <p:cNvPr id="155" name="Google Shape;155;p10"/>
          <p:cNvCxnSpPr>
            <a:stCxn id="154" idx="3"/>
            <a:endCxn id="156" idx="1"/>
          </p:cNvCxnSpPr>
          <p:nvPr/>
        </p:nvCxnSpPr>
        <p:spPr>
          <a:xfrm flipH="1" rot="10800000">
            <a:off x="2302125" y="1328475"/>
            <a:ext cx="1121400" cy="1265400"/>
          </a:xfrm>
          <a:prstGeom prst="straightConnector1">
            <a:avLst/>
          </a:prstGeom>
          <a:noFill/>
          <a:ln cap="flat" cmpd="sng" w="9525">
            <a:solidFill>
              <a:schemeClr val="dk2"/>
            </a:solidFill>
            <a:prstDash val="solid"/>
            <a:round/>
            <a:headEnd len="sm" w="sm" type="none"/>
            <a:tailEnd len="med" w="med" type="triangle"/>
          </a:ln>
        </p:spPr>
      </p:cxnSp>
      <p:cxnSp>
        <p:nvCxnSpPr>
          <p:cNvPr id="157" name="Google Shape;157;p10"/>
          <p:cNvCxnSpPr>
            <a:endCxn id="158" idx="1"/>
          </p:cNvCxnSpPr>
          <p:nvPr/>
        </p:nvCxnSpPr>
        <p:spPr>
          <a:xfrm>
            <a:off x="2335000" y="2860150"/>
            <a:ext cx="904200" cy="11400"/>
          </a:xfrm>
          <a:prstGeom prst="straightConnector1">
            <a:avLst/>
          </a:prstGeom>
          <a:noFill/>
          <a:ln cap="flat" cmpd="sng" w="9525">
            <a:solidFill>
              <a:schemeClr val="dk2"/>
            </a:solidFill>
            <a:prstDash val="solid"/>
            <a:round/>
            <a:headEnd len="sm" w="sm" type="none"/>
            <a:tailEnd len="med" w="med" type="triangle"/>
          </a:ln>
        </p:spPr>
      </p:cxnSp>
      <p:sp>
        <p:nvSpPr>
          <p:cNvPr id="156" name="Google Shape;156;p10"/>
          <p:cNvSpPr txBox="1"/>
          <p:nvPr/>
        </p:nvSpPr>
        <p:spPr>
          <a:xfrm>
            <a:off x="3423400" y="1091000"/>
            <a:ext cx="1518600" cy="47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Procesos</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Independientes</a:t>
            </a:r>
            <a:endParaRPr b="0" i="0" sz="1400" u="none" cap="none" strike="noStrike">
              <a:solidFill>
                <a:srgbClr val="000000"/>
              </a:solidFill>
              <a:latin typeface="Open Sans"/>
              <a:ea typeface="Open Sans"/>
              <a:cs typeface="Open Sans"/>
              <a:sym typeface="Open Sans"/>
            </a:endParaRPr>
          </a:p>
        </p:txBody>
      </p:sp>
      <p:sp>
        <p:nvSpPr>
          <p:cNvPr id="158" name="Google Shape;158;p10"/>
          <p:cNvSpPr txBox="1"/>
          <p:nvPr/>
        </p:nvSpPr>
        <p:spPr>
          <a:xfrm>
            <a:off x="3239200" y="2633950"/>
            <a:ext cx="1313700" cy="47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Procesos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Cooperativos</a:t>
            </a:r>
            <a:endParaRPr b="0" i="0" sz="1400" u="none" cap="none" strike="noStrike">
              <a:solidFill>
                <a:srgbClr val="000000"/>
              </a:solidFill>
              <a:latin typeface="Open Sans"/>
              <a:ea typeface="Open Sans"/>
              <a:cs typeface="Open Sans"/>
              <a:sym typeface="Open Sans"/>
            </a:endParaRPr>
          </a:p>
        </p:txBody>
      </p:sp>
      <p:sp>
        <p:nvSpPr>
          <p:cNvPr id="159" name="Google Shape;159;p10"/>
          <p:cNvSpPr txBox="1"/>
          <p:nvPr/>
        </p:nvSpPr>
        <p:spPr>
          <a:xfrm>
            <a:off x="3031025" y="3974025"/>
            <a:ext cx="1313700" cy="47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Procesos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Competitivos</a:t>
            </a:r>
            <a:endParaRPr b="0" i="0" sz="1400" u="none" cap="none" strike="noStrike">
              <a:solidFill>
                <a:srgbClr val="000000"/>
              </a:solidFill>
              <a:latin typeface="Open Sans"/>
              <a:ea typeface="Open Sans"/>
              <a:cs typeface="Open Sans"/>
              <a:sym typeface="Open Sans"/>
            </a:endParaRPr>
          </a:p>
        </p:txBody>
      </p:sp>
      <p:cxnSp>
        <p:nvCxnSpPr>
          <p:cNvPr id="160" name="Google Shape;160;p10"/>
          <p:cNvCxnSpPr/>
          <p:nvPr/>
        </p:nvCxnSpPr>
        <p:spPr>
          <a:xfrm>
            <a:off x="2335025" y="3318800"/>
            <a:ext cx="696000" cy="892800"/>
          </a:xfrm>
          <a:prstGeom prst="straightConnector1">
            <a:avLst/>
          </a:prstGeom>
          <a:noFill/>
          <a:ln cap="flat" cmpd="sng" w="9525">
            <a:solidFill>
              <a:schemeClr val="dk2"/>
            </a:solidFill>
            <a:prstDash val="solid"/>
            <a:round/>
            <a:headEnd len="sm" w="sm" type="none"/>
            <a:tailEnd len="med" w="med" type="triangle"/>
          </a:ln>
        </p:spPr>
      </p:cxnSp>
      <p:sp>
        <p:nvSpPr>
          <p:cNvPr id="161" name="Google Shape;161;p10"/>
          <p:cNvSpPr txBox="1"/>
          <p:nvPr/>
        </p:nvSpPr>
        <p:spPr>
          <a:xfrm>
            <a:off x="5556125" y="1082800"/>
            <a:ext cx="1654500" cy="65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No se comunican</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No se sincronizan </a:t>
            </a:r>
            <a:endParaRPr b="0" i="0" sz="1400" u="none" cap="none" strike="noStrike">
              <a:solidFill>
                <a:srgbClr val="000000"/>
              </a:solidFill>
              <a:latin typeface="Open Sans"/>
              <a:ea typeface="Open Sans"/>
              <a:cs typeface="Open Sans"/>
              <a:sym typeface="Open Sans"/>
            </a:endParaRPr>
          </a:p>
        </p:txBody>
      </p:sp>
      <p:sp>
        <p:nvSpPr>
          <p:cNvPr id="162" name="Google Shape;162;p10"/>
          <p:cNvSpPr txBox="1"/>
          <p:nvPr/>
        </p:nvSpPr>
        <p:spPr>
          <a:xfrm>
            <a:off x="7717800" y="1082800"/>
            <a:ext cx="1114500" cy="65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con otros procesos</a:t>
            </a:r>
            <a:endParaRPr b="0" i="0" sz="1400" u="none" cap="none" strike="noStrike">
              <a:solidFill>
                <a:srgbClr val="000000"/>
              </a:solidFill>
              <a:latin typeface="Open Sans"/>
              <a:ea typeface="Open Sans"/>
              <a:cs typeface="Open Sans"/>
              <a:sym typeface="Open Sans"/>
            </a:endParaRPr>
          </a:p>
        </p:txBody>
      </p:sp>
      <p:cxnSp>
        <p:nvCxnSpPr>
          <p:cNvPr id="163" name="Google Shape;163;p10"/>
          <p:cNvCxnSpPr>
            <a:stCxn id="156" idx="3"/>
            <a:endCxn id="161" idx="1"/>
          </p:cNvCxnSpPr>
          <p:nvPr/>
        </p:nvCxnSpPr>
        <p:spPr>
          <a:xfrm>
            <a:off x="4942000" y="1328600"/>
            <a:ext cx="614100" cy="81900"/>
          </a:xfrm>
          <a:prstGeom prst="straightConnector1">
            <a:avLst/>
          </a:prstGeom>
          <a:noFill/>
          <a:ln cap="flat" cmpd="sng" w="9525">
            <a:solidFill>
              <a:schemeClr val="dk2"/>
            </a:solidFill>
            <a:prstDash val="solid"/>
            <a:round/>
            <a:headEnd len="sm" w="sm" type="none"/>
            <a:tailEnd len="med" w="med" type="triangle"/>
          </a:ln>
        </p:spPr>
      </p:cxnSp>
      <p:cxnSp>
        <p:nvCxnSpPr>
          <p:cNvPr id="164" name="Google Shape;164;p10"/>
          <p:cNvCxnSpPr>
            <a:endCxn id="162" idx="1"/>
          </p:cNvCxnSpPr>
          <p:nvPr/>
        </p:nvCxnSpPr>
        <p:spPr>
          <a:xfrm>
            <a:off x="7227000" y="1353100"/>
            <a:ext cx="490800" cy="57300"/>
          </a:xfrm>
          <a:prstGeom prst="straightConnector1">
            <a:avLst/>
          </a:prstGeom>
          <a:noFill/>
          <a:ln cap="flat" cmpd="sng" w="9525">
            <a:solidFill>
              <a:schemeClr val="dk2"/>
            </a:solidFill>
            <a:prstDash val="solid"/>
            <a:round/>
            <a:headEnd len="sm" w="sm" type="none"/>
            <a:tailEnd len="med" w="med" type="triangle"/>
          </a:ln>
        </p:spPr>
      </p:cxnSp>
      <p:sp>
        <p:nvSpPr>
          <p:cNvPr id="165" name="Google Shape;165;p10"/>
          <p:cNvSpPr txBox="1"/>
          <p:nvPr/>
        </p:nvSpPr>
        <p:spPr>
          <a:xfrm>
            <a:off x="5417875" y="2585750"/>
            <a:ext cx="1654500" cy="65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se comunican</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se sincronizan </a:t>
            </a:r>
            <a:endParaRPr b="0" i="0" sz="1400" u="none" cap="none" strike="noStrike">
              <a:solidFill>
                <a:srgbClr val="000000"/>
              </a:solidFill>
              <a:latin typeface="Open Sans"/>
              <a:ea typeface="Open Sans"/>
              <a:cs typeface="Open Sans"/>
              <a:sym typeface="Open Sans"/>
            </a:endParaRPr>
          </a:p>
        </p:txBody>
      </p:sp>
      <p:sp>
        <p:nvSpPr>
          <p:cNvPr id="166" name="Google Shape;166;p10"/>
          <p:cNvSpPr txBox="1"/>
          <p:nvPr/>
        </p:nvSpPr>
        <p:spPr>
          <a:xfrm>
            <a:off x="7748875" y="2487450"/>
            <a:ext cx="1365900" cy="65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realizar una labor común</a:t>
            </a:r>
            <a:endParaRPr b="0" i="0" sz="1400" u="none" cap="none" strike="noStrike">
              <a:solidFill>
                <a:srgbClr val="000000"/>
              </a:solidFill>
              <a:latin typeface="Open Sans"/>
              <a:ea typeface="Open Sans"/>
              <a:cs typeface="Open Sans"/>
              <a:sym typeface="Open Sans"/>
            </a:endParaRPr>
          </a:p>
        </p:txBody>
      </p:sp>
      <p:sp>
        <p:nvSpPr>
          <p:cNvPr id="167" name="Google Shape;167;p10"/>
          <p:cNvSpPr txBox="1"/>
          <p:nvPr/>
        </p:nvSpPr>
        <p:spPr>
          <a:xfrm>
            <a:off x="3697975" y="1669938"/>
            <a:ext cx="5094300" cy="3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Ej: el proceso de un programa paint en un pc con windows</a:t>
            </a:r>
            <a:endParaRPr b="0" i="0" sz="1400" u="none" cap="none" strike="noStrike">
              <a:solidFill>
                <a:srgbClr val="000000"/>
              </a:solidFill>
              <a:latin typeface="Open Sans"/>
              <a:ea typeface="Open Sans"/>
              <a:cs typeface="Open Sans"/>
              <a:sym typeface="Open Sans"/>
            </a:endParaRPr>
          </a:p>
        </p:txBody>
      </p:sp>
      <p:sp>
        <p:nvSpPr>
          <p:cNvPr id="168" name="Google Shape;168;p10"/>
          <p:cNvSpPr txBox="1"/>
          <p:nvPr/>
        </p:nvSpPr>
        <p:spPr>
          <a:xfrm>
            <a:off x="3481800" y="3272713"/>
            <a:ext cx="5094300" cy="30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Ej: una planilla con permisos de ejecución en google-drive</a:t>
            </a:r>
            <a:endParaRPr b="0" i="0" sz="1400" u="none" cap="none" strike="noStrike">
              <a:solidFill>
                <a:srgbClr val="000000"/>
              </a:solidFill>
              <a:latin typeface="Open Sans"/>
              <a:ea typeface="Open Sans"/>
              <a:cs typeface="Open Sans"/>
              <a:sym typeface="Open Sans"/>
            </a:endParaRPr>
          </a:p>
        </p:txBody>
      </p:sp>
      <p:cxnSp>
        <p:nvCxnSpPr>
          <p:cNvPr id="169" name="Google Shape;169;p10"/>
          <p:cNvCxnSpPr>
            <a:stCxn id="158" idx="3"/>
          </p:cNvCxnSpPr>
          <p:nvPr/>
        </p:nvCxnSpPr>
        <p:spPr>
          <a:xfrm flipH="1" rot="10800000">
            <a:off x="4552900" y="2850550"/>
            <a:ext cx="714300" cy="21000"/>
          </a:xfrm>
          <a:prstGeom prst="straightConnector1">
            <a:avLst/>
          </a:prstGeom>
          <a:noFill/>
          <a:ln cap="flat" cmpd="sng" w="9525">
            <a:solidFill>
              <a:schemeClr val="dk2"/>
            </a:solidFill>
            <a:prstDash val="solid"/>
            <a:round/>
            <a:headEnd len="sm" w="sm" type="none"/>
            <a:tailEnd len="med" w="med" type="triangle"/>
          </a:ln>
        </p:spPr>
      </p:cxnSp>
      <p:cxnSp>
        <p:nvCxnSpPr>
          <p:cNvPr id="170" name="Google Shape;170;p10"/>
          <p:cNvCxnSpPr>
            <a:endCxn id="166" idx="1"/>
          </p:cNvCxnSpPr>
          <p:nvPr/>
        </p:nvCxnSpPr>
        <p:spPr>
          <a:xfrm flipH="1" rot="10800000">
            <a:off x="6823375" y="2815050"/>
            <a:ext cx="925500" cy="35400"/>
          </a:xfrm>
          <a:prstGeom prst="straightConnector1">
            <a:avLst/>
          </a:prstGeom>
          <a:noFill/>
          <a:ln cap="flat" cmpd="sng" w="9525">
            <a:solidFill>
              <a:schemeClr val="dk2"/>
            </a:solidFill>
            <a:prstDash val="solid"/>
            <a:round/>
            <a:headEnd len="sm" w="sm" type="none"/>
            <a:tailEnd len="med" w="med" type="triangle"/>
          </a:ln>
        </p:spPr>
      </p:cxnSp>
      <p:cxnSp>
        <p:nvCxnSpPr>
          <p:cNvPr id="171" name="Google Shape;171;p10"/>
          <p:cNvCxnSpPr/>
          <p:nvPr/>
        </p:nvCxnSpPr>
        <p:spPr>
          <a:xfrm flipH="1" rot="10800000">
            <a:off x="4402250" y="4256075"/>
            <a:ext cx="714300" cy="21000"/>
          </a:xfrm>
          <a:prstGeom prst="straightConnector1">
            <a:avLst/>
          </a:prstGeom>
          <a:noFill/>
          <a:ln cap="flat" cmpd="sng" w="9525">
            <a:solidFill>
              <a:schemeClr val="dk2"/>
            </a:solidFill>
            <a:prstDash val="solid"/>
            <a:round/>
            <a:headEnd len="sm" w="sm" type="none"/>
            <a:tailEnd len="med" w="med" type="triangle"/>
          </a:ln>
        </p:spPr>
      </p:cxnSp>
      <p:sp>
        <p:nvSpPr>
          <p:cNvPr id="172" name="Google Shape;172;p10"/>
          <p:cNvSpPr txBox="1"/>
          <p:nvPr/>
        </p:nvSpPr>
        <p:spPr>
          <a:xfrm>
            <a:off x="5116550" y="4088700"/>
            <a:ext cx="3833100" cy="7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Todos los procesos son competitivos en un S.O. tradicional, ya que todos compiten por los recursos disponibles</a:t>
            </a:r>
            <a:endParaRPr b="0" i="0" sz="1400" u="none" cap="none" strike="noStrike">
              <a:solidFill>
                <a:srgbClr val="000000"/>
              </a:solidFill>
              <a:latin typeface="Open Sans"/>
              <a:ea typeface="Open Sans"/>
              <a:cs typeface="Open Sans"/>
              <a:sym typeface="Open Sans"/>
            </a:endParaRPr>
          </a:p>
        </p:txBody>
      </p:sp>
      <p:pic>
        <p:nvPicPr>
          <p:cNvPr id="173" name="Google Shape;173;p10"/>
          <p:cNvPicPr preferRelativeResize="0"/>
          <p:nvPr/>
        </p:nvPicPr>
        <p:blipFill rotWithShape="1">
          <a:blip r:embed="rId3">
            <a:alphaModFix/>
          </a:blip>
          <a:srcRect b="0" l="0" r="0" t="0"/>
          <a:stretch/>
        </p:blipFill>
        <p:spPr>
          <a:xfrm>
            <a:off x="704825" y="3572717"/>
            <a:ext cx="974975" cy="834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Relación entre los procesos</a:t>
            </a:r>
            <a:endParaRPr/>
          </a:p>
          <a:p>
            <a:pPr indent="0" lvl="0" marL="0" rtl="0" algn="l">
              <a:lnSpc>
                <a:spcPct val="100000"/>
              </a:lnSpc>
              <a:spcBef>
                <a:spcPts val="0"/>
              </a:spcBef>
              <a:spcAft>
                <a:spcPts val="0"/>
              </a:spcAft>
              <a:buSzPct val="111111"/>
              <a:buNone/>
            </a:pPr>
            <a:r>
              <a:t/>
            </a:r>
            <a:endParaRPr/>
          </a:p>
        </p:txBody>
      </p:sp>
      <p:sp>
        <p:nvSpPr>
          <p:cNvPr id="179" name="Google Shape;179;p11"/>
          <p:cNvSpPr/>
          <p:nvPr/>
        </p:nvSpPr>
        <p:spPr>
          <a:xfrm>
            <a:off x="221950" y="2246250"/>
            <a:ext cx="1212300" cy="65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El SO es un director de orquesta</a:t>
            </a:r>
            <a:endParaRPr b="0" i="0" sz="1400" u="none" cap="none" strike="noStrike">
              <a:solidFill>
                <a:srgbClr val="000000"/>
              </a:solidFill>
              <a:latin typeface="Arial"/>
              <a:ea typeface="Arial"/>
              <a:cs typeface="Arial"/>
              <a:sym typeface="Arial"/>
            </a:endParaRPr>
          </a:p>
        </p:txBody>
      </p:sp>
      <p:cxnSp>
        <p:nvCxnSpPr>
          <p:cNvPr id="180" name="Google Shape;180;p11"/>
          <p:cNvCxnSpPr>
            <a:stCxn id="179" idx="3"/>
            <a:endCxn id="181" idx="1"/>
          </p:cNvCxnSpPr>
          <p:nvPr/>
        </p:nvCxnSpPr>
        <p:spPr>
          <a:xfrm flipH="1" rot="10800000">
            <a:off x="1434250" y="1996050"/>
            <a:ext cx="789600" cy="575700"/>
          </a:xfrm>
          <a:prstGeom prst="straightConnector1">
            <a:avLst/>
          </a:prstGeom>
          <a:noFill/>
          <a:ln cap="flat" cmpd="sng" w="9525">
            <a:solidFill>
              <a:schemeClr val="dk2"/>
            </a:solidFill>
            <a:prstDash val="solid"/>
            <a:round/>
            <a:headEnd len="sm" w="sm" type="none"/>
            <a:tailEnd len="med" w="med" type="triangle"/>
          </a:ln>
        </p:spPr>
      </p:cxnSp>
      <p:cxnSp>
        <p:nvCxnSpPr>
          <p:cNvPr id="182" name="Google Shape;182;p11"/>
          <p:cNvCxnSpPr>
            <a:stCxn id="179" idx="3"/>
          </p:cNvCxnSpPr>
          <p:nvPr/>
        </p:nvCxnSpPr>
        <p:spPr>
          <a:xfrm>
            <a:off x="1434250" y="2571750"/>
            <a:ext cx="789600" cy="103200"/>
          </a:xfrm>
          <a:prstGeom prst="straightConnector1">
            <a:avLst/>
          </a:prstGeom>
          <a:noFill/>
          <a:ln cap="flat" cmpd="sng" w="9525">
            <a:solidFill>
              <a:schemeClr val="dk2"/>
            </a:solidFill>
            <a:prstDash val="solid"/>
            <a:round/>
            <a:headEnd len="sm" w="sm" type="none"/>
            <a:tailEnd len="med" w="med" type="triangle"/>
          </a:ln>
        </p:spPr>
      </p:cxnSp>
      <p:cxnSp>
        <p:nvCxnSpPr>
          <p:cNvPr id="183" name="Google Shape;183;p11"/>
          <p:cNvCxnSpPr>
            <a:stCxn id="179" idx="3"/>
          </p:cNvCxnSpPr>
          <p:nvPr/>
        </p:nvCxnSpPr>
        <p:spPr>
          <a:xfrm>
            <a:off x="1434250" y="2571750"/>
            <a:ext cx="761700" cy="722400"/>
          </a:xfrm>
          <a:prstGeom prst="straightConnector1">
            <a:avLst/>
          </a:prstGeom>
          <a:noFill/>
          <a:ln cap="flat" cmpd="sng" w="9525">
            <a:solidFill>
              <a:schemeClr val="dk2"/>
            </a:solidFill>
            <a:prstDash val="solid"/>
            <a:round/>
            <a:headEnd len="sm" w="sm" type="none"/>
            <a:tailEnd len="med" w="med" type="triangle"/>
          </a:ln>
        </p:spPr>
      </p:cxnSp>
      <p:pic>
        <p:nvPicPr>
          <p:cNvPr id="184" name="Google Shape;184;p11"/>
          <p:cNvPicPr preferRelativeResize="0"/>
          <p:nvPr/>
        </p:nvPicPr>
        <p:blipFill rotWithShape="1">
          <a:blip r:embed="rId3">
            <a:alphaModFix/>
          </a:blip>
          <a:srcRect b="0" l="0" r="0" t="0"/>
          <a:stretch/>
        </p:blipFill>
        <p:spPr>
          <a:xfrm>
            <a:off x="376000" y="3048525"/>
            <a:ext cx="904200" cy="887646"/>
          </a:xfrm>
          <a:prstGeom prst="rect">
            <a:avLst/>
          </a:prstGeom>
          <a:noFill/>
          <a:ln>
            <a:noFill/>
          </a:ln>
        </p:spPr>
      </p:pic>
      <p:sp>
        <p:nvSpPr>
          <p:cNvPr id="181" name="Google Shape;181;p11"/>
          <p:cNvSpPr txBox="1"/>
          <p:nvPr/>
        </p:nvSpPr>
        <p:spPr>
          <a:xfrm>
            <a:off x="2223800" y="1819950"/>
            <a:ext cx="1121100" cy="35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amortizar</a:t>
            </a:r>
            <a:endParaRPr b="0" i="0" sz="1400" u="none" cap="none" strike="noStrike">
              <a:solidFill>
                <a:srgbClr val="000000"/>
              </a:solidFill>
              <a:latin typeface="Open Sans"/>
              <a:ea typeface="Open Sans"/>
              <a:cs typeface="Open Sans"/>
              <a:sym typeface="Open Sans"/>
            </a:endParaRPr>
          </a:p>
        </p:txBody>
      </p:sp>
      <p:sp>
        <p:nvSpPr>
          <p:cNvPr id="185" name="Google Shape;185;p11"/>
          <p:cNvSpPr txBox="1"/>
          <p:nvPr/>
        </p:nvSpPr>
        <p:spPr>
          <a:xfrm>
            <a:off x="2223800" y="2447250"/>
            <a:ext cx="1121100" cy="35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Priorizar</a:t>
            </a:r>
            <a:endParaRPr b="0" i="0" sz="1400" u="none" cap="none" strike="noStrike">
              <a:solidFill>
                <a:srgbClr val="000000"/>
              </a:solidFill>
              <a:latin typeface="Open Sans"/>
              <a:ea typeface="Open Sans"/>
              <a:cs typeface="Open Sans"/>
              <a:sym typeface="Open Sans"/>
            </a:endParaRPr>
          </a:p>
        </p:txBody>
      </p:sp>
      <p:sp>
        <p:nvSpPr>
          <p:cNvPr id="186" name="Google Shape;186;p11"/>
          <p:cNvSpPr txBox="1"/>
          <p:nvPr/>
        </p:nvSpPr>
        <p:spPr>
          <a:xfrm>
            <a:off x="2180375" y="3131200"/>
            <a:ext cx="1121100" cy="35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ordenar</a:t>
            </a:r>
            <a:endParaRPr b="0" i="0" sz="1400" u="none" cap="none" strike="noStrike">
              <a:solidFill>
                <a:srgbClr val="000000"/>
              </a:solidFill>
              <a:latin typeface="Open Sans"/>
              <a:ea typeface="Open Sans"/>
              <a:cs typeface="Open Sans"/>
              <a:sym typeface="Open Sans"/>
            </a:endParaRPr>
          </a:p>
        </p:txBody>
      </p:sp>
      <p:sp>
        <p:nvSpPr>
          <p:cNvPr id="187" name="Google Shape;187;p11"/>
          <p:cNvSpPr/>
          <p:nvPr/>
        </p:nvSpPr>
        <p:spPr>
          <a:xfrm>
            <a:off x="3148325" y="1369475"/>
            <a:ext cx="196575" cy="2997650"/>
          </a:xfrm>
          <a:custGeom>
            <a:rect b="b" l="l" r="r" t="t"/>
            <a:pathLst>
              <a:path extrusionOk="0" h="119906" w="7863">
                <a:moveTo>
                  <a:pt x="328" y="0"/>
                </a:moveTo>
                <a:lnTo>
                  <a:pt x="0" y="119906"/>
                </a:lnTo>
                <a:lnTo>
                  <a:pt x="7863" y="51763"/>
                </a:lnTo>
                <a:close/>
              </a:path>
            </a:pathLst>
          </a:custGeom>
          <a:solidFill>
            <a:schemeClr val="lt2"/>
          </a:solidFill>
          <a:ln cap="flat" cmpd="sng" w="9525">
            <a:solidFill>
              <a:schemeClr val="dk2"/>
            </a:solidFill>
            <a:prstDash val="solid"/>
            <a:round/>
            <a:headEnd len="sm" w="sm" type="none"/>
            <a:tailEnd len="sm" w="sm" type="none"/>
          </a:ln>
        </p:spPr>
      </p:sp>
      <p:sp>
        <p:nvSpPr>
          <p:cNvPr id="188" name="Google Shape;188;p11"/>
          <p:cNvSpPr txBox="1"/>
          <p:nvPr/>
        </p:nvSpPr>
        <p:spPr>
          <a:xfrm>
            <a:off x="3498050" y="2139375"/>
            <a:ext cx="1121100" cy="125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la ejecución de los diferentes procesos</a:t>
            </a:r>
            <a:endParaRPr b="0" i="0" sz="1400" u="none" cap="none" strike="noStrike">
              <a:solidFill>
                <a:srgbClr val="000000"/>
              </a:solidFill>
              <a:latin typeface="Open Sans"/>
              <a:ea typeface="Open Sans"/>
              <a:cs typeface="Open Sans"/>
              <a:sym typeface="Open Sans"/>
            </a:endParaRPr>
          </a:p>
        </p:txBody>
      </p:sp>
      <p:sp>
        <p:nvSpPr>
          <p:cNvPr id="189" name="Google Shape;189;p11"/>
          <p:cNvSpPr/>
          <p:nvPr/>
        </p:nvSpPr>
        <p:spPr>
          <a:xfrm>
            <a:off x="4473713" y="1267100"/>
            <a:ext cx="196575" cy="2997650"/>
          </a:xfrm>
          <a:custGeom>
            <a:rect b="b" l="l" r="r" t="t"/>
            <a:pathLst>
              <a:path extrusionOk="0" h="119906" w="7863">
                <a:moveTo>
                  <a:pt x="328" y="0"/>
                </a:moveTo>
                <a:lnTo>
                  <a:pt x="0" y="119906"/>
                </a:lnTo>
                <a:lnTo>
                  <a:pt x="7863" y="51763"/>
                </a:lnTo>
                <a:close/>
              </a:path>
            </a:pathLst>
          </a:custGeom>
          <a:solidFill>
            <a:schemeClr val="lt2"/>
          </a:solidFill>
          <a:ln cap="flat" cmpd="sng" w="9525">
            <a:solidFill>
              <a:schemeClr val="dk2"/>
            </a:solidFill>
            <a:prstDash val="solid"/>
            <a:round/>
            <a:headEnd len="sm" w="sm" type="none"/>
            <a:tailEnd len="sm" w="sm" type="none"/>
          </a:ln>
        </p:spPr>
      </p:sp>
      <p:sp>
        <p:nvSpPr>
          <p:cNvPr id="190" name="Google Shape;190;p11"/>
          <p:cNvSpPr txBox="1"/>
          <p:nvPr/>
        </p:nvSpPr>
        <p:spPr>
          <a:xfrm>
            <a:off x="4670300" y="2077950"/>
            <a:ext cx="1121100" cy="125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que compiten por los limitados recursos</a:t>
            </a:r>
            <a:endParaRPr b="0" i="0" sz="1400" u="none" cap="none" strike="noStrike">
              <a:solidFill>
                <a:srgbClr val="000000"/>
              </a:solidFill>
              <a:latin typeface="Open Sans"/>
              <a:ea typeface="Open Sans"/>
              <a:cs typeface="Open Sans"/>
              <a:sym typeface="Open Sans"/>
            </a:endParaRPr>
          </a:p>
        </p:txBody>
      </p:sp>
      <p:sp>
        <p:nvSpPr>
          <p:cNvPr id="191" name="Google Shape;191;p11"/>
          <p:cNvSpPr/>
          <p:nvPr/>
        </p:nvSpPr>
        <p:spPr>
          <a:xfrm>
            <a:off x="5633513" y="1152425"/>
            <a:ext cx="196575" cy="2997650"/>
          </a:xfrm>
          <a:custGeom>
            <a:rect b="b" l="l" r="r" t="t"/>
            <a:pathLst>
              <a:path extrusionOk="0" h="119906" w="7863">
                <a:moveTo>
                  <a:pt x="328" y="0"/>
                </a:moveTo>
                <a:lnTo>
                  <a:pt x="0" y="119906"/>
                </a:lnTo>
                <a:lnTo>
                  <a:pt x="7863" y="51763"/>
                </a:lnTo>
                <a:close/>
              </a:path>
            </a:pathLst>
          </a:custGeom>
          <a:solidFill>
            <a:schemeClr val="lt2"/>
          </a:solidFill>
          <a:ln cap="flat" cmpd="sng" w="9525">
            <a:solidFill>
              <a:schemeClr val="dk2"/>
            </a:solidFill>
            <a:prstDash val="solid"/>
            <a:round/>
            <a:headEnd len="sm" w="sm" type="none"/>
            <a:tailEnd len="sm" w="sm" type="none"/>
          </a:ln>
        </p:spPr>
      </p:sp>
      <p:sp>
        <p:nvSpPr>
          <p:cNvPr id="192" name="Google Shape;192;p11"/>
          <p:cNvSpPr txBox="1"/>
          <p:nvPr/>
        </p:nvSpPr>
        <p:spPr>
          <a:xfrm>
            <a:off x="5842550" y="2077950"/>
            <a:ext cx="1253100" cy="158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procesar los procesos de forma concurrente</a:t>
            </a:r>
            <a:endParaRPr b="0" i="0" sz="1400" u="none" cap="none" strike="noStrike">
              <a:solidFill>
                <a:srgbClr val="000000"/>
              </a:solidFill>
              <a:latin typeface="Open Sans"/>
              <a:ea typeface="Open Sans"/>
              <a:cs typeface="Open Sans"/>
              <a:sym typeface="Open Sans"/>
            </a:endParaRPr>
          </a:p>
        </p:txBody>
      </p:sp>
      <p:sp>
        <p:nvSpPr>
          <p:cNvPr id="193" name="Google Shape;193;p11"/>
          <p:cNvSpPr/>
          <p:nvPr/>
        </p:nvSpPr>
        <p:spPr>
          <a:xfrm>
            <a:off x="7055388" y="1152425"/>
            <a:ext cx="196575" cy="2997650"/>
          </a:xfrm>
          <a:custGeom>
            <a:rect b="b" l="l" r="r" t="t"/>
            <a:pathLst>
              <a:path extrusionOk="0" h="119906" w="7863">
                <a:moveTo>
                  <a:pt x="328" y="0"/>
                </a:moveTo>
                <a:lnTo>
                  <a:pt x="0" y="119906"/>
                </a:lnTo>
                <a:lnTo>
                  <a:pt x="7863" y="51763"/>
                </a:lnTo>
                <a:close/>
              </a:path>
            </a:pathLst>
          </a:custGeom>
          <a:solidFill>
            <a:schemeClr val="lt2"/>
          </a:solidFill>
          <a:ln cap="flat" cmpd="sng" w="9525">
            <a:solidFill>
              <a:schemeClr val="dk2"/>
            </a:solidFill>
            <a:prstDash val="solid"/>
            <a:round/>
            <a:headEnd len="sm" w="sm" type="none"/>
            <a:tailEnd len="sm" w="sm" type="none"/>
          </a:ln>
        </p:spPr>
      </p:sp>
      <p:sp>
        <p:nvSpPr>
          <p:cNvPr id="194" name="Google Shape;194;p11"/>
          <p:cNvSpPr/>
          <p:nvPr/>
        </p:nvSpPr>
        <p:spPr>
          <a:xfrm>
            <a:off x="7350000" y="1581750"/>
            <a:ext cx="1482300" cy="1749300"/>
          </a:xfrm>
          <a:prstGeom prst="roundRect">
            <a:avLst>
              <a:gd fmla="val 16667" name="adj"/>
            </a:avLst>
          </a:prstGeom>
          <a:solidFill>
            <a:srgbClr val="A2C4C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chemeClr val="accent6"/>
                </a:solidFill>
                <a:latin typeface="Arial"/>
                <a:ea typeface="Arial"/>
                <a:cs typeface="Arial"/>
                <a:sym typeface="Arial"/>
              </a:rPr>
              <a:t>Optimizar el rendimiento del computador en la realización de su trabajo</a:t>
            </a:r>
            <a:endParaRPr b="1" i="0" sz="1400" u="none" cap="none" strike="noStrike">
              <a:solidFill>
                <a:schemeClr val="accent6"/>
              </a:solidFill>
              <a:latin typeface="Arial"/>
              <a:ea typeface="Arial"/>
              <a:cs typeface="Arial"/>
              <a:sym typeface="Arial"/>
            </a:endParaRPr>
          </a:p>
        </p:txBody>
      </p:sp>
      <p:pic>
        <p:nvPicPr>
          <p:cNvPr id="195" name="Google Shape;195;p11"/>
          <p:cNvPicPr preferRelativeResize="0"/>
          <p:nvPr/>
        </p:nvPicPr>
        <p:blipFill rotWithShape="1">
          <a:blip r:embed="rId4">
            <a:alphaModFix/>
          </a:blip>
          <a:srcRect b="0" l="0" r="0" t="0"/>
          <a:stretch/>
        </p:blipFill>
        <p:spPr>
          <a:xfrm>
            <a:off x="7350003" y="933275"/>
            <a:ext cx="569025" cy="579602"/>
          </a:xfrm>
          <a:prstGeom prst="rect">
            <a:avLst/>
          </a:prstGeom>
          <a:noFill/>
          <a:ln>
            <a:noFill/>
          </a:ln>
        </p:spPr>
      </p:pic>
      <p:pic>
        <p:nvPicPr>
          <p:cNvPr id="196" name="Google Shape;196;p11"/>
          <p:cNvPicPr preferRelativeResize="0"/>
          <p:nvPr/>
        </p:nvPicPr>
        <p:blipFill rotWithShape="1">
          <a:blip r:embed="rId5">
            <a:alphaModFix/>
          </a:blip>
          <a:srcRect b="0" l="0" r="0" t="0"/>
          <a:stretch/>
        </p:blipFill>
        <p:spPr>
          <a:xfrm>
            <a:off x="8017050" y="861866"/>
            <a:ext cx="624180" cy="651000"/>
          </a:xfrm>
          <a:prstGeom prst="rect">
            <a:avLst/>
          </a:prstGeom>
          <a:noFill/>
          <a:ln>
            <a:noFill/>
          </a:ln>
        </p:spPr>
      </p:pic>
      <p:pic>
        <p:nvPicPr>
          <p:cNvPr id="197" name="Google Shape;197;p11"/>
          <p:cNvPicPr preferRelativeResize="0"/>
          <p:nvPr/>
        </p:nvPicPr>
        <p:blipFill rotWithShape="1">
          <a:blip r:embed="rId6">
            <a:alphaModFix/>
          </a:blip>
          <a:srcRect b="0" l="0" r="0" t="0"/>
          <a:stretch/>
        </p:blipFill>
        <p:spPr>
          <a:xfrm>
            <a:off x="8321850" y="3447750"/>
            <a:ext cx="510442" cy="493800"/>
          </a:xfrm>
          <a:prstGeom prst="rect">
            <a:avLst/>
          </a:prstGeom>
          <a:noFill/>
          <a:ln>
            <a:noFill/>
          </a:ln>
        </p:spPr>
      </p:pic>
      <p:pic>
        <p:nvPicPr>
          <p:cNvPr id="198" name="Google Shape;198;p11"/>
          <p:cNvPicPr preferRelativeResize="0"/>
          <p:nvPr/>
        </p:nvPicPr>
        <p:blipFill rotWithShape="1">
          <a:blip r:embed="rId7">
            <a:alphaModFix/>
          </a:blip>
          <a:srcRect b="0" l="0" r="0" t="0"/>
          <a:stretch/>
        </p:blipFill>
        <p:spPr>
          <a:xfrm>
            <a:off x="8263278" y="4029255"/>
            <a:ext cx="569025" cy="556610"/>
          </a:xfrm>
          <a:prstGeom prst="rect">
            <a:avLst/>
          </a:prstGeom>
          <a:noFill/>
          <a:ln>
            <a:noFill/>
          </a:ln>
        </p:spPr>
      </p:pic>
      <p:pic>
        <p:nvPicPr>
          <p:cNvPr id="199" name="Google Shape;199;p11"/>
          <p:cNvPicPr preferRelativeResize="0"/>
          <p:nvPr/>
        </p:nvPicPr>
        <p:blipFill rotWithShape="1">
          <a:blip r:embed="rId8">
            <a:alphaModFix/>
          </a:blip>
          <a:srcRect b="0" l="0" r="0" t="0"/>
          <a:stretch/>
        </p:blipFill>
        <p:spPr>
          <a:xfrm>
            <a:off x="7648625" y="3483410"/>
            <a:ext cx="569025" cy="545843"/>
          </a:xfrm>
          <a:prstGeom prst="rect">
            <a:avLst/>
          </a:prstGeom>
          <a:noFill/>
          <a:ln>
            <a:noFill/>
          </a:ln>
        </p:spPr>
      </p:pic>
      <p:pic>
        <p:nvPicPr>
          <p:cNvPr id="200" name="Google Shape;200;p11"/>
          <p:cNvPicPr preferRelativeResize="0"/>
          <p:nvPr/>
        </p:nvPicPr>
        <p:blipFill rotWithShape="1">
          <a:blip r:embed="rId9">
            <a:alphaModFix/>
          </a:blip>
          <a:srcRect b="0" l="0" r="0" t="0"/>
          <a:stretch/>
        </p:blipFill>
        <p:spPr>
          <a:xfrm>
            <a:off x="7648613" y="4060660"/>
            <a:ext cx="380983" cy="493800"/>
          </a:xfrm>
          <a:prstGeom prst="rect">
            <a:avLst/>
          </a:prstGeom>
          <a:noFill/>
          <a:ln>
            <a:noFill/>
          </a:ln>
        </p:spPr>
      </p:pic>
      <p:sp>
        <p:nvSpPr>
          <p:cNvPr id="201" name="Google Shape;201;p11"/>
          <p:cNvSpPr txBox="1"/>
          <p:nvPr/>
        </p:nvSpPr>
        <p:spPr>
          <a:xfrm>
            <a:off x="868950" y="1224600"/>
            <a:ext cx="1883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s" sz="1100" u="none" cap="none" strike="noStrike">
                <a:solidFill>
                  <a:srgbClr val="000000"/>
                </a:solidFill>
                <a:latin typeface="Open Sans"/>
                <a:ea typeface="Open Sans"/>
                <a:cs typeface="Open Sans"/>
                <a:sym typeface="Open Sans"/>
              </a:rPr>
              <a:t>en caso de problemas, realizar alguna acción</a:t>
            </a:r>
            <a:endParaRPr b="0" i="0" sz="1100" u="none" cap="none" strike="noStrike">
              <a:solidFill>
                <a:srgbClr val="000000"/>
              </a:solidFill>
              <a:latin typeface="Open Sans"/>
              <a:ea typeface="Open Sans"/>
              <a:cs typeface="Open Sans"/>
              <a:sym typeface="Open Sans"/>
            </a:endParaRPr>
          </a:p>
        </p:txBody>
      </p:sp>
      <p:sp>
        <p:nvSpPr>
          <p:cNvPr id="202" name="Google Shape;202;p11"/>
          <p:cNvSpPr/>
          <p:nvPr/>
        </p:nvSpPr>
        <p:spPr>
          <a:xfrm>
            <a:off x="781404" y="1117409"/>
            <a:ext cx="1905850" cy="806800"/>
          </a:xfrm>
          <a:custGeom>
            <a:rect b="b" l="l" r="r" t="t"/>
            <a:pathLst>
              <a:path extrusionOk="0" h="32272" w="76234">
                <a:moveTo>
                  <a:pt x="66076" y="26464"/>
                </a:moveTo>
                <a:cubicBezTo>
                  <a:pt x="61435" y="23368"/>
                  <a:pt x="54661" y="23718"/>
                  <a:pt x="49368" y="25481"/>
                </a:cubicBezTo>
                <a:cubicBezTo>
                  <a:pt x="46847" y="26321"/>
                  <a:pt x="44135" y="24546"/>
                  <a:pt x="41505" y="24170"/>
                </a:cubicBezTo>
                <a:cubicBezTo>
                  <a:pt x="34695" y="23196"/>
                  <a:pt x="27746" y="24170"/>
                  <a:pt x="20866" y="24170"/>
                </a:cubicBezTo>
                <a:cubicBezTo>
                  <a:pt x="15191" y="24170"/>
                  <a:pt x="9634" y="28938"/>
                  <a:pt x="4158" y="27446"/>
                </a:cubicBezTo>
                <a:cubicBezTo>
                  <a:pt x="948" y="26571"/>
                  <a:pt x="-497" y="21520"/>
                  <a:pt x="226" y="18273"/>
                </a:cubicBezTo>
                <a:cubicBezTo>
                  <a:pt x="792" y="15730"/>
                  <a:pt x="3145" y="13955"/>
                  <a:pt x="4485" y="11721"/>
                </a:cubicBezTo>
                <a:cubicBezTo>
                  <a:pt x="5712" y="9676"/>
                  <a:pt x="4405" y="6067"/>
                  <a:pt x="6451" y="4841"/>
                </a:cubicBezTo>
                <a:cubicBezTo>
                  <a:pt x="9169" y="3212"/>
                  <a:pt x="12985" y="5627"/>
                  <a:pt x="15952" y="4514"/>
                </a:cubicBezTo>
                <a:cubicBezTo>
                  <a:pt x="23552" y="1664"/>
                  <a:pt x="32096" y="2759"/>
                  <a:pt x="40195" y="2220"/>
                </a:cubicBezTo>
                <a:cubicBezTo>
                  <a:pt x="44602" y="1927"/>
                  <a:pt x="48987" y="-703"/>
                  <a:pt x="53299" y="255"/>
                </a:cubicBezTo>
                <a:cubicBezTo>
                  <a:pt x="56447" y="954"/>
                  <a:pt x="58655" y="4209"/>
                  <a:pt x="61817" y="4841"/>
                </a:cubicBezTo>
                <a:cubicBezTo>
                  <a:pt x="66015" y="5680"/>
                  <a:pt x="71111" y="3662"/>
                  <a:pt x="74594" y="6152"/>
                </a:cubicBezTo>
                <a:cubicBezTo>
                  <a:pt x="80952" y="10697"/>
                  <a:pt x="65626" y="21439"/>
                  <a:pt x="68370" y="28757"/>
                </a:cubicBezTo>
                <a:cubicBezTo>
                  <a:pt x="68783" y="29858"/>
                  <a:pt x="70205" y="30981"/>
                  <a:pt x="69680" y="32033"/>
                </a:cubicBezTo>
                <a:cubicBezTo>
                  <a:pt x="69230" y="32934"/>
                  <a:pt x="68426" y="30452"/>
                  <a:pt x="67714" y="29740"/>
                </a:cubicBezTo>
                <a:cubicBezTo>
                  <a:pt x="66185" y="28212"/>
                  <a:pt x="64927" y="26352"/>
                  <a:pt x="63128" y="25153"/>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Especificación de los procesos</a:t>
            </a:r>
            <a:endParaRPr/>
          </a:p>
        </p:txBody>
      </p:sp>
      <p:sp>
        <p:nvSpPr>
          <p:cNvPr id="208" name="Google Shape;208;p12"/>
          <p:cNvSpPr txBox="1"/>
          <p:nvPr>
            <p:ph idx="1" type="body"/>
          </p:nvPr>
        </p:nvSpPr>
        <p:spPr>
          <a:xfrm>
            <a:off x="311700" y="1266325"/>
            <a:ext cx="5694300" cy="501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sz="2000"/>
              <a:t>Los procesos se dividen en dos tipos</a:t>
            </a:r>
            <a:endParaRPr sz="2000"/>
          </a:p>
        </p:txBody>
      </p:sp>
      <p:sp>
        <p:nvSpPr>
          <p:cNvPr id="209" name="Google Shape;209;p12"/>
          <p:cNvSpPr txBox="1"/>
          <p:nvPr/>
        </p:nvSpPr>
        <p:spPr>
          <a:xfrm>
            <a:off x="311700" y="3635475"/>
            <a:ext cx="1543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000"/>
              <a:buFont typeface="Arial"/>
              <a:buNone/>
            </a:pPr>
            <a:r>
              <a:rPr b="0" i="0" lang="es" sz="2000" u="none" cap="none" strike="noStrike">
                <a:solidFill>
                  <a:schemeClr val="dk2"/>
                </a:solidFill>
                <a:latin typeface="Open Sans"/>
                <a:ea typeface="Open Sans"/>
                <a:cs typeface="Open Sans"/>
                <a:sym typeface="Open Sans"/>
              </a:rPr>
              <a:t>Explícitos</a:t>
            </a:r>
            <a:endParaRPr b="0" i="0" sz="1400" u="none" cap="none" strike="noStrike">
              <a:solidFill>
                <a:srgbClr val="000000"/>
              </a:solidFill>
              <a:latin typeface="Open Sans"/>
              <a:ea typeface="Open Sans"/>
              <a:cs typeface="Open Sans"/>
              <a:sym typeface="Open Sans"/>
            </a:endParaRPr>
          </a:p>
        </p:txBody>
      </p:sp>
      <p:sp>
        <p:nvSpPr>
          <p:cNvPr id="210" name="Google Shape;210;p12"/>
          <p:cNvSpPr txBox="1"/>
          <p:nvPr/>
        </p:nvSpPr>
        <p:spPr>
          <a:xfrm>
            <a:off x="370800" y="2325450"/>
            <a:ext cx="1425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000"/>
              <a:buFont typeface="Arial"/>
              <a:buNone/>
            </a:pPr>
            <a:r>
              <a:rPr b="0" i="0" lang="es" sz="2000" u="none" cap="none" strike="noStrike">
                <a:solidFill>
                  <a:schemeClr val="dk2"/>
                </a:solidFill>
                <a:latin typeface="Open Sans"/>
                <a:ea typeface="Open Sans"/>
                <a:cs typeface="Open Sans"/>
                <a:sym typeface="Open Sans"/>
              </a:rPr>
              <a:t>Implícitos</a:t>
            </a:r>
            <a:endParaRPr b="0" i="0" sz="1400" u="none" cap="none" strike="noStrike">
              <a:solidFill>
                <a:srgbClr val="000000"/>
              </a:solidFill>
              <a:latin typeface="Open Sans"/>
              <a:ea typeface="Open Sans"/>
              <a:cs typeface="Open Sans"/>
              <a:sym typeface="Open Sans"/>
            </a:endParaRPr>
          </a:p>
        </p:txBody>
      </p:sp>
      <p:sp>
        <p:nvSpPr>
          <p:cNvPr id="211" name="Google Shape;211;p12"/>
          <p:cNvSpPr txBox="1"/>
          <p:nvPr/>
        </p:nvSpPr>
        <p:spPr>
          <a:xfrm>
            <a:off x="2401450" y="2186850"/>
            <a:ext cx="1885200" cy="63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500"/>
              <a:buFont typeface="Arial"/>
              <a:buNone/>
            </a:pPr>
            <a:r>
              <a:rPr b="0" i="0" lang="es" sz="1500" u="none" cap="none" strike="noStrike">
                <a:solidFill>
                  <a:schemeClr val="dk2"/>
                </a:solidFill>
                <a:latin typeface="Open Sans"/>
                <a:ea typeface="Open Sans"/>
                <a:cs typeface="Open Sans"/>
                <a:sym typeface="Open Sans"/>
              </a:rPr>
              <a:t>definidos por el sistema operativo</a:t>
            </a:r>
            <a:endParaRPr b="0" i="0" sz="1400" u="none" cap="none" strike="noStrike">
              <a:solidFill>
                <a:srgbClr val="000000"/>
              </a:solidFill>
              <a:latin typeface="Open Sans"/>
              <a:ea typeface="Open Sans"/>
              <a:cs typeface="Open Sans"/>
              <a:sym typeface="Open Sans"/>
            </a:endParaRPr>
          </a:p>
        </p:txBody>
      </p:sp>
      <p:sp>
        <p:nvSpPr>
          <p:cNvPr id="212" name="Google Shape;212;p12"/>
          <p:cNvSpPr txBox="1"/>
          <p:nvPr/>
        </p:nvSpPr>
        <p:spPr>
          <a:xfrm>
            <a:off x="2420400" y="3681250"/>
            <a:ext cx="1476900" cy="631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500"/>
              <a:buFont typeface="Arial"/>
              <a:buNone/>
            </a:pPr>
            <a:r>
              <a:rPr b="0" i="0" lang="es" sz="1500" u="none" cap="none" strike="noStrike">
                <a:solidFill>
                  <a:schemeClr val="dk2"/>
                </a:solidFill>
                <a:latin typeface="Open Sans"/>
                <a:ea typeface="Open Sans"/>
                <a:cs typeface="Open Sans"/>
                <a:sym typeface="Open Sans"/>
              </a:rPr>
              <a:t>definidos por desarrollador</a:t>
            </a:r>
            <a:endParaRPr b="0" i="0" sz="1400" u="none" cap="none" strike="noStrike">
              <a:solidFill>
                <a:srgbClr val="000000"/>
              </a:solidFill>
              <a:latin typeface="Open Sans"/>
              <a:ea typeface="Open Sans"/>
              <a:cs typeface="Open Sans"/>
              <a:sym typeface="Open Sans"/>
            </a:endParaRPr>
          </a:p>
        </p:txBody>
      </p:sp>
      <p:pic>
        <p:nvPicPr>
          <p:cNvPr id="213" name="Google Shape;213;p12"/>
          <p:cNvPicPr preferRelativeResize="0"/>
          <p:nvPr/>
        </p:nvPicPr>
        <p:blipFill rotWithShape="1">
          <a:blip r:embed="rId3">
            <a:alphaModFix/>
          </a:blip>
          <a:srcRect b="0" l="0" r="0" t="0"/>
          <a:stretch/>
        </p:blipFill>
        <p:spPr>
          <a:xfrm>
            <a:off x="4951400" y="1227188"/>
            <a:ext cx="3238650" cy="1819800"/>
          </a:xfrm>
          <a:prstGeom prst="rect">
            <a:avLst/>
          </a:prstGeom>
          <a:noFill/>
          <a:ln>
            <a:noFill/>
          </a:ln>
        </p:spPr>
      </p:pic>
      <p:pic>
        <p:nvPicPr>
          <p:cNvPr id="214" name="Google Shape;214;p12"/>
          <p:cNvPicPr preferRelativeResize="0"/>
          <p:nvPr/>
        </p:nvPicPr>
        <p:blipFill rotWithShape="1">
          <a:blip r:embed="rId4">
            <a:alphaModFix/>
          </a:blip>
          <a:srcRect b="0" l="0" r="0" t="0"/>
          <a:stretch/>
        </p:blipFill>
        <p:spPr>
          <a:xfrm>
            <a:off x="5540975" y="3394701"/>
            <a:ext cx="2213475" cy="1516450"/>
          </a:xfrm>
          <a:prstGeom prst="rect">
            <a:avLst/>
          </a:prstGeom>
          <a:noFill/>
          <a:ln>
            <a:noFill/>
          </a:ln>
        </p:spPr>
      </p:pic>
      <p:cxnSp>
        <p:nvCxnSpPr>
          <p:cNvPr id="215" name="Google Shape;215;p12"/>
          <p:cNvCxnSpPr>
            <a:stCxn id="210" idx="3"/>
            <a:endCxn id="211" idx="1"/>
          </p:cNvCxnSpPr>
          <p:nvPr/>
        </p:nvCxnSpPr>
        <p:spPr>
          <a:xfrm flipH="1" rot="10800000">
            <a:off x="1796400" y="2502450"/>
            <a:ext cx="605100" cy="69300"/>
          </a:xfrm>
          <a:prstGeom prst="straightConnector1">
            <a:avLst/>
          </a:prstGeom>
          <a:noFill/>
          <a:ln cap="flat" cmpd="sng" w="9525">
            <a:solidFill>
              <a:schemeClr val="dk2"/>
            </a:solidFill>
            <a:prstDash val="solid"/>
            <a:round/>
            <a:headEnd len="sm" w="sm" type="none"/>
            <a:tailEnd len="med" w="med" type="triangle"/>
          </a:ln>
        </p:spPr>
      </p:cxnSp>
      <p:cxnSp>
        <p:nvCxnSpPr>
          <p:cNvPr id="216" name="Google Shape;216;p12"/>
          <p:cNvCxnSpPr>
            <a:stCxn id="209" idx="3"/>
            <a:endCxn id="212" idx="1"/>
          </p:cNvCxnSpPr>
          <p:nvPr/>
        </p:nvCxnSpPr>
        <p:spPr>
          <a:xfrm>
            <a:off x="1855500" y="3881775"/>
            <a:ext cx="564900" cy="1152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Especificación de los procesos</a:t>
            </a:r>
            <a:endParaRPr/>
          </a:p>
        </p:txBody>
      </p:sp>
      <p:sp>
        <p:nvSpPr>
          <p:cNvPr id="222" name="Google Shape;222;p13"/>
          <p:cNvSpPr txBox="1"/>
          <p:nvPr/>
        </p:nvSpPr>
        <p:spPr>
          <a:xfrm>
            <a:off x="106375" y="2246200"/>
            <a:ext cx="1425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000"/>
              <a:buFont typeface="Arial"/>
              <a:buNone/>
            </a:pPr>
            <a:r>
              <a:rPr b="0" i="0" lang="es" sz="2000" u="none" cap="none" strike="noStrike">
                <a:solidFill>
                  <a:schemeClr val="dk2"/>
                </a:solidFill>
                <a:latin typeface="Open Sans"/>
                <a:ea typeface="Open Sans"/>
                <a:cs typeface="Open Sans"/>
                <a:sym typeface="Open Sans"/>
              </a:rPr>
              <a:t>Implícitos</a:t>
            </a:r>
            <a:endParaRPr b="0" i="0" sz="1400" u="none" cap="none" strike="noStrike">
              <a:solidFill>
                <a:srgbClr val="000000"/>
              </a:solidFill>
              <a:latin typeface="Open Sans"/>
              <a:ea typeface="Open Sans"/>
              <a:cs typeface="Open Sans"/>
              <a:sym typeface="Open Sans"/>
            </a:endParaRPr>
          </a:p>
        </p:txBody>
      </p:sp>
      <p:sp>
        <p:nvSpPr>
          <p:cNvPr id="223" name="Google Shape;223;p13"/>
          <p:cNvSpPr txBox="1"/>
          <p:nvPr/>
        </p:nvSpPr>
        <p:spPr>
          <a:xfrm>
            <a:off x="2150350" y="1369425"/>
            <a:ext cx="6730200" cy="33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aplica en sistemas operativos multitarea para multiplexar la ejecución de una serie de programas y explotar los beneficios de la concurrencia entre una serie de aplicaciones</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son un tipo de sistemas de multiprogramación de propósito general, tales como los sistemas de tiempo compartido.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En este enfoque el SO trata a cada programa en ejecución como un proceso independiente</a:t>
            </a:r>
            <a:endParaRPr b="0" i="0" sz="1700" u="none" cap="none" strike="noStrike">
              <a:solidFill>
                <a:srgbClr val="000000"/>
              </a:solidFill>
              <a:latin typeface="Open Sans"/>
              <a:ea typeface="Open Sans"/>
              <a:cs typeface="Open Sans"/>
              <a:sym typeface="Open Sans"/>
            </a:endParaRPr>
          </a:p>
        </p:txBody>
      </p:sp>
      <p:cxnSp>
        <p:nvCxnSpPr>
          <p:cNvPr id="224" name="Google Shape;224;p13"/>
          <p:cNvCxnSpPr/>
          <p:nvPr/>
        </p:nvCxnSpPr>
        <p:spPr>
          <a:xfrm flipH="1" rot="10800000">
            <a:off x="1723850" y="1631000"/>
            <a:ext cx="341100" cy="554400"/>
          </a:xfrm>
          <a:prstGeom prst="straightConnector1">
            <a:avLst/>
          </a:prstGeom>
          <a:noFill/>
          <a:ln cap="flat" cmpd="sng" w="9525">
            <a:solidFill>
              <a:schemeClr val="dk2"/>
            </a:solidFill>
            <a:prstDash val="solid"/>
            <a:round/>
            <a:headEnd len="sm" w="sm" type="none"/>
            <a:tailEnd len="med" w="med" type="triangle"/>
          </a:ln>
        </p:spPr>
      </p:cxnSp>
      <p:cxnSp>
        <p:nvCxnSpPr>
          <p:cNvPr id="225" name="Google Shape;225;p13"/>
          <p:cNvCxnSpPr/>
          <p:nvPr/>
        </p:nvCxnSpPr>
        <p:spPr>
          <a:xfrm>
            <a:off x="1664250" y="2432825"/>
            <a:ext cx="460500" cy="462000"/>
          </a:xfrm>
          <a:prstGeom prst="straightConnector1">
            <a:avLst/>
          </a:prstGeom>
          <a:noFill/>
          <a:ln cap="flat" cmpd="sng" w="9525">
            <a:solidFill>
              <a:schemeClr val="dk2"/>
            </a:solidFill>
            <a:prstDash val="solid"/>
            <a:round/>
            <a:headEnd len="sm" w="sm" type="none"/>
            <a:tailEnd len="med" w="med" type="triangle"/>
          </a:ln>
        </p:spPr>
      </p:cxnSp>
      <p:cxnSp>
        <p:nvCxnSpPr>
          <p:cNvPr id="226" name="Google Shape;226;p13"/>
          <p:cNvCxnSpPr/>
          <p:nvPr/>
        </p:nvCxnSpPr>
        <p:spPr>
          <a:xfrm>
            <a:off x="1681200" y="2825150"/>
            <a:ext cx="426600" cy="1441500"/>
          </a:xfrm>
          <a:prstGeom prst="straightConnector1">
            <a:avLst/>
          </a:prstGeom>
          <a:noFill/>
          <a:ln cap="flat" cmpd="sng" w="9525">
            <a:solidFill>
              <a:schemeClr val="dk2"/>
            </a:solidFill>
            <a:prstDash val="solid"/>
            <a:round/>
            <a:headEnd len="sm" w="sm" type="none"/>
            <a:tailEnd len="med" w="med" type="triangle"/>
          </a:ln>
        </p:spPr>
      </p:cxnSp>
      <p:sp>
        <p:nvSpPr>
          <p:cNvPr id="227" name="Google Shape;227;p13"/>
          <p:cNvSpPr txBox="1"/>
          <p:nvPr/>
        </p:nvSpPr>
        <p:spPr>
          <a:xfrm>
            <a:off x="149275" y="3366300"/>
            <a:ext cx="1277700" cy="785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s" sz="1300" u="none" cap="none" strike="noStrike">
                <a:solidFill>
                  <a:srgbClr val="000000"/>
                </a:solidFill>
                <a:highlight>
                  <a:srgbClr val="FFFFFF"/>
                </a:highlight>
                <a:latin typeface="Verdana"/>
                <a:ea typeface="Verdana"/>
                <a:cs typeface="Verdana"/>
                <a:sym typeface="Verdana"/>
              </a:rPr>
              <a:t>Incluido en otra cosa sin que esta lo exprese.</a:t>
            </a:r>
            <a:endParaRPr b="0" i="0" sz="1400" u="none" cap="none" strike="noStrike">
              <a:solidFill>
                <a:srgbClr val="000000"/>
              </a:solidFill>
              <a:latin typeface="Open Sans"/>
              <a:ea typeface="Open Sans"/>
              <a:cs typeface="Open Sans"/>
              <a:sym typeface="Open Sans"/>
            </a:endParaRPr>
          </a:p>
        </p:txBody>
      </p:sp>
      <p:sp>
        <p:nvSpPr>
          <p:cNvPr id="228" name="Google Shape;228;p13"/>
          <p:cNvSpPr/>
          <p:nvPr/>
        </p:nvSpPr>
        <p:spPr>
          <a:xfrm>
            <a:off x="3345" y="3168051"/>
            <a:ext cx="1635300" cy="1385000"/>
          </a:xfrm>
          <a:custGeom>
            <a:rect b="b" l="l" r="r" t="t"/>
            <a:pathLst>
              <a:path extrusionOk="0" h="55400" w="65412">
                <a:moveTo>
                  <a:pt x="41245" y="46653"/>
                </a:moveTo>
                <a:cubicBezTo>
                  <a:pt x="31021" y="49718"/>
                  <a:pt x="15976" y="51180"/>
                  <a:pt x="9467" y="42721"/>
                </a:cubicBezTo>
                <a:cubicBezTo>
                  <a:pt x="6729" y="39163"/>
                  <a:pt x="3788" y="34203"/>
                  <a:pt x="5208" y="29944"/>
                </a:cubicBezTo>
                <a:cubicBezTo>
                  <a:pt x="6027" y="27488"/>
                  <a:pt x="9275" y="25612"/>
                  <a:pt x="8812" y="23065"/>
                </a:cubicBezTo>
                <a:cubicBezTo>
                  <a:pt x="7637" y="16600"/>
                  <a:pt x="-4101" y="7977"/>
                  <a:pt x="1604" y="4718"/>
                </a:cubicBezTo>
                <a:cubicBezTo>
                  <a:pt x="7484" y="1359"/>
                  <a:pt x="15197" y="5232"/>
                  <a:pt x="21916" y="4391"/>
                </a:cubicBezTo>
                <a:cubicBezTo>
                  <a:pt x="24969" y="4009"/>
                  <a:pt x="27060" y="566"/>
                  <a:pt x="30106" y="132"/>
                </a:cubicBezTo>
                <a:cubicBezTo>
                  <a:pt x="33807" y="-396"/>
                  <a:pt x="37535" y="1905"/>
                  <a:pt x="41245" y="1442"/>
                </a:cubicBezTo>
                <a:cubicBezTo>
                  <a:pt x="44720" y="1009"/>
                  <a:pt x="48689" y="-950"/>
                  <a:pt x="51729" y="787"/>
                </a:cubicBezTo>
                <a:cubicBezTo>
                  <a:pt x="53891" y="2023"/>
                  <a:pt x="48002" y="6234"/>
                  <a:pt x="49763" y="7994"/>
                </a:cubicBezTo>
                <a:cubicBezTo>
                  <a:pt x="53525" y="11753"/>
                  <a:pt x="62672" y="8376"/>
                  <a:pt x="64833" y="13236"/>
                </a:cubicBezTo>
                <a:cubicBezTo>
                  <a:pt x="66419" y="16802"/>
                  <a:pt x="64576" y="22367"/>
                  <a:pt x="61230" y="24375"/>
                </a:cubicBezTo>
                <a:cubicBezTo>
                  <a:pt x="57776" y="26448"/>
                  <a:pt x="52874" y="27323"/>
                  <a:pt x="51074" y="30927"/>
                </a:cubicBezTo>
                <a:cubicBezTo>
                  <a:pt x="49531" y="34017"/>
                  <a:pt x="55894" y="37667"/>
                  <a:pt x="54350" y="40756"/>
                </a:cubicBezTo>
                <a:cubicBezTo>
                  <a:pt x="52418" y="44620"/>
                  <a:pt x="45283" y="42287"/>
                  <a:pt x="42228" y="45342"/>
                </a:cubicBezTo>
                <a:cubicBezTo>
                  <a:pt x="39733" y="47837"/>
                  <a:pt x="43002" y="56746"/>
                  <a:pt x="46159" y="55170"/>
                </a:cubicBezTo>
                <a:cubicBezTo>
                  <a:pt x="47121" y="54690"/>
                  <a:pt x="45521" y="53062"/>
                  <a:pt x="44849" y="52222"/>
                </a:cubicBezTo>
                <a:cubicBezTo>
                  <a:pt x="43102" y="50038"/>
                  <a:pt x="40950" y="47865"/>
                  <a:pt x="38297" y="46980"/>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 name="Google Shape;229;p13"/>
          <p:cNvPicPr preferRelativeResize="0"/>
          <p:nvPr/>
        </p:nvPicPr>
        <p:blipFill rotWithShape="1">
          <a:blip r:embed="rId3">
            <a:alphaModFix/>
          </a:blip>
          <a:srcRect b="0" l="0" r="0" t="0"/>
          <a:stretch/>
        </p:blipFill>
        <p:spPr>
          <a:xfrm>
            <a:off x="1226600" y="4460075"/>
            <a:ext cx="460500" cy="4536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Especificación de los procesos</a:t>
            </a:r>
            <a:endParaRPr/>
          </a:p>
        </p:txBody>
      </p:sp>
      <p:sp>
        <p:nvSpPr>
          <p:cNvPr id="235" name="Google Shape;235;p14"/>
          <p:cNvSpPr txBox="1"/>
          <p:nvPr/>
        </p:nvSpPr>
        <p:spPr>
          <a:xfrm>
            <a:off x="0" y="2258975"/>
            <a:ext cx="1493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000"/>
              <a:buFont typeface="Arial"/>
              <a:buNone/>
            </a:pPr>
            <a:r>
              <a:rPr b="0" i="0" lang="es" sz="2000" u="none" cap="none" strike="noStrike">
                <a:solidFill>
                  <a:schemeClr val="dk2"/>
                </a:solidFill>
                <a:latin typeface="Open Sans"/>
                <a:ea typeface="Open Sans"/>
                <a:cs typeface="Open Sans"/>
                <a:sym typeface="Open Sans"/>
              </a:rPr>
              <a:t>Explícitos</a:t>
            </a:r>
            <a:endParaRPr b="0" i="0" sz="1400" u="none" cap="none" strike="noStrike">
              <a:solidFill>
                <a:srgbClr val="000000"/>
              </a:solidFill>
              <a:latin typeface="Open Sans"/>
              <a:ea typeface="Open Sans"/>
              <a:cs typeface="Open Sans"/>
              <a:sym typeface="Open Sans"/>
            </a:endParaRPr>
          </a:p>
        </p:txBody>
      </p:sp>
      <p:sp>
        <p:nvSpPr>
          <p:cNvPr id="236" name="Google Shape;236;p14"/>
          <p:cNvSpPr txBox="1"/>
          <p:nvPr/>
        </p:nvSpPr>
        <p:spPr>
          <a:xfrm>
            <a:off x="1689725" y="1187425"/>
            <a:ext cx="6764100" cy="352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permite mejoras adicionales en el rendimiento al explotar la concurrencia inherente o propia de una determinada aplicación o programa</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los desarrolladores definen explícitamente cada proceso y alguno de sus atributos, típicamente una única aplicación queda dividida en varios procesos relacionados con el objeto de mejorar su rendimiento.</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Open Sans"/>
                <a:ea typeface="Open Sans"/>
                <a:cs typeface="Open Sans"/>
                <a:sym typeface="Open Sans"/>
              </a:rPr>
              <a:t>se utiliza en situaciones donde se desea elevar la eficiencia o controlar explícitamente las actividades del sistema</a:t>
            </a:r>
            <a:endParaRPr b="0" i="0" sz="1700" u="none" cap="none" strike="noStrike">
              <a:solidFill>
                <a:srgbClr val="000000"/>
              </a:solidFill>
              <a:latin typeface="Open Sans"/>
              <a:ea typeface="Open Sans"/>
              <a:cs typeface="Open Sans"/>
              <a:sym typeface="Open Sans"/>
            </a:endParaRPr>
          </a:p>
        </p:txBody>
      </p:sp>
      <p:cxnSp>
        <p:nvCxnSpPr>
          <p:cNvPr id="237" name="Google Shape;237;p14"/>
          <p:cNvCxnSpPr/>
          <p:nvPr/>
        </p:nvCxnSpPr>
        <p:spPr>
          <a:xfrm flipH="1" rot="10800000">
            <a:off x="1263225" y="1631000"/>
            <a:ext cx="341100" cy="554400"/>
          </a:xfrm>
          <a:prstGeom prst="straightConnector1">
            <a:avLst/>
          </a:prstGeom>
          <a:noFill/>
          <a:ln cap="flat" cmpd="sng" w="9525">
            <a:solidFill>
              <a:schemeClr val="dk2"/>
            </a:solidFill>
            <a:prstDash val="solid"/>
            <a:round/>
            <a:headEnd len="sm" w="sm" type="none"/>
            <a:tailEnd len="med" w="med" type="triangle"/>
          </a:ln>
        </p:spPr>
      </p:cxnSp>
      <p:cxnSp>
        <p:nvCxnSpPr>
          <p:cNvPr id="238" name="Google Shape;238;p14"/>
          <p:cNvCxnSpPr/>
          <p:nvPr/>
        </p:nvCxnSpPr>
        <p:spPr>
          <a:xfrm>
            <a:off x="1203625" y="2432825"/>
            <a:ext cx="460500" cy="462000"/>
          </a:xfrm>
          <a:prstGeom prst="straightConnector1">
            <a:avLst/>
          </a:prstGeom>
          <a:noFill/>
          <a:ln cap="flat" cmpd="sng" w="9525">
            <a:solidFill>
              <a:schemeClr val="dk2"/>
            </a:solidFill>
            <a:prstDash val="solid"/>
            <a:round/>
            <a:headEnd len="sm" w="sm" type="none"/>
            <a:tailEnd len="med" w="med" type="triangle"/>
          </a:ln>
        </p:spPr>
      </p:cxnSp>
      <p:cxnSp>
        <p:nvCxnSpPr>
          <p:cNvPr id="239" name="Google Shape;239;p14"/>
          <p:cNvCxnSpPr/>
          <p:nvPr/>
        </p:nvCxnSpPr>
        <p:spPr>
          <a:xfrm>
            <a:off x="1220575" y="2825150"/>
            <a:ext cx="426600" cy="14415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Especificación de los procesos</a:t>
            </a:r>
            <a:endParaRPr/>
          </a:p>
        </p:txBody>
      </p:sp>
      <p:sp>
        <p:nvSpPr>
          <p:cNvPr id="245" name="Google Shape;245;p15"/>
          <p:cNvSpPr txBox="1"/>
          <p:nvPr/>
        </p:nvSpPr>
        <p:spPr>
          <a:xfrm>
            <a:off x="1723800" y="1067975"/>
            <a:ext cx="7420200" cy="2874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Ganancia de velocidad: algunas de las tareas independientes en que quede dividida la aplicación podrán ejecutarse de forma concurrente </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Mejora en el rendimiento de la utilización de dispositivos de I/O</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15000"/>
              </a:lnSpc>
              <a:spcBef>
                <a:spcPts val="1800"/>
              </a:spcBef>
              <a:spcAft>
                <a:spcPts val="1800"/>
              </a:spcAft>
              <a:buClr>
                <a:srgbClr val="000000"/>
              </a:buClr>
              <a:buSzPts val="1700"/>
              <a:buFont typeface="Arial"/>
              <a:buNone/>
            </a:pPr>
            <a:r>
              <a:rPr b="0" i="0" lang="es" sz="1700" u="none" cap="none" strike="noStrike">
                <a:solidFill>
                  <a:srgbClr val="000000"/>
                </a:solidFill>
                <a:latin typeface="Arial"/>
                <a:ea typeface="Arial"/>
                <a:cs typeface="Arial"/>
                <a:sym typeface="Arial"/>
              </a:rPr>
              <a:t>Multiprocesamiento, permite conseguir paralelismo real. </a:t>
            </a:r>
            <a:endParaRPr b="0" i="0" sz="1800" u="none" cap="none" strike="noStrike">
              <a:solidFill>
                <a:srgbClr val="000000"/>
              </a:solidFill>
              <a:latin typeface="Arial"/>
              <a:ea typeface="Arial"/>
              <a:cs typeface="Arial"/>
              <a:sym typeface="Arial"/>
            </a:endParaRPr>
          </a:p>
        </p:txBody>
      </p:sp>
      <p:sp>
        <p:nvSpPr>
          <p:cNvPr id="246" name="Google Shape;246;p15"/>
          <p:cNvSpPr txBox="1"/>
          <p:nvPr/>
        </p:nvSpPr>
        <p:spPr>
          <a:xfrm>
            <a:off x="0" y="2258975"/>
            <a:ext cx="1493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000"/>
              <a:buFont typeface="Arial"/>
              <a:buNone/>
            </a:pPr>
            <a:r>
              <a:rPr b="0" i="0" lang="es" sz="2000" u="none" cap="none" strike="noStrike">
                <a:solidFill>
                  <a:schemeClr val="dk2"/>
                </a:solidFill>
                <a:latin typeface="Open Sans"/>
                <a:ea typeface="Open Sans"/>
                <a:cs typeface="Open Sans"/>
                <a:sym typeface="Open Sans"/>
              </a:rPr>
              <a:t>Explícitos</a:t>
            </a:r>
            <a:endParaRPr b="0" i="0" sz="1400" u="none" cap="none" strike="noStrike">
              <a:solidFill>
                <a:srgbClr val="000000"/>
              </a:solidFill>
              <a:latin typeface="Open Sans"/>
              <a:ea typeface="Open Sans"/>
              <a:cs typeface="Open Sans"/>
              <a:sym typeface="Open Sans"/>
            </a:endParaRPr>
          </a:p>
        </p:txBody>
      </p:sp>
      <p:sp>
        <p:nvSpPr>
          <p:cNvPr id="247" name="Google Shape;247;p15"/>
          <p:cNvSpPr txBox="1"/>
          <p:nvPr/>
        </p:nvSpPr>
        <p:spPr>
          <a:xfrm>
            <a:off x="461425" y="4130225"/>
            <a:ext cx="8520600" cy="70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1800"/>
              </a:spcAft>
              <a:buClr>
                <a:srgbClr val="000000"/>
              </a:buClr>
              <a:buSzPts val="1700"/>
              <a:buFont typeface="Arial"/>
              <a:buNone/>
            </a:pPr>
            <a:r>
              <a:rPr b="0" i="0" lang="es" sz="1700" u="none" cap="none" strike="noStrike">
                <a:solidFill>
                  <a:srgbClr val="000000"/>
                </a:solidFill>
                <a:latin typeface="Arial"/>
                <a:ea typeface="Arial"/>
                <a:cs typeface="Arial"/>
                <a:sym typeface="Arial"/>
              </a:rPr>
              <a:t>Computación distribuida, ejecución en procesadores de un sistema distribuido, lo que hace  necesaria una sincronización con el resto de procesadores del sistema.</a:t>
            </a:r>
            <a:endParaRPr b="0" i="0" sz="1400" u="none" cap="none" strike="noStrike">
              <a:solidFill>
                <a:srgbClr val="000000"/>
              </a:solidFill>
              <a:latin typeface="Open Sans"/>
              <a:ea typeface="Open Sans"/>
              <a:cs typeface="Open Sans"/>
              <a:sym typeface="Open Sans"/>
            </a:endParaRPr>
          </a:p>
        </p:txBody>
      </p:sp>
      <p:cxnSp>
        <p:nvCxnSpPr>
          <p:cNvPr id="248" name="Google Shape;248;p15"/>
          <p:cNvCxnSpPr/>
          <p:nvPr/>
        </p:nvCxnSpPr>
        <p:spPr>
          <a:xfrm flipH="1" rot="10800000">
            <a:off x="1160875" y="1528725"/>
            <a:ext cx="426600" cy="716400"/>
          </a:xfrm>
          <a:prstGeom prst="straightConnector1">
            <a:avLst/>
          </a:prstGeom>
          <a:noFill/>
          <a:ln cap="flat" cmpd="sng" w="9525">
            <a:solidFill>
              <a:schemeClr val="dk2"/>
            </a:solidFill>
            <a:prstDash val="solid"/>
            <a:round/>
            <a:headEnd len="sm" w="sm" type="none"/>
            <a:tailEnd len="med" w="med" type="triangle"/>
          </a:ln>
        </p:spPr>
      </p:cxnSp>
      <p:cxnSp>
        <p:nvCxnSpPr>
          <p:cNvPr id="249" name="Google Shape;249;p15"/>
          <p:cNvCxnSpPr/>
          <p:nvPr/>
        </p:nvCxnSpPr>
        <p:spPr>
          <a:xfrm>
            <a:off x="947650" y="2901925"/>
            <a:ext cx="162000" cy="1202700"/>
          </a:xfrm>
          <a:prstGeom prst="straightConnector1">
            <a:avLst/>
          </a:prstGeom>
          <a:noFill/>
          <a:ln cap="flat" cmpd="sng" w="9525">
            <a:solidFill>
              <a:schemeClr val="dk2"/>
            </a:solidFill>
            <a:prstDash val="solid"/>
            <a:round/>
            <a:headEnd len="sm" w="sm" type="none"/>
            <a:tailEnd len="med" w="med" type="triangle"/>
          </a:ln>
        </p:spPr>
      </p:cxnSp>
      <p:cxnSp>
        <p:nvCxnSpPr>
          <p:cNvPr id="250" name="Google Shape;250;p15"/>
          <p:cNvCxnSpPr/>
          <p:nvPr/>
        </p:nvCxnSpPr>
        <p:spPr>
          <a:xfrm>
            <a:off x="1058525" y="2791025"/>
            <a:ext cx="477600" cy="725100"/>
          </a:xfrm>
          <a:prstGeom prst="straightConnector1">
            <a:avLst/>
          </a:prstGeom>
          <a:noFill/>
          <a:ln cap="flat" cmpd="sng" w="9525">
            <a:solidFill>
              <a:schemeClr val="dk2"/>
            </a:solidFill>
            <a:prstDash val="solid"/>
            <a:round/>
            <a:headEnd len="sm" w="sm" type="none"/>
            <a:tailEnd len="med" w="med" type="triangle"/>
          </a:ln>
        </p:spPr>
      </p:cxnSp>
      <p:cxnSp>
        <p:nvCxnSpPr>
          <p:cNvPr id="251" name="Google Shape;251;p15"/>
          <p:cNvCxnSpPr/>
          <p:nvPr/>
        </p:nvCxnSpPr>
        <p:spPr>
          <a:xfrm>
            <a:off x="1322950" y="2543675"/>
            <a:ext cx="255900" cy="1449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Ejemplos de definición de procesos en c++</a:t>
            </a:r>
            <a:endParaRPr/>
          </a:p>
        </p:txBody>
      </p:sp>
      <p:pic>
        <p:nvPicPr>
          <p:cNvPr id="257" name="Google Shape;257;p16"/>
          <p:cNvPicPr preferRelativeResize="0"/>
          <p:nvPr/>
        </p:nvPicPr>
        <p:blipFill rotWithShape="1">
          <a:blip r:embed="rId3">
            <a:alphaModFix/>
          </a:blip>
          <a:srcRect b="0" l="0" r="0" t="0"/>
          <a:stretch/>
        </p:blipFill>
        <p:spPr>
          <a:xfrm>
            <a:off x="593200" y="1232225"/>
            <a:ext cx="2538100" cy="3758924"/>
          </a:xfrm>
          <a:prstGeom prst="rect">
            <a:avLst/>
          </a:prstGeom>
          <a:noFill/>
          <a:ln>
            <a:noFill/>
          </a:ln>
        </p:spPr>
      </p:pic>
      <p:pic>
        <p:nvPicPr>
          <p:cNvPr id="258" name="Google Shape;258;p16"/>
          <p:cNvPicPr preferRelativeResize="0"/>
          <p:nvPr/>
        </p:nvPicPr>
        <p:blipFill rotWithShape="1">
          <a:blip r:embed="rId4">
            <a:alphaModFix/>
          </a:blip>
          <a:srcRect b="0" l="0" r="0" t="0"/>
          <a:stretch/>
        </p:blipFill>
        <p:spPr>
          <a:xfrm>
            <a:off x="4256075" y="1399775"/>
            <a:ext cx="3429674" cy="3122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sp>
        <p:nvSpPr>
          <p:cNvPr id="264" name="Google Shape;264;p17"/>
          <p:cNvSpPr txBox="1"/>
          <p:nvPr>
            <p:ph idx="1" type="body"/>
          </p:nvPr>
        </p:nvSpPr>
        <p:spPr>
          <a:xfrm>
            <a:off x="311700" y="1266325"/>
            <a:ext cx="7886400" cy="310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a:t>Los procesos de un sistema son creados a partir de otro, por ende se constituye el concepto “Padre” e “Hijo”, estableciendo una jerarquía de procesos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Cuando se diseña el SO se debe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Una vez creado el proceso</a:t>
            </a:r>
            <a:endParaRPr/>
          </a:p>
        </p:txBody>
      </p:sp>
      <p:sp>
        <p:nvSpPr>
          <p:cNvPr id="265" name="Google Shape;265;p17"/>
          <p:cNvSpPr/>
          <p:nvPr/>
        </p:nvSpPr>
        <p:spPr>
          <a:xfrm>
            <a:off x="3915750" y="2204875"/>
            <a:ext cx="5135400" cy="13269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s" sz="1600" u="none" cap="none" strike="noStrike">
                <a:solidFill>
                  <a:schemeClr val="dk2"/>
                </a:solidFill>
                <a:latin typeface="Open Sans"/>
                <a:ea typeface="Open Sans"/>
                <a:cs typeface="Open Sans"/>
                <a:sym typeface="Open Sans"/>
              </a:rPr>
              <a:t>Definir qué recursos comparten los proceso Padre e Hijo (todo, algunos o nada)</a:t>
            </a:r>
            <a:endParaRPr b="0" i="0" sz="16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1200"/>
              </a:spcAft>
              <a:buClr>
                <a:srgbClr val="000000"/>
              </a:buClr>
              <a:buSzPts val="1600"/>
              <a:buFont typeface="Arial"/>
              <a:buNone/>
            </a:pPr>
            <a:r>
              <a:rPr b="0" i="0" lang="es" sz="1600" u="none" cap="none" strike="noStrike">
                <a:solidFill>
                  <a:schemeClr val="dk2"/>
                </a:solidFill>
                <a:latin typeface="Open Sans"/>
                <a:ea typeface="Open Sans"/>
                <a:cs typeface="Open Sans"/>
                <a:sym typeface="Open Sans"/>
              </a:rPr>
              <a:t>Determinar qué pasa con el Hijo si muere el Padre.</a:t>
            </a:r>
            <a:endParaRPr b="0" i="0" sz="1200" u="none" cap="none" strike="noStrike">
              <a:solidFill>
                <a:srgbClr val="000000"/>
              </a:solidFill>
              <a:latin typeface="Arial"/>
              <a:ea typeface="Arial"/>
              <a:cs typeface="Arial"/>
              <a:sym typeface="Arial"/>
            </a:endParaRPr>
          </a:p>
        </p:txBody>
      </p:sp>
      <p:sp>
        <p:nvSpPr>
          <p:cNvPr id="266" name="Google Shape;266;p17"/>
          <p:cNvSpPr/>
          <p:nvPr/>
        </p:nvSpPr>
        <p:spPr>
          <a:xfrm>
            <a:off x="3498050" y="3769225"/>
            <a:ext cx="5553000" cy="1146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s" sz="1600" u="none" cap="none" strike="noStrike">
                <a:solidFill>
                  <a:schemeClr val="dk2"/>
                </a:solidFill>
                <a:latin typeface="Open Sans"/>
                <a:ea typeface="Open Sans"/>
                <a:cs typeface="Open Sans"/>
                <a:sym typeface="Open Sans"/>
              </a:rPr>
              <a:t>Este tendrá un hilo (program counter) de ejecución propia </a:t>
            </a:r>
            <a:endParaRPr b="0" i="0" sz="16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600"/>
              <a:buFont typeface="Arial"/>
              <a:buNone/>
            </a:pPr>
            <a:r>
              <a:rPr b="0" i="0" lang="es" sz="1600" u="none" cap="none" strike="noStrike">
                <a:solidFill>
                  <a:schemeClr val="dk2"/>
                </a:solidFill>
                <a:latin typeface="Open Sans"/>
                <a:ea typeface="Open Sans"/>
                <a:cs typeface="Open Sans"/>
                <a:sym typeface="Open Sans"/>
              </a:rPr>
              <a:t>El SO genera un PCB para el proceso creado.</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sp>
        <p:nvSpPr>
          <p:cNvPr id="272" name="Google Shape;272;p18"/>
          <p:cNvSpPr txBox="1"/>
          <p:nvPr>
            <p:ph idx="1" type="body"/>
          </p:nvPr>
        </p:nvSpPr>
        <p:spPr>
          <a:xfrm>
            <a:off x="311700" y="1266325"/>
            <a:ext cx="7886400" cy="3213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s"/>
              <a:t>System() - Exec(?)(), llamada programas externos,por ende crea un proceso externo con su propio PID</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1200"/>
              </a:spcAft>
              <a:buSzPct val="117647"/>
              <a:buNone/>
            </a:pPr>
            <a:r>
              <a:rPr lang="es"/>
              <a:t>Fork(), llamada a sistema operativos que crea una copia del proceso actual, pero con un identificador distinto (PID)</a:t>
            </a:r>
            <a:endParaRPr/>
          </a:p>
        </p:txBody>
      </p:sp>
      <p:pic>
        <p:nvPicPr>
          <p:cNvPr id="273" name="Google Shape;273;p18"/>
          <p:cNvPicPr preferRelativeResize="0"/>
          <p:nvPr/>
        </p:nvPicPr>
        <p:blipFill rotWithShape="1">
          <a:blip r:embed="rId3">
            <a:alphaModFix/>
          </a:blip>
          <a:srcRect b="0" l="0" r="0" t="0"/>
          <a:stretch/>
        </p:blipFill>
        <p:spPr>
          <a:xfrm>
            <a:off x="389925" y="2691225"/>
            <a:ext cx="3816376" cy="562025"/>
          </a:xfrm>
          <a:prstGeom prst="rect">
            <a:avLst/>
          </a:prstGeom>
          <a:noFill/>
          <a:ln>
            <a:noFill/>
          </a:ln>
        </p:spPr>
      </p:pic>
      <p:pic>
        <p:nvPicPr>
          <p:cNvPr id="274" name="Google Shape;274;p18"/>
          <p:cNvPicPr preferRelativeResize="0"/>
          <p:nvPr/>
        </p:nvPicPr>
        <p:blipFill rotWithShape="1">
          <a:blip r:embed="rId4">
            <a:alphaModFix/>
          </a:blip>
          <a:srcRect b="0" l="0" r="0" t="0"/>
          <a:stretch/>
        </p:blipFill>
        <p:spPr>
          <a:xfrm>
            <a:off x="4374725" y="1897526"/>
            <a:ext cx="1744225" cy="1814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pic>
        <p:nvPicPr>
          <p:cNvPr id="280" name="Google Shape;280;p19"/>
          <p:cNvPicPr preferRelativeResize="0"/>
          <p:nvPr/>
        </p:nvPicPr>
        <p:blipFill rotWithShape="1">
          <a:blip r:embed="rId3">
            <a:alphaModFix/>
          </a:blip>
          <a:srcRect b="0" l="0" r="0" t="0"/>
          <a:stretch/>
        </p:blipFill>
        <p:spPr>
          <a:xfrm>
            <a:off x="2495500" y="1354575"/>
            <a:ext cx="6602350" cy="3078700"/>
          </a:xfrm>
          <a:prstGeom prst="rect">
            <a:avLst/>
          </a:prstGeom>
          <a:noFill/>
          <a:ln>
            <a:noFill/>
          </a:ln>
        </p:spPr>
      </p:pic>
      <p:pic>
        <p:nvPicPr>
          <p:cNvPr id="281" name="Google Shape;281;p19"/>
          <p:cNvPicPr preferRelativeResize="0"/>
          <p:nvPr/>
        </p:nvPicPr>
        <p:blipFill rotWithShape="1">
          <a:blip r:embed="rId4">
            <a:alphaModFix/>
          </a:blip>
          <a:srcRect b="0" l="0" r="0" t="0"/>
          <a:stretch/>
        </p:blipFill>
        <p:spPr>
          <a:xfrm>
            <a:off x="38225" y="1820826"/>
            <a:ext cx="2391750" cy="214618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sp>
        <p:nvSpPr>
          <p:cNvPr id="287" name="Google Shape;287;p20"/>
          <p:cNvSpPr txBox="1"/>
          <p:nvPr>
            <p:ph idx="1" type="body"/>
          </p:nvPr>
        </p:nvSpPr>
        <p:spPr>
          <a:xfrm>
            <a:off x="311700" y="1266325"/>
            <a:ext cx="4201500" cy="109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Fork(), genera hijos y el hijo tiene la copia de la información de proceso padre, menos el PID  </a:t>
            </a:r>
            <a:endParaRPr/>
          </a:p>
        </p:txBody>
      </p:sp>
      <p:pic>
        <p:nvPicPr>
          <p:cNvPr id="288" name="Google Shape;288;p20"/>
          <p:cNvPicPr preferRelativeResize="0"/>
          <p:nvPr/>
        </p:nvPicPr>
        <p:blipFill rotWithShape="1">
          <a:blip r:embed="rId3">
            <a:alphaModFix/>
          </a:blip>
          <a:srcRect b="0" l="0" r="0" t="0"/>
          <a:stretch/>
        </p:blipFill>
        <p:spPr>
          <a:xfrm>
            <a:off x="162675" y="2556350"/>
            <a:ext cx="4350525" cy="2435404"/>
          </a:xfrm>
          <a:prstGeom prst="rect">
            <a:avLst/>
          </a:prstGeom>
          <a:noFill/>
          <a:ln>
            <a:noFill/>
          </a:ln>
        </p:spPr>
      </p:pic>
      <p:pic>
        <p:nvPicPr>
          <p:cNvPr id="289" name="Google Shape;289;p20"/>
          <p:cNvPicPr preferRelativeResize="0"/>
          <p:nvPr/>
        </p:nvPicPr>
        <p:blipFill rotWithShape="1">
          <a:blip r:embed="rId4">
            <a:alphaModFix/>
          </a:blip>
          <a:srcRect b="0" l="0" r="0" t="0"/>
          <a:stretch/>
        </p:blipFill>
        <p:spPr>
          <a:xfrm>
            <a:off x="4649600" y="999775"/>
            <a:ext cx="4350525" cy="3795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pic>
        <p:nvPicPr>
          <p:cNvPr id="295" name="Google Shape;295;p21"/>
          <p:cNvPicPr preferRelativeResize="0"/>
          <p:nvPr/>
        </p:nvPicPr>
        <p:blipFill rotWithShape="1">
          <a:blip r:embed="rId3">
            <a:alphaModFix/>
          </a:blip>
          <a:srcRect b="0" l="0" r="0" t="0"/>
          <a:stretch/>
        </p:blipFill>
        <p:spPr>
          <a:xfrm>
            <a:off x="109725" y="1323025"/>
            <a:ext cx="6293050" cy="1118275"/>
          </a:xfrm>
          <a:prstGeom prst="rect">
            <a:avLst/>
          </a:prstGeom>
          <a:noFill/>
          <a:ln>
            <a:noFill/>
          </a:ln>
        </p:spPr>
      </p:pic>
      <p:pic>
        <p:nvPicPr>
          <p:cNvPr id="296" name="Google Shape;296;p21"/>
          <p:cNvPicPr preferRelativeResize="0"/>
          <p:nvPr/>
        </p:nvPicPr>
        <p:blipFill rotWithShape="1">
          <a:blip r:embed="rId4">
            <a:alphaModFix/>
          </a:blip>
          <a:srcRect b="0" l="0" r="0" t="0"/>
          <a:stretch/>
        </p:blipFill>
        <p:spPr>
          <a:xfrm>
            <a:off x="237725" y="3096950"/>
            <a:ext cx="6393676" cy="1442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pic>
        <p:nvPicPr>
          <p:cNvPr id="302" name="Google Shape;302;p22"/>
          <p:cNvPicPr preferRelativeResize="0"/>
          <p:nvPr/>
        </p:nvPicPr>
        <p:blipFill rotWithShape="1">
          <a:blip r:embed="rId3">
            <a:alphaModFix/>
          </a:blip>
          <a:srcRect b="0" l="0" r="0" t="0"/>
          <a:stretch/>
        </p:blipFill>
        <p:spPr>
          <a:xfrm>
            <a:off x="143875" y="1279225"/>
            <a:ext cx="5600700" cy="1647825"/>
          </a:xfrm>
          <a:prstGeom prst="rect">
            <a:avLst/>
          </a:prstGeom>
          <a:noFill/>
          <a:ln>
            <a:noFill/>
          </a:ln>
        </p:spPr>
      </p:pic>
      <p:pic>
        <p:nvPicPr>
          <p:cNvPr id="303" name="Google Shape;303;p22"/>
          <p:cNvPicPr preferRelativeResize="0"/>
          <p:nvPr/>
        </p:nvPicPr>
        <p:blipFill rotWithShape="1">
          <a:blip r:embed="rId4">
            <a:alphaModFix/>
          </a:blip>
          <a:srcRect b="0" l="0" r="0" t="0"/>
          <a:stretch/>
        </p:blipFill>
        <p:spPr>
          <a:xfrm>
            <a:off x="1741250" y="3558225"/>
            <a:ext cx="5870375" cy="777825"/>
          </a:xfrm>
          <a:prstGeom prst="rect">
            <a:avLst/>
          </a:prstGeom>
          <a:noFill/>
          <a:ln>
            <a:noFill/>
          </a:ln>
        </p:spPr>
      </p:pic>
      <p:sp>
        <p:nvSpPr>
          <p:cNvPr id="304" name="Google Shape;304;p22"/>
          <p:cNvSpPr txBox="1"/>
          <p:nvPr/>
        </p:nvSpPr>
        <p:spPr>
          <a:xfrm>
            <a:off x="6200825" y="263800"/>
            <a:ext cx="2866500" cy="2809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revisar en consola </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ps -lf</a:t>
            </a:r>
            <a:endParaRPr b="0" i="0" sz="14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 (fijarse en PID y PPID)</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Si mata al padre el hijo queda huérfano</a:t>
            </a:r>
            <a:endParaRPr b="1"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Open Sans"/>
                <a:ea typeface="Open Sans"/>
                <a:cs typeface="Open Sans"/>
                <a:sym typeface="Open Sans"/>
              </a:rPr>
              <a:t>Si mata al proceso hijo, este queda como un proceso zombie hasta que se elimina el padre</a:t>
            </a:r>
            <a:endParaRPr b="1" i="0" sz="1400" u="none" cap="none" strike="noStrike">
              <a:solidFill>
                <a:srgbClr val="000000"/>
              </a:solidFill>
              <a:latin typeface="Open Sans"/>
              <a:ea typeface="Open Sans"/>
              <a:cs typeface="Open Sans"/>
              <a:sym typeface="Open Sans"/>
            </a:endParaRPr>
          </a:p>
        </p:txBody>
      </p:sp>
      <p:sp>
        <p:nvSpPr>
          <p:cNvPr id="305" name="Google Shape;305;p22"/>
          <p:cNvSpPr/>
          <p:nvPr/>
        </p:nvSpPr>
        <p:spPr>
          <a:xfrm>
            <a:off x="6125171" y="153154"/>
            <a:ext cx="2896025" cy="3271750"/>
          </a:xfrm>
          <a:custGeom>
            <a:rect b="b" l="l" r="r" t="t"/>
            <a:pathLst>
              <a:path extrusionOk="0" h="130870" w="115841">
                <a:moveTo>
                  <a:pt x="55772" y="113193"/>
                </a:moveTo>
                <a:cubicBezTo>
                  <a:pt x="45189" y="112230"/>
                  <a:pt x="36023" y="121055"/>
                  <a:pt x="26287" y="125314"/>
                </a:cubicBezTo>
                <a:cubicBezTo>
                  <a:pt x="18788" y="128594"/>
                  <a:pt x="4962" y="127509"/>
                  <a:pt x="2371" y="119745"/>
                </a:cubicBezTo>
                <a:cubicBezTo>
                  <a:pt x="-1950" y="106796"/>
                  <a:pt x="767" y="92307"/>
                  <a:pt x="2699" y="78793"/>
                </a:cubicBezTo>
                <a:cubicBezTo>
                  <a:pt x="4338" y="67327"/>
                  <a:pt x="1867" y="54451"/>
                  <a:pt x="7613" y="44394"/>
                </a:cubicBezTo>
                <a:cubicBezTo>
                  <a:pt x="10949" y="38554"/>
                  <a:pt x="21188" y="39350"/>
                  <a:pt x="24649" y="33583"/>
                </a:cubicBezTo>
                <a:cubicBezTo>
                  <a:pt x="29714" y="25143"/>
                  <a:pt x="24157" y="8524"/>
                  <a:pt x="33494" y="5408"/>
                </a:cubicBezTo>
                <a:cubicBezTo>
                  <a:pt x="45804" y="1301"/>
                  <a:pt x="59176" y="822"/>
                  <a:pt x="72153" y="822"/>
                </a:cubicBezTo>
                <a:cubicBezTo>
                  <a:pt x="78815" y="822"/>
                  <a:pt x="85876" y="-1127"/>
                  <a:pt x="92137" y="1149"/>
                </a:cubicBezTo>
                <a:cubicBezTo>
                  <a:pt x="100506" y="4192"/>
                  <a:pt x="105744" y="17381"/>
                  <a:pt x="102620" y="25720"/>
                </a:cubicBezTo>
                <a:cubicBezTo>
                  <a:pt x="100064" y="32542"/>
                  <a:pt x="91681" y="38727"/>
                  <a:pt x="93775" y="45705"/>
                </a:cubicBezTo>
                <a:cubicBezTo>
                  <a:pt x="95878" y="52714"/>
                  <a:pt x="106566" y="53424"/>
                  <a:pt x="111138" y="59137"/>
                </a:cubicBezTo>
                <a:cubicBezTo>
                  <a:pt x="117434" y="67003"/>
                  <a:pt x="113432" y="79201"/>
                  <a:pt x="113432" y="89277"/>
                </a:cubicBezTo>
                <a:cubicBezTo>
                  <a:pt x="113432" y="99438"/>
                  <a:pt x="117982" y="110231"/>
                  <a:pt x="114414" y="119745"/>
                </a:cubicBezTo>
                <a:cubicBezTo>
                  <a:pt x="110787" y="129415"/>
                  <a:pt x="95419" y="132075"/>
                  <a:pt x="85257" y="130228"/>
                </a:cubicBezTo>
                <a:cubicBezTo>
                  <a:pt x="78992" y="129089"/>
                  <a:pt x="73782" y="124402"/>
                  <a:pt x="67566" y="123021"/>
                </a:cubicBezTo>
                <a:cubicBezTo>
                  <a:pt x="61415" y="121655"/>
                  <a:pt x="49638" y="121068"/>
                  <a:pt x="50530" y="114831"/>
                </a:cubicBezTo>
                <a:cubicBezTo>
                  <a:pt x="50779" y="113088"/>
                  <a:pt x="53872" y="113455"/>
                  <a:pt x="55117" y="112210"/>
                </a:cubicBezTo>
              </a:path>
            </a:pathLst>
          </a:custGeom>
          <a:noFill/>
          <a:ln cap="flat" cmpd="sng" w="19050">
            <a:solidFill>
              <a:srgbClr val="6AA84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Creación de procesos</a:t>
            </a:r>
            <a:endParaRPr/>
          </a:p>
        </p:txBody>
      </p:sp>
      <p:pic>
        <p:nvPicPr>
          <p:cNvPr id="311" name="Google Shape;311;p23"/>
          <p:cNvPicPr preferRelativeResize="0"/>
          <p:nvPr/>
        </p:nvPicPr>
        <p:blipFill rotWithShape="1">
          <a:blip r:embed="rId3">
            <a:alphaModFix/>
          </a:blip>
          <a:srcRect b="0" l="0" r="0" t="0"/>
          <a:stretch/>
        </p:blipFill>
        <p:spPr>
          <a:xfrm>
            <a:off x="311700" y="1357125"/>
            <a:ext cx="5480900" cy="3532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Estados de un proceso</a:t>
            </a:r>
            <a:endParaRPr/>
          </a:p>
        </p:txBody>
      </p:sp>
      <p:sp>
        <p:nvSpPr>
          <p:cNvPr id="317" name="Google Shape;317;p24"/>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Cuando el programa es lanzado a ejecución y este se convierte en un proceso, dicho proceso pasa por una serie de estados a lo largo de la vida. Además, cuando pasa de un estado a otro se produce una transición de estados.</a:t>
            </a:r>
            <a:endParaRPr/>
          </a:p>
        </p:txBody>
      </p:sp>
      <p:pic>
        <p:nvPicPr>
          <p:cNvPr id="318" name="Google Shape;318;p24"/>
          <p:cNvPicPr preferRelativeResize="0"/>
          <p:nvPr/>
        </p:nvPicPr>
        <p:blipFill rotWithShape="1">
          <a:blip r:embed="rId3">
            <a:alphaModFix/>
          </a:blip>
          <a:srcRect b="0" l="0" r="0" t="0"/>
          <a:stretch/>
        </p:blipFill>
        <p:spPr>
          <a:xfrm>
            <a:off x="163845" y="2423020"/>
            <a:ext cx="3489826" cy="2529750"/>
          </a:xfrm>
          <a:prstGeom prst="rect">
            <a:avLst/>
          </a:prstGeom>
          <a:noFill/>
          <a:ln>
            <a:noFill/>
          </a:ln>
        </p:spPr>
      </p:pic>
      <p:pic>
        <p:nvPicPr>
          <p:cNvPr id="319" name="Google Shape;319;p24"/>
          <p:cNvPicPr preferRelativeResize="0"/>
          <p:nvPr/>
        </p:nvPicPr>
        <p:blipFill rotWithShape="1">
          <a:blip r:embed="rId4">
            <a:alphaModFix/>
          </a:blip>
          <a:srcRect b="0" l="0" r="0" t="0"/>
          <a:stretch/>
        </p:blipFill>
        <p:spPr>
          <a:xfrm>
            <a:off x="3991650" y="2816700"/>
            <a:ext cx="4840649" cy="1742400"/>
          </a:xfrm>
          <a:prstGeom prst="rect">
            <a:avLst/>
          </a:prstGeom>
          <a:noFill/>
          <a:ln>
            <a:noFill/>
          </a:ln>
        </p:spPr>
      </p:pic>
      <p:cxnSp>
        <p:nvCxnSpPr>
          <p:cNvPr id="320" name="Google Shape;320;p24"/>
          <p:cNvCxnSpPr/>
          <p:nvPr/>
        </p:nvCxnSpPr>
        <p:spPr>
          <a:xfrm>
            <a:off x="3810363" y="2368675"/>
            <a:ext cx="7200" cy="2481600"/>
          </a:xfrm>
          <a:prstGeom prst="straightConnector1">
            <a:avLst/>
          </a:prstGeom>
          <a:noFill/>
          <a:ln cap="flat" cmpd="sng" w="38100">
            <a:solidFill>
              <a:srgbClr val="93C47D"/>
            </a:solidFill>
            <a:prstDash val="dash"/>
            <a:round/>
            <a:headEnd len="sm" w="sm" type="none"/>
            <a:tailEnd len="sm" w="sm" type="none"/>
          </a:ln>
        </p:spPr>
      </p:cxnSp>
      <p:sp>
        <p:nvSpPr>
          <p:cNvPr id="321" name="Google Shape;321;p24"/>
          <p:cNvSpPr txBox="1"/>
          <p:nvPr/>
        </p:nvSpPr>
        <p:spPr>
          <a:xfrm>
            <a:off x="6061625" y="4620275"/>
            <a:ext cx="999300" cy="2631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accent1"/>
                </a:solidFill>
                <a:latin typeface="Open Sans"/>
                <a:ea typeface="Open Sans"/>
                <a:cs typeface="Open Sans"/>
                <a:sym typeface="Open Sans"/>
              </a:rPr>
              <a:t>bloqueado</a:t>
            </a:r>
            <a:endParaRPr b="1" i="0" sz="1100" u="none" cap="none" strike="noStrike">
              <a:solidFill>
                <a:schemeClr val="accent1"/>
              </a:solidFill>
              <a:latin typeface="Open Sans"/>
              <a:ea typeface="Open Sans"/>
              <a:cs typeface="Open Sans"/>
              <a:sym typeface="Open Sans"/>
            </a:endParaRPr>
          </a:p>
        </p:txBody>
      </p:sp>
      <p:pic>
        <p:nvPicPr>
          <p:cNvPr id="322" name="Google Shape;322;p24"/>
          <p:cNvPicPr preferRelativeResize="0"/>
          <p:nvPr/>
        </p:nvPicPr>
        <p:blipFill rotWithShape="1">
          <a:blip r:embed="rId5">
            <a:alphaModFix/>
          </a:blip>
          <a:srcRect b="0" l="0" r="0" t="0"/>
          <a:stretch/>
        </p:blipFill>
        <p:spPr>
          <a:xfrm>
            <a:off x="5601623" y="4399898"/>
            <a:ext cx="460000" cy="585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Estados de un proceso (transiciones de estados)</a:t>
            </a:r>
            <a:endParaRPr/>
          </a:p>
        </p:txBody>
      </p:sp>
      <p:sp>
        <p:nvSpPr>
          <p:cNvPr id="328" name="Google Shape;328;p25"/>
          <p:cNvSpPr txBox="1"/>
          <p:nvPr/>
        </p:nvSpPr>
        <p:spPr>
          <a:xfrm>
            <a:off x="443075" y="1607000"/>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New </a:t>
            </a:r>
            <a:endParaRPr b="0" i="0" sz="1400" u="none" cap="none" strike="noStrike">
              <a:solidFill>
                <a:srgbClr val="000000"/>
              </a:solidFill>
              <a:latin typeface="Open Sans"/>
              <a:ea typeface="Open Sans"/>
              <a:cs typeface="Open Sans"/>
              <a:sym typeface="Open Sans"/>
            </a:endParaRPr>
          </a:p>
        </p:txBody>
      </p:sp>
      <p:sp>
        <p:nvSpPr>
          <p:cNvPr id="329" name="Google Shape;329;p25"/>
          <p:cNvSpPr txBox="1"/>
          <p:nvPr/>
        </p:nvSpPr>
        <p:spPr>
          <a:xfrm>
            <a:off x="1873150" y="17052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Ready </a:t>
            </a:r>
            <a:endParaRPr b="0" i="0" sz="1400" u="none" cap="none" strike="noStrike">
              <a:solidFill>
                <a:srgbClr val="000000"/>
              </a:solidFill>
              <a:latin typeface="Open Sans"/>
              <a:ea typeface="Open Sans"/>
              <a:cs typeface="Open Sans"/>
              <a:sym typeface="Open Sans"/>
            </a:endParaRPr>
          </a:p>
        </p:txBody>
      </p:sp>
      <p:sp>
        <p:nvSpPr>
          <p:cNvPr id="330" name="Google Shape;330;p25"/>
          <p:cNvSpPr txBox="1"/>
          <p:nvPr/>
        </p:nvSpPr>
        <p:spPr>
          <a:xfrm>
            <a:off x="361175" y="28291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Ready </a:t>
            </a:r>
            <a:endParaRPr b="0" i="0" sz="1400" u="none" cap="none" strike="noStrike">
              <a:solidFill>
                <a:srgbClr val="000000"/>
              </a:solidFill>
              <a:latin typeface="Open Sans"/>
              <a:ea typeface="Open Sans"/>
              <a:cs typeface="Open Sans"/>
              <a:sym typeface="Open Sans"/>
            </a:endParaRPr>
          </a:p>
        </p:txBody>
      </p:sp>
      <p:sp>
        <p:nvSpPr>
          <p:cNvPr id="331" name="Google Shape;331;p25"/>
          <p:cNvSpPr txBox="1"/>
          <p:nvPr/>
        </p:nvSpPr>
        <p:spPr>
          <a:xfrm>
            <a:off x="1843775" y="27799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Running </a:t>
            </a:r>
            <a:endParaRPr b="0" i="0" sz="1400" u="none" cap="none" strike="noStrike">
              <a:solidFill>
                <a:srgbClr val="000000"/>
              </a:solidFill>
              <a:latin typeface="Open Sans"/>
              <a:ea typeface="Open Sans"/>
              <a:cs typeface="Open Sans"/>
              <a:sym typeface="Open Sans"/>
            </a:endParaRPr>
          </a:p>
        </p:txBody>
      </p:sp>
      <p:sp>
        <p:nvSpPr>
          <p:cNvPr id="332" name="Google Shape;332;p25"/>
          <p:cNvSpPr txBox="1"/>
          <p:nvPr/>
        </p:nvSpPr>
        <p:spPr>
          <a:xfrm>
            <a:off x="361175" y="3972550"/>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Running </a:t>
            </a:r>
            <a:endParaRPr b="0" i="0" sz="1400" u="none" cap="none" strike="noStrike">
              <a:solidFill>
                <a:srgbClr val="000000"/>
              </a:solidFill>
              <a:latin typeface="Open Sans"/>
              <a:ea typeface="Open Sans"/>
              <a:cs typeface="Open Sans"/>
              <a:sym typeface="Open Sans"/>
            </a:endParaRPr>
          </a:p>
        </p:txBody>
      </p:sp>
      <p:sp>
        <p:nvSpPr>
          <p:cNvPr id="333" name="Google Shape;333;p25"/>
          <p:cNvSpPr txBox="1"/>
          <p:nvPr/>
        </p:nvSpPr>
        <p:spPr>
          <a:xfrm>
            <a:off x="1873150" y="39530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Ready </a:t>
            </a:r>
            <a:endParaRPr b="0" i="0" sz="1400" u="none" cap="none" strike="noStrike">
              <a:solidFill>
                <a:srgbClr val="000000"/>
              </a:solidFill>
              <a:latin typeface="Open Sans"/>
              <a:ea typeface="Open Sans"/>
              <a:cs typeface="Open Sans"/>
              <a:sym typeface="Open Sans"/>
            </a:endParaRPr>
          </a:p>
        </p:txBody>
      </p:sp>
      <p:sp>
        <p:nvSpPr>
          <p:cNvPr id="334" name="Google Shape;334;p25"/>
          <p:cNvSpPr/>
          <p:nvPr/>
        </p:nvSpPr>
        <p:spPr>
          <a:xfrm>
            <a:off x="1163800" y="1754425"/>
            <a:ext cx="597900" cy="245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5"/>
          <p:cNvSpPr/>
          <p:nvPr/>
        </p:nvSpPr>
        <p:spPr>
          <a:xfrm>
            <a:off x="1163800" y="2878325"/>
            <a:ext cx="597900" cy="245700"/>
          </a:xfrm>
          <a:prstGeom prst="rightArrow">
            <a:avLst>
              <a:gd fmla="val 50000" name="adj1"/>
              <a:gd fmla="val 50000" name="adj2"/>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5"/>
          <p:cNvSpPr/>
          <p:nvPr/>
        </p:nvSpPr>
        <p:spPr>
          <a:xfrm>
            <a:off x="1245875" y="4021750"/>
            <a:ext cx="597900" cy="2457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5"/>
          <p:cNvSpPr/>
          <p:nvPr/>
        </p:nvSpPr>
        <p:spPr>
          <a:xfrm>
            <a:off x="2613500" y="1402250"/>
            <a:ext cx="5815200" cy="81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Al crearse un proceso pasa inmediatamente al estado listo.</a:t>
            </a:r>
            <a:endParaRPr b="0" i="0" sz="1400" u="none" cap="none" strike="noStrike">
              <a:solidFill>
                <a:srgbClr val="000000"/>
              </a:solidFill>
              <a:latin typeface="Arial"/>
              <a:ea typeface="Arial"/>
              <a:cs typeface="Arial"/>
              <a:sym typeface="Arial"/>
            </a:endParaRPr>
          </a:p>
        </p:txBody>
      </p:sp>
      <p:sp>
        <p:nvSpPr>
          <p:cNvPr id="338" name="Google Shape;338;p25"/>
          <p:cNvSpPr/>
          <p:nvPr/>
        </p:nvSpPr>
        <p:spPr>
          <a:xfrm>
            <a:off x="2667625" y="2441788"/>
            <a:ext cx="5815200" cy="11277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Significa que está listo para ser ejecutado, es decir, solo espera que se le asigne procesador. Al liberar un procesador el planificador (scheduler) selecciona el próximo proceso a ejecutar, esto respecto de algún criterio predefinido.  </a:t>
            </a:r>
            <a:endParaRPr b="0" i="0" sz="1400" u="none" cap="none" strike="noStrike">
              <a:solidFill>
                <a:srgbClr val="000000"/>
              </a:solidFill>
              <a:latin typeface="Arial"/>
              <a:ea typeface="Arial"/>
              <a:cs typeface="Arial"/>
              <a:sym typeface="Arial"/>
            </a:endParaRPr>
          </a:p>
        </p:txBody>
      </p:sp>
      <p:sp>
        <p:nvSpPr>
          <p:cNvPr id="339" name="Google Shape;339;p25"/>
          <p:cNvSpPr/>
          <p:nvPr/>
        </p:nvSpPr>
        <p:spPr>
          <a:xfrm>
            <a:off x="2613500" y="3790038"/>
            <a:ext cx="5815200" cy="11277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Ante una interrupción el proceso puede perder el procesador (esto depende de la prioridad) y pasar al estado Ready (o listo para ejecutarse). Luego el planificador decidirá el próximo proceso a ejecutarse.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Estados de un proceso (transiciones de estados)</a:t>
            </a:r>
            <a:endParaRPr/>
          </a:p>
        </p:txBody>
      </p:sp>
      <p:sp>
        <p:nvSpPr>
          <p:cNvPr id="345" name="Google Shape;345;p26"/>
          <p:cNvSpPr txBox="1"/>
          <p:nvPr/>
        </p:nvSpPr>
        <p:spPr>
          <a:xfrm>
            <a:off x="1873150" y="17052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Waiting </a:t>
            </a:r>
            <a:endParaRPr b="0" i="0" sz="1400" u="none" cap="none" strike="noStrike">
              <a:solidFill>
                <a:srgbClr val="000000"/>
              </a:solidFill>
              <a:latin typeface="Open Sans"/>
              <a:ea typeface="Open Sans"/>
              <a:cs typeface="Open Sans"/>
              <a:sym typeface="Open Sans"/>
            </a:endParaRPr>
          </a:p>
        </p:txBody>
      </p:sp>
      <p:sp>
        <p:nvSpPr>
          <p:cNvPr id="346" name="Google Shape;346;p26"/>
          <p:cNvSpPr txBox="1"/>
          <p:nvPr/>
        </p:nvSpPr>
        <p:spPr>
          <a:xfrm>
            <a:off x="213400" y="39530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Running </a:t>
            </a:r>
            <a:endParaRPr b="0" i="0" sz="1400" u="none" cap="none" strike="noStrike">
              <a:solidFill>
                <a:srgbClr val="000000"/>
              </a:solidFill>
              <a:latin typeface="Open Sans"/>
              <a:ea typeface="Open Sans"/>
              <a:cs typeface="Open Sans"/>
              <a:sym typeface="Open Sans"/>
            </a:endParaRPr>
          </a:p>
        </p:txBody>
      </p:sp>
      <p:sp>
        <p:nvSpPr>
          <p:cNvPr id="347" name="Google Shape;347;p26"/>
          <p:cNvSpPr txBox="1"/>
          <p:nvPr/>
        </p:nvSpPr>
        <p:spPr>
          <a:xfrm>
            <a:off x="213400" y="17052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Running </a:t>
            </a:r>
            <a:endParaRPr b="0" i="0" sz="1400" u="none" cap="none" strike="noStrike">
              <a:solidFill>
                <a:srgbClr val="000000"/>
              </a:solidFill>
              <a:latin typeface="Open Sans"/>
              <a:ea typeface="Open Sans"/>
              <a:cs typeface="Open Sans"/>
              <a:sym typeface="Open Sans"/>
            </a:endParaRPr>
          </a:p>
        </p:txBody>
      </p:sp>
      <p:sp>
        <p:nvSpPr>
          <p:cNvPr id="348" name="Google Shape;348;p26"/>
          <p:cNvSpPr txBox="1"/>
          <p:nvPr/>
        </p:nvSpPr>
        <p:spPr>
          <a:xfrm>
            <a:off x="1873150" y="3953025"/>
            <a:ext cx="13545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Terminated </a:t>
            </a:r>
            <a:endParaRPr b="0" i="0" sz="1400" u="none" cap="none" strike="noStrike">
              <a:solidFill>
                <a:srgbClr val="000000"/>
              </a:solidFill>
              <a:latin typeface="Open Sans"/>
              <a:ea typeface="Open Sans"/>
              <a:cs typeface="Open Sans"/>
              <a:sym typeface="Open Sans"/>
            </a:endParaRPr>
          </a:p>
        </p:txBody>
      </p:sp>
      <p:sp>
        <p:nvSpPr>
          <p:cNvPr id="349" name="Google Shape;349;p26"/>
          <p:cNvSpPr/>
          <p:nvPr/>
        </p:nvSpPr>
        <p:spPr>
          <a:xfrm>
            <a:off x="1163800" y="1754425"/>
            <a:ext cx="597900" cy="245700"/>
          </a:xfrm>
          <a:prstGeom prst="rightArrow">
            <a:avLst>
              <a:gd fmla="val 50000" name="adj1"/>
              <a:gd fmla="val 50000" name="adj2"/>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6"/>
          <p:cNvSpPr/>
          <p:nvPr/>
        </p:nvSpPr>
        <p:spPr>
          <a:xfrm>
            <a:off x="1163800" y="2878325"/>
            <a:ext cx="597900" cy="2457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6"/>
          <p:cNvSpPr/>
          <p:nvPr/>
        </p:nvSpPr>
        <p:spPr>
          <a:xfrm>
            <a:off x="1245875" y="4021750"/>
            <a:ext cx="597900" cy="245700"/>
          </a:xfrm>
          <a:prstGeom prst="right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6"/>
          <p:cNvSpPr txBox="1"/>
          <p:nvPr/>
        </p:nvSpPr>
        <p:spPr>
          <a:xfrm>
            <a:off x="279100" y="27799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Waiting </a:t>
            </a:r>
            <a:endParaRPr b="0" i="0" sz="1400" u="none" cap="none" strike="noStrike">
              <a:solidFill>
                <a:srgbClr val="000000"/>
              </a:solidFill>
              <a:latin typeface="Open Sans"/>
              <a:ea typeface="Open Sans"/>
              <a:cs typeface="Open Sans"/>
              <a:sym typeface="Open Sans"/>
            </a:endParaRPr>
          </a:p>
        </p:txBody>
      </p:sp>
      <p:sp>
        <p:nvSpPr>
          <p:cNvPr id="353" name="Google Shape;353;p26"/>
          <p:cNvSpPr txBox="1"/>
          <p:nvPr/>
        </p:nvSpPr>
        <p:spPr>
          <a:xfrm>
            <a:off x="1873150" y="2829125"/>
            <a:ext cx="8847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Ready </a:t>
            </a:r>
            <a:endParaRPr b="0" i="0" sz="1400" u="none" cap="none" strike="noStrike">
              <a:solidFill>
                <a:srgbClr val="000000"/>
              </a:solidFill>
              <a:latin typeface="Open Sans"/>
              <a:ea typeface="Open Sans"/>
              <a:cs typeface="Open Sans"/>
              <a:sym typeface="Open Sans"/>
            </a:endParaRPr>
          </a:p>
        </p:txBody>
      </p:sp>
      <p:sp>
        <p:nvSpPr>
          <p:cNvPr id="354" name="Google Shape;354;p26"/>
          <p:cNvSpPr/>
          <p:nvPr/>
        </p:nvSpPr>
        <p:spPr>
          <a:xfrm>
            <a:off x="2613500" y="1402250"/>
            <a:ext cx="5921700" cy="950100"/>
          </a:xfrm>
          <a:prstGeom prst="roundRect">
            <a:avLst>
              <a:gd fmla="val 16667" name="adj"/>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cuando el proceso ejecuta instrucciones que no requieren del procesador, este es puesto en Waiting (espera), hasta que finalice dicha acción, ej: utilizar un dispositivo de E/S. De esta forma el planificador aprovecha mejor (lo hace eficiente) el recurso procesador.</a:t>
            </a:r>
            <a:endParaRPr b="0" i="0" sz="1400" u="none" cap="none" strike="noStrike">
              <a:solidFill>
                <a:srgbClr val="000000"/>
              </a:solidFill>
              <a:latin typeface="Arial"/>
              <a:ea typeface="Arial"/>
              <a:cs typeface="Arial"/>
              <a:sym typeface="Arial"/>
            </a:endParaRPr>
          </a:p>
        </p:txBody>
      </p:sp>
      <p:sp>
        <p:nvSpPr>
          <p:cNvPr id="355" name="Google Shape;355;p26"/>
          <p:cNvSpPr/>
          <p:nvPr/>
        </p:nvSpPr>
        <p:spPr>
          <a:xfrm>
            <a:off x="2613500" y="2602175"/>
            <a:ext cx="5921700" cy="9501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Una vez que ocurre el evento que el proceso estaba esperando en la cola de espera, el proceso es puesto nuevamente en la cola de procesos listos</a:t>
            </a:r>
            <a:endParaRPr b="0" i="0" sz="1400" u="none" cap="none" strike="noStrike">
              <a:solidFill>
                <a:srgbClr val="000000"/>
              </a:solidFill>
              <a:latin typeface="Arial"/>
              <a:ea typeface="Arial"/>
              <a:cs typeface="Arial"/>
              <a:sym typeface="Arial"/>
            </a:endParaRPr>
          </a:p>
        </p:txBody>
      </p:sp>
      <p:sp>
        <p:nvSpPr>
          <p:cNvPr id="356" name="Google Shape;356;p26"/>
          <p:cNvSpPr/>
          <p:nvPr/>
        </p:nvSpPr>
        <p:spPr>
          <a:xfrm>
            <a:off x="3028000" y="3802100"/>
            <a:ext cx="5507100" cy="10239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Cuando el proceso ejecuta sus última instrucción pasa al estado terminado. El sistema libera las estructuras que representan al proceso.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Bloque de Control de Procesos (PCB)</a:t>
            </a:r>
            <a:endParaRPr/>
          </a:p>
        </p:txBody>
      </p:sp>
      <p:sp>
        <p:nvSpPr>
          <p:cNvPr id="362" name="Google Shape;362;p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a:t>El SO mantiene toda la información sobre un proceso en una estructura de datos denominada </a:t>
            </a:r>
            <a:r>
              <a:rPr b="1" lang="es">
                <a:solidFill>
                  <a:srgbClr val="E06666"/>
                </a:solidFill>
              </a:rPr>
              <a:t>Bloque de Control de Procesos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La Creación de un proceso gatilla la generación de un PCB, el cual se mantiene hasta que el proceso termina.</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En el PCB se guarda toda la información necesaria para controlar al proceso, saber los recursos que utiliza y todo lo demás que influya en su ejecución.</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Bloque de Control de Procesos (PCB)</a:t>
            </a:r>
            <a:endParaRPr/>
          </a:p>
        </p:txBody>
      </p:sp>
      <p:sp>
        <p:nvSpPr>
          <p:cNvPr id="368" name="Google Shape;368;p28"/>
          <p:cNvSpPr txBox="1"/>
          <p:nvPr>
            <p:ph idx="1" type="body"/>
          </p:nvPr>
        </p:nvSpPr>
        <p:spPr>
          <a:xfrm>
            <a:off x="311700" y="1266325"/>
            <a:ext cx="8520600" cy="37398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s" sz="1860"/>
              <a:t>Algunos de los datos que posee esta estructura son:</a:t>
            </a:r>
            <a:endParaRPr sz="1860"/>
          </a:p>
          <a:p>
            <a:pPr indent="0" lvl="0" marL="0" rtl="0" algn="l">
              <a:lnSpc>
                <a:spcPct val="95000"/>
              </a:lnSpc>
              <a:spcBef>
                <a:spcPts val="1200"/>
              </a:spcBef>
              <a:spcAft>
                <a:spcPts val="0"/>
              </a:spcAft>
              <a:buSzPts val="770"/>
              <a:buNone/>
            </a:pPr>
            <a:r>
              <a:t/>
            </a:r>
            <a:endParaRPr sz="1560"/>
          </a:p>
          <a:p>
            <a:pPr indent="-346710" lvl="0" marL="457200" rtl="0" algn="l">
              <a:lnSpc>
                <a:spcPct val="95000"/>
              </a:lnSpc>
              <a:spcBef>
                <a:spcPts val="1200"/>
              </a:spcBef>
              <a:spcAft>
                <a:spcPts val="0"/>
              </a:spcAft>
              <a:buSzPts val="1860"/>
              <a:buChar char="●"/>
            </a:pPr>
            <a:r>
              <a:rPr lang="es" sz="1860"/>
              <a:t>El identificador único de proceso (pid)</a:t>
            </a:r>
            <a:endParaRPr sz="1860"/>
          </a:p>
          <a:p>
            <a:pPr indent="0" lvl="0" marL="457200" rtl="0" algn="l">
              <a:lnSpc>
                <a:spcPct val="95000"/>
              </a:lnSpc>
              <a:spcBef>
                <a:spcPts val="1200"/>
              </a:spcBef>
              <a:spcAft>
                <a:spcPts val="0"/>
              </a:spcAft>
              <a:buSzPts val="1800"/>
              <a:buNone/>
            </a:pPr>
            <a:r>
              <a:t/>
            </a:r>
            <a:endParaRPr sz="1860"/>
          </a:p>
          <a:p>
            <a:pPr indent="-346710" lvl="0" marL="457200" rtl="0" algn="l">
              <a:lnSpc>
                <a:spcPct val="95000"/>
              </a:lnSpc>
              <a:spcBef>
                <a:spcPts val="1200"/>
              </a:spcBef>
              <a:spcAft>
                <a:spcPts val="0"/>
              </a:spcAft>
              <a:buSzPts val="1860"/>
              <a:buChar char="●"/>
            </a:pPr>
            <a:r>
              <a:rPr lang="es" sz="1860"/>
              <a:t>El estado del proceso</a:t>
            </a:r>
            <a:endParaRPr sz="1860"/>
          </a:p>
          <a:p>
            <a:pPr indent="0" lvl="0" marL="457200" rtl="0" algn="l">
              <a:lnSpc>
                <a:spcPct val="95000"/>
              </a:lnSpc>
              <a:spcBef>
                <a:spcPts val="1200"/>
              </a:spcBef>
              <a:spcAft>
                <a:spcPts val="0"/>
              </a:spcAft>
              <a:buSzPts val="1800"/>
              <a:buNone/>
            </a:pPr>
            <a:r>
              <a:t/>
            </a:r>
            <a:endParaRPr sz="1860"/>
          </a:p>
          <a:p>
            <a:pPr indent="-346710" lvl="0" marL="457200" rtl="0" algn="l">
              <a:lnSpc>
                <a:spcPct val="95000"/>
              </a:lnSpc>
              <a:spcBef>
                <a:spcPts val="1200"/>
              </a:spcBef>
              <a:spcAft>
                <a:spcPts val="0"/>
              </a:spcAft>
              <a:buSzPts val="1860"/>
              <a:buChar char="●"/>
            </a:pPr>
            <a:r>
              <a:rPr lang="es" sz="1860"/>
              <a:t>procesador asignado, de lo contrario “indefinido”</a:t>
            </a:r>
            <a:endParaRPr sz="1860"/>
          </a:p>
          <a:p>
            <a:pPr indent="0" lvl="0" marL="457200" rtl="0" algn="l">
              <a:lnSpc>
                <a:spcPct val="95000"/>
              </a:lnSpc>
              <a:spcBef>
                <a:spcPts val="1200"/>
              </a:spcBef>
              <a:spcAft>
                <a:spcPts val="0"/>
              </a:spcAft>
              <a:buSzPts val="1800"/>
              <a:buNone/>
            </a:pPr>
            <a:r>
              <a:t/>
            </a:r>
            <a:endParaRPr sz="1860"/>
          </a:p>
          <a:p>
            <a:pPr indent="-346710" lvl="0" marL="457200" rtl="0" algn="l">
              <a:lnSpc>
                <a:spcPct val="95000"/>
              </a:lnSpc>
              <a:spcBef>
                <a:spcPts val="1200"/>
              </a:spcBef>
              <a:spcAft>
                <a:spcPts val="0"/>
              </a:spcAft>
              <a:buSzPts val="1860"/>
              <a:buChar char="●"/>
            </a:pPr>
            <a:r>
              <a:rPr lang="es" sz="1860"/>
              <a:t>La prioridad</a:t>
            </a:r>
            <a:endParaRPr sz="1860"/>
          </a:p>
          <a:p>
            <a:pPr indent="0" lvl="0" marL="457200" rtl="0" algn="l">
              <a:lnSpc>
                <a:spcPct val="95000"/>
              </a:lnSpc>
              <a:spcBef>
                <a:spcPts val="1200"/>
              </a:spcBef>
              <a:spcAft>
                <a:spcPts val="1200"/>
              </a:spcAft>
              <a:buSzPts val="1800"/>
              <a:buNone/>
            </a:pPr>
            <a:r>
              <a:t/>
            </a:r>
            <a:endParaRPr sz="186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Bloque de Control de Procesos (PCB)</a:t>
            </a:r>
            <a:endParaRPr/>
          </a:p>
        </p:txBody>
      </p:sp>
      <p:sp>
        <p:nvSpPr>
          <p:cNvPr id="374" name="Google Shape;374;p29"/>
          <p:cNvSpPr txBox="1"/>
          <p:nvPr>
            <p:ph idx="1" type="body"/>
          </p:nvPr>
        </p:nvSpPr>
        <p:spPr>
          <a:xfrm>
            <a:off x="0" y="1266325"/>
            <a:ext cx="9108300" cy="3739800"/>
          </a:xfrm>
          <a:prstGeom prst="rect">
            <a:avLst/>
          </a:prstGeom>
          <a:noFill/>
          <a:ln>
            <a:noFill/>
          </a:ln>
        </p:spPr>
        <p:txBody>
          <a:bodyPr anchorCtr="0" anchor="t" bIns="91425" lIns="91425" spcFirstLastPara="1" rIns="91425" wrap="square" tIns="91425">
            <a:normAutofit lnSpcReduction="20000"/>
          </a:bodyPr>
          <a:lstStyle/>
          <a:p>
            <a:pPr indent="-346710" lvl="0" marL="457200" rtl="0" algn="l">
              <a:lnSpc>
                <a:spcPct val="95000"/>
              </a:lnSpc>
              <a:spcBef>
                <a:spcPts val="0"/>
              </a:spcBef>
              <a:spcAft>
                <a:spcPts val="0"/>
              </a:spcAft>
              <a:buSzPts val="1860"/>
              <a:buChar char="●"/>
            </a:pPr>
            <a:r>
              <a:rPr lang="es" sz="1860"/>
              <a:t>Es estado de hardware (contador de programa, códigos, etc.)</a:t>
            </a:r>
            <a:endParaRPr sz="1860"/>
          </a:p>
          <a:p>
            <a:pPr indent="0" lvl="0" marL="0" rtl="0" algn="l">
              <a:lnSpc>
                <a:spcPct val="95000"/>
              </a:lnSpc>
              <a:spcBef>
                <a:spcPts val="1200"/>
              </a:spcBef>
              <a:spcAft>
                <a:spcPts val="0"/>
              </a:spcAft>
              <a:buSzPts val="1800"/>
              <a:buNone/>
            </a:pPr>
            <a:r>
              <a:t/>
            </a:r>
            <a:endParaRPr sz="1860"/>
          </a:p>
          <a:p>
            <a:pPr indent="-342900" lvl="0" marL="457200" rtl="0" algn="l">
              <a:lnSpc>
                <a:spcPct val="115000"/>
              </a:lnSpc>
              <a:spcBef>
                <a:spcPts val="1200"/>
              </a:spcBef>
              <a:spcAft>
                <a:spcPts val="0"/>
              </a:spcAft>
              <a:buSzPts val="1800"/>
              <a:buChar char="●"/>
            </a:pPr>
            <a:r>
              <a:rPr lang="es"/>
              <a:t>Información para gestionar la memoria(punteros, tablas, registros)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Información de estado de sistema de E/S (dispositivos, lista de archivos abiertos, etc)</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información de contabilidad y planificación (información requerida por el planificador, ej: tipo de planificación, fallos de páginas, consumo del procesador, memoria utilizada, etc)</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Bloque de Control de Procesos (PCB)</a:t>
            </a:r>
            <a:endParaRPr/>
          </a:p>
          <a:p>
            <a:pPr indent="0" lvl="0" marL="0" rtl="0" algn="l">
              <a:lnSpc>
                <a:spcPct val="100000"/>
              </a:lnSpc>
              <a:spcBef>
                <a:spcPts val="0"/>
              </a:spcBef>
              <a:spcAft>
                <a:spcPts val="0"/>
              </a:spcAft>
              <a:buSzPct val="111111"/>
              <a:buNone/>
            </a:pPr>
            <a:r>
              <a:t/>
            </a:r>
            <a:endParaRPr/>
          </a:p>
        </p:txBody>
      </p:sp>
      <p:sp>
        <p:nvSpPr>
          <p:cNvPr id="380" name="Google Shape;380;p30"/>
          <p:cNvSpPr txBox="1"/>
          <p:nvPr>
            <p:ph idx="1" type="body"/>
          </p:nvPr>
        </p:nvSpPr>
        <p:spPr>
          <a:xfrm>
            <a:off x="311700" y="1266325"/>
            <a:ext cx="8520600" cy="1700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Ancestro, que indica quien creo el proceso</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Descendientes, que es la lista de PCB de los hijos del proceso</a:t>
            </a:r>
            <a:endParaRPr/>
          </a:p>
        </p:txBody>
      </p:sp>
      <p:pic>
        <p:nvPicPr>
          <p:cNvPr id="381" name="Google Shape;381;p30"/>
          <p:cNvPicPr preferRelativeResize="0"/>
          <p:nvPr/>
        </p:nvPicPr>
        <p:blipFill rotWithShape="1">
          <a:blip r:embed="rId3">
            <a:alphaModFix/>
          </a:blip>
          <a:srcRect b="0" l="0" r="0" t="0"/>
          <a:stretch/>
        </p:blipFill>
        <p:spPr>
          <a:xfrm>
            <a:off x="2142650" y="2816075"/>
            <a:ext cx="4146709" cy="1871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Bloque de Control de Procesos (PCB)</a:t>
            </a:r>
            <a:endParaRPr/>
          </a:p>
        </p:txBody>
      </p:sp>
      <p:sp>
        <p:nvSpPr>
          <p:cNvPr id="387" name="Google Shape;387;p31"/>
          <p:cNvSpPr txBox="1"/>
          <p:nvPr>
            <p:ph idx="1" type="body"/>
          </p:nvPr>
        </p:nvSpPr>
        <p:spPr>
          <a:xfrm>
            <a:off x="311700" y="1266325"/>
            <a:ext cx="8520600" cy="3739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Ejemplos:</a:t>
            </a:r>
            <a:endParaRPr/>
          </a:p>
        </p:txBody>
      </p:sp>
      <p:pic>
        <p:nvPicPr>
          <p:cNvPr id="388" name="Google Shape;388;p31"/>
          <p:cNvPicPr preferRelativeResize="0"/>
          <p:nvPr/>
        </p:nvPicPr>
        <p:blipFill rotWithShape="1">
          <a:blip r:embed="rId3">
            <a:alphaModFix/>
          </a:blip>
          <a:srcRect b="0" l="0" r="0" t="0"/>
          <a:stretch/>
        </p:blipFill>
        <p:spPr>
          <a:xfrm>
            <a:off x="1039250" y="2199525"/>
            <a:ext cx="2765000" cy="2634425"/>
          </a:xfrm>
          <a:prstGeom prst="rect">
            <a:avLst/>
          </a:prstGeom>
          <a:noFill/>
          <a:ln>
            <a:noFill/>
          </a:ln>
        </p:spPr>
      </p:pic>
      <p:pic>
        <p:nvPicPr>
          <p:cNvPr id="389" name="Google Shape;389;p31"/>
          <p:cNvPicPr preferRelativeResize="0"/>
          <p:nvPr/>
        </p:nvPicPr>
        <p:blipFill rotWithShape="1">
          <a:blip r:embed="rId4">
            <a:alphaModFix/>
          </a:blip>
          <a:srcRect b="0" l="0" r="0" t="0"/>
          <a:stretch/>
        </p:blipFill>
        <p:spPr>
          <a:xfrm>
            <a:off x="4856320" y="1683520"/>
            <a:ext cx="2143560" cy="3063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Listas y colas de procesos</a:t>
            </a:r>
            <a:endParaRPr/>
          </a:p>
        </p:txBody>
      </p:sp>
      <p:sp>
        <p:nvSpPr>
          <p:cNvPr id="395" name="Google Shape;395;p32"/>
          <p:cNvSpPr txBox="1"/>
          <p:nvPr>
            <p:ph idx="1" type="body"/>
          </p:nvPr>
        </p:nvSpPr>
        <p:spPr>
          <a:xfrm>
            <a:off x="311700" y="1266325"/>
            <a:ext cx="8520600" cy="3742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sz="1900"/>
              <a:t>El SO mantiene listas de BCP por cada uno de los estados del sistema</a:t>
            </a:r>
            <a:endParaRPr sz="1900"/>
          </a:p>
          <a:p>
            <a:pPr indent="0" lvl="0" marL="0" rtl="0" algn="l">
              <a:lnSpc>
                <a:spcPct val="115000"/>
              </a:lnSpc>
              <a:spcBef>
                <a:spcPts val="1200"/>
              </a:spcBef>
              <a:spcAft>
                <a:spcPts val="0"/>
              </a:spcAft>
              <a:buSzPts val="1800"/>
              <a:buNone/>
            </a:pPr>
            <a:r>
              <a:t/>
            </a:r>
            <a:endParaRPr sz="1900"/>
          </a:p>
          <a:p>
            <a:pPr indent="0" lvl="0" marL="0" rtl="0" algn="l">
              <a:lnSpc>
                <a:spcPct val="115000"/>
              </a:lnSpc>
              <a:spcBef>
                <a:spcPts val="1200"/>
              </a:spcBef>
              <a:spcAft>
                <a:spcPts val="0"/>
              </a:spcAft>
              <a:buSzPts val="1800"/>
              <a:buNone/>
            </a:pPr>
            <a:r>
              <a:rPr lang="es" sz="1900"/>
              <a:t>El planificador es el encargado de mover los PCB entre las diferentes listas a medida que estos van pasado por los diferentes estados</a:t>
            </a:r>
            <a:endParaRPr sz="1900"/>
          </a:p>
          <a:p>
            <a:pPr indent="0" lvl="0" marL="0" rtl="0" algn="l">
              <a:lnSpc>
                <a:spcPct val="115000"/>
              </a:lnSpc>
              <a:spcBef>
                <a:spcPts val="1200"/>
              </a:spcBef>
              <a:spcAft>
                <a:spcPts val="0"/>
              </a:spcAft>
              <a:buSzPts val="1800"/>
              <a:buNone/>
            </a:pPr>
            <a:r>
              <a:t/>
            </a:r>
            <a:endParaRPr sz="1900"/>
          </a:p>
          <a:p>
            <a:pPr indent="-349250" lvl="0" marL="457200" rtl="0" algn="l">
              <a:lnSpc>
                <a:spcPct val="115000"/>
              </a:lnSpc>
              <a:spcBef>
                <a:spcPts val="1200"/>
              </a:spcBef>
              <a:spcAft>
                <a:spcPts val="0"/>
              </a:spcAft>
              <a:buSzPts val="1900"/>
              <a:buChar char="●"/>
            </a:pPr>
            <a:r>
              <a:rPr lang="es" sz="1900"/>
              <a:t>Lista de procesos del sistema (job queue): se mantiene una lista de todos los procesos del sistema. Al crearse un nuevo proceso se agrega el PCB a esta lista. Cuando el proceso termina su ejecución es borrado. </a:t>
            </a:r>
            <a:endParaRPr sz="1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Listas y colas de procesos</a:t>
            </a:r>
            <a:endParaRPr/>
          </a:p>
        </p:txBody>
      </p:sp>
      <p:sp>
        <p:nvSpPr>
          <p:cNvPr id="401" name="Google Shape;401;p33"/>
          <p:cNvSpPr txBox="1"/>
          <p:nvPr>
            <p:ph idx="1" type="body"/>
          </p:nvPr>
        </p:nvSpPr>
        <p:spPr>
          <a:xfrm>
            <a:off x="311700" y="1266325"/>
            <a:ext cx="8520600" cy="3682800"/>
          </a:xfrm>
          <a:prstGeom prst="rect">
            <a:avLst/>
          </a:prstGeom>
          <a:noFill/>
          <a:ln>
            <a:noFill/>
          </a:ln>
        </p:spPr>
        <p:txBody>
          <a:bodyPr anchorCtr="0" anchor="t" bIns="91425" lIns="91425" spcFirstLastPara="1" rIns="91425" wrap="square" tIns="91425">
            <a:normAutofit lnSpcReduction="20000"/>
          </a:bodyPr>
          <a:lstStyle/>
          <a:p>
            <a:pPr indent="-349250" lvl="0" marL="457200" rtl="0" algn="l">
              <a:lnSpc>
                <a:spcPct val="115000"/>
              </a:lnSpc>
              <a:spcBef>
                <a:spcPts val="0"/>
              </a:spcBef>
              <a:spcAft>
                <a:spcPts val="0"/>
              </a:spcAft>
              <a:buSzPts val="1900"/>
              <a:buChar char="●"/>
            </a:pPr>
            <a:r>
              <a:rPr lang="es" sz="1900"/>
              <a:t>Cola de procesos listos (ready queue): Esta cola se compondrá de los procesos que estén en estado listo. La estructura de esta cola dependerá de la estrategia de planificación utilizada. </a:t>
            </a:r>
            <a:endParaRPr sz="1900"/>
          </a:p>
          <a:p>
            <a:pPr indent="0" lvl="0" marL="457200" rtl="0" algn="l">
              <a:lnSpc>
                <a:spcPct val="115000"/>
              </a:lnSpc>
              <a:spcBef>
                <a:spcPts val="1200"/>
              </a:spcBef>
              <a:spcAft>
                <a:spcPts val="0"/>
              </a:spcAft>
              <a:buSzPts val="1800"/>
              <a:buNone/>
            </a:pPr>
            <a:r>
              <a:t/>
            </a:r>
            <a:endParaRPr/>
          </a:p>
          <a:p>
            <a:pPr indent="-349250" lvl="0" marL="457200" rtl="0" algn="l">
              <a:lnSpc>
                <a:spcPct val="115000"/>
              </a:lnSpc>
              <a:spcBef>
                <a:spcPts val="1200"/>
              </a:spcBef>
              <a:spcAft>
                <a:spcPts val="0"/>
              </a:spcAft>
              <a:buSzPts val="1900"/>
              <a:buChar char="●"/>
            </a:pPr>
            <a:r>
              <a:rPr lang="es"/>
              <a:t>Cola de espera de dispositivos (device queue): cada dispositivo tendrá una cola de procesos en en estado Waiting, esperando para poder utilizarlo</a:t>
            </a:r>
            <a:endParaRPr/>
          </a:p>
          <a:p>
            <a:pPr indent="0" lvl="0" marL="457200" rtl="0" algn="l">
              <a:lnSpc>
                <a:spcPct val="115000"/>
              </a:lnSpc>
              <a:spcBef>
                <a:spcPts val="1200"/>
              </a:spcBef>
              <a:spcAft>
                <a:spcPts val="0"/>
              </a:spcAft>
              <a:buSzPts val="1800"/>
              <a:buNone/>
            </a:pPr>
            <a:r>
              <a:t/>
            </a:r>
            <a:endParaRPr/>
          </a:p>
          <a:p>
            <a:pPr indent="-349250" lvl="0" marL="457200" rtl="0" algn="l">
              <a:lnSpc>
                <a:spcPct val="115000"/>
              </a:lnSpc>
              <a:spcBef>
                <a:spcPts val="1200"/>
              </a:spcBef>
              <a:spcAft>
                <a:spcPts val="0"/>
              </a:spcAft>
              <a:buSzPts val="1900"/>
              <a:buChar char="●"/>
            </a:pPr>
            <a:r>
              <a:rPr lang="es" sz="1900"/>
              <a:t>En el caso de computadores multiprocesador, el SO mantiene una lista de proceso activos o Running</a:t>
            </a:r>
            <a:endParaRPr sz="1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Listas y colas de procesos</a:t>
            </a:r>
            <a:endParaRPr/>
          </a:p>
        </p:txBody>
      </p:sp>
      <p:pic>
        <p:nvPicPr>
          <p:cNvPr id="407" name="Google Shape;407;p34"/>
          <p:cNvPicPr preferRelativeResize="0"/>
          <p:nvPr/>
        </p:nvPicPr>
        <p:blipFill rotWithShape="1">
          <a:blip r:embed="rId3">
            <a:alphaModFix/>
          </a:blip>
          <a:srcRect b="0" l="0" r="0" t="0"/>
          <a:stretch/>
        </p:blipFill>
        <p:spPr>
          <a:xfrm>
            <a:off x="1971350" y="1035050"/>
            <a:ext cx="5672351" cy="3957650"/>
          </a:xfrm>
          <a:prstGeom prst="rect">
            <a:avLst/>
          </a:prstGeom>
          <a:noFill/>
          <a:ln>
            <a:noFill/>
          </a:ln>
        </p:spPr>
      </p:pic>
      <p:sp>
        <p:nvSpPr>
          <p:cNvPr id="408" name="Google Shape;408;p34"/>
          <p:cNvSpPr/>
          <p:nvPr/>
        </p:nvSpPr>
        <p:spPr>
          <a:xfrm>
            <a:off x="1561775" y="3776275"/>
            <a:ext cx="366900" cy="204600"/>
          </a:xfrm>
          <a:prstGeom prst="rightArrow">
            <a:avLst>
              <a:gd fmla="val 50000" name="adj1"/>
              <a:gd fmla="val 50000" name="adj2"/>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4"/>
          <p:cNvSpPr txBox="1"/>
          <p:nvPr/>
        </p:nvSpPr>
        <p:spPr>
          <a:xfrm>
            <a:off x="162900" y="3507550"/>
            <a:ext cx="887100" cy="8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410" name="Google Shape;410;p34"/>
          <p:cNvSpPr/>
          <p:nvPr/>
        </p:nvSpPr>
        <p:spPr>
          <a:xfrm>
            <a:off x="77600" y="3336950"/>
            <a:ext cx="1441500" cy="12540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cada dispositivo tendría su propia cola</a:t>
            </a:r>
            <a:endParaRPr b="0" i="0" sz="1400" u="none" cap="none" strike="noStrike">
              <a:solidFill>
                <a:srgbClr val="000000"/>
              </a:solidFill>
              <a:latin typeface="Arial"/>
              <a:ea typeface="Arial"/>
              <a:cs typeface="Arial"/>
              <a:sym typeface="Arial"/>
            </a:endParaRPr>
          </a:p>
        </p:txBody>
      </p:sp>
      <p:sp>
        <p:nvSpPr>
          <p:cNvPr id="411" name="Google Shape;411;p34"/>
          <p:cNvSpPr txBox="1"/>
          <p:nvPr/>
        </p:nvSpPr>
        <p:spPr>
          <a:xfrm>
            <a:off x="4218775" y="4645600"/>
            <a:ext cx="1818300" cy="34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iniciado / terminado</a:t>
            </a:r>
            <a:endParaRPr b="0"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Cambio de contexto (context switch)</a:t>
            </a:r>
            <a:endParaRPr/>
          </a:p>
        </p:txBody>
      </p:sp>
      <p:sp>
        <p:nvSpPr>
          <p:cNvPr id="417" name="Google Shape;417;p3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El intercambio de un proceso por otro en el procesador se denomina cambio de contexto (context switch), lo cual implica las siguientes tareas</a:t>
            </a:r>
            <a:endParaRPr/>
          </a:p>
          <a:p>
            <a:pPr indent="0" lvl="0" marL="0" rtl="0" algn="l">
              <a:lnSpc>
                <a:spcPct val="115000"/>
              </a:lnSpc>
              <a:spcBef>
                <a:spcPts val="1200"/>
              </a:spcBef>
              <a:spcAft>
                <a:spcPts val="1200"/>
              </a:spcAft>
              <a:buSzPts val="1800"/>
              <a:buNone/>
            </a:pPr>
            <a:r>
              <a:t/>
            </a:r>
            <a:endParaRPr/>
          </a:p>
        </p:txBody>
      </p:sp>
      <p:sp>
        <p:nvSpPr>
          <p:cNvPr id="418" name="Google Shape;418;p35"/>
          <p:cNvSpPr/>
          <p:nvPr/>
        </p:nvSpPr>
        <p:spPr>
          <a:xfrm>
            <a:off x="158150" y="2697200"/>
            <a:ext cx="2201100" cy="19524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Salvar estado del proceso (A) que se que se está ejecutando en su PCB (program counter, registros, etc…)</a:t>
            </a:r>
            <a:endParaRPr b="0" i="0" sz="1400" u="none" cap="none" strike="noStrike">
              <a:solidFill>
                <a:srgbClr val="000000"/>
              </a:solidFill>
              <a:latin typeface="Arial"/>
              <a:ea typeface="Arial"/>
              <a:cs typeface="Arial"/>
              <a:sym typeface="Arial"/>
            </a:endParaRPr>
          </a:p>
        </p:txBody>
      </p:sp>
      <p:sp>
        <p:nvSpPr>
          <p:cNvPr id="419" name="Google Shape;419;p35"/>
          <p:cNvSpPr/>
          <p:nvPr/>
        </p:nvSpPr>
        <p:spPr>
          <a:xfrm>
            <a:off x="2736750" y="2714300"/>
            <a:ext cx="1813200" cy="1918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Cambiar el estado de proceso (A) que se está ejecutando, al nuevo estado</a:t>
            </a:r>
            <a:endParaRPr b="0" i="0" sz="1400" u="none" cap="none" strike="noStrike">
              <a:solidFill>
                <a:srgbClr val="000000"/>
              </a:solidFill>
              <a:latin typeface="Arial"/>
              <a:ea typeface="Arial"/>
              <a:cs typeface="Arial"/>
              <a:sym typeface="Arial"/>
            </a:endParaRPr>
          </a:p>
        </p:txBody>
      </p:sp>
      <p:sp>
        <p:nvSpPr>
          <p:cNvPr id="420" name="Google Shape;420;p35"/>
          <p:cNvSpPr/>
          <p:nvPr/>
        </p:nvSpPr>
        <p:spPr>
          <a:xfrm>
            <a:off x="4977875" y="2714300"/>
            <a:ext cx="1813200" cy="19182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Carga el nuevo proceso (B) al procesador</a:t>
            </a:r>
            <a:endParaRPr b="0" i="0" sz="1400" u="none" cap="none" strike="noStrike">
              <a:solidFill>
                <a:srgbClr val="000000"/>
              </a:solidFill>
              <a:latin typeface="Arial"/>
              <a:ea typeface="Arial"/>
              <a:cs typeface="Arial"/>
              <a:sym typeface="Arial"/>
            </a:endParaRPr>
          </a:p>
        </p:txBody>
      </p:sp>
      <p:sp>
        <p:nvSpPr>
          <p:cNvPr id="421" name="Google Shape;421;p35"/>
          <p:cNvSpPr/>
          <p:nvPr/>
        </p:nvSpPr>
        <p:spPr>
          <a:xfrm>
            <a:off x="7133750" y="2697200"/>
            <a:ext cx="1813200" cy="19524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Cambiar el estado del proceso (B) a Ejecutando (Running)</a:t>
            </a:r>
            <a:endParaRPr b="0" i="0" sz="1400" u="none" cap="none" strike="noStrike">
              <a:solidFill>
                <a:srgbClr val="000000"/>
              </a:solidFill>
              <a:latin typeface="Arial"/>
              <a:ea typeface="Arial"/>
              <a:cs typeface="Arial"/>
              <a:sym typeface="Arial"/>
            </a:endParaRPr>
          </a:p>
        </p:txBody>
      </p:sp>
      <p:sp>
        <p:nvSpPr>
          <p:cNvPr id="422" name="Google Shape;422;p35"/>
          <p:cNvSpPr/>
          <p:nvPr/>
        </p:nvSpPr>
        <p:spPr>
          <a:xfrm>
            <a:off x="2395275" y="3490475"/>
            <a:ext cx="305400" cy="264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5"/>
          <p:cNvSpPr/>
          <p:nvPr/>
        </p:nvSpPr>
        <p:spPr>
          <a:xfrm>
            <a:off x="4635188" y="3490475"/>
            <a:ext cx="305400" cy="264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35"/>
          <p:cNvSpPr/>
          <p:nvPr/>
        </p:nvSpPr>
        <p:spPr>
          <a:xfrm>
            <a:off x="6828338" y="3490475"/>
            <a:ext cx="305400" cy="264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5" name="Google Shape;425;p35"/>
          <p:cNvPicPr preferRelativeResize="0"/>
          <p:nvPr/>
        </p:nvPicPr>
        <p:blipFill rotWithShape="1">
          <a:blip r:embed="rId3">
            <a:alphaModFix/>
          </a:blip>
          <a:srcRect b="0" l="0" r="0" t="0"/>
          <a:stretch/>
        </p:blipFill>
        <p:spPr>
          <a:xfrm>
            <a:off x="6364025" y="351150"/>
            <a:ext cx="819400" cy="89514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Cambio de contexto (context switch)</a:t>
            </a:r>
            <a:endParaRPr/>
          </a:p>
        </p:txBody>
      </p:sp>
      <p:pic>
        <p:nvPicPr>
          <p:cNvPr id="431" name="Google Shape;431;p36"/>
          <p:cNvPicPr preferRelativeResize="0"/>
          <p:nvPr/>
        </p:nvPicPr>
        <p:blipFill rotWithShape="1">
          <a:blip r:embed="rId3">
            <a:alphaModFix/>
          </a:blip>
          <a:srcRect b="0" l="0" r="0" t="0"/>
          <a:stretch/>
        </p:blipFill>
        <p:spPr>
          <a:xfrm>
            <a:off x="6364025" y="351150"/>
            <a:ext cx="819400" cy="895143"/>
          </a:xfrm>
          <a:prstGeom prst="rect">
            <a:avLst/>
          </a:prstGeom>
          <a:noFill/>
          <a:ln>
            <a:noFill/>
          </a:ln>
        </p:spPr>
      </p:pic>
      <p:pic>
        <p:nvPicPr>
          <p:cNvPr id="432" name="Google Shape;432;p36"/>
          <p:cNvPicPr preferRelativeResize="0"/>
          <p:nvPr/>
        </p:nvPicPr>
        <p:blipFill rotWithShape="1">
          <a:blip r:embed="rId4">
            <a:alphaModFix/>
          </a:blip>
          <a:srcRect b="0" l="0" r="0" t="0"/>
          <a:stretch/>
        </p:blipFill>
        <p:spPr>
          <a:xfrm>
            <a:off x="1423375" y="1212175"/>
            <a:ext cx="4451350" cy="36862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Cooperación entre procesos</a:t>
            </a:r>
            <a:endParaRPr/>
          </a:p>
        </p:txBody>
      </p:sp>
      <p:sp>
        <p:nvSpPr>
          <p:cNvPr id="438" name="Google Shape;438;p37"/>
          <p:cNvSpPr txBox="1"/>
          <p:nvPr>
            <p:ph idx="1" type="body"/>
          </p:nvPr>
        </p:nvSpPr>
        <p:spPr>
          <a:xfrm>
            <a:off x="311700" y="1266325"/>
            <a:ext cx="8520600" cy="3657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s"/>
              <a:t>Cuando existe un entorno donde se ejecuten todo tipo de procesos concurrentes, puede producirse la necesidad o deseo de cooperar por un objetivo común</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rPr lang="es"/>
              <a:t>Bajo este escenario es que el sistema operativo provee un mecanismo llamado Inter-Process Communitaction (IPC), el cual permite llevar a cabo la comunicación y sincronización de procesos</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rPr lang="es"/>
              <a:t>Los dos principales enfoques son: </a:t>
            </a:r>
            <a:endParaRPr/>
          </a:p>
          <a:p>
            <a:pPr indent="-334327" lvl="0" marL="457200" rtl="0" algn="l">
              <a:lnSpc>
                <a:spcPct val="115000"/>
              </a:lnSpc>
              <a:spcBef>
                <a:spcPts val="1200"/>
              </a:spcBef>
              <a:spcAft>
                <a:spcPts val="0"/>
              </a:spcAft>
              <a:buSzPct val="100000"/>
              <a:buChar char="●"/>
            </a:pPr>
            <a:r>
              <a:rPr lang="es"/>
              <a:t>Memoria compartida</a:t>
            </a:r>
            <a:endParaRPr/>
          </a:p>
          <a:p>
            <a:pPr indent="-334327" lvl="0" marL="457200" rtl="0" algn="l">
              <a:lnSpc>
                <a:spcPct val="115000"/>
              </a:lnSpc>
              <a:spcBef>
                <a:spcPts val="0"/>
              </a:spcBef>
              <a:spcAft>
                <a:spcPts val="0"/>
              </a:spcAft>
              <a:buSzPct val="100000"/>
              <a:buChar char="●"/>
            </a:pPr>
            <a:r>
              <a:rPr lang="es"/>
              <a:t>Pasaje de mensajes</a:t>
            </a:r>
            <a:endParaRPr/>
          </a:p>
        </p:txBody>
      </p:sp>
      <p:pic>
        <p:nvPicPr>
          <p:cNvPr id="439" name="Google Shape;439;p37"/>
          <p:cNvPicPr preferRelativeResize="0"/>
          <p:nvPr/>
        </p:nvPicPr>
        <p:blipFill rotWithShape="1">
          <a:blip r:embed="rId3">
            <a:alphaModFix/>
          </a:blip>
          <a:srcRect b="0" l="0" r="0" t="0"/>
          <a:stretch/>
        </p:blipFill>
        <p:spPr>
          <a:xfrm>
            <a:off x="4792425" y="232075"/>
            <a:ext cx="3578850" cy="974725"/>
          </a:xfrm>
          <a:prstGeom prst="rect">
            <a:avLst/>
          </a:prstGeom>
          <a:noFill/>
          <a:ln>
            <a:noFill/>
          </a:ln>
        </p:spPr>
      </p:pic>
      <p:sp>
        <p:nvSpPr>
          <p:cNvPr id="440" name="Google Shape;440;p37"/>
          <p:cNvSpPr txBox="1"/>
          <p:nvPr/>
        </p:nvSpPr>
        <p:spPr>
          <a:xfrm>
            <a:off x="4595550" y="3888850"/>
            <a:ext cx="1056600" cy="3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archivos</a:t>
            </a:r>
            <a:endParaRPr b="0" i="0" sz="1200" u="none" cap="none" strike="noStrike">
              <a:solidFill>
                <a:srgbClr val="000000"/>
              </a:solidFill>
              <a:latin typeface="Open Sans"/>
              <a:ea typeface="Open Sans"/>
              <a:cs typeface="Open Sans"/>
              <a:sym typeface="Open Sans"/>
            </a:endParaRPr>
          </a:p>
        </p:txBody>
      </p:sp>
      <p:sp>
        <p:nvSpPr>
          <p:cNvPr id="441" name="Google Shape;441;p37"/>
          <p:cNvSpPr txBox="1"/>
          <p:nvPr/>
        </p:nvSpPr>
        <p:spPr>
          <a:xfrm>
            <a:off x="5403175" y="3274575"/>
            <a:ext cx="1056600" cy="3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mapeo de memoria</a:t>
            </a:r>
            <a:endParaRPr b="0" i="0" sz="1200" u="none" cap="none" strike="noStrike">
              <a:solidFill>
                <a:srgbClr val="000000"/>
              </a:solidFill>
              <a:latin typeface="Open Sans"/>
              <a:ea typeface="Open Sans"/>
              <a:cs typeface="Open Sans"/>
              <a:sym typeface="Open Sans"/>
            </a:endParaRPr>
          </a:p>
        </p:txBody>
      </p:sp>
      <p:sp>
        <p:nvSpPr>
          <p:cNvPr id="442" name="Google Shape;442;p37"/>
          <p:cNvSpPr txBox="1"/>
          <p:nvPr/>
        </p:nvSpPr>
        <p:spPr>
          <a:xfrm>
            <a:off x="5403175" y="4306575"/>
            <a:ext cx="1056600" cy="51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colas de mensajes</a:t>
            </a:r>
            <a:endParaRPr b="0" i="0" sz="1200" u="none" cap="none" strike="noStrike">
              <a:solidFill>
                <a:srgbClr val="000000"/>
              </a:solidFill>
              <a:latin typeface="Open Sans"/>
              <a:ea typeface="Open Sans"/>
              <a:cs typeface="Open Sans"/>
              <a:sym typeface="Open Sans"/>
            </a:endParaRPr>
          </a:p>
        </p:txBody>
      </p:sp>
      <p:sp>
        <p:nvSpPr>
          <p:cNvPr id="443" name="Google Shape;443;p37"/>
          <p:cNvSpPr txBox="1"/>
          <p:nvPr/>
        </p:nvSpPr>
        <p:spPr>
          <a:xfrm>
            <a:off x="6759550" y="3435175"/>
            <a:ext cx="735300" cy="3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socket</a:t>
            </a:r>
            <a:endParaRPr b="0" i="0" sz="1200" u="none" cap="none" strike="noStrike">
              <a:solidFill>
                <a:srgbClr val="000000"/>
              </a:solidFill>
              <a:latin typeface="Open Sans"/>
              <a:ea typeface="Open Sans"/>
              <a:cs typeface="Open Sans"/>
              <a:sym typeface="Open Sans"/>
            </a:endParaRPr>
          </a:p>
        </p:txBody>
      </p:sp>
      <p:sp>
        <p:nvSpPr>
          <p:cNvPr id="444" name="Google Shape;444;p37"/>
          <p:cNvSpPr txBox="1"/>
          <p:nvPr/>
        </p:nvSpPr>
        <p:spPr>
          <a:xfrm>
            <a:off x="5982875" y="3834700"/>
            <a:ext cx="1365900" cy="3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interrupciones</a:t>
            </a:r>
            <a:endParaRPr b="0" i="0" sz="1200" u="none" cap="none" strike="noStrike">
              <a:solidFill>
                <a:srgbClr val="000000"/>
              </a:solidFill>
              <a:latin typeface="Open Sans"/>
              <a:ea typeface="Open Sans"/>
              <a:cs typeface="Open Sans"/>
              <a:sym typeface="Open Sans"/>
            </a:endParaRPr>
          </a:p>
        </p:txBody>
      </p:sp>
      <p:sp>
        <p:nvSpPr>
          <p:cNvPr id="445" name="Google Shape;445;p37"/>
          <p:cNvSpPr txBox="1"/>
          <p:nvPr/>
        </p:nvSpPr>
        <p:spPr>
          <a:xfrm>
            <a:off x="7348775" y="4044475"/>
            <a:ext cx="1202700" cy="70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canal</a:t>
            </a:r>
            <a:r>
              <a:rPr b="0" i="0" lang="es" sz="1400" u="none" cap="none" strike="noStrike">
                <a:solidFill>
                  <a:srgbClr val="000000"/>
                </a:solidFill>
                <a:latin typeface="Open Sans"/>
                <a:ea typeface="Open Sans"/>
                <a:cs typeface="Open Sans"/>
                <a:sym typeface="Open Sans"/>
              </a:rPr>
              <a:t> </a:t>
            </a:r>
            <a:r>
              <a:rPr b="0" i="0" lang="es" sz="1200" u="none" cap="none" strike="noStrike">
                <a:solidFill>
                  <a:srgbClr val="000000"/>
                </a:solidFill>
                <a:latin typeface="Open Sans"/>
                <a:ea typeface="Open Sans"/>
                <a:cs typeface="Open Sans"/>
                <a:sym typeface="Open Sans"/>
              </a:rPr>
              <a:t>de comunicación etiquetado</a:t>
            </a:r>
            <a:endParaRPr b="0" i="0" sz="1200" u="none" cap="none" strike="noStrike">
              <a:solidFill>
                <a:srgbClr val="000000"/>
              </a:solidFill>
              <a:latin typeface="Open Sans"/>
              <a:ea typeface="Open Sans"/>
              <a:cs typeface="Open Sans"/>
              <a:sym typeface="Open Sans"/>
            </a:endParaRPr>
          </a:p>
        </p:txBody>
      </p:sp>
      <p:sp>
        <p:nvSpPr>
          <p:cNvPr id="446" name="Google Shape;446;p37"/>
          <p:cNvSpPr txBox="1"/>
          <p:nvPr/>
        </p:nvSpPr>
        <p:spPr>
          <a:xfrm>
            <a:off x="7639100" y="3348300"/>
            <a:ext cx="625800" cy="3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rgbClr val="000000"/>
                </a:solidFill>
                <a:latin typeface="Open Sans"/>
                <a:ea typeface="Open Sans"/>
                <a:cs typeface="Open Sans"/>
                <a:sym typeface="Open Sans"/>
              </a:rPr>
              <a:t>etc.</a:t>
            </a:r>
            <a:endParaRPr b="0" i="0" sz="1200" u="none" cap="none" strike="noStrike">
              <a:solidFill>
                <a:srgbClr val="000000"/>
              </a:solidFill>
              <a:latin typeface="Open Sans"/>
              <a:ea typeface="Open Sans"/>
              <a:cs typeface="Open Sans"/>
              <a:sym typeface="Open Sans"/>
            </a:endParaRPr>
          </a:p>
        </p:txBody>
      </p:sp>
      <p:sp>
        <p:nvSpPr>
          <p:cNvPr id="447" name="Google Shape;447;p37"/>
          <p:cNvSpPr/>
          <p:nvPr/>
        </p:nvSpPr>
        <p:spPr>
          <a:xfrm>
            <a:off x="4472708" y="3141994"/>
            <a:ext cx="4175675" cy="1829600"/>
          </a:xfrm>
          <a:custGeom>
            <a:rect b="b" l="l" r="r" t="t"/>
            <a:pathLst>
              <a:path extrusionOk="0" h="73184" w="167027">
                <a:moveTo>
                  <a:pt x="8517" y="53979"/>
                </a:moveTo>
                <a:cubicBezTo>
                  <a:pt x="5301" y="48615"/>
                  <a:pt x="-2141" y="42537"/>
                  <a:pt x="655" y="36943"/>
                </a:cubicBezTo>
                <a:cubicBezTo>
                  <a:pt x="3512" y="31226"/>
                  <a:pt x="12189" y="30978"/>
                  <a:pt x="16708" y="26459"/>
                </a:cubicBezTo>
                <a:cubicBezTo>
                  <a:pt x="19507" y="23660"/>
                  <a:pt x="19045" y="18653"/>
                  <a:pt x="21622" y="15648"/>
                </a:cubicBezTo>
                <a:cubicBezTo>
                  <a:pt x="23353" y="13629"/>
                  <a:pt x="26902" y="14436"/>
                  <a:pt x="29157" y="13027"/>
                </a:cubicBezTo>
                <a:cubicBezTo>
                  <a:pt x="34121" y="9925"/>
                  <a:pt x="37864" y="4850"/>
                  <a:pt x="43244" y="2544"/>
                </a:cubicBezTo>
                <a:cubicBezTo>
                  <a:pt x="49169" y="4"/>
                  <a:pt x="56269" y="4550"/>
                  <a:pt x="62573" y="3199"/>
                </a:cubicBezTo>
                <a:cubicBezTo>
                  <a:pt x="68825" y="1859"/>
                  <a:pt x="75427" y="-1177"/>
                  <a:pt x="81575" y="578"/>
                </a:cubicBezTo>
                <a:cubicBezTo>
                  <a:pt x="86329" y="1936"/>
                  <a:pt x="86807" y="10941"/>
                  <a:pt x="91731" y="11389"/>
                </a:cubicBezTo>
                <a:cubicBezTo>
                  <a:pt x="98857" y="12038"/>
                  <a:pt x="105517" y="7548"/>
                  <a:pt x="112370" y="5492"/>
                </a:cubicBezTo>
                <a:cubicBezTo>
                  <a:pt x="119495" y="3355"/>
                  <a:pt x="127387" y="2566"/>
                  <a:pt x="134648" y="4182"/>
                </a:cubicBezTo>
                <a:cubicBezTo>
                  <a:pt x="141047" y="5606"/>
                  <a:pt x="148001" y="3036"/>
                  <a:pt x="154305" y="4837"/>
                </a:cubicBezTo>
                <a:cubicBezTo>
                  <a:pt x="159989" y="6461"/>
                  <a:pt x="163539" y="15228"/>
                  <a:pt x="161840" y="20890"/>
                </a:cubicBezTo>
                <a:cubicBezTo>
                  <a:pt x="160080" y="26756"/>
                  <a:pt x="148718" y="28999"/>
                  <a:pt x="150046" y="34977"/>
                </a:cubicBezTo>
                <a:cubicBezTo>
                  <a:pt x="152233" y="44823"/>
                  <a:pt x="168941" y="50357"/>
                  <a:pt x="166754" y="60203"/>
                </a:cubicBezTo>
                <a:cubicBezTo>
                  <a:pt x="162183" y="80785"/>
                  <a:pt x="124199" y="65975"/>
                  <a:pt x="103525" y="61841"/>
                </a:cubicBezTo>
                <a:cubicBezTo>
                  <a:pt x="94787" y="60094"/>
                  <a:pt x="86834" y="68128"/>
                  <a:pt x="78299" y="70687"/>
                </a:cubicBezTo>
                <a:cubicBezTo>
                  <a:pt x="70869" y="72914"/>
                  <a:pt x="62747" y="69177"/>
                  <a:pt x="55038" y="70032"/>
                </a:cubicBezTo>
                <a:cubicBezTo>
                  <a:pt x="47701" y="70846"/>
                  <a:pt x="40425" y="73796"/>
                  <a:pt x="33088" y="72980"/>
                </a:cubicBezTo>
                <a:cubicBezTo>
                  <a:pt x="23764" y="71943"/>
                  <a:pt x="24211" y="53468"/>
                  <a:pt x="15070" y="51358"/>
                </a:cubicBezTo>
                <a:cubicBezTo>
                  <a:pt x="12461" y="50756"/>
                  <a:pt x="7207" y="50319"/>
                  <a:pt x="7207" y="52996"/>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Cooperación entre procesos</a:t>
            </a:r>
            <a:endParaRPr/>
          </a:p>
        </p:txBody>
      </p:sp>
      <p:sp>
        <p:nvSpPr>
          <p:cNvPr id="453" name="Google Shape;453;p38"/>
          <p:cNvSpPr txBox="1"/>
          <p:nvPr>
            <p:ph idx="1" type="body"/>
          </p:nvPr>
        </p:nvSpPr>
        <p:spPr>
          <a:xfrm>
            <a:off x="311700" y="1266325"/>
            <a:ext cx="8520600" cy="3657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Ejemplo: Memoria Compartida (Cajeros en un Banco)</a:t>
            </a:r>
            <a:endParaRPr/>
          </a:p>
        </p:txBody>
      </p:sp>
      <p:pic>
        <p:nvPicPr>
          <p:cNvPr id="454" name="Google Shape;454;p38"/>
          <p:cNvPicPr preferRelativeResize="0"/>
          <p:nvPr/>
        </p:nvPicPr>
        <p:blipFill rotWithShape="1">
          <a:blip r:embed="rId3">
            <a:alphaModFix/>
          </a:blip>
          <a:srcRect b="0" l="0" r="0" t="0"/>
          <a:stretch/>
        </p:blipFill>
        <p:spPr>
          <a:xfrm>
            <a:off x="4792425" y="232075"/>
            <a:ext cx="3578850" cy="974725"/>
          </a:xfrm>
          <a:prstGeom prst="rect">
            <a:avLst/>
          </a:prstGeom>
          <a:noFill/>
          <a:ln>
            <a:noFill/>
          </a:ln>
        </p:spPr>
      </p:pic>
      <p:pic>
        <p:nvPicPr>
          <p:cNvPr id="455" name="Google Shape;455;p38"/>
          <p:cNvPicPr preferRelativeResize="0"/>
          <p:nvPr/>
        </p:nvPicPr>
        <p:blipFill rotWithShape="1">
          <a:blip r:embed="rId4">
            <a:alphaModFix/>
          </a:blip>
          <a:srcRect b="0" l="0" r="0" t="0"/>
          <a:stretch/>
        </p:blipFill>
        <p:spPr>
          <a:xfrm>
            <a:off x="1317397" y="1708978"/>
            <a:ext cx="6357674" cy="3256000"/>
          </a:xfrm>
          <a:prstGeom prst="rect">
            <a:avLst/>
          </a:prstGeom>
          <a:noFill/>
          <a:ln>
            <a:noFill/>
          </a:ln>
        </p:spPr>
      </p:pic>
      <p:pic>
        <p:nvPicPr>
          <p:cNvPr id="456" name="Google Shape;456;p38"/>
          <p:cNvPicPr preferRelativeResize="0"/>
          <p:nvPr/>
        </p:nvPicPr>
        <p:blipFill>
          <a:blip r:embed="rId5">
            <a:alphaModFix/>
          </a:blip>
          <a:stretch>
            <a:fillRect/>
          </a:stretch>
        </p:blipFill>
        <p:spPr>
          <a:xfrm>
            <a:off x="3859550" y="3438100"/>
            <a:ext cx="605775" cy="830500"/>
          </a:xfrm>
          <a:prstGeom prst="rect">
            <a:avLst/>
          </a:prstGeom>
          <a:noFill/>
          <a:ln>
            <a:noFill/>
          </a:ln>
        </p:spPr>
      </p:pic>
      <p:pic>
        <p:nvPicPr>
          <p:cNvPr id="457" name="Google Shape;457;p38"/>
          <p:cNvPicPr preferRelativeResize="0"/>
          <p:nvPr/>
        </p:nvPicPr>
        <p:blipFill>
          <a:blip r:embed="rId5">
            <a:alphaModFix/>
          </a:blip>
          <a:stretch>
            <a:fillRect/>
          </a:stretch>
        </p:blipFill>
        <p:spPr>
          <a:xfrm>
            <a:off x="3036550" y="1708977"/>
            <a:ext cx="605775" cy="8304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Cooperación entre procesos</a:t>
            </a:r>
            <a:endParaRPr/>
          </a:p>
        </p:txBody>
      </p:sp>
      <p:sp>
        <p:nvSpPr>
          <p:cNvPr id="463" name="Google Shape;463;p39"/>
          <p:cNvSpPr txBox="1"/>
          <p:nvPr>
            <p:ph idx="1" type="body"/>
          </p:nvPr>
        </p:nvSpPr>
        <p:spPr>
          <a:xfrm>
            <a:off x="311700" y="1266325"/>
            <a:ext cx="8520600" cy="3657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Ejemplo: Pasaje de Mensajes (Llamada de Teléfono)</a:t>
            </a:r>
            <a:endParaRPr/>
          </a:p>
        </p:txBody>
      </p:sp>
      <p:pic>
        <p:nvPicPr>
          <p:cNvPr id="464" name="Google Shape;464;p39"/>
          <p:cNvPicPr preferRelativeResize="0"/>
          <p:nvPr/>
        </p:nvPicPr>
        <p:blipFill rotWithShape="1">
          <a:blip r:embed="rId3">
            <a:alphaModFix/>
          </a:blip>
          <a:srcRect b="0" l="0" r="0" t="0"/>
          <a:stretch/>
        </p:blipFill>
        <p:spPr>
          <a:xfrm>
            <a:off x="4792425" y="232075"/>
            <a:ext cx="3578850" cy="974725"/>
          </a:xfrm>
          <a:prstGeom prst="rect">
            <a:avLst/>
          </a:prstGeom>
          <a:noFill/>
          <a:ln>
            <a:noFill/>
          </a:ln>
        </p:spPr>
      </p:pic>
      <p:pic>
        <p:nvPicPr>
          <p:cNvPr id="465" name="Google Shape;465;p39"/>
          <p:cNvPicPr preferRelativeResize="0"/>
          <p:nvPr/>
        </p:nvPicPr>
        <p:blipFill rotWithShape="1">
          <a:blip r:embed="rId4">
            <a:alphaModFix/>
          </a:blip>
          <a:srcRect b="0" l="0" r="0" t="0"/>
          <a:stretch/>
        </p:blipFill>
        <p:spPr>
          <a:xfrm>
            <a:off x="1187088" y="1858988"/>
            <a:ext cx="6124575" cy="3171825"/>
          </a:xfrm>
          <a:prstGeom prst="rect">
            <a:avLst/>
          </a:prstGeom>
          <a:noFill/>
          <a:ln>
            <a:noFill/>
          </a:ln>
        </p:spPr>
      </p:pic>
      <p:sp>
        <p:nvSpPr>
          <p:cNvPr id="466" name="Google Shape;466;p39"/>
          <p:cNvSpPr txBox="1"/>
          <p:nvPr/>
        </p:nvSpPr>
        <p:spPr>
          <a:xfrm>
            <a:off x="1911525" y="4070500"/>
            <a:ext cx="835800" cy="46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E06666"/>
                </a:solidFill>
                <a:latin typeface="Open Sans"/>
                <a:ea typeface="Open Sans"/>
                <a:cs typeface="Open Sans"/>
                <a:sym typeface="Open Sans"/>
              </a:rPr>
              <a:t>Origen</a:t>
            </a:r>
            <a:endParaRPr b="1" i="0" sz="1400" u="none" cap="none" strike="noStrike">
              <a:solidFill>
                <a:srgbClr val="E06666"/>
              </a:solidFill>
              <a:latin typeface="Open Sans"/>
              <a:ea typeface="Open Sans"/>
              <a:cs typeface="Open Sans"/>
              <a:sym typeface="Open Sans"/>
            </a:endParaRPr>
          </a:p>
        </p:txBody>
      </p:sp>
      <p:sp>
        <p:nvSpPr>
          <p:cNvPr id="467" name="Google Shape;467;p39"/>
          <p:cNvSpPr txBox="1"/>
          <p:nvPr/>
        </p:nvSpPr>
        <p:spPr>
          <a:xfrm>
            <a:off x="7164775" y="3395500"/>
            <a:ext cx="948000" cy="46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E06666"/>
                </a:solidFill>
                <a:latin typeface="Open Sans"/>
                <a:ea typeface="Open Sans"/>
                <a:cs typeface="Open Sans"/>
                <a:sym typeface="Open Sans"/>
              </a:rPr>
              <a:t>Destino</a:t>
            </a:r>
            <a:endParaRPr b="1" i="0" sz="1400" u="none" cap="none" strike="noStrike">
              <a:solidFill>
                <a:srgbClr val="E06666"/>
              </a:solidFill>
              <a:latin typeface="Open Sans"/>
              <a:ea typeface="Open Sans"/>
              <a:cs typeface="Open Sans"/>
              <a:sym typeface="Open Sans"/>
            </a:endParaRPr>
          </a:p>
        </p:txBody>
      </p:sp>
      <p:pic>
        <p:nvPicPr>
          <p:cNvPr id="468" name="Google Shape;468;p39"/>
          <p:cNvPicPr preferRelativeResize="0"/>
          <p:nvPr/>
        </p:nvPicPr>
        <p:blipFill rotWithShape="1">
          <a:blip r:embed="rId5">
            <a:alphaModFix/>
          </a:blip>
          <a:srcRect b="0" l="0" r="0" t="0"/>
          <a:stretch/>
        </p:blipFill>
        <p:spPr>
          <a:xfrm>
            <a:off x="2826996" y="2106675"/>
            <a:ext cx="398100" cy="279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2" name="Shape 472"/>
        <p:cNvGrpSpPr/>
        <p:nvPr/>
      </p:nvGrpSpPr>
      <p:grpSpPr>
        <a:xfrm>
          <a:off x="0" y="0"/>
          <a:ext cx="0" cy="0"/>
          <a:chOff x="0" y="0"/>
          <a:chExt cx="0" cy="0"/>
        </a:xfrm>
      </p:grpSpPr>
      <p:sp>
        <p:nvSpPr>
          <p:cNvPr id="473" name="Google Shape;473;p4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Hilos (Threads)</a:t>
            </a:r>
            <a:endParaRPr/>
          </a:p>
        </p:txBody>
      </p:sp>
      <p:sp>
        <p:nvSpPr>
          <p:cNvPr id="474" name="Google Shape;474;p40"/>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s"/>
              <a:t>Es la unidad básica de ejecución utilizada por la CPU, la cual contiene un conjunto de recursos asociados (program counter, un conjunto de registros, espacio de stack y su prioridad)</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Un proceso está compuesto por uno o más threads y un thread solo puede pertenecer a un solo proceso</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Un proceso comparte código, datos y recursos con sus threads</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Hilos (Threads)</a:t>
            </a:r>
            <a:endParaRPr/>
          </a:p>
        </p:txBody>
      </p:sp>
      <p:sp>
        <p:nvSpPr>
          <p:cNvPr id="480" name="Google Shape;480;p41"/>
          <p:cNvSpPr txBox="1"/>
          <p:nvPr>
            <p:ph idx="1" type="body"/>
          </p:nvPr>
        </p:nvSpPr>
        <p:spPr>
          <a:xfrm>
            <a:off x="311700" y="1266325"/>
            <a:ext cx="8520600" cy="537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t>Ventajas</a:t>
            </a:r>
            <a:r>
              <a:rPr lang="es"/>
              <a:t>									    </a:t>
            </a:r>
            <a:r>
              <a:rPr b="1" lang="es"/>
              <a:t>Desventajas</a:t>
            </a:r>
            <a:endParaRPr b="1"/>
          </a:p>
        </p:txBody>
      </p:sp>
      <p:cxnSp>
        <p:nvCxnSpPr>
          <p:cNvPr id="481" name="Google Shape;481;p41"/>
          <p:cNvCxnSpPr/>
          <p:nvPr/>
        </p:nvCxnSpPr>
        <p:spPr>
          <a:xfrm>
            <a:off x="5014275" y="1201550"/>
            <a:ext cx="48000" cy="3771600"/>
          </a:xfrm>
          <a:prstGeom prst="straightConnector1">
            <a:avLst/>
          </a:prstGeom>
          <a:noFill/>
          <a:ln cap="flat" cmpd="sng" w="9525">
            <a:solidFill>
              <a:schemeClr val="dk2"/>
            </a:solidFill>
            <a:prstDash val="solid"/>
            <a:round/>
            <a:headEnd len="sm" w="sm" type="none"/>
            <a:tailEnd len="sm" w="sm" type="none"/>
          </a:ln>
        </p:spPr>
      </p:cxnSp>
      <p:sp>
        <p:nvSpPr>
          <p:cNvPr id="482" name="Google Shape;482;p41"/>
          <p:cNvSpPr txBox="1"/>
          <p:nvPr/>
        </p:nvSpPr>
        <p:spPr>
          <a:xfrm>
            <a:off x="5332675" y="1950975"/>
            <a:ext cx="3499500" cy="70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Difícil de programar, es fácil cometer errores lógicos, ya que se comparte el espacio de direcciones</a:t>
            </a:r>
            <a:endParaRPr b="0" i="0" sz="1400" u="none" cap="none" strike="noStrike">
              <a:solidFill>
                <a:srgbClr val="000000"/>
              </a:solidFill>
              <a:latin typeface="Open Sans"/>
              <a:ea typeface="Open Sans"/>
              <a:cs typeface="Open Sans"/>
              <a:sym typeface="Open Sans"/>
            </a:endParaRPr>
          </a:p>
        </p:txBody>
      </p:sp>
      <p:sp>
        <p:nvSpPr>
          <p:cNvPr id="483" name="Google Shape;483;p41"/>
          <p:cNvSpPr txBox="1"/>
          <p:nvPr/>
        </p:nvSpPr>
        <p:spPr>
          <a:xfrm>
            <a:off x="2957400" y="1917525"/>
            <a:ext cx="1907400" cy="1080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Respuesta, permite implementar sistemas más rápidos</a:t>
            </a:r>
            <a:endParaRPr b="0" i="0" sz="1400" u="none" cap="none" strike="noStrike">
              <a:solidFill>
                <a:srgbClr val="000000"/>
              </a:solidFill>
              <a:latin typeface="Open Sans"/>
              <a:ea typeface="Open Sans"/>
              <a:cs typeface="Open Sans"/>
              <a:sym typeface="Open Sans"/>
            </a:endParaRPr>
          </a:p>
        </p:txBody>
      </p:sp>
      <p:sp>
        <p:nvSpPr>
          <p:cNvPr id="484" name="Google Shape;484;p41"/>
          <p:cNvSpPr txBox="1"/>
          <p:nvPr/>
        </p:nvSpPr>
        <p:spPr>
          <a:xfrm>
            <a:off x="210550" y="1916625"/>
            <a:ext cx="2588100" cy="1080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Comparte recursos, por ende no es necesario utilizar mecanismos externos para comunicar o sincronizarse como el IPC</a:t>
            </a:r>
            <a:endParaRPr b="0" i="0" sz="1400" u="none" cap="none" strike="noStrike">
              <a:solidFill>
                <a:srgbClr val="000000"/>
              </a:solidFill>
              <a:latin typeface="Open Sans"/>
              <a:ea typeface="Open Sans"/>
              <a:cs typeface="Open Sans"/>
              <a:sym typeface="Open Sans"/>
            </a:endParaRPr>
          </a:p>
        </p:txBody>
      </p:sp>
      <p:sp>
        <p:nvSpPr>
          <p:cNvPr id="485" name="Google Shape;485;p41"/>
          <p:cNvSpPr txBox="1"/>
          <p:nvPr/>
        </p:nvSpPr>
        <p:spPr>
          <a:xfrm>
            <a:off x="187450" y="3618275"/>
            <a:ext cx="2634300" cy="132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Utiliza la arquitectura multiprocesador, por ende aprovecha mejor los recursos de procesamiento al ejecutar un proceso paralelo</a:t>
            </a:r>
            <a:endParaRPr b="0" i="0" sz="1400" u="none" cap="none" strike="noStrike">
              <a:solidFill>
                <a:srgbClr val="000000"/>
              </a:solidFill>
              <a:latin typeface="Open Sans"/>
              <a:ea typeface="Open Sans"/>
              <a:cs typeface="Open Sans"/>
              <a:sym typeface="Open Sans"/>
            </a:endParaRPr>
          </a:p>
        </p:txBody>
      </p:sp>
      <p:sp>
        <p:nvSpPr>
          <p:cNvPr id="486" name="Google Shape;486;p41"/>
          <p:cNvSpPr txBox="1"/>
          <p:nvPr/>
        </p:nvSpPr>
        <p:spPr>
          <a:xfrm>
            <a:off x="3002025" y="3313000"/>
            <a:ext cx="1907400" cy="1080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Más liviano para el SO crear un thread que un proceso</a:t>
            </a:r>
            <a:endParaRPr b="0" i="0" sz="1400" u="none" cap="none" strike="noStrike">
              <a:solidFill>
                <a:srgbClr val="000000"/>
              </a:solidFill>
              <a:latin typeface="Open Sans"/>
              <a:ea typeface="Open Sans"/>
              <a:cs typeface="Open Sans"/>
              <a:sym typeface="Open Sans"/>
            </a:endParaRPr>
          </a:p>
        </p:txBody>
      </p:sp>
      <p:sp>
        <p:nvSpPr>
          <p:cNvPr id="487" name="Google Shape;487;p41"/>
          <p:cNvSpPr/>
          <p:nvPr/>
        </p:nvSpPr>
        <p:spPr>
          <a:xfrm>
            <a:off x="210550" y="1803300"/>
            <a:ext cx="2720177" cy="1489312"/>
          </a:xfrm>
          <a:custGeom>
            <a:rect b="b" l="l" r="r" t="t"/>
            <a:pathLst>
              <a:path extrusionOk="0" h="58273" w="108352">
                <a:moveTo>
                  <a:pt x="82231" y="45559"/>
                </a:moveTo>
                <a:cubicBezTo>
                  <a:pt x="76174" y="50403"/>
                  <a:pt x="70252" y="56913"/>
                  <a:pt x="62574" y="58008"/>
                </a:cubicBezTo>
                <a:cubicBezTo>
                  <a:pt x="51802" y="59544"/>
                  <a:pt x="41265" y="53463"/>
                  <a:pt x="30468" y="52111"/>
                </a:cubicBezTo>
                <a:cubicBezTo>
                  <a:pt x="21579" y="50998"/>
                  <a:pt x="11613" y="52462"/>
                  <a:pt x="3932" y="47852"/>
                </a:cubicBezTo>
                <a:cubicBezTo>
                  <a:pt x="111" y="45559"/>
                  <a:pt x="0" y="39531"/>
                  <a:pt x="0" y="35075"/>
                </a:cubicBezTo>
                <a:cubicBezTo>
                  <a:pt x="0" y="27622"/>
                  <a:pt x="562" y="19596"/>
                  <a:pt x="4259" y="13125"/>
                </a:cubicBezTo>
                <a:cubicBezTo>
                  <a:pt x="6344" y="9476"/>
                  <a:pt x="12754" y="10856"/>
                  <a:pt x="15726" y="7884"/>
                </a:cubicBezTo>
                <a:cubicBezTo>
                  <a:pt x="19628" y="3982"/>
                  <a:pt x="25232" y="-1395"/>
                  <a:pt x="30468" y="349"/>
                </a:cubicBezTo>
                <a:cubicBezTo>
                  <a:pt x="37706" y="2760"/>
                  <a:pt x="45117" y="5590"/>
                  <a:pt x="52746" y="5590"/>
                </a:cubicBezTo>
                <a:cubicBezTo>
                  <a:pt x="62494" y="5590"/>
                  <a:pt x="71887" y="-402"/>
                  <a:pt x="81575" y="676"/>
                </a:cubicBezTo>
                <a:cubicBezTo>
                  <a:pt x="86453" y="1219"/>
                  <a:pt x="89513" y="6607"/>
                  <a:pt x="94025" y="8539"/>
                </a:cubicBezTo>
                <a:cubicBezTo>
                  <a:pt x="97045" y="9832"/>
                  <a:pt x="101473" y="8595"/>
                  <a:pt x="103525" y="11160"/>
                </a:cubicBezTo>
                <a:cubicBezTo>
                  <a:pt x="109466" y="18587"/>
                  <a:pt x="109876" y="31597"/>
                  <a:pt x="104836" y="39662"/>
                </a:cubicBezTo>
                <a:cubicBezTo>
                  <a:pt x="100805" y="46111"/>
                  <a:pt x="88260" y="40505"/>
                  <a:pt x="82886" y="45887"/>
                </a:cubicBezTo>
              </a:path>
            </a:pathLst>
          </a:custGeom>
          <a:no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1"/>
          <p:cNvSpPr/>
          <p:nvPr/>
        </p:nvSpPr>
        <p:spPr>
          <a:xfrm>
            <a:off x="2995169" y="1803310"/>
            <a:ext cx="1874575" cy="1331200"/>
          </a:xfrm>
          <a:custGeom>
            <a:rect b="b" l="l" r="r" t="t"/>
            <a:pathLst>
              <a:path extrusionOk="0" h="53248" w="74983">
                <a:moveTo>
                  <a:pt x="27322" y="52756"/>
                </a:moveTo>
                <a:cubicBezTo>
                  <a:pt x="25830" y="48778"/>
                  <a:pt x="25396" y="43476"/>
                  <a:pt x="21753" y="41290"/>
                </a:cubicBezTo>
                <a:cubicBezTo>
                  <a:pt x="18319" y="39229"/>
                  <a:pt x="13506" y="39125"/>
                  <a:pt x="10942" y="36048"/>
                </a:cubicBezTo>
                <a:cubicBezTo>
                  <a:pt x="7416" y="31815"/>
                  <a:pt x="9845" y="24719"/>
                  <a:pt x="7010" y="19995"/>
                </a:cubicBezTo>
                <a:cubicBezTo>
                  <a:pt x="4109" y="15161"/>
                  <a:pt x="-2115" y="9103"/>
                  <a:pt x="786" y="4269"/>
                </a:cubicBezTo>
                <a:cubicBezTo>
                  <a:pt x="6350" y="-5003"/>
                  <a:pt x="22406" y="4925"/>
                  <a:pt x="33219" y="4925"/>
                </a:cubicBezTo>
                <a:cubicBezTo>
                  <a:pt x="46226" y="4925"/>
                  <a:pt x="62050" y="-4841"/>
                  <a:pt x="72205" y="3287"/>
                </a:cubicBezTo>
                <a:cubicBezTo>
                  <a:pt x="75124" y="5623"/>
                  <a:pt x="75909" y="11554"/>
                  <a:pt x="73515" y="14425"/>
                </a:cubicBezTo>
                <a:cubicBezTo>
                  <a:pt x="71701" y="16601"/>
                  <a:pt x="67437" y="15927"/>
                  <a:pt x="65980" y="18357"/>
                </a:cubicBezTo>
                <a:cubicBezTo>
                  <a:pt x="62364" y="24386"/>
                  <a:pt x="71760" y="33219"/>
                  <a:pt x="68274" y="39324"/>
                </a:cubicBezTo>
                <a:cubicBezTo>
                  <a:pt x="65566" y="44066"/>
                  <a:pt x="56963" y="39890"/>
                  <a:pt x="52221" y="42600"/>
                </a:cubicBezTo>
                <a:cubicBezTo>
                  <a:pt x="47644" y="45216"/>
                  <a:pt x="45053" y="50954"/>
                  <a:pt x="40099" y="52756"/>
                </a:cubicBezTo>
                <a:cubicBezTo>
                  <a:pt x="35668" y="54368"/>
                  <a:pt x="30813" y="50968"/>
                  <a:pt x="26339" y="49480"/>
                </a:cubicBezTo>
              </a:path>
            </a:pathLst>
          </a:custGeom>
          <a:noFill/>
          <a:ln cap="flat" cmpd="sng" w="9525">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1"/>
          <p:cNvSpPr/>
          <p:nvPr/>
        </p:nvSpPr>
        <p:spPr>
          <a:xfrm>
            <a:off x="51933" y="3408671"/>
            <a:ext cx="2895900" cy="1581225"/>
          </a:xfrm>
          <a:custGeom>
            <a:rect b="b" l="l" r="r" t="t"/>
            <a:pathLst>
              <a:path extrusionOk="0" h="63249" w="115836">
                <a:moveTo>
                  <a:pt x="59546" y="8525"/>
                </a:moveTo>
                <a:cubicBezTo>
                  <a:pt x="46112" y="5840"/>
                  <a:pt x="30815" y="-4499"/>
                  <a:pt x="18922" y="2301"/>
                </a:cubicBezTo>
                <a:cubicBezTo>
                  <a:pt x="12223" y="6131"/>
                  <a:pt x="10557" y="15520"/>
                  <a:pt x="8438" y="22940"/>
                </a:cubicBezTo>
                <a:cubicBezTo>
                  <a:pt x="7182" y="27338"/>
                  <a:pt x="2348" y="30068"/>
                  <a:pt x="903" y="34407"/>
                </a:cubicBezTo>
                <a:cubicBezTo>
                  <a:pt x="-732" y="39316"/>
                  <a:pt x="-2" y="45499"/>
                  <a:pt x="2869" y="49804"/>
                </a:cubicBezTo>
                <a:cubicBezTo>
                  <a:pt x="6822" y="55733"/>
                  <a:pt x="16454" y="54368"/>
                  <a:pt x="23508" y="55374"/>
                </a:cubicBezTo>
                <a:cubicBezTo>
                  <a:pt x="29754" y="56265"/>
                  <a:pt x="34649" y="61871"/>
                  <a:pt x="40872" y="62909"/>
                </a:cubicBezTo>
                <a:cubicBezTo>
                  <a:pt x="49022" y="64269"/>
                  <a:pt x="57180" y="59633"/>
                  <a:pt x="65443" y="59633"/>
                </a:cubicBezTo>
                <a:cubicBezTo>
                  <a:pt x="75636" y="59633"/>
                  <a:pt x="85819" y="63692"/>
                  <a:pt x="95910" y="62253"/>
                </a:cubicBezTo>
                <a:cubicBezTo>
                  <a:pt x="100589" y="61586"/>
                  <a:pt x="103380" y="56422"/>
                  <a:pt x="106722" y="53080"/>
                </a:cubicBezTo>
                <a:cubicBezTo>
                  <a:pt x="109303" y="50499"/>
                  <a:pt x="113958" y="49618"/>
                  <a:pt x="115240" y="46201"/>
                </a:cubicBezTo>
                <a:cubicBezTo>
                  <a:pt x="117454" y="40299"/>
                  <a:pt x="112646" y="33835"/>
                  <a:pt x="110653" y="27854"/>
                </a:cubicBezTo>
                <a:cubicBezTo>
                  <a:pt x="109582" y="24641"/>
                  <a:pt x="110881" y="21039"/>
                  <a:pt x="110325" y="17698"/>
                </a:cubicBezTo>
                <a:cubicBezTo>
                  <a:pt x="109354" y="11859"/>
                  <a:pt x="104902" y="6061"/>
                  <a:pt x="99514" y="3611"/>
                </a:cubicBezTo>
                <a:cubicBezTo>
                  <a:pt x="92736" y="530"/>
                  <a:pt x="83896" y="-1358"/>
                  <a:pt x="77237" y="1973"/>
                </a:cubicBezTo>
                <a:cubicBezTo>
                  <a:pt x="71669" y="4758"/>
                  <a:pt x="65054" y="12305"/>
                  <a:pt x="59873" y="8853"/>
                </a:cubicBezTo>
              </a:path>
            </a:pathLst>
          </a:custGeom>
          <a:noFill/>
          <a:ln cap="flat" cmpd="sng" w="9525">
            <a:solidFill>
              <a:srgbClr val="4A86E8"/>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1"/>
          <p:cNvSpPr/>
          <p:nvPr/>
        </p:nvSpPr>
        <p:spPr>
          <a:xfrm>
            <a:off x="2945121" y="3114112"/>
            <a:ext cx="2056650" cy="1261150"/>
          </a:xfrm>
          <a:custGeom>
            <a:rect b="b" l="l" r="r" t="t"/>
            <a:pathLst>
              <a:path extrusionOk="0" h="50446" w="82266">
                <a:moveTo>
                  <a:pt x="46032" y="6549"/>
                </a:moveTo>
                <a:cubicBezTo>
                  <a:pt x="40518" y="5760"/>
                  <a:pt x="34819" y="7137"/>
                  <a:pt x="29324" y="6221"/>
                </a:cubicBezTo>
                <a:cubicBezTo>
                  <a:pt x="20038" y="4674"/>
                  <a:pt x="6373" y="355"/>
                  <a:pt x="1150" y="8187"/>
                </a:cubicBezTo>
                <a:cubicBezTo>
                  <a:pt x="-2587" y="13791"/>
                  <a:pt x="4033" y="21492"/>
                  <a:pt x="7047" y="27516"/>
                </a:cubicBezTo>
                <a:cubicBezTo>
                  <a:pt x="10188" y="33795"/>
                  <a:pt x="7222" y="43334"/>
                  <a:pt x="12616" y="47828"/>
                </a:cubicBezTo>
                <a:cubicBezTo>
                  <a:pt x="19347" y="53436"/>
                  <a:pt x="30132" y="46950"/>
                  <a:pt x="38825" y="45862"/>
                </a:cubicBezTo>
                <a:cubicBezTo>
                  <a:pt x="48112" y="44700"/>
                  <a:pt x="58069" y="53154"/>
                  <a:pt x="66672" y="49466"/>
                </a:cubicBezTo>
                <a:cubicBezTo>
                  <a:pt x="70291" y="47915"/>
                  <a:pt x="71199" y="43014"/>
                  <a:pt x="73224" y="39637"/>
                </a:cubicBezTo>
                <a:cubicBezTo>
                  <a:pt x="75052" y="36588"/>
                  <a:pt x="78811" y="35162"/>
                  <a:pt x="81087" y="32430"/>
                </a:cubicBezTo>
                <a:cubicBezTo>
                  <a:pt x="84514" y="28316"/>
                  <a:pt x="79504" y="21784"/>
                  <a:pt x="77811" y="16704"/>
                </a:cubicBezTo>
                <a:cubicBezTo>
                  <a:pt x="76482" y="12718"/>
                  <a:pt x="78815" y="7226"/>
                  <a:pt x="75845" y="4255"/>
                </a:cubicBezTo>
                <a:cubicBezTo>
                  <a:pt x="68716" y="-2877"/>
                  <a:pt x="52836" y="-255"/>
                  <a:pt x="45705" y="6876"/>
                </a:cubicBezTo>
              </a:path>
            </a:pathLst>
          </a:custGeom>
          <a:noFill/>
          <a:ln cap="flat" cmpd="sng" w="9525">
            <a:solidFill>
              <a:srgbClr val="93C47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1"/>
          <p:cNvSpPr/>
          <p:nvPr/>
        </p:nvSpPr>
        <p:spPr>
          <a:xfrm>
            <a:off x="5257841" y="1798731"/>
            <a:ext cx="3655675" cy="1012000"/>
          </a:xfrm>
          <a:custGeom>
            <a:rect b="b" l="l" r="r" t="t"/>
            <a:pathLst>
              <a:path extrusionOk="0" h="40480" w="146227">
                <a:moveTo>
                  <a:pt x="89810" y="27713"/>
                </a:moveTo>
                <a:cubicBezTo>
                  <a:pt x="84234" y="29571"/>
                  <a:pt x="82451" y="38275"/>
                  <a:pt x="76705" y="39507"/>
                </a:cubicBezTo>
                <a:cubicBezTo>
                  <a:pt x="62377" y="42578"/>
                  <a:pt x="47458" y="37214"/>
                  <a:pt x="32805" y="37214"/>
                </a:cubicBezTo>
                <a:cubicBezTo>
                  <a:pt x="21974" y="37214"/>
                  <a:pt x="4393" y="45305"/>
                  <a:pt x="372" y="35248"/>
                </a:cubicBezTo>
                <a:cubicBezTo>
                  <a:pt x="-1388" y="30846"/>
                  <a:pt x="3976" y="26229"/>
                  <a:pt x="3976" y="21488"/>
                </a:cubicBezTo>
                <a:cubicBezTo>
                  <a:pt x="3976" y="16672"/>
                  <a:pt x="531" y="8971"/>
                  <a:pt x="4958" y="7073"/>
                </a:cubicBezTo>
                <a:cubicBezTo>
                  <a:pt x="9876" y="4965"/>
                  <a:pt x="15660" y="7073"/>
                  <a:pt x="21011" y="7073"/>
                </a:cubicBezTo>
                <a:cubicBezTo>
                  <a:pt x="34120" y="7073"/>
                  <a:pt x="47394" y="8241"/>
                  <a:pt x="60325" y="6090"/>
                </a:cubicBezTo>
                <a:cubicBezTo>
                  <a:pt x="70827" y="4343"/>
                  <a:pt x="81382" y="2829"/>
                  <a:pt x="91775" y="521"/>
                </a:cubicBezTo>
                <a:cubicBezTo>
                  <a:pt x="99256" y="-1141"/>
                  <a:pt x="107044" y="2159"/>
                  <a:pt x="114708" y="2159"/>
                </a:cubicBezTo>
                <a:cubicBezTo>
                  <a:pt x="123488" y="2159"/>
                  <a:pt x="134173" y="-842"/>
                  <a:pt x="140917" y="4780"/>
                </a:cubicBezTo>
                <a:cubicBezTo>
                  <a:pt x="148567" y="11157"/>
                  <a:pt x="147858" y="30138"/>
                  <a:pt x="138951" y="34593"/>
                </a:cubicBezTo>
                <a:cubicBezTo>
                  <a:pt x="129696" y="39222"/>
                  <a:pt x="118363" y="32364"/>
                  <a:pt x="108156" y="30661"/>
                </a:cubicBezTo>
                <a:cubicBezTo>
                  <a:pt x="102169" y="29662"/>
                  <a:pt x="91610" y="33928"/>
                  <a:pt x="90137" y="28040"/>
                </a:cubicBezTo>
              </a:path>
            </a:pathLst>
          </a:custGeom>
          <a:noFill/>
          <a:ln cap="flat" cmpd="sng" w="9525">
            <a:solidFill>
              <a:srgbClr val="A64D7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Hilos (Threads)</a:t>
            </a:r>
            <a:endParaRPr/>
          </a:p>
        </p:txBody>
      </p:sp>
      <p:pic>
        <p:nvPicPr>
          <p:cNvPr id="497" name="Google Shape;497;p42"/>
          <p:cNvPicPr preferRelativeResize="0"/>
          <p:nvPr/>
        </p:nvPicPr>
        <p:blipFill rotWithShape="1">
          <a:blip r:embed="rId3">
            <a:alphaModFix/>
          </a:blip>
          <a:srcRect b="0" l="0" r="0" t="0"/>
          <a:stretch/>
        </p:blipFill>
        <p:spPr>
          <a:xfrm>
            <a:off x="1135225" y="1152425"/>
            <a:ext cx="5810569" cy="3686275"/>
          </a:xfrm>
          <a:prstGeom prst="rect">
            <a:avLst/>
          </a:prstGeom>
          <a:noFill/>
          <a:ln>
            <a:noFill/>
          </a:ln>
        </p:spPr>
      </p:pic>
      <p:pic>
        <p:nvPicPr>
          <p:cNvPr id="498" name="Google Shape;498;p42"/>
          <p:cNvPicPr preferRelativeResize="0"/>
          <p:nvPr/>
        </p:nvPicPr>
        <p:blipFill rotWithShape="1">
          <a:blip r:embed="rId4">
            <a:alphaModFix/>
          </a:blip>
          <a:srcRect b="0" l="0" r="0" t="0"/>
          <a:stretch/>
        </p:blipFill>
        <p:spPr>
          <a:xfrm>
            <a:off x="3626573" y="2328400"/>
            <a:ext cx="226500" cy="232325"/>
          </a:xfrm>
          <a:prstGeom prst="rect">
            <a:avLst/>
          </a:prstGeom>
          <a:noFill/>
          <a:ln>
            <a:noFill/>
          </a:ln>
        </p:spPr>
      </p:pic>
      <p:pic>
        <p:nvPicPr>
          <p:cNvPr id="499" name="Google Shape;499;p42"/>
          <p:cNvPicPr preferRelativeResize="0"/>
          <p:nvPr/>
        </p:nvPicPr>
        <p:blipFill rotWithShape="1">
          <a:blip r:embed="rId4">
            <a:alphaModFix/>
          </a:blip>
          <a:srcRect b="0" l="0" r="0" t="0"/>
          <a:stretch/>
        </p:blipFill>
        <p:spPr>
          <a:xfrm>
            <a:off x="4171348" y="2560725"/>
            <a:ext cx="226500" cy="232325"/>
          </a:xfrm>
          <a:prstGeom prst="rect">
            <a:avLst/>
          </a:prstGeom>
          <a:noFill/>
          <a:ln>
            <a:noFill/>
          </a:ln>
        </p:spPr>
      </p:pic>
      <p:pic>
        <p:nvPicPr>
          <p:cNvPr id="500" name="Google Shape;500;p42"/>
          <p:cNvPicPr preferRelativeResize="0"/>
          <p:nvPr/>
        </p:nvPicPr>
        <p:blipFill rotWithShape="1">
          <a:blip r:embed="rId4">
            <a:alphaModFix/>
          </a:blip>
          <a:srcRect b="0" l="0" r="0" t="0"/>
          <a:stretch/>
        </p:blipFill>
        <p:spPr>
          <a:xfrm>
            <a:off x="4989073" y="2560725"/>
            <a:ext cx="226500" cy="232325"/>
          </a:xfrm>
          <a:prstGeom prst="rect">
            <a:avLst/>
          </a:prstGeom>
          <a:noFill/>
          <a:ln>
            <a:noFill/>
          </a:ln>
        </p:spPr>
      </p:pic>
      <p:pic>
        <p:nvPicPr>
          <p:cNvPr id="501" name="Google Shape;501;p42"/>
          <p:cNvPicPr preferRelativeResize="0"/>
          <p:nvPr/>
        </p:nvPicPr>
        <p:blipFill rotWithShape="1">
          <a:blip r:embed="rId4">
            <a:alphaModFix/>
          </a:blip>
          <a:srcRect b="0" l="0" r="0" t="0"/>
          <a:stretch/>
        </p:blipFill>
        <p:spPr>
          <a:xfrm>
            <a:off x="5755623" y="2560725"/>
            <a:ext cx="226500" cy="232325"/>
          </a:xfrm>
          <a:prstGeom prst="rect">
            <a:avLst/>
          </a:prstGeom>
          <a:noFill/>
          <a:ln>
            <a:noFill/>
          </a:ln>
        </p:spPr>
      </p:pic>
      <p:pic>
        <p:nvPicPr>
          <p:cNvPr id="502" name="Google Shape;502;p42"/>
          <p:cNvPicPr preferRelativeResize="0"/>
          <p:nvPr/>
        </p:nvPicPr>
        <p:blipFill rotWithShape="1">
          <a:blip r:embed="rId5">
            <a:alphaModFix/>
          </a:blip>
          <a:srcRect b="0" l="0" r="0" t="0"/>
          <a:stretch/>
        </p:blipFill>
        <p:spPr>
          <a:xfrm>
            <a:off x="1502622" y="1202450"/>
            <a:ext cx="630675" cy="294625"/>
          </a:xfrm>
          <a:prstGeom prst="rect">
            <a:avLst/>
          </a:prstGeom>
          <a:noFill/>
          <a:ln>
            <a:noFill/>
          </a:ln>
        </p:spPr>
      </p:pic>
      <p:pic>
        <p:nvPicPr>
          <p:cNvPr id="503" name="Google Shape;503;p42"/>
          <p:cNvPicPr preferRelativeResize="0"/>
          <p:nvPr/>
        </p:nvPicPr>
        <p:blipFill rotWithShape="1">
          <a:blip r:embed="rId5">
            <a:alphaModFix/>
          </a:blip>
          <a:srcRect b="0" l="0" r="0" t="0"/>
          <a:stretch/>
        </p:blipFill>
        <p:spPr>
          <a:xfrm>
            <a:off x="4171347" y="1073375"/>
            <a:ext cx="630675" cy="2946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Hilos (Threads)</a:t>
            </a:r>
            <a:endParaRPr/>
          </a:p>
          <a:p>
            <a:pPr indent="0" lvl="0" marL="0" rtl="0" algn="l">
              <a:lnSpc>
                <a:spcPct val="100000"/>
              </a:lnSpc>
              <a:spcBef>
                <a:spcPts val="0"/>
              </a:spcBef>
              <a:spcAft>
                <a:spcPts val="0"/>
              </a:spcAft>
              <a:buSzPct val="111111"/>
              <a:buNone/>
            </a:pPr>
            <a:r>
              <a:t/>
            </a:r>
            <a:endParaRPr/>
          </a:p>
        </p:txBody>
      </p:sp>
      <p:sp>
        <p:nvSpPr>
          <p:cNvPr id="509" name="Google Shape;509;p43"/>
          <p:cNvSpPr txBox="1"/>
          <p:nvPr/>
        </p:nvSpPr>
        <p:spPr>
          <a:xfrm>
            <a:off x="-50350" y="2384700"/>
            <a:ext cx="2780700" cy="82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1800"/>
              <a:buFont typeface="Arial"/>
              <a:buNone/>
            </a:pPr>
            <a:r>
              <a:rPr b="1" i="0" lang="es" sz="1800" u="none" cap="none" strike="noStrike">
                <a:solidFill>
                  <a:schemeClr val="dk2"/>
                </a:solidFill>
                <a:latin typeface="Open Sans"/>
                <a:ea typeface="Open Sans"/>
                <a:cs typeface="Open Sans"/>
                <a:sym typeface="Open Sans"/>
              </a:rPr>
              <a:t>Los thread se pueden implementar a nivel </a:t>
            </a:r>
            <a:endParaRPr b="1" i="0" sz="1800" u="none" cap="none" strike="noStrike">
              <a:solidFill>
                <a:schemeClr val="dk2"/>
              </a:solidFill>
              <a:latin typeface="Open Sans"/>
              <a:ea typeface="Open Sans"/>
              <a:cs typeface="Open Sans"/>
              <a:sym typeface="Open Sans"/>
            </a:endParaRPr>
          </a:p>
        </p:txBody>
      </p:sp>
      <p:sp>
        <p:nvSpPr>
          <p:cNvPr id="510" name="Google Shape;510;p43"/>
          <p:cNvSpPr txBox="1"/>
          <p:nvPr/>
        </p:nvSpPr>
        <p:spPr>
          <a:xfrm>
            <a:off x="1826200" y="1323925"/>
            <a:ext cx="1467000" cy="82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Open Sans"/>
                <a:ea typeface="Open Sans"/>
                <a:cs typeface="Open Sans"/>
                <a:sym typeface="Open Sans"/>
              </a:rPr>
              <a:t>Thread a nivel de usuario</a:t>
            </a:r>
            <a:endParaRPr b="0" i="0" sz="1600" u="none" cap="none" strike="noStrike">
              <a:solidFill>
                <a:srgbClr val="000000"/>
              </a:solidFill>
              <a:latin typeface="Open Sans"/>
              <a:ea typeface="Open Sans"/>
              <a:cs typeface="Open Sans"/>
              <a:sym typeface="Open Sans"/>
            </a:endParaRPr>
          </a:p>
        </p:txBody>
      </p:sp>
      <p:sp>
        <p:nvSpPr>
          <p:cNvPr id="511" name="Google Shape;511;p43"/>
          <p:cNvSpPr txBox="1"/>
          <p:nvPr/>
        </p:nvSpPr>
        <p:spPr>
          <a:xfrm>
            <a:off x="1450900" y="3822000"/>
            <a:ext cx="1662000" cy="879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Open Sans"/>
                <a:ea typeface="Open Sans"/>
                <a:cs typeface="Open Sans"/>
                <a:sym typeface="Open Sans"/>
              </a:rPr>
              <a:t>Thread a nivel de núcleo (kernel)</a:t>
            </a:r>
            <a:endParaRPr b="0" i="0" sz="1600" u="none" cap="none" strike="noStrike">
              <a:solidFill>
                <a:srgbClr val="000000"/>
              </a:solidFill>
              <a:latin typeface="Open Sans"/>
              <a:ea typeface="Open Sans"/>
              <a:cs typeface="Open Sans"/>
              <a:sym typeface="Open Sans"/>
            </a:endParaRPr>
          </a:p>
        </p:txBody>
      </p:sp>
      <p:sp>
        <p:nvSpPr>
          <p:cNvPr id="512" name="Google Shape;512;p43"/>
          <p:cNvSpPr/>
          <p:nvPr/>
        </p:nvSpPr>
        <p:spPr>
          <a:xfrm rot="-2182518">
            <a:off x="1553226" y="2040515"/>
            <a:ext cx="563001" cy="24738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43"/>
          <p:cNvSpPr/>
          <p:nvPr/>
        </p:nvSpPr>
        <p:spPr>
          <a:xfrm rot="3169119">
            <a:off x="1553261" y="3399390"/>
            <a:ext cx="562928" cy="247323"/>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43"/>
          <p:cNvSpPr/>
          <p:nvPr/>
        </p:nvSpPr>
        <p:spPr>
          <a:xfrm>
            <a:off x="3112975" y="222825"/>
            <a:ext cx="5719200" cy="25512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Son implementados en alguna librería de usuario.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La librería deberá proveer soporte para crear, planificar y administrar los threads sin soporte del sistema operativo.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El sistema operativo solo reconoce un hilo de ejecución en el proceso.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Ej: Java Threads, Posix threads, …</a:t>
            </a:r>
            <a:endParaRPr b="0" i="0" sz="1700" u="none" cap="none" strike="noStrike">
              <a:solidFill>
                <a:srgbClr val="000000"/>
              </a:solidFill>
              <a:latin typeface="Arial"/>
              <a:ea typeface="Arial"/>
              <a:cs typeface="Arial"/>
              <a:sym typeface="Arial"/>
            </a:endParaRPr>
          </a:p>
        </p:txBody>
      </p:sp>
      <p:sp>
        <p:nvSpPr>
          <p:cNvPr id="515" name="Google Shape;515;p43"/>
          <p:cNvSpPr/>
          <p:nvPr/>
        </p:nvSpPr>
        <p:spPr>
          <a:xfrm>
            <a:off x="3112975" y="2860100"/>
            <a:ext cx="5835600" cy="20409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 El sistema es quien provee la creación, planificación y administración de los threads.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El sistema reconoce tantos hilos de ejecución como threads se hayan creado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000000"/>
                </a:solidFill>
                <a:latin typeface="Arial"/>
                <a:ea typeface="Arial"/>
                <a:cs typeface="Arial"/>
                <a:sym typeface="Arial"/>
              </a:rPr>
              <a:t>Ej: Windows, Solaris,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solidFill>
                  <a:srgbClr val="EF6C00"/>
                </a:solidFill>
              </a:rPr>
              <a:t>Hilos (Threads)</a:t>
            </a:r>
            <a:endParaRPr/>
          </a:p>
          <a:p>
            <a:pPr indent="0" lvl="0" marL="0" rtl="0" algn="l">
              <a:lnSpc>
                <a:spcPct val="100000"/>
              </a:lnSpc>
              <a:spcBef>
                <a:spcPts val="0"/>
              </a:spcBef>
              <a:spcAft>
                <a:spcPts val="0"/>
              </a:spcAft>
              <a:buSzPct val="111111"/>
              <a:buNone/>
            </a:pPr>
            <a:r>
              <a:t/>
            </a:r>
            <a:endParaRPr/>
          </a:p>
        </p:txBody>
      </p:sp>
      <p:pic>
        <p:nvPicPr>
          <p:cNvPr id="521" name="Google Shape;521;p44"/>
          <p:cNvPicPr preferRelativeResize="0"/>
          <p:nvPr/>
        </p:nvPicPr>
        <p:blipFill rotWithShape="1">
          <a:blip r:embed="rId3">
            <a:alphaModFix/>
          </a:blip>
          <a:srcRect b="0" l="0" r="0" t="0"/>
          <a:stretch/>
        </p:blipFill>
        <p:spPr>
          <a:xfrm>
            <a:off x="2173975" y="1152425"/>
            <a:ext cx="4523159" cy="36862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solidFill>
                  <a:srgbClr val="EF6C00"/>
                </a:solidFill>
              </a:rPr>
              <a:t>Hilos (Threads) - Modelos de multithreading</a:t>
            </a:r>
            <a:endParaRPr/>
          </a:p>
        </p:txBody>
      </p:sp>
      <p:sp>
        <p:nvSpPr>
          <p:cNvPr id="527" name="Google Shape;527;p45"/>
          <p:cNvSpPr txBox="1"/>
          <p:nvPr/>
        </p:nvSpPr>
        <p:spPr>
          <a:xfrm>
            <a:off x="187300" y="1817500"/>
            <a:ext cx="1416000" cy="3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Many to One</a:t>
            </a:r>
            <a:endParaRPr b="0" i="0" sz="1400" u="none" cap="none" strike="noStrike">
              <a:solidFill>
                <a:srgbClr val="000000"/>
              </a:solidFill>
              <a:latin typeface="Open Sans"/>
              <a:ea typeface="Open Sans"/>
              <a:cs typeface="Open Sans"/>
              <a:sym typeface="Open Sans"/>
            </a:endParaRPr>
          </a:p>
        </p:txBody>
      </p:sp>
      <p:sp>
        <p:nvSpPr>
          <p:cNvPr id="528" name="Google Shape;528;p45"/>
          <p:cNvSpPr txBox="1"/>
          <p:nvPr/>
        </p:nvSpPr>
        <p:spPr>
          <a:xfrm>
            <a:off x="136200" y="3055450"/>
            <a:ext cx="1416000" cy="3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One to One</a:t>
            </a:r>
            <a:endParaRPr b="0" i="0" sz="1400" u="none" cap="none" strike="noStrike">
              <a:solidFill>
                <a:srgbClr val="000000"/>
              </a:solidFill>
              <a:latin typeface="Open Sans"/>
              <a:ea typeface="Open Sans"/>
              <a:cs typeface="Open Sans"/>
              <a:sym typeface="Open Sans"/>
            </a:endParaRPr>
          </a:p>
        </p:txBody>
      </p:sp>
      <p:sp>
        <p:nvSpPr>
          <p:cNvPr id="529" name="Google Shape;529;p45"/>
          <p:cNvSpPr txBox="1"/>
          <p:nvPr/>
        </p:nvSpPr>
        <p:spPr>
          <a:xfrm>
            <a:off x="43425" y="4267750"/>
            <a:ext cx="1416000" cy="3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Many to Many</a:t>
            </a:r>
            <a:endParaRPr b="0" i="0" sz="1400" u="none" cap="none" strike="noStrike">
              <a:solidFill>
                <a:srgbClr val="000000"/>
              </a:solidFill>
              <a:latin typeface="Open Sans"/>
              <a:ea typeface="Open Sans"/>
              <a:cs typeface="Open Sans"/>
              <a:sym typeface="Open Sans"/>
            </a:endParaRPr>
          </a:p>
        </p:txBody>
      </p:sp>
      <p:sp>
        <p:nvSpPr>
          <p:cNvPr id="530" name="Google Shape;530;p45"/>
          <p:cNvSpPr/>
          <p:nvPr/>
        </p:nvSpPr>
        <p:spPr>
          <a:xfrm>
            <a:off x="1459425" y="1349475"/>
            <a:ext cx="5510400" cy="1168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Arial"/>
                <a:ea typeface="Arial"/>
                <a:cs typeface="Arial"/>
                <a:sym typeface="Arial"/>
              </a:rPr>
              <a:t>muchos thread a nivel de usuario son mapeados a un thread de Núcleo (kernel)</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Arial"/>
                <a:ea typeface="Arial"/>
                <a:cs typeface="Arial"/>
                <a:sym typeface="Arial"/>
              </a:rPr>
              <a:t>⇒ que sólo un thread puede hacer uso del Kernel a la vez</a:t>
            </a:r>
            <a:endParaRPr b="0" i="0" sz="1600" u="none" cap="none" strike="noStrike">
              <a:solidFill>
                <a:srgbClr val="000000"/>
              </a:solidFill>
              <a:latin typeface="Arial"/>
              <a:ea typeface="Arial"/>
              <a:cs typeface="Arial"/>
              <a:sym typeface="Arial"/>
            </a:endParaRPr>
          </a:p>
        </p:txBody>
      </p:sp>
      <p:sp>
        <p:nvSpPr>
          <p:cNvPr id="531" name="Google Shape;531;p45"/>
          <p:cNvSpPr/>
          <p:nvPr/>
        </p:nvSpPr>
        <p:spPr>
          <a:xfrm>
            <a:off x="1437675" y="2595313"/>
            <a:ext cx="5553900" cy="12444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Arial"/>
                <a:ea typeface="Arial"/>
                <a:cs typeface="Arial"/>
                <a:sym typeface="Arial"/>
              </a:rPr>
              <a:t>un thread a nivel de usuario son mapeados a un thread de Núcleo (kernel)</a:t>
            </a:r>
            <a:endParaRPr b="0" i="0" sz="1600" u="none" cap="none" strike="noStrike">
              <a:solidFill>
                <a:srgbClr val="000000"/>
              </a:solidFill>
              <a:latin typeface="Arial"/>
              <a:ea typeface="Arial"/>
              <a:cs typeface="Arial"/>
              <a:sym typeface="Arial"/>
            </a:endParaRPr>
          </a:p>
        </p:txBody>
      </p:sp>
      <p:sp>
        <p:nvSpPr>
          <p:cNvPr id="532" name="Google Shape;532;p45"/>
          <p:cNvSpPr/>
          <p:nvPr/>
        </p:nvSpPr>
        <p:spPr>
          <a:xfrm>
            <a:off x="1397475" y="3917075"/>
            <a:ext cx="5594100" cy="110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0000"/>
                </a:solidFill>
                <a:latin typeface="Arial"/>
                <a:ea typeface="Arial"/>
                <a:cs typeface="Arial"/>
                <a:sym typeface="Arial"/>
              </a:rPr>
              <a:t>muchos thread a nivel de usuario son mapeados a un thread de Núcleo (kernel)</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solidFill>
                  <a:srgbClr val="EF6C00"/>
                </a:solidFill>
              </a:rPr>
              <a:t>Hilos (Threads) - Modelos de multithreading</a:t>
            </a:r>
            <a:endParaRPr/>
          </a:p>
        </p:txBody>
      </p:sp>
      <p:sp>
        <p:nvSpPr>
          <p:cNvPr id="538" name="Google Shape;538;p46"/>
          <p:cNvSpPr txBox="1"/>
          <p:nvPr/>
        </p:nvSpPr>
        <p:spPr>
          <a:xfrm>
            <a:off x="520000" y="1382475"/>
            <a:ext cx="1416000" cy="3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Many to One</a:t>
            </a:r>
            <a:endParaRPr b="0" i="0" sz="1400" u="none" cap="none" strike="noStrike">
              <a:solidFill>
                <a:srgbClr val="000000"/>
              </a:solidFill>
              <a:latin typeface="Open Sans"/>
              <a:ea typeface="Open Sans"/>
              <a:cs typeface="Open Sans"/>
              <a:sym typeface="Open Sans"/>
            </a:endParaRPr>
          </a:p>
        </p:txBody>
      </p:sp>
      <p:sp>
        <p:nvSpPr>
          <p:cNvPr id="539" name="Google Shape;539;p46"/>
          <p:cNvSpPr txBox="1"/>
          <p:nvPr/>
        </p:nvSpPr>
        <p:spPr>
          <a:xfrm>
            <a:off x="5419775" y="1442175"/>
            <a:ext cx="1416000" cy="3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One to One</a:t>
            </a:r>
            <a:endParaRPr b="0" i="0" sz="1400" u="none" cap="none" strike="noStrike">
              <a:solidFill>
                <a:srgbClr val="000000"/>
              </a:solidFill>
              <a:latin typeface="Open Sans"/>
              <a:ea typeface="Open Sans"/>
              <a:cs typeface="Open Sans"/>
              <a:sym typeface="Open Sans"/>
            </a:endParaRPr>
          </a:p>
        </p:txBody>
      </p:sp>
      <p:pic>
        <p:nvPicPr>
          <p:cNvPr id="540" name="Google Shape;540;p46"/>
          <p:cNvPicPr preferRelativeResize="0"/>
          <p:nvPr/>
        </p:nvPicPr>
        <p:blipFill rotWithShape="1">
          <a:blip r:embed="rId3">
            <a:alphaModFix/>
          </a:blip>
          <a:srcRect b="0" l="0" r="0" t="0"/>
          <a:stretch/>
        </p:blipFill>
        <p:spPr>
          <a:xfrm>
            <a:off x="246900" y="1827513"/>
            <a:ext cx="3348175" cy="3196825"/>
          </a:xfrm>
          <a:prstGeom prst="rect">
            <a:avLst/>
          </a:prstGeom>
          <a:noFill/>
          <a:ln>
            <a:noFill/>
          </a:ln>
        </p:spPr>
      </p:pic>
      <p:pic>
        <p:nvPicPr>
          <p:cNvPr id="541" name="Google Shape;541;p46"/>
          <p:cNvPicPr preferRelativeResize="0"/>
          <p:nvPr/>
        </p:nvPicPr>
        <p:blipFill rotWithShape="1">
          <a:blip r:embed="rId4">
            <a:alphaModFix/>
          </a:blip>
          <a:srcRect b="0" l="0" r="0" t="0"/>
          <a:stretch/>
        </p:blipFill>
        <p:spPr>
          <a:xfrm>
            <a:off x="3957550" y="2013150"/>
            <a:ext cx="4340451" cy="28255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solidFill>
                  <a:srgbClr val="EF6C00"/>
                </a:solidFill>
              </a:rPr>
              <a:t>Hilos (Threads) - Modelos de multithreading</a:t>
            </a:r>
            <a:endParaRPr/>
          </a:p>
        </p:txBody>
      </p:sp>
      <p:sp>
        <p:nvSpPr>
          <p:cNvPr id="547" name="Google Shape;547;p47"/>
          <p:cNvSpPr txBox="1"/>
          <p:nvPr/>
        </p:nvSpPr>
        <p:spPr>
          <a:xfrm>
            <a:off x="656625" y="1493375"/>
            <a:ext cx="1416000" cy="34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Many to Many</a:t>
            </a:r>
            <a:endParaRPr b="0" i="0" sz="1400" u="none" cap="none" strike="noStrike">
              <a:solidFill>
                <a:srgbClr val="000000"/>
              </a:solidFill>
              <a:latin typeface="Open Sans"/>
              <a:ea typeface="Open Sans"/>
              <a:cs typeface="Open Sans"/>
              <a:sym typeface="Open Sans"/>
            </a:endParaRPr>
          </a:p>
        </p:txBody>
      </p:sp>
      <p:pic>
        <p:nvPicPr>
          <p:cNvPr id="548" name="Google Shape;548;p47"/>
          <p:cNvPicPr preferRelativeResize="0"/>
          <p:nvPr/>
        </p:nvPicPr>
        <p:blipFill rotWithShape="1">
          <a:blip r:embed="rId3">
            <a:alphaModFix/>
          </a:blip>
          <a:srcRect b="0" l="0" r="0" t="0"/>
          <a:stretch/>
        </p:blipFill>
        <p:spPr>
          <a:xfrm>
            <a:off x="2259125" y="1415700"/>
            <a:ext cx="5086350" cy="33242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Señales</a:t>
            </a:r>
            <a:endParaRPr/>
          </a:p>
        </p:txBody>
      </p:sp>
      <p:sp>
        <p:nvSpPr>
          <p:cNvPr id="554" name="Google Shape;554;p4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Es una forma de comunicarse con un proceso en ejecución a través notificación mediante la función </a:t>
            </a:r>
            <a:r>
              <a:rPr b="1" i="1" lang="es"/>
              <a:t>KILL.</a:t>
            </a:r>
            <a:endParaRPr b="1" i="1"/>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La señales son interrupciones manejadas por programas. Estan permiten el manejo de eventos asíncronos.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Cada señal tiene un nombre. Ellos comienzan con SIG.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9"/>
          <p:cNvSpPr txBox="1"/>
          <p:nvPr>
            <p:ph type="title"/>
          </p:nvPr>
        </p:nvSpPr>
        <p:spPr>
          <a:xfrm>
            <a:off x="311700" y="410900"/>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Señales</a:t>
            </a:r>
            <a:endParaRPr/>
          </a:p>
        </p:txBody>
      </p:sp>
      <p:sp>
        <p:nvSpPr>
          <p:cNvPr id="560" name="Google Shape;560;p4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comando: kil -l (listado de señales de linux)</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pic>
        <p:nvPicPr>
          <p:cNvPr id="561" name="Google Shape;561;p49"/>
          <p:cNvPicPr preferRelativeResize="0"/>
          <p:nvPr/>
        </p:nvPicPr>
        <p:blipFill rotWithShape="1">
          <a:blip r:embed="rId3">
            <a:alphaModFix/>
          </a:blip>
          <a:srcRect b="0" l="0" r="0" t="0"/>
          <a:stretch/>
        </p:blipFill>
        <p:spPr>
          <a:xfrm>
            <a:off x="899388" y="1698038"/>
            <a:ext cx="7191375" cy="32480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Señales</a:t>
            </a:r>
            <a:endParaRPr/>
          </a:p>
        </p:txBody>
      </p:sp>
      <p:sp>
        <p:nvSpPr>
          <p:cNvPr id="567" name="Google Shape;567;p50"/>
          <p:cNvSpPr txBox="1"/>
          <p:nvPr>
            <p:ph idx="1" type="body"/>
          </p:nvPr>
        </p:nvSpPr>
        <p:spPr>
          <a:xfrm>
            <a:off x="311700" y="1201550"/>
            <a:ext cx="8520600" cy="3812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s"/>
              <a:t>para revisar el programa que está corriendo</a:t>
            </a:r>
            <a:endParaRPr/>
          </a:p>
          <a:p>
            <a:pPr indent="0" lvl="0" marL="0" rtl="0" algn="l">
              <a:lnSpc>
                <a:spcPct val="115000"/>
              </a:lnSpc>
              <a:spcBef>
                <a:spcPts val="1200"/>
              </a:spcBef>
              <a:spcAft>
                <a:spcPts val="0"/>
              </a:spcAft>
              <a:buSzPts val="1800"/>
              <a:buNone/>
            </a:pPr>
            <a:r>
              <a:rPr lang="es"/>
              <a:t>ps -a / -n / -u</a:t>
            </a:r>
            <a:endParaRPr/>
          </a:p>
          <a:p>
            <a:pPr indent="0" lvl="0" marL="0" rtl="0" algn="l">
              <a:lnSpc>
                <a:spcPct val="115000"/>
              </a:lnSpc>
              <a:spcBef>
                <a:spcPts val="1200"/>
              </a:spcBef>
              <a:spcAft>
                <a:spcPts val="0"/>
              </a:spcAft>
              <a:buSzPts val="1800"/>
              <a:buNone/>
            </a:pPr>
            <a:r>
              <a:rPr lang="es"/>
              <a:t>top</a:t>
            </a:r>
            <a:endParaRPr/>
          </a:p>
          <a:p>
            <a:pPr indent="0" lvl="0" marL="0" rtl="0" algn="l">
              <a:lnSpc>
                <a:spcPct val="115000"/>
              </a:lnSpc>
              <a:spcBef>
                <a:spcPts val="1200"/>
              </a:spcBef>
              <a:spcAft>
                <a:spcPts val="0"/>
              </a:spcAft>
              <a:buSzPts val="1800"/>
              <a:buNone/>
            </a:pPr>
            <a:r>
              <a:rPr lang="es"/>
              <a:t>htop</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b="1" lang="es" u="sng">
                <a:solidFill>
                  <a:schemeClr val="hlink"/>
                </a:solidFill>
                <a:hlinkClick r:id="rId3"/>
              </a:rPr>
              <a:t>https://man7.org/linux/man-pages/man7/signal.7.html</a:t>
            </a:r>
            <a:endParaRPr b="1"/>
          </a:p>
        </p:txBody>
      </p:sp>
      <p:pic>
        <p:nvPicPr>
          <p:cNvPr id="568" name="Google Shape;568;p50"/>
          <p:cNvPicPr preferRelativeResize="0"/>
          <p:nvPr/>
        </p:nvPicPr>
        <p:blipFill rotWithShape="1">
          <a:blip r:embed="rId4">
            <a:alphaModFix/>
          </a:blip>
          <a:srcRect b="0" l="0" r="0" t="0"/>
          <a:stretch/>
        </p:blipFill>
        <p:spPr>
          <a:xfrm>
            <a:off x="2497200" y="1558050"/>
            <a:ext cx="6234425" cy="2963825"/>
          </a:xfrm>
          <a:prstGeom prst="rect">
            <a:avLst/>
          </a:prstGeom>
          <a:noFill/>
          <a:ln>
            <a:noFill/>
          </a:ln>
        </p:spPr>
      </p:pic>
      <p:sp>
        <p:nvSpPr>
          <p:cNvPr id="569" name="Google Shape;569;p50"/>
          <p:cNvSpPr/>
          <p:nvPr/>
        </p:nvSpPr>
        <p:spPr>
          <a:xfrm>
            <a:off x="1024600" y="2514500"/>
            <a:ext cx="1056600" cy="26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Señales</a:t>
            </a:r>
            <a:endParaRPr/>
          </a:p>
        </p:txBody>
      </p:sp>
      <p:sp>
        <p:nvSpPr>
          <p:cNvPr id="575" name="Google Shape;575;p51"/>
          <p:cNvSpPr txBox="1"/>
          <p:nvPr>
            <p:ph idx="1" type="body"/>
          </p:nvPr>
        </p:nvSpPr>
        <p:spPr>
          <a:xfrm>
            <a:off x="311700" y="1201550"/>
            <a:ext cx="8520600" cy="3812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s"/>
              <a:t>Capturar una señal y realizar una acción</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lang="es"/>
              <a:t>kill -SIGALRM &lt;PID&gt;</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rPr b="1" lang="es"/>
              <a:t>Nota:</a:t>
            </a:r>
            <a:r>
              <a:rPr lang="es"/>
              <a:t> las señales </a:t>
            </a:r>
            <a:r>
              <a:rPr b="1" lang="es"/>
              <a:t>SIGKILL</a:t>
            </a:r>
            <a:r>
              <a:rPr lang="es"/>
              <a:t> y </a:t>
            </a:r>
            <a:r>
              <a:rPr b="1" lang="es"/>
              <a:t>SIGSTOP</a:t>
            </a:r>
            <a:r>
              <a:rPr lang="es"/>
              <a:t> no pueden ser capturadas, bloqueadas ni ignoradas</a:t>
            </a:r>
            <a:endParaRPr/>
          </a:p>
          <a:p>
            <a:pPr indent="0" lvl="0" marL="0" rtl="0" algn="l">
              <a:lnSpc>
                <a:spcPct val="115000"/>
              </a:lnSpc>
              <a:spcBef>
                <a:spcPts val="1200"/>
              </a:spcBef>
              <a:spcAft>
                <a:spcPts val="0"/>
              </a:spcAft>
              <a:buSzPct val="117647"/>
              <a:buNone/>
            </a:pPr>
            <a:r>
              <a:rPr lang="es"/>
              <a:t> </a:t>
            </a:r>
            <a:endParaRPr/>
          </a:p>
          <a:p>
            <a:pPr indent="0" lvl="0" marL="0" rtl="0" algn="l">
              <a:lnSpc>
                <a:spcPct val="115000"/>
              </a:lnSpc>
              <a:spcBef>
                <a:spcPts val="1200"/>
              </a:spcBef>
              <a:spcAft>
                <a:spcPts val="0"/>
              </a:spcAft>
              <a:buSzPct val="117647"/>
              <a:buNone/>
            </a:pPr>
            <a:r>
              <a:rPr lang="es"/>
              <a:t> </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1200"/>
              </a:spcAft>
              <a:buSzPct val="117647"/>
              <a:buNone/>
            </a:pPr>
            <a:r>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
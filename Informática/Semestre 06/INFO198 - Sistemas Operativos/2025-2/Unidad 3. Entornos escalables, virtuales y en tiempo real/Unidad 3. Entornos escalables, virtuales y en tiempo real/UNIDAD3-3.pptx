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embeddedFontLst>
    <p:embeddedFont>
      <p:font typeface="PT Sans Narrow"/>
      <p:regular r:id="rId41"/>
      <p:bold r:id="rId42"/>
    </p:embeddedFont>
    <p:embeddedFont>
      <p:font typeface="Open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7" roundtripDataSignature="AMtx7mi4ONSYiPjL3RA9+M1uBl3PD1PN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PTSansNarrow-bold.fntdata"/><Relationship Id="rId41" Type="http://schemas.openxmlformats.org/officeDocument/2006/relationships/font" Target="fonts/PTSansNarrow-regular.fntdata"/><Relationship Id="rId22" Type="http://schemas.openxmlformats.org/officeDocument/2006/relationships/slide" Target="slides/slide17.xml"/><Relationship Id="rId44" Type="http://schemas.openxmlformats.org/officeDocument/2006/relationships/font" Target="fonts/OpenSans-bold.fntdata"/><Relationship Id="rId21" Type="http://schemas.openxmlformats.org/officeDocument/2006/relationships/slide" Target="slides/slide16.xml"/><Relationship Id="rId43" Type="http://schemas.openxmlformats.org/officeDocument/2006/relationships/font" Target="fonts/OpenSans-regular.fntdata"/><Relationship Id="rId24" Type="http://schemas.openxmlformats.org/officeDocument/2006/relationships/slide" Target="slides/slide19.xml"/><Relationship Id="rId46" Type="http://schemas.openxmlformats.org/officeDocument/2006/relationships/font" Target="fonts/OpenSans-boldItalic.fntdata"/><Relationship Id="rId23" Type="http://schemas.openxmlformats.org/officeDocument/2006/relationships/slide" Target="slides/slide18.xml"/><Relationship Id="rId45"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16f00e02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16f00e02c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36"/>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36"/>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36"/>
          <p:cNvGrpSpPr/>
          <p:nvPr/>
        </p:nvGrpSpPr>
        <p:grpSpPr>
          <a:xfrm>
            <a:off x="1004144" y="1022025"/>
            <a:ext cx="7136668" cy="152400"/>
            <a:chOff x="1346429" y="1011300"/>
            <a:chExt cx="6452100" cy="152400"/>
          </a:xfrm>
        </p:grpSpPr>
        <p:cxnSp>
          <p:nvCxnSpPr>
            <p:cNvPr id="13" name="Google Shape;13;p36"/>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36"/>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36"/>
          <p:cNvGrpSpPr/>
          <p:nvPr/>
        </p:nvGrpSpPr>
        <p:grpSpPr>
          <a:xfrm>
            <a:off x="1004151" y="3969100"/>
            <a:ext cx="7136668" cy="152400"/>
            <a:chOff x="1346435" y="3969088"/>
            <a:chExt cx="6452100" cy="152400"/>
          </a:xfrm>
        </p:grpSpPr>
        <p:cxnSp>
          <p:nvCxnSpPr>
            <p:cNvPr id="16" name="Google Shape;16;p36"/>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36"/>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36"/>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19" name="Google Shape;19;p36"/>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37"/>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3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24" name="Google Shape;24;p3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5" name="Google Shape;25;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38"/>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38"/>
          <p:cNvSpPr txBox="1"/>
          <p:nvPr>
            <p:ph type="title"/>
          </p:nvPr>
        </p:nvSpPr>
        <p:spPr>
          <a:xfrm>
            <a:off x="311700" y="814800"/>
            <a:ext cx="8571300" cy="942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p:txBody>
      </p:sp>
      <p:sp>
        <p:nvSpPr>
          <p:cNvPr id="29" name="Google Shape;29;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3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2" name="Google Shape;32;p39"/>
          <p:cNvSpPr txBox="1"/>
          <p:nvPr>
            <p:ph idx="1" type="body"/>
          </p:nvPr>
        </p:nvSpPr>
        <p:spPr>
          <a:xfrm>
            <a:off x="3117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39"/>
          <p:cNvSpPr txBox="1"/>
          <p:nvPr>
            <p:ph idx="2" type="body"/>
          </p:nvPr>
        </p:nvSpPr>
        <p:spPr>
          <a:xfrm>
            <a:off x="4832400" y="1266175"/>
            <a:ext cx="3999900" cy="33027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4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3600"/>
              <a:buNone/>
              <a:defRPr/>
            </a:lvl2pPr>
            <a:lvl3pPr lvl="2" algn="l">
              <a:lnSpc>
                <a:spcPct val="100000"/>
              </a:lnSpc>
              <a:spcBef>
                <a:spcPts val="0"/>
              </a:spcBef>
              <a:spcAft>
                <a:spcPts val="0"/>
              </a:spcAft>
              <a:buSzPts val="3600"/>
              <a:buNone/>
              <a:defRPr/>
            </a:lvl3pPr>
            <a:lvl4pPr lvl="3" algn="l">
              <a:lnSpc>
                <a:spcPct val="100000"/>
              </a:lnSpc>
              <a:spcBef>
                <a:spcPts val="0"/>
              </a:spcBef>
              <a:spcAft>
                <a:spcPts val="0"/>
              </a:spcAft>
              <a:buSzPts val="3600"/>
              <a:buNone/>
              <a:defRPr/>
            </a:lvl4pPr>
            <a:lvl5pPr lvl="4" algn="l">
              <a:lnSpc>
                <a:spcPct val="100000"/>
              </a:lnSpc>
              <a:spcBef>
                <a:spcPts val="0"/>
              </a:spcBef>
              <a:spcAft>
                <a:spcPts val="0"/>
              </a:spcAft>
              <a:buSzPts val="3600"/>
              <a:buNone/>
              <a:defRPr/>
            </a:lvl5pPr>
            <a:lvl6pPr lvl="5" algn="l">
              <a:lnSpc>
                <a:spcPct val="100000"/>
              </a:lnSpc>
              <a:spcBef>
                <a:spcPts val="0"/>
              </a:spcBef>
              <a:spcAft>
                <a:spcPts val="0"/>
              </a:spcAft>
              <a:buSzPts val="3600"/>
              <a:buNone/>
              <a:defRPr/>
            </a:lvl6pPr>
            <a:lvl7pPr lvl="6" algn="l">
              <a:lnSpc>
                <a:spcPct val="100000"/>
              </a:lnSpc>
              <a:spcBef>
                <a:spcPts val="0"/>
              </a:spcBef>
              <a:spcAft>
                <a:spcPts val="0"/>
              </a:spcAft>
              <a:buSzPts val="3600"/>
              <a:buNone/>
              <a:defRPr/>
            </a:lvl7pPr>
            <a:lvl8pPr lvl="7" algn="l">
              <a:lnSpc>
                <a:spcPct val="100000"/>
              </a:lnSpc>
              <a:spcBef>
                <a:spcPts val="0"/>
              </a:spcBef>
              <a:spcAft>
                <a:spcPts val="0"/>
              </a:spcAft>
              <a:buSzPts val="3600"/>
              <a:buNone/>
              <a:defRPr/>
            </a:lvl8pPr>
            <a:lvl9pPr lvl="8" algn="l">
              <a:lnSpc>
                <a:spcPct val="100000"/>
              </a:lnSpc>
              <a:spcBef>
                <a:spcPts val="0"/>
              </a:spcBef>
              <a:spcAft>
                <a:spcPts val="0"/>
              </a:spcAft>
              <a:buSzPts val="3600"/>
              <a:buNone/>
              <a:defRPr/>
            </a:lvl9pPr>
          </a:lstStyle>
          <a:p/>
        </p:txBody>
      </p:sp>
      <p:sp>
        <p:nvSpPr>
          <p:cNvPr id="37" name="Google Shape;37;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4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p4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42"/>
          <p:cNvSpPr txBox="1"/>
          <p:nvPr>
            <p:ph type="title"/>
          </p:nvPr>
        </p:nvSpPr>
        <p:spPr>
          <a:xfrm>
            <a:off x="490250" y="526350"/>
            <a:ext cx="56136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dk2"/>
              </a:buClr>
              <a:buSzPts val="5400"/>
              <a:buNone/>
              <a:defRPr b="0" sz="5400">
                <a:solidFill>
                  <a:schemeClr val="dk2"/>
                </a:solidFill>
              </a:defRPr>
            </a:lvl1pPr>
            <a:lvl2pPr lvl="1" algn="l">
              <a:lnSpc>
                <a:spcPct val="100000"/>
              </a:lnSpc>
              <a:spcBef>
                <a:spcPts val="0"/>
              </a:spcBef>
              <a:spcAft>
                <a:spcPts val="0"/>
              </a:spcAft>
              <a:buClr>
                <a:schemeClr val="dk2"/>
              </a:buClr>
              <a:buSzPts val="5400"/>
              <a:buNone/>
              <a:defRPr b="0" sz="5400">
                <a:solidFill>
                  <a:schemeClr val="dk2"/>
                </a:solidFill>
              </a:defRPr>
            </a:lvl2pPr>
            <a:lvl3pPr lvl="2" algn="l">
              <a:lnSpc>
                <a:spcPct val="100000"/>
              </a:lnSpc>
              <a:spcBef>
                <a:spcPts val="0"/>
              </a:spcBef>
              <a:spcAft>
                <a:spcPts val="0"/>
              </a:spcAft>
              <a:buClr>
                <a:schemeClr val="dk2"/>
              </a:buClr>
              <a:buSzPts val="5400"/>
              <a:buNone/>
              <a:defRPr b="0" sz="5400">
                <a:solidFill>
                  <a:schemeClr val="dk2"/>
                </a:solidFill>
              </a:defRPr>
            </a:lvl3pPr>
            <a:lvl4pPr lvl="3" algn="l">
              <a:lnSpc>
                <a:spcPct val="100000"/>
              </a:lnSpc>
              <a:spcBef>
                <a:spcPts val="0"/>
              </a:spcBef>
              <a:spcAft>
                <a:spcPts val="0"/>
              </a:spcAft>
              <a:buClr>
                <a:schemeClr val="dk2"/>
              </a:buClr>
              <a:buSzPts val="5400"/>
              <a:buNone/>
              <a:defRPr b="0" sz="5400">
                <a:solidFill>
                  <a:schemeClr val="dk2"/>
                </a:solidFill>
              </a:defRPr>
            </a:lvl4pPr>
            <a:lvl5pPr lvl="4" algn="l">
              <a:lnSpc>
                <a:spcPct val="100000"/>
              </a:lnSpc>
              <a:spcBef>
                <a:spcPts val="0"/>
              </a:spcBef>
              <a:spcAft>
                <a:spcPts val="0"/>
              </a:spcAft>
              <a:buClr>
                <a:schemeClr val="dk2"/>
              </a:buClr>
              <a:buSzPts val="5400"/>
              <a:buNone/>
              <a:defRPr b="0" sz="5400">
                <a:solidFill>
                  <a:schemeClr val="dk2"/>
                </a:solidFill>
              </a:defRPr>
            </a:lvl5pPr>
            <a:lvl6pPr lvl="5" algn="l">
              <a:lnSpc>
                <a:spcPct val="100000"/>
              </a:lnSpc>
              <a:spcBef>
                <a:spcPts val="0"/>
              </a:spcBef>
              <a:spcAft>
                <a:spcPts val="0"/>
              </a:spcAft>
              <a:buClr>
                <a:schemeClr val="dk2"/>
              </a:buClr>
              <a:buSzPts val="5400"/>
              <a:buNone/>
              <a:defRPr b="0" sz="5400">
                <a:solidFill>
                  <a:schemeClr val="dk2"/>
                </a:solidFill>
              </a:defRPr>
            </a:lvl6pPr>
            <a:lvl7pPr lvl="6" algn="l">
              <a:lnSpc>
                <a:spcPct val="100000"/>
              </a:lnSpc>
              <a:spcBef>
                <a:spcPts val="0"/>
              </a:spcBef>
              <a:spcAft>
                <a:spcPts val="0"/>
              </a:spcAft>
              <a:buClr>
                <a:schemeClr val="dk2"/>
              </a:buClr>
              <a:buSzPts val="5400"/>
              <a:buNone/>
              <a:defRPr b="0" sz="5400">
                <a:solidFill>
                  <a:schemeClr val="dk2"/>
                </a:solidFill>
              </a:defRPr>
            </a:lvl7pPr>
            <a:lvl8pPr lvl="7" algn="l">
              <a:lnSpc>
                <a:spcPct val="100000"/>
              </a:lnSpc>
              <a:spcBef>
                <a:spcPts val="0"/>
              </a:spcBef>
              <a:spcAft>
                <a:spcPts val="0"/>
              </a:spcAft>
              <a:buClr>
                <a:schemeClr val="dk2"/>
              </a:buClr>
              <a:buSzPts val="5400"/>
              <a:buNone/>
              <a:defRPr b="0" sz="5400">
                <a:solidFill>
                  <a:schemeClr val="dk2"/>
                </a:solidFill>
              </a:defRPr>
            </a:lvl8pPr>
            <a:lvl9pPr lvl="8" algn="l">
              <a:lnSpc>
                <a:spcPct val="100000"/>
              </a:lnSpc>
              <a:spcBef>
                <a:spcPts val="0"/>
              </a:spcBef>
              <a:spcAft>
                <a:spcPts val="0"/>
              </a:spcAft>
              <a:buClr>
                <a:schemeClr val="dk2"/>
              </a:buClr>
              <a:buSzPts val="5400"/>
              <a:buNone/>
              <a:defRPr b="0" sz="5400">
                <a:solidFill>
                  <a:schemeClr val="dk2"/>
                </a:solidFill>
              </a:defRPr>
            </a:lvl9pPr>
          </a:lstStyle>
          <a:p/>
        </p:txBody>
      </p:sp>
      <p:sp>
        <p:nvSpPr>
          <p:cNvPr id="44" name="Google Shape;44;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43"/>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7" name="Google Shape;47;p43"/>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43"/>
          <p:cNvSpPr txBox="1"/>
          <p:nvPr>
            <p:ph type="title"/>
          </p:nvPr>
        </p:nvSpPr>
        <p:spPr>
          <a:xfrm>
            <a:off x="265500" y="1039675"/>
            <a:ext cx="4045200" cy="16758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9" name="Google Shape;49;p43"/>
          <p:cNvSpPr txBox="1"/>
          <p:nvPr>
            <p:ph idx="1" type="subTitle"/>
          </p:nvPr>
        </p:nvSpPr>
        <p:spPr>
          <a:xfrm>
            <a:off x="265500" y="27268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43"/>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51" name="Google Shape;51;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44"/>
          <p:cNvSpPr txBox="1"/>
          <p:nvPr>
            <p:ph idx="1" type="body"/>
          </p:nvPr>
        </p:nvSpPr>
        <p:spPr>
          <a:xfrm>
            <a:off x="311700" y="4230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45"/>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45"/>
          <p:cNvSpPr txBox="1"/>
          <p:nvPr>
            <p:ph hasCustomPrompt="1" type="title"/>
          </p:nvPr>
        </p:nvSpPr>
        <p:spPr>
          <a:xfrm>
            <a:off x="311700" y="1304850"/>
            <a:ext cx="85206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3"/>
              </a:buClr>
              <a:buSzPts val="13000"/>
              <a:buNone/>
              <a:defRPr sz="13000">
                <a:solidFill>
                  <a:schemeClr val="accent3"/>
                </a:solidFill>
              </a:defRPr>
            </a:lvl1pPr>
            <a:lvl2pPr lvl="1" algn="ctr">
              <a:lnSpc>
                <a:spcPct val="100000"/>
              </a:lnSpc>
              <a:spcBef>
                <a:spcPts val="0"/>
              </a:spcBef>
              <a:spcAft>
                <a:spcPts val="0"/>
              </a:spcAft>
              <a:buClr>
                <a:schemeClr val="accent3"/>
              </a:buClr>
              <a:buSzPts val="13000"/>
              <a:buNone/>
              <a:defRPr sz="13000">
                <a:solidFill>
                  <a:schemeClr val="accent3"/>
                </a:solidFill>
              </a:defRPr>
            </a:lvl2pPr>
            <a:lvl3pPr lvl="2" algn="ctr">
              <a:lnSpc>
                <a:spcPct val="100000"/>
              </a:lnSpc>
              <a:spcBef>
                <a:spcPts val="0"/>
              </a:spcBef>
              <a:spcAft>
                <a:spcPts val="0"/>
              </a:spcAft>
              <a:buClr>
                <a:schemeClr val="accent3"/>
              </a:buClr>
              <a:buSzPts val="13000"/>
              <a:buNone/>
              <a:defRPr sz="13000">
                <a:solidFill>
                  <a:schemeClr val="accent3"/>
                </a:solidFill>
              </a:defRPr>
            </a:lvl3pPr>
            <a:lvl4pPr lvl="3" algn="ctr">
              <a:lnSpc>
                <a:spcPct val="100000"/>
              </a:lnSpc>
              <a:spcBef>
                <a:spcPts val="0"/>
              </a:spcBef>
              <a:spcAft>
                <a:spcPts val="0"/>
              </a:spcAft>
              <a:buClr>
                <a:schemeClr val="accent3"/>
              </a:buClr>
              <a:buSzPts val="13000"/>
              <a:buNone/>
              <a:defRPr sz="13000">
                <a:solidFill>
                  <a:schemeClr val="accent3"/>
                </a:solidFill>
              </a:defRPr>
            </a:lvl4pPr>
            <a:lvl5pPr lvl="4" algn="ctr">
              <a:lnSpc>
                <a:spcPct val="100000"/>
              </a:lnSpc>
              <a:spcBef>
                <a:spcPts val="0"/>
              </a:spcBef>
              <a:spcAft>
                <a:spcPts val="0"/>
              </a:spcAft>
              <a:buClr>
                <a:schemeClr val="accent3"/>
              </a:buClr>
              <a:buSzPts val="13000"/>
              <a:buNone/>
              <a:defRPr sz="13000">
                <a:solidFill>
                  <a:schemeClr val="accent3"/>
                </a:solidFill>
              </a:defRPr>
            </a:lvl5pPr>
            <a:lvl6pPr lvl="5" algn="ctr">
              <a:lnSpc>
                <a:spcPct val="100000"/>
              </a:lnSpc>
              <a:spcBef>
                <a:spcPts val="0"/>
              </a:spcBef>
              <a:spcAft>
                <a:spcPts val="0"/>
              </a:spcAft>
              <a:buClr>
                <a:schemeClr val="accent3"/>
              </a:buClr>
              <a:buSzPts val="13000"/>
              <a:buNone/>
              <a:defRPr sz="13000">
                <a:solidFill>
                  <a:schemeClr val="accent3"/>
                </a:solidFill>
              </a:defRPr>
            </a:lvl6pPr>
            <a:lvl7pPr lvl="6" algn="ctr">
              <a:lnSpc>
                <a:spcPct val="100000"/>
              </a:lnSpc>
              <a:spcBef>
                <a:spcPts val="0"/>
              </a:spcBef>
              <a:spcAft>
                <a:spcPts val="0"/>
              </a:spcAft>
              <a:buClr>
                <a:schemeClr val="accent3"/>
              </a:buClr>
              <a:buSzPts val="13000"/>
              <a:buNone/>
              <a:defRPr sz="13000">
                <a:solidFill>
                  <a:schemeClr val="accent3"/>
                </a:solidFill>
              </a:defRPr>
            </a:lvl7pPr>
            <a:lvl8pPr lvl="7" algn="ctr">
              <a:lnSpc>
                <a:spcPct val="100000"/>
              </a:lnSpc>
              <a:spcBef>
                <a:spcPts val="0"/>
              </a:spcBef>
              <a:spcAft>
                <a:spcPts val="0"/>
              </a:spcAft>
              <a:buClr>
                <a:schemeClr val="accent3"/>
              </a:buClr>
              <a:buSzPts val="13000"/>
              <a:buNone/>
              <a:defRPr sz="13000">
                <a:solidFill>
                  <a:schemeClr val="accent3"/>
                </a:solidFill>
              </a:defRPr>
            </a:lvl8pPr>
            <a:lvl9pPr lvl="8" algn="ctr">
              <a:lnSpc>
                <a:spcPct val="100000"/>
              </a:lnSpc>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45"/>
          <p:cNvSpPr txBox="1"/>
          <p:nvPr>
            <p:ph idx="1" type="body"/>
          </p:nvPr>
        </p:nvSpPr>
        <p:spPr>
          <a:xfrm>
            <a:off x="311700" y="29956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9" name="Google Shape;59;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3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1pPr>
            <a:lvl2pPr lvl="1"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2pPr>
            <a:lvl3pPr lvl="2"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3pPr>
            <a:lvl4pPr lvl="3"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4pPr>
            <a:lvl5pPr lvl="4"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5pPr>
            <a:lvl6pPr lvl="5"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6pPr>
            <a:lvl7pPr lvl="6"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7pPr>
            <a:lvl8pPr lvl="7"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8pPr>
            <a:lvl9pPr lvl="8" marR="0" rtl="0" algn="l">
              <a:lnSpc>
                <a:spcPct val="100000"/>
              </a:lnSpc>
              <a:spcBef>
                <a:spcPts val="0"/>
              </a:spcBef>
              <a:spcAft>
                <a:spcPts val="0"/>
              </a:spcAft>
              <a:buClr>
                <a:schemeClr val="accent1"/>
              </a:buClr>
              <a:buSzPts val="3600"/>
              <a:buFont typeface="PT Sans Narrow"/>
              <a:buNone/>
              <a:defRPr b="1" i="0" sz="3600" u="none" cap="none" strike="noStrike">
                <a:solidFill>
                  <a:schemeClr val="accent1"/>
                </a:solidFill>
                <a:latin typeface="PT Sans Narrow"/>
                <a:ea typeface="PT Sans Narrow"/>
                <a:cs typeface="PT Sans Narrow"/>
                <a:sym typeface="PT Sans Narrow"/>
              </a:defRPr>
            </a:lvl9pPr>
          </a:lstStyle>
          <a:p/>
        </p:txBody>
      </p:sp>
      <p:sp>
        <p:nvSpPr>
          <p:cNvPr id="7" name="Google Shape;7;p35"/>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Open Sans"/>
              <a:buChar char="●"/>
              <a:defRPr b="0" i="0" sz="1800" u="none" cap="none" strike="noStrike">
                <a:solidFill>
                  <a:schemeClr val="dk2"/>
                </a:solidFill>
                <a:latin typeface="Open Sans"/>
                <a:ea typeface="Open Sans"/>
                <a:cs typeface="Open Sans"/>
                <a:sym typeface="Open Sans"/>
              </a:defRPr>
            </a:lvl1pPr>
            <a:lvl2pPr indent="-317500" lvl="1" marL="914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2pPr>
            <a:lvl3pPr indent="-317500" lvl="2" marL="1371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3pPr>
            <a:lvl4pPr indent="-317500" lvl="3" marL="1828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4pPr>
            <a:lvl5pPr indent="-317500" lvl="4" marL="22860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5pPr>
            <a:lvl6pPr indent="-317500" lvl="5" marL="27432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6pPr>
            <a:lvl7pPr indent="-317500" lvl="6" marL="32004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7pPr>
            <a:lvl8pPr indent="-317500" lvl="7" marL="36576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8pPr>
            <a:lvl9pPr indent="-317500" lvl="8" marL="4114800" marR="0" rtl="0" algn="l">
              <a:lnSpc>
                <a:spcPct val="115000"/>
              </a:lnSpc>
              <a:spcBef>
                <a:spcPts val="0"/>
              </a:spcBef>
              <a:spcAft>
                <a:spcPts val="0"/>
              </a:spcAft>
              <a:buClr>
                <a:schemeClr val="dk2"/>
              </a:buClr>
              <a:buSzPts val="1400"/>
              <a:buFont typeface="Open Sans"/>
              <a:buChar char="■"/>
              <a:defRPr b="0" i="0" sz="1400" u="none" cap="none" strike="noStrike">
                <a:solidFill>
                  <a:schemeClr val="dk2"/>
                </a:solidFill>
                <a:latin typeface="Open Sans"/>
                <a:ea typeface="Open Sans"/>
                <a:cs typeface="Open Sans"/>
                <a:sym typeface="Open Sans"/>
              </a:defRPr>
            </a:lvl9pPr>
          </a:lstStyle>
          <a:p/>
        </p:txBody>
      </p:sp>
      <p:sp>
        <p:nvSpPr>
          <p:cNvPr id="8" name="Google Shape;8;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23.png"/><Relationship Id="rId6"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5.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png"/><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
          <p:cNvSpPr txBox="1"/>
          <p:nvPr>
            <p:ph type="ctrTitle"/>
          </p:nvPr>
        </p:nvSpPr>
        <p:spPr>
          <a:xfrm>
            <a:off x="1004150" y="1751764"/>
            <a:ext cx="7136700" cy="10224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Unidad 3: Gestión de sistema de archivos (2)</a:t>
            </a:r>
            <a:endParaRPr/>
          </a:p>
        </p:txBody>
      </p:sp>
      <p:sp>
        <p:nvSpPr>
          <p:cNvPr id="67" name="Google Shape;67;p1"/>
          <p:cNvSpPr txBox="1"/>
          <p:nvPr>
            <p:ph idx="1" type="subTitle"/>
          </p:nvPr>
        </p:nvSpPr>
        <p:spPr>
          <a:xfrm>
            <a:off x="2137225" y="2850039"/>
            <a:ext cx="48705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s" sz="1700">
                <a:solidFill>
                  <a:srgbClr val="695D46"/>
                </a:solidFill>
              </a:rPr>
              <a:t>2024-02 (lvc)</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Temas</a:t>
            </a:r>
            <a:endParaRPr/>
          </a:p>
        </p:txBody>
      </p:sp>
      <p:sp>
        <p:nvSpPr>
          <p:cNvPr id="73" name="Google Shape;73;p2"/>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Seguridad y protección </a:t>
            </a:r>
            <a:endParaRPr/>
          </a:p>
          <a:p>
            <a:pPr indent="-317500" lvl="1" marL="914400" rtl="0" algn="l">
              <a:lnSpc>
                <a:spcPct val="115000"/>
              </a:lnSpc>
              <a:spcBef>
                <a:spcPts val="0"/>
              </a:spcBef>
              <a:spcAft>
                <a:spcPts val="0"/>
              </a:spcAft>
              <a:buSzPts val="1400"/>
              <a:buChar char="○"/>
            </a:pPr>
            <a:r>
              <a:rPr lang="es"/>
              <a:t>Integridad del sistema de archivos</a:t>
            </a:r>
            <a:endParaRPr/>
          </a:p>
          <a:p>
            <a:pPr indent="-317500" lvl="1" marL="914400" rtl="0" algn="l">
              <a:lnSpc>
                <a:spcPct val="115000"/>
              </a:lnSpc>
              <a:spcBef>
                <a:spcPts val="0"/>
              </a:spcBef>
              <a:spcAft>
                <a:spcPts val="0"/>
              </a:spcAft>
              <a:buSzPts val="1400"/>
              <a:buChar char="○"/>
            </a:pPr>
            <a:r>
              <a:rPr lang="es"/>
              <a:t>Ataques a la integridad y seguridad del sistema de archivos</a:t>
            </a:r>
            <a:endParaRPr/>
          </a:p>
          <a:p>
            <a:pPr indent="-317500" lvl="1" marL="914400" rtl="0" algn="l">
              <a:lnSpc>
                <a:spcPct val="115000"/>
              </a:lnSpc>
              <a:spcBef>
                <a:spcPts val="0"/>
              </a:spcBef>
              <a:spcAft>
                <a:spcPts val="0"/>
              </a:spcAft>
              <a:buSzPts val="1400"/>
              <a:buChar char="○"/>
            </a:pPr>
            <a:r>
              <a:rPr lang="es"/>
              <a:t>Principios de diseño de sistemas seguros</a:t>
            </a:r>
            <a:endParaRPr/>
          </a:p>
          <a:p>
            <a:pPr indent="-317500" lvl="1" marL="914400" rtl="0" algn="l">
              <a:lnSpc>
                <a:spcPct val="115000"/>
              </a:lnSpc>
              <a:spcBef>
                <a:spcPts val="0"/>
              </a:spcBef>
              <a:spcAft>
                <a:spcPts val="0"/>
              </a:spcAft>
              <a:buSzPts val="1400"/>
              <a:buChar char="○"/>
            </a:pPr>
            <a:r>
              <a:rPr lang="es"/>
              <a:t>Identificación de usuarios</a:t>
            </a:r>
            <a:endParaRPr/>
          </a:p>
          <a:p>
            <a:pPr indent="0" lvl="0" marL="9144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Mecanismos de protección y control de accesos</a:t>
            </a:r>
            <a:endParaRPr/>
          </a:p>
          <a:p>
            <a:pPr indent="-317500" lvl="1" marL="914400" rtl="0" algn="l">
              <a:lnSpc>
                <a:spcPct val="115000"/>
              </a:lnSpc>
              <a:spcBef>
                <a:spcPts val="0"/>
              </a:spcBef>
              <a:spcAft>
                <a:spcPts val="0"/>
              </a:spcAft>
              <a:buSzPts val="1400"/>
              <a:buChar char="○"/>
            </a:pPr>
            <a:r>
              <a:rPr lang="es"/>
              <a:t>Dominio de protección</a:t>
            </a:r>
            <a:endParaRPr/>
          </a:p>
          <a:p>
            <a:pPr indent="-317500" lvl="1" marL="914400" rtl="0" algn="l">
              <a:lnSpc>
                <a:spcPct val="115000"/>
              </a:lnSpc>
              <a:spcBef>
                <a:spcPts val="0"/>
              </a:spcBef>
              <a:spcAft>
                <a:spcPts val="0"/>
              </a:spcAft>
              <a:buSzPts val="1400"/>
              <a:buChar char="○"/>
            </a:pPr>
            <a:r>
              <a:rPr lang="es"/>
              <a:t>Matriz de acceso</a:t>
            </a:r>
            <a:endParaRPr/>
          </a:p>
          <a:p>
            <a:pPr indent="-317500" lvl="1" marL="914400" rtl="0" algn="l">
              <a:lnSpc>
                <a:spcPct val="115000"/>
              </a:lnSpc>
              <a:spcBef>
                <a:spcPts val="0"/>
              </a:spcBef>
              <a:spcAft>
                <a:spcPts val="0"/>
              </a:spcAft>
              <a:buSzPts val="1400"/>
              <a:buChar char="○"/>
            </a:pPr>
            <a:r>
              <a:rPr lang="es"/>
              <a:t>Lista de accesos</a:t>
            </a:r>
            <a:endParaRPr/>
          </a:p>
          <a:p>
            <a:pPr indent="-317500" lvl="1" marL="914400" rtl="0" algn="l">
              <a:lnSpc>
                <a:spcPct val="115000"/>
              </a:lnSpc>
              <a:spcBef>
                <a:spcPts val="0"/>
              </a:spcBef>
              <a:spcAft>
                <a:spcPts val="0"/>
              </a:spcAft>
              <a:buSzPts val="1400"/>
              <a:buChar char="○"/>
            </a:pPr>
            <a:r>
              <a:rPr lang="es"/>
              <a:t>Lista de capacidades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79" name="Google Shape;79;p3"/>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s"/>
              <a:t>Uno de los mayores problemas que se da cuando se pretende almacenar información en un computador es la seguridad de la misma,</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 Lo anterior, lleva a idear, diseñar e implementar diferentes mecanismos que ayuden a proteger la integridad de la información, ya sea de daños físicos (integridad de la información) como acceso inadecuados o mal intencionados y/o daños a la infraestructura, que podría corromper o dañar la información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85" name="Google Shape;85;p4"/>
          <p:cNvSpPr txBox="1"/>
          <p:nvPr>
            <p:ph idx="1" type="body"/>
          </p:nvPr>
        </p:nvSpPr>
        <p:spPr>
          <a:xfrm>
            <a:off x="311700" y="1266325"/>
            <a:ext cx="8520600" cy="37329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b="1" lang="es">
                <a:solidFill>
                  <a:srgbClr val="FF0000"/>
                </a:solidFill>
              </a:rPr>
              <a:t>El término seguridad, </a:t>
            </a:r>
            <a:r>
              <a:rPr lang="es"/>
              <a:t>es el que plantea el problema de forma general, es decir, todas las posibles situaciones que podrían afectar la información, ejemplo: posibles hacking, certificación de comunicación entre procesos, aseguramiento de envío y recepción de mensajes, tiempo de vida de proceso, etc. </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b="1" lang="es">
                <a:solidFill>
                  <a:srgbClr val="FF0000"/>
                </a:solidFill>
              </a:rPr>
              <a:t>El término mecanismo de protección,</a:t>
            </a:r>
            <a:r>
              <a:rPr lang="es"/>
              <a:t> es el que plantea los procedimientos específicos utilizados por el Sistema Operativo para asegurar la información, ejemplos: cuentas de usuario, permisos sobre los archivos, accesibilidad a espacios restringidos,  espacio de almacenamiento disponible por usuario, etc.</a:t>
            </a:r>
            <a:endParaRPr/>
          </a:p>
        </p:txBody>
      </p:sp>
      <p:pic>
        <p:nvPicPr>
          <p:cNvPr id="86" name="Google Shape;86;p4"/>
          <p:cNvPicPr preferRelativeResize="0"/>
          <p:nvPr/>
        </p:nvPicPr>
        <p:blipFill rotWithShape="1">
          <a:blip r:embed="rId3">
            <a:alphaModFix/>
          </a:blip>
          <a:srcRect b="0" l="0" r="0" t="0"/>
          <a:stretch/>
        </p:blipFill>
        <p:spPr>
          <a:xfrm>
            <a:off x="7915079" y="0"/>
            <a:ext cx="1186571" cy="1152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92" name="Google Shape;92;p5"/>
          <p:cNvSpPr txBox="1"/>
          <p:nvPr/>
        </p:nvSpPr>
        <p:spPr>
          <a:xfrm>
            <a:off x="259325" y="2528525"/>
            <a:ext cx="1556100" cy="857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problemas de seguridad</a:t>
            </a:r>
            <a:endParaRPr b="0" i="0" sz="1800" u="none" cap="none" strike="noStrike">
              <a:solidFill>
                <a:schemeClr val="dk2"/>
              </a:solidFill>
              <a:latin typeface="Open Sans"/>
              <a:ea typeface="Open Sans"/>
              <a:cs typeface="Open Sans"/>
              <a:sym typeface="Open Sans"/>
            </a:endParaRPr>
          </a:p>
        </p:txBody>
      </p:sp>
      <p:cxnSp>
        <p:nvCxnSpPr>
          <p:cNvPr id="93" name="Google Shape;93;p5"/>
          <p:cNvCxnSpPr/>
          <p:nvPr/>
        </p:nvCxnSpPr>
        <p:spPr>
          <a:xfrm flipH="1" rot="10800000">
            <a:off x="1815425" y="1642400"/>
            <a:ext cx="1844100" cy="1170600"/>
          </a:xfrm>
          <a:prstGeom prst="straightConnector1">
            <a:avLst/>
          </a:prstGeom>
          <a:noFill/>
          <a:ln cap="flat" cmpd="sng" w="9525">
            <a:solidFill>
              <a:schemeClr val="dk2"/>
            </a:solidFill>
            <a:prstDash val="solid"/>
            <a:round/>
            <a:headEnd len="sm" w="sm" type="none"/>
            <a:tailEnd len="med" w="med" type="triangle"/>
          </a:ln>
        </p:spPr>
      </p:cxnSp>
      <p:cxnSp>
        <p:nvCxnSpPr>
          <p:cNvPr id="94" name="Google Shape;94;p5"/>
          <p:cNvCxnSpPr>
            <a:endCxn id="95" idx="1"/>
          </p:cNvCxnSpPr>
          <p:nvPr/>
        </p:nvCxnSpPr>
        <p:spPr>
          <a:xfrm flipH="1" rot="10800000">
            <a:off x="1907575" y="2457600"/>
            <a:ext cx="1829700" cy="693600"/>
          </a:xfrm>
          <a:prstGeom prst="straightConnector1">
            <a:avLst/>
          </a:prstGeom>
          <a:noFill/>
          <a:ln cap="flat" cmpd="sng" w="9525">
            <a:solidFill>
              <a:schemeClr val="dk2"/>
            </a:solidFill>
            <a:prstDash val="solid"/>
            <a:round/>
            <a:headEnd len="sm" w="sm" type="none"/>
            <a:tailEnd len="med" w="med" type="triangle"/>
          </a:ln>
        </p:spPr>
      </p:cxnSp>
      <p:cxnSp>
        <p:nvCxnSpPr>
          <p:cNvPr id="96" name="Google Shape;96;p5"/>
          <p:cNvCxnSpPr>
            <a:endCxn id="97" idx="1"/>
          </p:cNvCxnSpPr>
          <p:nvPr/>
        </p:nvCxnSpPr>
        <p:spPr>
          <a:xfrm>
            <a:off x="1894675" y="3284825"/>
            <a:ext cx="1842600" cy="196800"/>
          </a:xfrm>
          <a:prstGeom prst="straightConnector1">
            <a:avLst/>
          </a:prstGeom>
          <a:noFill/>
          <a:ln cap="flat" cmpd="sng" w="9525">
            <a:solidFill>
              <a:schemeClr val="dk2"/>
            </a:solidFill>
            <a:prstDash val="solid"/>
            <a:round/>
            <a:headEnd len="sm" w="sm" type="none"/>
            <a:tailEnd len="med" w="med" type="triangle"/>
          </a:ln>
        </p:spPr>
      </p:cxnSp>
      <p:sp>
        <p:nvSpPr>
          <p:cNvPr id="98" name="Google Shape;98;p5"/>
          <p:cNvSpPr/>
          <p:nvPr/>
        </p:nvSpPr>
        <p:spPr>
          <a:xfrm>
            <a:off x="3737275" y="965425"/>
            <a:ext cx="4653600" cy="936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Situaciones ajenas al problema informáticos, ejemplo: incendios, cortes de luz, terremotos, etc</a:t>
            </a:r>
            <a:endParaRPr b="0" i="0" sz="1400" u="none" cap="none" strike="noStrike">
              <a:solidFill>
                <a:srgbClr val="000000"/>
              </a:solidFill>
              <a:latin typeface="Open Sans"/>
              <a:ea typeface="Open Sans"/>
              <a:cs typeface="Open Sans"/>
              <a:sym typeface="Open Sans"/>
            </a:endParaRPr>
          </a:p>
        </p:txBody>
      </p:sp>
      <p:sp>
        <p:nvSpPr>
          <p:cNvPr id="99" name="Google Shape;99;p5"/>
          <p:cNvSpPr txBox="1"/>
          <p:nvPr/>
        </p:nvSpPr>
        <p:spPr>
          <a:xfrm>
            <a:off x="2053075" y="1606425"/>
            <a:ext cx="1181400" cy="615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Open Sans"/>
                <a:ea typeface="Open Sans"/>
                <a:cs typeface="Open Sans"/>
                <a:sym typeface="Open Sans"/>
              </a:rPr>
              <a:t>posibles causas</a:t>
            </a:r>
            <a:endParaRPr b="0" i="0" sz="1400" u="none" cap="none" strike="noStrike">
              <a:solidFill>
                <a:schemeClr val="dk2"/>
              </a:solidFill>
              <a:latin typeface="Open Sans"/>
              <a:ea typeface="Open Sans"/>
              <a:cs typeface="Open Sans"/>
              <a:sym typeface="Open Sans"/>
            </a:endParaRPr>
          </a:p>
        </p:txBody>
      </p:sp>
      <p:sp>
        <p:nvSpPr>
          <p:cNvPr id="95" name="Google Shape;95;p5"/>
          <p:cNvSpPr/>
          <p:nvPr/>
        </p:nvSpPr>
        <p:spPr>
          <a:xfrm>
            <a:off x="3737275" y="1989450"/>
            <a:ext cx="4653600" cy="936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Averías del computador, ejemplo: se quemó el disco duro, mal funcionamiento de periféricos, fallas del procesador.</a:t>
            </a:r>
            <a:endParaRPr b="0" i="0" sz="1400" u="none" cap="none" strike="noStrike">
              <a:solidFill>
                <a:srgbClr val="000000"/>
              </a:solidFill>
              <a:latin typeface="Open Sans"/>
              <a:ea typeface="Open Sans"/>
              <a:cs typeface="Open Sans"/>
              <a:sym typeface="Open Sans"/>
            </a:endParaRPr>
          </a:p>
        </p:txBody>
      </p:sp>
      <p:sp>
        <p:nvSpPr>
          <p:cNvPr id="97" name="Google Shape;97;p5"/>
          <p:cNvSpPr/>
          <p:nvPr/>
        </p:nvSpPr>
        <p:spPr>
          <a:xfrm>
            <a:off x="3737275" y="3013475"/>
            <a:ext cx="4653600" cy="936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Problemas de software, ejemplo: disco duro lleno, errores de programas, errores de comunicación, etc</a:t>
            </a:r>
            <a:endParaRPr b="0" i="0" sz="1400" u="none" cap="none" strike="noStrike">
              <a:solidFill>
                <a:srgbClr val="000000"/>
              </a:solidFill>
              <a:latin typeface="Open Sans"/>
              <a:ea typeface="Open Sans"/>
              <a:cs typeface="Open Sans"/>
              <a:sym typeface="Open Sans"/>
            </a:endParaRPr>
          </a:p>
        </p:txBody>
      </p:sp>
      <p:cxnSp>
        <p:nvCxnSpPr>
          <p:cNvPr id="100" name="Google Shape;100;p5"/>
          <p:cNvCxnSpPr/>
          <p:nvPr/>
        </p:nvCxnSpPr>
        <p:spPr>
          <a:xfrm>
            <a:off x="1829750" y="3580275"/>
            <a:ext cx="1868700" cy="714000"/>
          </a:xfrm>
          <a:prstGeom prst="straightConnector1">
            <a:avLst/>
          </a:prstGeom>
          <a:noFill/>
          <a:ln cap="flat" cmpd="sng" w="9525">
            <a:solidFill>
              <a:schemeClr val="dk2"/>
            </a:solidFill>
            <a:prstDash val="solid"/>
            <a:round/>
            <a:headEnd len="sm" w="sm" type="none"/>
            <a:tailEnd len="med" w="med" type="triangle"/>
          </a:ln>
        </p:spPr>
      </p:cxnSp>
      <p:sp>
        <p:nvSpPr>
          <p:cNvPr id="101" name="Google Shape;101;p5"/>
          <p:cNvSpPr/>
          <p:nvPr/>
        </p:nvSpPr>
        <p:spPr>
          <a:xfrm>
            <a:off x="3737275" y="4037500"/>
            <a:ext cx="4653600" cy="936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Errores humanos o acciones maliciosas, ejemplo: ejecutar de forma incorrecta un programa, borrar o corromper intencionalmente un archivo, acceder de forma indebida a una sesión de usuario </a:t>
            </a:r>
            <a:endParaRPr b="0" i="0" sz="1400" u="none" cap="none" strike="noStrike">
              <a:solidFill>
                <a:srgbClr val="000000"/>
              </a:solidFill>
              <a:latin typeface="Open Sans"/>
              <a:ea typeface="Open Sans"/>
              <a:cs typeface="Open Sans"/>
              <a:sym typeface="Open Sans"/>
            </a:endParaRPr>
          </a:p>
        </p:txBody>
      </p:sp>
      <p:pic>
        <p:nvPicPr>
          <p:cNvPr id="102" name="Google Shape;102;p5"/>
          <p:cNvPicPr preferRelativeResize="0"/>
          <p:nvPr/>
        </p:nvPicPr>
        <p:blipFill rotWithShape="1">
          <a:blip r:embed="rId3">
            <a:alphaModFix/>
          </a:blip>
          <a:srcRect b="0" l="0" r="0" t="0"/>
          <a:stretch/>
        </p:blipFill>
        <p:spPr>
          <a:xfrm>
            <a:off x="8502700" y="1125765"/>
            <a:ext cx="557525" cy="615600"/>
          </a:xfrm>
          <a:prstGeom prst="rect">
            <a:avLst/>
          </a:prstGeom>
          <a:noFill/>
          <a:ln>
            <a:noFill/>
          </a:ln>
        </p:spPr>
      </p:pic>
      <p:pic>
        <p:nvPicPr>
          <p:cNvPr id="103" name="Google Shape;103;p5"/>
          <p:cNvPicPr preferRelativeResize="0"/>
          <p:nvPr/>
        </p:nvPicPr>
        <p:blipFill rotWithShape="1">
          <a:blip r:embed="rId4">
            <a:alphaModFix/>
          </a:blip>
          <a:srcRect b="0" l="0" r="0" t="0"/>
          <a:stretch/>
        </p:blipFill>
        <p:spPr>
          <a:xfrm>
            <a:off x="8452725" y="2149800"/>
            <a:ext cx="657470" cy="615600"/>
          </a:xfrm>
          <a:prstGeom prst="rect">
            <a:avLst/>
          </a:prstGeom>
          <a:noFill/>
          <a:ln>
            <a:noFill/>
          </a:ln>
        </p:spPr>
      </p:pic>
      <p:pic>
        <p:nvPicPr>
          <p:cNvPr id="104" name="Google Shape;104;p5"/>
          <p:cNvPicPr preferRelativeResize="0"/>
          <p:nvPr/>
        </p:nvPicPr>
        <p:blipFill rotWithShape="1">
          <a:blip r:embed="rId5">
            <a:alphaModFix/>
          </a:blip>
          <a:srcRect b="0" l="0" r="0" t="0"/>
          <a:stretch/>
        </p:blipFill>
        <p:spPr>
          <a:xfrm>
            <a:off x="8452716" y="3151194"/>
            <a:ext cx="557525" cy="588871"/>
          </a:xfrm>
          <a:prstGeom prst="rect">
            <a:avLst/>
          </a:prstGeom>
          <a:noFill/>
          <a:ln>
            <a:noFill/>
          </a:ln>
        </p:spPr>
      </p:pic>
      <p:pic>
        <p:nvPicPr>
          <p:cNvPr id="105" name="Google Shape;105;p5"/>
          <p:cNvPicPr preferRelativeResize="0"/>
          <p:nvPr/>
        </p:nvPicPr>
        <p:blipFill rotWithShape="1">
          <a:blip r:embed="rId6">
            <a:alphaModFix/>
          </a:blip>
          <a:srcRect b="0" l="0" r="0" t="0"/>
          <a:stretch/>
        </p:blipFill>
        <p:spPr>
          <a:xfrm>
            <a:off x="8502700" y="4294264"/>
            <a:ext cx="557525" cy="5513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111" name="Google Shape;111;p6"/>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s"/>
              <a:t>Un hecho a destacar es que los problemas de vulnerabilidad y/o seguridad en estos días es mucho más complejo en en un comienzo, esto por el alto grado de interoperabilidad y conectividad de los sistemas</a:t>
            </a:r>
            <a:endParaRPr/>
          </a:p>
        </p:txBody>
      </p:sp>
      <p:pic>
        <p:nvPicPr>
          <p:cNvPr id="112" name="Google Shape;112;p6"/>
          <p:cNvPicPr preferRelativeResize="0"/>
          <p:nvPr/>
        </p:nvPicPr>
        <p:blipFill rotWithShape="1">
          <a:blip r:embed="rId3">
            <a:alphaModFix/>
          </a:blip>
          <a:srcRect b="0" l="0" r="0" t="0"/>
          <a:stretch/>
        </p:blipFill>
        <p:spPr>
          <a:xfrm>
            <a:off x="143871" y="3291250"/>
            <a:ext cx="3727099" cy="1643350"/>
          </a:xfrm>
          <a:prstGeom prst="rect">
            <a:avLst/>
          </a:prstGeom>
          <a:noFill/>
          <a:ln>
            <a:noFill/>
          </a:ln>
        </p:spPr>
      </p:pic>
      <p:sp>
        <p:nvSpPr>
          <p:cNvPr id="113" name="Google Shape;113;p6"/>
          <p:cNvSpPr txBox="1"/>
          <p:nvPr/>
        </p:nvSpPr>
        <p:spPr>
          <a:xfrm>
            <a:off x="907550" y="2830975"/>
            <a:ext cx="2629500" cy="37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Antes BUG</a:t>
            </a:r>
            <a:endParaRPr b="0" i="0" sz="1800" u="none" cap="none" strike="noStrike">
              <a:solidFill>
                <a:schemeClr val="dk2"/>
              </a:solidFill>
              <a:latin typeface="Open Sans"/>
              <a:ea typeface="Open Sans"/>
              <a:cs typeface="Open Sans"/>
              <a:sym typeface="Open Sans"/>
            </a:endParaRPr>
          </a:p>
        </p:txBody>
      </p:sp>
      <p:pic>
        <p:nvPicPr>
          <p:cNvPr id="114" name="Google Shape;114;p6"/>
          <p:cNvPicPr preferRelativeResize="0"/>
          <p:nvPr/>
        </p:nvPicPr>
        <p:blipFill rotWithShape="1">
          <a:blip r:embed="rId4">
            <a:alphaModFix/>
          </a:blip>
          <a:srcRect b="0" l="0" r="0" t="0"/>
          <a:stretch/>
        </p:blipFill>
        <p:spPr>
          <a:xfrm>
            <a:off x="5167100" y="2830976"/>
            <a:ext cx="2324825" cy="2195675"/>
          </a:xfrm>
          <a:prstGeom prst="rect">
            <a:avLst/>
          </a:prstGeom>
          <a:noFill/>
          <a:ln>
            <a:noFill/>
          </a:ln>
        </p:spPr>
      </p:pic>
      <p:sp>
        <p:nvSpPr>
          <p:cNvPr id="115" name="Google Shape;115;p6"/>
          <p:cNvSpPr txBox="1"/>
          <p:nvPr/>
        </p:nvSpPr>
        <p:spPr>
          <a:xfrm>
            <a:off x="5079650" y="2384400"/>
            <a:ext cx="3161400" cy="37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Ahora interconectividad</a:t>
            </a:r>
            <a:endParaRPr b="0" i="0" sz="1800" u="none" cap="none" strike="noStrike">
              <a:solidFill>
                <a:schemeClr val="dk2"/>
              </a:solidFill>
              <a:latin typeface="Open Sans"/>
              <a:ea typeface="Open Sans"/>
              <a:cs typeface="Open Sans"/>
              <a:sym typeface="Open Sans"/>
            </a:endParaRPr>
          </a:p>
        </p:txBody>
      </p:sp>
      <p:pic>
        <p:nvPicPr>
          <p:cNvPr id="116" name="Google Shape;116;p6"/>
          <p:cNvPicPr preferRelativeResize="0"/>
          <p:nvPr/>
        </p:nvPicPr>
        <p:blipFill rotWithShape="1">
          <a:blip r:embed="rId5">
            <a:alphaModFix/>
          </a:blip>
          <a:srcRect b="0" l="0" r="0" t="0"/>
          <a:stretch/>
        </p:blipFill>
        <p:spPr>
          <a:xfrm>
            <a:off x="7575625" y="4120575"/>
            <a:ext cx="609450" cy="591798"/>
          </a:xfrm>
          <a:prstGeom prst="rect">
            <a:avLst/>
          </a:prstGeom>
          <a:noFill/>
          <a:ln>
            <a:noFill/>
          </a:ln>
        </p:spPr>
      </p:pic>
      <p:pic>
        <p:nvPicPr>
          <p:cNvPr id="117" name="Google Shape;117;p6"/>
          <p:cNvPicPr preferRelativeResize="0"/>
          <p:nvPr/>
        </p:nvPicPr>
        <p:blipFill rotWithShape="1">
          <a:blip r:embed="rId6">
            <a:alphaModFix/>
          </a:blip>
          <a:srcRect b="0" l="0" r="0" t="0"/>
          <a:stretch/>
        </p:blipFill>
        <p:spPr>
          <a:xfrm>
            <a:off x="7575615" y="3472215"/>
            <a:ext cx="609450" cy="600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123" name="Google Shape;123;p7"/>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b="1" lang="es">
                <a:solidFill>
                  <a:srgbClr val="4A86E8"/>
                </a:solidFill>
              </a:rPr>
              <a:t>Integridad del sistema de archivos</a:t>
            </a:r>
            <a:endParaRPr b="1">
              <a:solidFill>
                <a:srgbClr val="4A86E8"/>
              </a:solidFill>
            </a:endParaRPr>
          </a:p>
          <a:p>
            <a:pPr indent="0" lvl="0" marL="0" rtl="0" algn="l">
              <a:lnSpc>
                <a:spcPct val="115000"/>
              </a:lnSpc>
              <a:spcBef>
                <a:spcPts val="1200"/>
              </a:spcBef>
              <a:spcAft>
                <a:spcPts val="0"/>
              </a:spcAft>
              <a:buSzPts val="1800"/>
              <a:buNone/>
            </a:pPr>
            <a:r>
              <a:rPr lang="es"/>
              <a:t>Uno de los peores problemas que se puede presentar en un computador es la pérdida del sistema de archivos, ya que esto puede significar la pérdida meses  o años de trabajo. Algunos problemas que podrían ocasionar perdida de integridad de datos son:</a:t>
            </a:r>
            <a:endParaRPr/>
          </a:p>
          <a:p>
            <a:pPr indent="0" lvl="0" marL="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Problemas de infraestructura física</a:t>
            </a:r>
            <a:endParaRPr/>
          </a:p>
          <a:p>
            <a:pPr indent="-342900" lvl="0" marL="457200" rtl="0" algn="l">
              <a:lnSpc>
                <a:spcPct val="115000"/>
              </a:lnSpc>
              <a:spcBef>
                <a:spcPts val="0"/>
              </a:spcBef>
              <a:spcAft>
                <a:spcPts val="0"/>
              </a:spcAft>
              <a:buSzPts val="1800"/>
              <a:buChar char="●"/>
            </a:pPr>
            <a:r>
              <a:rPr lang="es"/>
              <a:t>Problemas externos que afecten al equipo</a:t>
            </a:r>
            <a:endParaRPr/>
          </a:p>
          <a:p>
            <a:pPr indent="-342900" lvl="0" marL="457200" rtl="0" algn="l">
              <a:lnSpc>
                <a:spcPct val="115000"/>
              </a:lnSpc>
              <a:spcBef>
                <a:spcPts val="0"/>
              </a:spcBef>
              <a:spcAft>
                <a:spcPts val="0"/>
              </a:spcAft>
              <a:buSzPts val="1800"/>
              <a:buChar char="●"/>
            </a:pPr>
            <a:r>
              <a:rPr lang="es"/>
              <a:t>Problemas de software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129" name="Google Shape;129;p8"/>
          <p:cNvSpPr txBox="1"/>
          <p:nvPr>
            <p:ph idx="1" type="body"/>
          </p:nvPr>
        </p:nvSpPr>
        <p:spPr>
          <a:xfrm>
            <a:off x="311700" y="1266325"/>
            <a:ext cx="8520600" cy="36972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s">
                <a:solidFill>
                  <a:srgbClr val="4A86E8"/>
                </a:solidFill>
              </a:rPr>
              <a:t>Integridad del sistema de archivos</a:t>
            </a:r>
            <a:endParaRPr b="1">
              <a:solidFill>
                <a:srgbClr val="4A86E8"/>
              </a:solidFill>
            </a:endParaRPr>
          </a:p>
          <a:p>
            <a:pPr indent="-342900" lvl="0" marL="457200" rtl="0" algn="l">
              <a:lnSpc>
                <a:spcPct val="115000"/>
              </a:lnSpc>
              <a:spcBef>
                <a:spcPts val="1200"/>
              </a:spcBef>
              <a:spcAft>
                <a:spcPts val="0"/>
              </a:spcAft>
              <a:buClr>
                <a:srgbClr val="BF9000"/>
              </a:buClr>
              <a:buSzPts val="1800"/>
              <a:buChar char="●"/>
            </a:pPr>
            <a:r>
              <a:rPr b="1" lang="es">
                <a:solidFill>
                  <a:srgbClr val="BF9000"/>
                </a:solidFill>
              </a:rPr>
              <a:t>Problemas de infraestructura física</a:t>
            </a:r>
            <a:endParaRPr b="1">
              <a:solidFill>
                <a:srgbClr val="BF9000"/>
              </a:solidFill>
            </a:endParaRPr>
          </a:p>
          <a:p>
            <a:pPr indent="0" lvl="0" marL="0" rtl="0" algn="l">
              <a:lnSpc>
                <a:spcPct val="115000"/>
              </a:lnSpc>
              <a:spcBef>
                <a:spcPts val="1200"/>
              </a:spcBef>
              <a:spcAft>
                <a:spcPts val="0"/>
              </a:spcAft>
              <a:buSzPts val="1800"/>
              <a:buNone/>
            </a:pPr>
            <a:r>
              <a:rPr lang="es"/>
              <a:t>Ej ⇒ Disco duro con bloques defectuosos, si se identifica que el disco tiene este problema, el sistema operativo por lo general toma dos posibles caminos, que son:</a:t>
            </a:r>
            <a:endParaRPr/>
          </a:p>
          <a:p>
            <a:pPr indent="-342900" lvl="0" marL="457200" rtl="0" algn="l">
              <a:lnSpc>
                <a:spcPct val="115000"/>
              </a:lnSpc>
              <a:spcBef>
                <a:spcPts val="1200"/>
              </a:spcBef>
              <a:spcAft>
                <a:spcPts val="0"/>
              </a:spcAft>
              <a:buSzPts val="1800"/>
              <a:buChar char="●"/>
            </a:pPr>
            <a:r>
              <a:rPr lang="es"/>
              <a:t>crear una lista con los bloques defectuosos, así cada vez que se desea escribir información se puede conocer qué bloques están defectuosos y no de utilizan</a:t>
            </a:r>
            <a:endParaRPr/>
          </a:p>
          <a:p>
            <a:pPr indent="-342900" lvl="0" marL="457200" rtl="0" algn="l">
              <a:lnSpc>
                <a:spcPct val="115000"/>
              </a:lnSpc>
              <a:spcBef>
                <a:spcPts val="0"/>
              </a:spcBef>
              <a:spcAft>
                <a:spcPts val="0"/>
              </a:spcAft>
              <a:buSzPts val="1800"/>
              <a:buChar char="●"/>
            </a:pPr>
            <a:r>
              <a:rPr lang="es"/>
              <a:t>crear un gran archivo en estos bloques, con lo cual los bloques figuran como utilizados, lo que evitaría utilizarlos para almacenar información importante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135" name="Google Shape;135;p9"/>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a:solidFill>
                  <a:srgbClr val="4A86E8"/>
                </a:solidFill>
              </a:rPr>
              <a:t>Integridad del sistema de archivos</a:t>
            </a:r>
            <a:endParaRPr/>
          </a:p>
          <a:p>
            <a:pPr indent="-342900" lvl="0" marL="457200" rtl="0" algn="l">
              <a:lnSpc>
                <a:spcPct val="115000"/>
              </a:lnSpc>
              <a:spcBef>
                <a:spcPts val="1200"/>
              </a:spcBef>
              <a:spcAft>
                <a:spcPts val="0"/>
              </a:spcAft>
              <a:buSzPts val="1800"/>
              <a:buChar char="●"/>
            </a:pPr>
            <a:r>
              <a:rPr b="1" lang="es">
                <a:solidFill>
                  <a:srgbClr val="BF9000"/>
                </a:solidFill>
              </a:rPr>
              <a:t>Problemas externos que afecten al equipo</a:t>
            </a:r>
            <a:endParaRPr/>
          </a:p>
          <a:p>
            <a:pPr indent="0" lvl="0" marL="0" rtl="0" algn="l">
              <a:lnSpc>
                <a:spcPct val="115000"/>
              </a:lnSpc>
              <a:spcBef>
                <a:spcPts val="1200"/>
              </a:spcBef>
              <a:spcAft>
                <a:spcPts val="1200"/>
              </a:spcAft>
              <a:buSzPts val="1800"/>
              <a:buNone/>
            </a:pPr>
            <a:r>
              <a:rPr lang="es"/>
              <a:t>Ej ⇒ corte de suministro eléctrico, podría provocar interrupciones de en el proceso de lectura y escritura, lo cual podría generar inconsistencias o pérdidas de información al dejar archivos a medio trabajar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141" name="Google Shape;141;p10"/>
          <p:cNvSpPr txBox="1"/>
          <p:nvPr>
            <p:ph idx="1" type="body"/>
          </p:nvPr>
        </p:nvSpPr>
        <p:spPr>
          <a:xfrm>
            <a:off x="311700" y="1266325"/>
            <a:ext cx="8520600" cy="2724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a:solidFill>
                  <a:srgbClr val="4A86E8"/>
                </a:solidFill>
              </a:rPr>
              <a:t>Integridad del sistema de archivos</a:t>
            </a:r>
            <a:endParaRPr/>
          </a:p>
          <a:p>
            <a:pPr indent="-342900" lvl="0" marL="457200" rtl="0" algn="l">
              <a:lnSpc>
                <a:spcPct val="115000"/>
              </a:lnSpc>
              <a:spcBef>
                <a:spcPts val="1200"/>
              </a:spcBef>
              <a:spcAft>
                <a:spcPts val="0"/>
              </a:spcAft>
              <a:buSzPts val="1800"/>
              <a:buChar char="●"/>
            </a:pPr>
            <a:r>
              <a:rPr lang="es"/>
              <a:t>Problemas de software</a:t>
            </a:r>
            <a:endParaRPr/>
          </a:p>
          <a:p>
            <a:pPr indent="0" lvl="0" marL="0" rtl="0" algn="l">
              <a:lnSpc>
                <a:spcPct val="115000"/>
              </a:lnSpc>
              <a:spcBef>
                <a:spcPts val="1200"/>
              </a:spcBef>
              <a:spcAft>
                <a:spcPts val="1200"/>
              </a:spcAft>
              <a:buSzPts val="1800"/>
              <a:buNone/>
            </a:pPr>
            <a:r>
              <a:rPr lang="es"/>
              <a:t>Ej ⇒ problemas de exclusión mutua podrían provocar inconsistencia en la información reportada por procesos, un caso práctico podría ser Licencia médicas inconsistencia y pérdida de información al no establecer un protocolo de sincronización para las horas del traspaso de información entre servidores</a:t>
            </a:r>
            <a:endParaRPr/>
          </a:p>
        </p:txBody>
      </p:sp>
      <p:pic>
        <p:nvPicPr>
          <p:cNvPr id="142" name="Google Shape;142;p10"/>
          <p:cNvPicPr preferRelativeResize="0"/>
          <p:nvPr/>
        </p:nvPicPr>
        <p:blipFill rotWithShape="1">
          <a:blip r:embed="rId3">
            <a:alphaModFix/>
          </a:blip>
          <a:srcRect b="0" l="0" r="0" t="0"/>
          <a:stretch/>
        </p:blipFill>
        <p:spPr>
          <a:xfrm>
            <a:off x="1923800" y="3605307"/>
            <a:ext cx="979325" cy="1376225"/>
          </a:xfrm>
          <a:prstGeom prst="rect">
            <a:avLst/>
          </a:prstGeom>
          <a:noFill/>
          <a:ln>
            <a:noFill/>
          </a:ln>
        </p:spPr>
      </p:pic>
      <p:pic>
        <p:nvPicPr>
          <p:cNvPr id="143" name="Google Shape;143;p10"/>
          <p:cNvPicPr preferRelativeResize="0"/>
          <p:nvPr/>
        </p:nvPicPr>
        <p:blipFill rotWithShape="1">
          <a:blip r:embed="rId4">
            <a:alphaModFix/>
          </a:blip>
          <a:srcRect b="0" l="0" r="0" t="0"/>
          <a:stretch/>
        </p:blipFill>
        <p:spPr>
          <a:xfrm>
            <a:off x="5755575" y="3721554"/>
            <a:ext cx="1114425" cy="1143752"/>
          </a:xfrm>
          <a:prstGeom prst="rect">
            <a:avLst/>
          </a:prstGeom>
          <a:noFill/>
          <a:ln>
            <a:noFill/>
          </a:ln>
        </p:spPr>
      </p:pic>
      <p:sp>
        <p:nvSpPr>
          <p:cNvPr id="144" name="Google Shape;144;p10"/>
          <p:cNvSpPr txBox="1"/>
          <p:nvPr/>
        </p:nvSpPr>
        <p:spPr>
          <a:xfrm>
            <a:off x="3032775" y="4250225"/>
            <a:ext cx="2283600" cy="64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server 1 utc+1</a:t>
            </a:r>
            <a:endParaRPr b="0" i="0" sz="1800" u="none" cap="none" strike="noStrike">
              <a:solidFill>
                <a:schemeClr val="dk2"/>
              </a:solidFill>
              <a:latin typeface="Open Sans"/>
              <a:ea typeface="Open Sans"/>
              <a:cs typeface="Open Sans"/>
              <a:sym typeface="Open Sans"/>
            </a:endParaRPr>
          </a:p>
        </p:txBody>
      </p:sp>
      <p:sp>
        <p:nvSpPr>
          <p:cNvPr id="145" name="Google Shape;145;p10"/>
          <p:cNvSpPr txBox="1"/>
          <p:nvPr/>
        </p:nvSpPr>
        <p:spPr>
          <a:xfrm>
            <a:off x="6870000" y="4250225"/>
            <a:ext cx="2283600" cy="64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server 1 utc-3</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151" name="Google Shape;151;p11"/>
          <p:cNvSpPr txBox="1"/>
          <p:nvPr>
            <p:ph idx="1" type="body"/>
          </p:nvPr>
        </p:nvSpPr>
        <p:spPr>
          <a:xfrm>
            <a:off x="104825" y="1266325"/>
            <a:ext cx="8931900" cy="37350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b="1" lang="es">
                <a:solidFill>
                  <a:srgbClr val="4A86E8"/>
                </a:solidFill>
              </a:rPr>
              <a:t>Integridad del sistema de archivos</a:t>
            </a:r>
            <a:endParaRPr/>
          </a:p>
          <a:p>
            <a:pPr indent="-342900" lvl="0" marL="457200" rtl="0" algn="l">
              <a:lnSpc>
                <a:spcPct val="115000"/>
              </a:lnSpc>
              <a:spcBef>
                <a:spcPts val="1200"/>
              </a:spcBef>
              <a:spcAft>
                <a:spcPts val="0"/>
              </a:spcAft>
              <a:buSzPts val="1800"/>
              <a:buChar char="●"/>
            </a:pPr>
            <a:r>
              <a:rPr lang="es"/>
              <a:t>Problemas de software</a:t>
            </a:r>
            <a:endParaRPr/>
          </a:p>
          <a:p>
            <a:pPr indent="0" lvl="0" marL="0" rtl="0" algn="l">
              <a:lnSpc>
                <a:spcPct val="115000"/>
              </a:lnSpc>
              <a:spcBef>
                <a:spcPts val="1200"/>
              </a:spcBef>
              <a:spcAft>
                <a:spcPts val="0"/>
              </a:spcAft>
              <a:buSzPts val="1800"/>
              <a:buNone/>
            </a:pPr>
            <a:r>
              <a:rPr lang="es"/>
              <a:t>Ej ⇒ cuando se apaga de forma incorrecta el sistema operativos, muchas veces se cuelga o provoca errores. En algunas ocasiones puede pasar por, saturación de los cores, saturación el usos de la memoria y disco duro sobre 94-96% (en el caso del disco comienza a fallar el swapping y la caché de disco</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s"/>
              <a:t>Dado lo anterior es que siempre conviene tener copias de seguridad de archivos importantes, es por este motivo que los servidores por lo general presentan dos o más discos duros instalados en RAID 1 (discos en espejo) o superior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157" name="Google Shape;157;p12"/>
          <p:cNvSpPr txBox="1"/>
          <p:nvPr>
            <p:ph idx="1" type="body"/>
          </p:nvPr>
        </p:nvSpPr>
        <p:spPr>
          <a:xfrm>
            <a:off x="119800" y="1266325"/>
            <a:ext cx="8939400" cy="1137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solidFill>
                  <a:srgbClr val="4A86E8"/>
                </a:solidFill>
              </a:rPr>
              <a:t>NOTA APARTE - TIPOS DE RAID </a:t>
            </a:r>
            <a:r>
              <a:rPr b="1" lang="es" sz="1500">
                <a:solidFill>
                  <a:srgbClr val="4A86E8"/>
                </a:solidFill>
              </a:rPr>
              <a:t>(Redundant Array of Independent Disks), que es un mecanismos de instalación y utilización de discos duros en servidores, el objetivo es lograr tolerancia a fallas, alta disponibilidad y alto rendimiento. Los RAID más utilizados son:</a:t>
            </a:r>
            <a:endParaRPr b="1" sz="1500">
              <a:solidFill>
                <a:srgbClr val="4A86E8"/>
              </a:solidFill>
            </a:endParaRPr>
          </a:p>
        </p:txBody>
      </p:sp>
      <p:sp>
        <p:nvSpPr>
          <p:cNvPr id="158" name="Google Shape;158;p12"/>
          <p:cNvSpPr/>
          <p:nvPr/>
        </p:nvSpPr>
        <p:spPr>
          <a:xfrm>
            <a:off x="119800" y="2335925"/>
            <a:ext cx="2628000" cy="26652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1" i="0" lang="es" sz="1500" u="none" cap="none" strike="noStrike">
                <a:solidFill>
                  <a:srgbClr val="4A86E8"/>
                </a:solidFill>
                <a:latin typeface="Open Sans"/>
                <a:ea typeface="Open Sans"/>
                <a:cs typeface="Open Sans"/>
                <a:sym typeface="Open Sans"/>
              </a:rPr>
              <a:t>RAID0, </a:t>
            </a:r>
            <a:endParaRPr b="1" i="0" sz="1500" u="none" cap="none" strike="noStrike">
              <a:solidFill>
                <a:srgbClr val="4A86E8"/>
              </a:solidFill>
              <a:latin typeface="Open Sans"/>
              <a:ea typeface="Open Sans"/>
              <a:cs typeface="Open Sans"/>
              <a:sym typeface="Open Sans"/>
            </a:endParaRPr>
          </a:p>
          <a:p>
            <a:pPr indent="0" lvl="0" marL="0" marR="0" rtl="0" algn="ctr">
              <a:lnSpc>
                <a:spcPct val="115000"/>
              </a:lnSpc>
              <a:spcBef>
                <a:spcPts val="1200"/>
              </a:spcBef>
              <a:spcAft>
                <a:spcPts val="1200"/>
              </a:spcAft>
              <a:buClr>
                <a:srgbClr val="000000"/>
              </a:buClr>
              <a:buSzPts val="1500"/>
              <a:buFont typeface="Arial"/>
              <a:buNone/>
            </a:pPr>
            <a:r>
              <a:rPr b="1" i="0" lang="es" sz="1500" u="none" cap="none" strike="noStrike">
                <a:solidFill>
                  <a:srgbClr val="4A86E8"/>
                </a:solidFill>
                <a:latin typeface="Open Sans"/>
                <a:ea typeface="Open Sans"/>
                <a:cs typeface="Open Sans"/>
                <a:sym typeface="Open Sans"/>
              </a:rPr>
              <a:t>distribución de carga</a:t>
            </a:r>
            <a:endParaRPr b="0" i="0" sz="1400" u="none" cap="none" strike="noStrike">
              <a:solidFill>
                <a:srgbClr val="000000"/>
              </a:solidFill>
              <a:latin typeface="Open Sans"/>
              <a:ea typeface="Open Sans"/>
              <a:cs typeface="Open Sans"/>
              <a:sym typeface="Open Sans"/>
            </a:endParaRPr>
          </a:p>
        </p:txBody>
      </p:sp>
      <p:sp>
        <p:nvSpPr>
          <p:cNvPr id="159" name="Google Shape;159;p12"/>
          <p:cNvSpPr/>
          <p:nvPr/>
        </p:nvSpPr>
        <p:spPr>
          <a:xfrm>
            <a:off x="2863575" y="2335925"/>
            <a:ext cx="2482200" cy="26652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1200"/>
              </a:spcAft>
              <a:buClr>
                <a:srgbClr val="000000"/>
              </a:buClr>
              <a:buSzPts val="1500"/>
              <a:buFont typeface="Arial"/>
              <a:buNone/>
            </a:pPr>
            <a:r>
              <a:rPr b="1" i="0" lang="es" sz="1500" u="none" cap="none" strike="noStrike">
                <a:solidFill>
                  <a:srgbClr val="4A86E8"/>
                </a:solidFill>
                <a:latin typeface="Open Sans"/>
                <a:ea typeface="Open Sans"/>
                <a:cs typeface="Open Sans"/>
                <a:sym typeface="Open Sans"/>
              </a:rPr>
              <a:t>RAID1, espejo de discos</a:t>
            </a:r>
            <a:endParaRPr b="0" i="0" sz="1400" u="none" cap="none" strike="noStrike">
              <a:solidFill>
                <a:srgbClr val="000000"/>
              </a:solidFill>
              <a:latin typeface="Open Sans"/>
              <a:ea typeface="Open Sans"/>
              <a:cs typeface="Open Sans"/>
              <a:sym typeface="Open Sans"/>
            </a:endParaRPr>
          </a:p>
        </p:txBody>
      </p:sp>
      <p:sp>
        <p:nvSpPr>
          <p:cNvPr id="160" name="Google Shape;160;p12"/>
          <p:cNvSpPr/>
          <p:nvPr/>
        </p:nvSpPr>
        <p:spPr>
          <a:xfrm>
            <a:off x="5461550" y="2335925"/>
            <a:ext cx="3455400" cy="26652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1200"/>
              </a:spcAft>
              <a:buClr>
                <a:srgbClr val="000000"/>
              </a:buClr>
              <a:buSzPts val="1500"/>
              <a:buFont typeface="Arial"/>
              <a:buNone/>
            </a:pPr>
            <a:r>
              <a:rPr b="1" i="0" lang="es" sz="1500" u="none" cap="none" strike="noStrike">
                <a:solidFill>
                  <a:srgbClr val="4A86E8"/>
                </a:solidFill>
                <a:latin typeface="Open Sans"/>
                <a:ea typeface="Open Sans"/>
                <a:cs typeface="Open Sans"/>
                <a:sym typeface="Open Sans"/>
              </a:rPr>
              <a:t>RAID5, distribuidos y particionados con paridad</a:t>
            </a:r>
            <a:endParaRPr b="0" i="0" sz="1400" u="none" cap="none" strike="noStrike">
              <a:solidFill>
                <a:srgbClr val="000000"/>
              </a:solidFill>
              <a:latin typeface="Open Sans"/>
              <a:ea typeface="Open Sans"/>
              <a:cs typeface="Open Sans"/>
              <a:sym typeface="Open Sans"/>
            </a:endParaRPr>
          </a:p>
        </p:txBody>
      </p:sp>
      <p:pic>
        <p:nvPicPr>
          <p:cNvPr id="161" name="Google Shape;161;p12"/>
          <p:cNvPicPr preferRelativeResize="0"/>
          <p:nvPr/>
        </p:nvPicPr>
        <p:blipFill rotWithShape="1">
          <a:blip r:embed="rId3">
            <a:alphaModFix/>
          </a:blip>
          <a:srcRect b="0" l="0" r="0" t="0"/>
          <a:stretch/>
        </p:blipFill>
        <p:spPr>
          <a:xfrm>
            <a:off x="153021" y="3330109"/>
            <a:ext cx="1334875" cy="516500"/>
          </a:xfrm>
          <a:prstGeom prst="rect">
            <a:avLst/>
          </a:prstGeom>
          <a:noFill/>
          <a:ln>
            <a:noFill/>
          </a:ln>
        </p:spPr>
      </p:pic>
      <p:pic>
        <p:nvPicPr>
          <p:cNvPr id="162" name="Google Shape;162;p12"/>
          <p:cNvPicPr preferRelativeResize="0"/>
          <p:nvPr/>
        </p:nvPicPr>
        <p:blipFill rotWithShape="1">
          <a:blip r:embed="rId4">
            <a:alphaModFix/>
          </a:blip>
          <a:srcRect b="0" l="0" r="0" t="0"/>
          <a:stretch/>
        </p:blipFill>
        <p:spPr>
          <a:xfrm>
            <a:off x="1450475" y="3223575"/>
            <a:ext cx="1224725" cy="1592150"/>
          </a:xfrm>
          <a:prstGeom prst="rect">
            <a:avLst/>
          </a:prstGeom>
          <a:noFill/>
          <a:ln>
            <a:noFill/>
          </a:ln>
        </p:spPr>
      </p:pic>
      <p:pic>
        <p:nvPicPr>
          <p:cNvPr id="163" name="Google Shape;163;p12"/>
          <p:cNvPicPr preferRelativeResize="0"/>
          <p:nvPr/>
        </p:nvPicPr>
        <p:blipFill rotWithShape="1">
          <a:blip r:embed="rId5">
            <a:alphaModFix/>
          </a:blip>
          <a:srcRect b="0" l="0" r="0" t="0"/>
          <a:stretch/>
        </p:blipFill>
        <p:spPr>
          <a:xfrm>
            <a:off x="2913967" y="3103850"/>
            <a:ext cx="1036088" cy="593630"/>
          </a:xfrm>
          <a:prstGeom prst="rect">
            <a:avLst/>
          </a:prstGeom>
          <a:noFill/>
          <a:ln>
            <a:noFill/>
          </a:ln>
        </p:spPr>
      </p:pic>
      <p:pic>
        <p:nvPicPr>
          <p:cNvPr id="164" name="Google Shape;164;p12"/>
          <p:cNvPicPr preferRelativeResize="0"/>
          <p:nvPr/>
        </p:nvPicPr>
        <p:blipFill rotWithShape="1">
          <a:blip r:embed="rId6">
            <a:alphaModFix/>
          </a:blip>
          <a:srcRect b="0" l="0" r="0" t="0"/>
          <a:stretch/>
        </p:blipFill>
        <p:spPr>
          <a:xfrm>
            <a:off x="3950050" y="3188387"/>
            <a:ext cx="1278875" cy="1662528"/>
          </a:xfrm>
          <a:prstGeom prst="rect">
            <a:avLst/>
          </a:prstGeom>
          <a:noFill/>
          <a:ln>
            <a:noFill/>
          </a:ln>
        </p:spPr>
      </p:pic>
      <p:pic>
        <p:nvPicPr>
          <p:cNvPr id="165" name="Google Shape;165;p12"/>
          <p:cNvPicPr preferRelativeResize="0"/>
          <p:nvPr/>
        </p:nvPicPr>
        <p:blipFill rotWithShape="1">
          <a:blip r:embed="rId7">
            <a:alphaModFix/>
          </a:blip>
          <a:srcRect b="0" l="0" r="0" t="0"/>
          <a:stretch/>
        </p:blipFill>
        <p:spPr>
          <a:xfrm>
            <a:off x="5474650" y="3156774"/>
            <a:ext cx="1278885" cy="593625"/>
          </a:xfrm>
          <a:prstGeom prst="rect">
            <a:avLst/>
          </a:prstGeom>
          <a:noFill/>
          <a:ln>
            <a:noFill/>
          </a:ln>
        </p:spPr>
      </p:pic>
      <p:pic>
        <p:nvPicPr>
          <p:cNvPr id="166" name="Google Shape;166;p12"/>
          <p:cNvPicPr preferRelativeResize="0"/>
          <p:nvPr/>
        </p:nvPicPr>
        <p:blipFill rotWithShape="1">
          <a:blip r:embed="rId8">
            <a:alphaModFix/>
          </a:blip>
          <a:srcRect b="0" l="0" r="0" t="0"/>
          <a:stretch/>
        </p:blipFill>
        <p:spPr>
          <a:xfrm>
            <a:off x="6721450" y="3188375"/>
            <a:ext cx="2146925" cy="1528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172" name="Google Shape;172;p13"/>
          <p:cNvSpPr txBox="1"/>
          <p:nvPr>
            <p:ph idx="1" type="body"/>
          </p:nvPr>
        </p:nvSpPr>
        <p:spPr>
          <a:xfrm>
            <a:off x="311700" y="1266325"/>
            <a:ext cx="8520600" cy="36465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b="1" lang="es">
                <a:solidFill>
                  <a:srgbClr val="4A86E8"/>
                </a:solidFill>
              </a:rPr>
              <a:t>Integridad del sistema de archivos</a:t>
            </a:r>
            <a:endParaRPr b="1">
              <a:solidFill>
                <a:srgbClr val="4A86E8"/>
              </a:solidFill>
            </a:endParaRPr>
          </a:p>
          <a:p>
            <a:pPr indent="0" lvl="0" marL="0" rtl="0" algn="l">
              <a:lnSpc>
                <a:spcPct val="115000"/>
              </a:lnSpc>
              <a:spcBef>
                <a:spcPts val="1200"/>
              </a:spcBef>
              <a:spcAft>
                <a:spcPts val="0"/>
              </a:spcAft>
              <a:buSzPts val="1800"/>
              <a:buNone/>
            </a:pPr>
            <a:r>
              <a:rPr lang="es"/>
              <a:t>Algunos de los típicos problema de inconsistencia y su solución son:</a:t>
            </a:r>
            <a:endParaRPr/>
          </a:p>
          <a:p>
            <a:pPr indent="0" lvl="0" marL="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Que un bloque aparezca en la lista de bloques usados y bloques libres, esto se podría solucionar verificando y eliminandolo de la lista de bloques libres</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Que un bloque no aparezca en ninguna lista, se podría solucionar agregandolo a la lista de bloques libres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178" name="Google Shape;178;p14"/>
          <p:cNvSpPr txBox="1"/>
          <p:nvPr>
            <p:ph idx="1" type="body"/>
          </p:nvPr>
        </p:nvSpPr>
        <p:spPr>
          <a:xfrm>
            <a:off x="311700" y="1266325"/>
            <a:ext cx="8520600" cy="36465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s">
                <a:solidFill>
                  <a:srgbClr val="4A86E8"/>
                </a:solidFill>
              </a:rPr>
              <a:t>Integridad del sistema de archivos</a:t>
            </a:r>
            <a:endParaRPr b="1">
              <a:solidFill>
                <a:srgbClr val="4A86E8"/>
              </a:solidFill>
            </a:endParaRPr>
          </a:p>
          <a:p>
            <a:pPr indent="-342900" lvl="0" marL="457200" rtl="0" algn="l">
              <a:lnSpc>
                <a:spcPct val="115000"/>
              </a:lnSpc>
              <a:spcBef>
                <a:spcPts val="1200"/>
              </a:spcBef>
              <a:spcAft>
                <a:spcPts val="0"/>
              </a:spcAft>
              <a:buSzPts val="1800"/>
              <a:buChar char="●"/>
            </a:pPr>
            <a:r>
              <a:rPr lang="es"/>
              <a:t>Que un bloque esté repetido en la lista de bloques libres, la solución sería reconstruir la lista de bloques libres, contabilizando solo una vez a cada bloque</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s"/>
              <a:t>Que un bloque esté asignado a dos más  archivos, la solución óptima asignar un bloque libre a uno de los archivos (en el caso de ser 2), copiar el contenido del bloque con problemas en este nuevo bloque y con esto los dos archivos quedan con la información, probablemente parte de ésta esté inconsciente, pero corregible (dependiendo del tamaño de los bloques)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184" name="Google Shape;184;p15"/>
          <p:cNvSpPr txBox="1"/>
          <p:nvPr>
            <p:ph idx="1" type="body"/>
          </p:nvPr>
        </p:nvSpPr>
        <p:spPr>
          <a:xfrm>
            <a:off x="311700" y="1266325"/>
            <a:ext cx="7863900" cy="62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solidFill>
                  <a:srgbClr val="4A86E8"/>
                </a:solidFill>
              </a:rPr>
              <a:t>Integridad del sistema de archivos</a:t>
            </a:r>
            <a:endParaRPr/>
          </a:p>
        </p:txBody>
      </p:sp>
      <p:pic>
        <p:nvPicPr>
          <p:cNvPr id="185" name="Google Shape;185;p15"/>
          <p:cNvPicPr preferRelativeResize="0"/>
          <p:nvPr/>
        </p:nvPicPr>
        <p:blipFill rotWithShape="1">
          <a:blip r:embed="rId3">
            <a:alphaModFix/>
          </a:blip>
          <a:srcRect b="0" l="0" r="0" t="0"/>
          <a:stretch/>
        </p:blipFill>
        <p:spPr>
          <a:xfrm>
            <a:off x="3522500" y="1819350"/>
            <a:ext cx="5482300" cy="3062125"/>
          </a:xfrm>
          <a:prstGeom prst="rect">
            <a:avLst/>
          </a:prstGeom>
          <a:noFill/>
          <a:ln>
            <a:noFill/>
          </a:ln>
        </p:spPr>
      </p:pic>
      <p:sp>
        <p:nvSpPr>
          <p:cNvPr id="186" name="Google Shape;186;p15"/>
          <p:cNvSpPr txBox="1"/>
          <p:nvPr/>
        </p:nvSpPr>
        <p:spPr>
          <a:xfrm>
            <a:off x="44900" y="1886725"/>
            <a:ext cx="3477600" cy="3114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Cuando pasan algunos de estas inconsistencias los sistemas operativos tienen aplicaciones de utilidad que permite corregirlas (cuando no son tan graves), una de estas es FSCK, permite realizar modificaciones sobre el sistema de archivos</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p1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192" name="Google Shape;192;p16"/>
          <p:cNvSpPr txBox="1"/>
          <p:nvPr>
            <p:ph idx="1" type="body"/>
          </p:nvPr>
        </p:nvSpPr>
        <p:spPr>
          <a:xfrm>
            <a:off x="311700" y="1266325"/>
            <a:ext cx="7863900" cy="62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solidFill>
                  <a:srgbClr val="4A86E8"/>
                </a:solidFill>
              </a:rPr>
              <a:t>Ataques a la integridad y seguridad del sistema de archivos</a:t>
            </a:r>
            <a:endParaRPr b="1">
              <a:solidFill>
                <a:srgbClr val="4A86E8"/>
              </a:solidFill>
            </a:endParaRPr>
          </a:p>
        </p:txBody>
      </p:sp>
      <p:sp>
        <p:nvSpPr>
          <p:cNvPr id="193" name="Google Shape;193;p16"/>
          <p:cNvSpPr txBox="1"/>
          <p:nvPr/>
        </p:nvSpPr>
        <p:spPr>
          <a:xfrm>
            <a:off x="44900" y="1886725"/>
            <a:ext cx="8610000" cy="3114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Los fallos humanos, del sistema y de causas inesperadas sobre un sistema de archivos puede ser subsanada aplicando políticas de respaldo, que ayuden al sistema a mantenerse consistente en el tiempo.</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120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El caso aquí presente tiene directa relación con la aparición de intrusos, que quieren acceder de forma indebida al sistema operativo sin ser parte real de los usuarios del sistema, es decir, irrumpir de forma no autorizada.</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199" name="Google Shape;199;p17"/>
          <p:cNvSpPr txBox="1"/>
          <p:nvPr>
            <p:ph idx="1" type="body"/>
          </p:nvPr>
        </p:nvSpPr>
        <p:spPr>
          <a:xfrm>
            <a:off x="311700" y="1266325"/>
            <a:ext cx="7863900" cy="62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solidFill>
                  <a:srgbClr val="4A86E8"/>
                </a:solidFill>
              </a:rPr>
              <a:t>Ataques a la integridad y seguridad del sistema de archivos</a:t>
            </a:r>
            <a:endParaRPr b="1">
              <a:solidFill>
                <a:srgbClr val="4A86E8"/>
              </a:solidFill>
            </a:endParaRPr>
          </a:p>
        </p:txBody>
      </p:sp>
      <p:sp>
        <p:nvSpPr>
          <p:cNvPr id="200" name="Google Shape;200;p17"/>
          <p:cNvSpPr txBox="1"/>
          <p:nvPr/>
        </p:nvSpPr>
        <p:spPr>
          <a:xfrm>
            <a:off x="44900" y="1886725"/>
            <a:ext cx="8610000" cy="3114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Estos intrusos se pueden dar por:</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120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Curiosos que solo entran a mirar</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Especialistas que buscan las vulnerabilidades y las anuncian</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Intrusos maliciosos que quieren:</a:t>
            </a:r>
            <a:endParaRPr b="0" i="0" sz="1800" u="none" cap="none" strike="noStrike">
              <a:solidFill>
                <a:schemeClr val="dk2"/>
              </a:solidFill>
              <a:latin typeface="Open Sans"/>
              <a:ea typeface="Open Sans"/>
              <a:cs typeface="Open Sans"/>
              <a:sym typeface="Open Sans"/>
            </a:endParaRPr>
          </a:p>
          <a:p>
            <a:pPr indent="-342900" lvl="1" marL="9144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hacer daño</a:t>
            </a:r>
            <a:endParaRPr b="0" i="0" sz="1800" u="none" cap="none" strike="noStrike">
              <a:solidFill>
                <a:schemeClr val="dk2"/>
              </a:solidFill>
              <a:latin typeface="Open Sans"/>
              <a:ea typeface="Open Sans"/>
              <a:cs typeface="Open Sans"/>
              <a:sym typeface="Open Sans"/>
            </a:endParaRPr>
          </a:p>
          <a:p>
            <a:pPr indent="-342900" lvl="1" marL="9144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cobrar recompensas</a:t>
            </a:r>
            <a:endParaRPr b="0" i="0" sz="1800" u="none" cap="none" strike="noStrike">
              <a:solidFill>
                <a:schemeClr val="dk2"/>
              </a:solidFill>
              <a:latin typeface="Open Sans"/>
              <a:ea typeface="Open Sans"/>
              <a:cs typeface="Open Sans"/>
              <a:sym typeface="Open Sans"/>
            </a:endParaRPr>
          </a:p>
          <a:p>
            <a:pPr indent="-342900" lvl="1" marL="9144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robar información privilegiada</a:t>
            </a:r>
            <a:endParaRPr b="0" i="0" sz="1800" u="none" cap="none" strike="noStrike">
              <a:solidFill>
                <a:schemeClr val="dk2"/>
              </a:solidFill>
              <a:latin typeface="Open Sans"/>
              <a:ea typeface="Open Sans"/>
              <a:cs typeface="Open Sans"/>
              <a:sym typeface="Open Sans"/>
            </a:endParaRPr>
          </a:p>
          <a:p>
            <a:pPr indent="-342900" lvl="1" marL="9144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robar bienes y/o dinero</a:t>
            </a:r>
            <a:endParaRPr b="0" i="0" sz="1800" u="none" cap="none" strike="noStrike">
              <a:solidFill>
                <a:schemeClr val="dk2"/>
              </a:solidFill>
              <a:latin typeface="Open Sans"/>
              <a:ea typeface="Open Sans"/>
              <a:cs typeface="Open Sans"/>
              <a:sym typeface="Open Sans"/>
            </a:endParaRPr>
          </a:p>
          <a:p>
            <a:pPr indent="-342900" lvl="1" marL="9144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hacer uso de los recursos de los computadores</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
        <p:nvSpPr>
          <p:cNvPr id="201" name="Google Shape;201;p17"/>
          <p:cNvSpPr/>
          <p:nvPr/>
        </p:nvSpPr>
        <p:spPr>
          <a:xfrm>
            <a:off x="6438725" y="3608700"/>
            <a:ext cx="314400" cy="1265400"/>
          </a:xfrm>
          <a:prstGeom prst="rightBrace">
            <a:avLst>
              <a:gd fmla="val 50000" name="adj1"/>
              <a:gd fmla="val 5029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202" name="Google Shape;202;p17"/>
          <p:cNvSpPr txBox="1"/>
          <p:nvPr/>
        </p:nvSpPr>
        <p:spPr>
          <a:xfrm>
            <a:off x="7150000" y="3825800"/>
            <a:ext cx="973200" cy="62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etc….</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208" name="Google Shape;208;p18"/>
          <p:cNvSpPr txBox="1"/>
          <p:nvPr>
            <p:ph idx="1" type="body"/>
          </p:nvPr>
        </p:nvSpPr>
        <p:spPr>
          <a:xfrm>
            <a:off x="311700" y="1266325"/>
            <a:ext cx="7863900" cy="62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solidFill>
                  <a:srgbClr val="4A86E8"/>
                </a:solidFill>
              </a:rPr>
              <a:t>Ataques a la integridad y seguridad del sistema de archivos</a:t>
            </a:r>
            <a:endParaRPr b="1">
              <a:solidFill>
                <a:srgbClr val="4A86E8"/>
              </a:solidFill>
            </a:endParaRPr>
          </a:p>
        </p:txBody>
      </p:sp>
      <p:sp>
        <p:nvSpPr>
          <p:cNvPr id="209" name="Google Shape;209;p18"/>
          <p:cNvSpPr txBox="1"/>
          <p:nvPr/>
        </p:nvSpPr>
        <p:spPr>
          <a:xfrm>
            <a:off x="44900" y="1886725"/>
            <a:ext cx="8610000" cy="3114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El objetivo de la seguridad en un sistema (en este caso el sistema operativo) es prevenir y eliminar estas amenazas. Mantener el sistema seguro, mantener la integridad de los datos, la disponibilidad del sistema y la privacidad de la información.</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Lo cual supone proteger al sistema ante alteración o modificaciones no autorizadas de la información y hacer resistente al sistema a penetración de intrusos.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215" name="Google Shape;215;p19"/>
          <p:cNvSpPr txBox="1"/>
          <p:nvPr>
            <p:ph idx="1" type="body"/>
          </p:nvPr>
        </p:nvSpPr>
        <p:spPr>
          <a:xfrm>
            <a:off x="311700" y="1266325"/>
            <a:ext cx="7863900" cy="62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solidFill>
                  <a:srgbClr val="4A86E8"/>
                </a:solidFill>
              </a:rPr>
              <a:t>Ataques a la integridad y seguridad del sistema de archivos</a:t>
            </a:r>
            <a:endParaRPr b="1">
              <a:solidFill>
                <a:srgbClr val="4A86E8"/>
              </a:solidFill>
            </a:endParaRPr>
          </a:p>
        </p:txBody>
      </p:sp>
      <p:sp>
        <p:nvSpPr>
          <p:cNvPr id="216" name="Google Shape;216;p19"/>
          <p:cNvSpPr txBox="1"/>
          <p:nvPr/>
        </p:nvSpPr>
        <p:spPr>
          <a:xfrm>
            <a:off x="44900" y="1886725"/>
            <a:ext cx="8610000" cy="3114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La penetración se puede hacer de diversas formas, alguna de estas son:</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120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La utilización por parte del intruso de una cuenta legítima, podrían entrar con una sesión abierta, llamar por teléfono o enviar correos solicitando contraseñas, encontrar Post-it con datos del usuario, etc… </a:t>
            </a:r>
            <a:endParaRPr b="0" i="0" sz="1800" u="none" cap="none" strike="noStrike">
              <a:solidFill>
                <a:schemeClr val="dk2"/>
              </a:solidFill>
              <a:latin typeface="Open Sans"/>
              <a:ea typeface="Open Sans"/>
              <a:cs typeface="Open Sans"/>
              <a:sym typeface="Open Sans"/>
            </a:endParaRPr>
          </a:p>
          <a:p>
            <a:pPr indent="0" lvl="0" marL="45720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120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La ejecución de “caballos de Troya”, ejemplo: login falso, sistemas que demonio que captan los interrupciones de teclado (background), </a:t>
            </a:r>
            <a:endParaRPr b="0" i="0" sz="1800" u="none" cap="none" strike="noStrike">
              <a:solidFill>
                <a:schemeClr val="dk2"/>
              </a:solidFill>
              <a:latin typeface="Open Sans"/>
              <a:ea typeface="Open Sans"/>
              <a:cs typeface="Open Sans"/>
              <a:sym typeface="Open Sans"/>
            </a:endParaRPr>
          </a:p>
          <a:p>
            <a:pPr indent="0" lvl="0" marL="45720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222" name="Google Shape;222;p20"/>
          <p:cNvSpPr txBox="1"/>
          <p:nvPr>
            <p:ph idx="1" type="body"/>
          </p:nvPr>
        </p:nvSpPr>
        <p:spPr>
          <a:xfrm>
            <a:off x="311700" y="1266325"/>
            <a:ext cx="7863900" cy="62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solidFill>
                  <a:srgbClr val="4A86E8"/>
                </a:solidFill>
              </a:rPr>
              <a:t>Ataques a la integridad y seguridad del sistema de archivos</a:t>
            </a:r>
            <a:endParaRPr b="1">
              <a:solidFill>
                <a:srgbClr val="4A86E8"/>
              </a:solidFill>
            </a:endParaRPr>
          </a:p>
        </p:txBody>
      </p:sp>
      <p:sp>
        <p:nvSpPr>
          <p:cNvPr id="223" name="Google Shape;223;p20"/>
          <p:cNvSpPr txBox="1"/>
          <p:nvPr/>
        </p:nvSpPr>
        <p:spPr>
          <a:xfrm>
            <a:off x="44900" y="1886725"/>
            <a:ext cx="8610000" cy="31146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Cómo suelen funcionar los virus, son fragmentos de códigos incrustados en otros archivos o programas, los cuales son activados al momentos de ejecutar o leer el archivo infectado, por lo general, cuando se leer o ejecuta el archivo original, este salta a la posición del virus y este realiza su labor, que podría ser: robar información, dañar el sistema de archivos, realizar acciones molestas y ralentizar el pc, etc…</a:t>
            </a:r>
            <a:endParaRPr b="0" i="0" sz="1800" u="none" cap="none" strike="noStrike">
              <a:solidFill>
                <a:schemeClr val="dk2"/>
              </a:solidFill>
              <a:latin typeface="Open Sans"/>
              <a:ea typeface="Open Sans"/>
              <a:cs typeface="Open Sans"/>
              <a:sym typeface="Open Sans"/>
            </a:endParaRPr>
          </a:p>
          <a:p>
            <a:pPr indent="0" lvl="0" marL="45720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229" name="Google Shape;229;p21"/>
          <p:cNvSpPr txBox="1"/>
          <p:nvPr>
            <p:ph idx="1" type="body"/>
          </p:nvPr>
        </p:nvSpPr>
        <p:spPr>
          <a:xfrm>
            <a:off x="311700" y="1266325"/>
            <a:ext cx="7863900" cy="62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solidFill>
                  <a:srgbClr val="4A86E8"/>
                </a:solidFill>
              </a:rPr>
              <a:t>Ataques a la integridad y seguridad del sistema de archivos</a:t>
            </a:r>
            <a:endParaRPr b="1">
              <a:solidFill>
                <a:srgbClr val="4A86E8"/>
              </a:solidFill>
            </a:endParaRPr>
          </a:p>
        </p:txBody>
      </p:sp>
      <p:sp>
        <p:nvSpPr>
          <p:cNvPr id="230" name="Google Shape;230;p21"/>
          <p:cNvSpPr txBox="1"/>
          <p:nvPr/>
        </p:nvSpPr>
        <p:spPr>
          <a:xfrm>
            <a:off x="44900" y="1744475"/>
            <a:ext cx="8610000" cy="3114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¿Cómo se puede prevenir la aparición de virus o cómo evitar el daño?</a:t>
            </a:r>
            <a:endParaRPr b="0" i="0" sz="1800" u="none" cap="none" strike="noStrike">
              <a:solidFill>
                <a:schemeClr val="dk2"/>
              </a:solidFill>
              <a:latin typeface="Open Sans"/>
              <a:ea typeface="Open Sans"/>
              <a:cs typeface="Open Sans"/>
              <a:sym typeface="Open Sans"/>
            </a:endParaRPr>
          </a:p>
          <a:p>
            <a:pPr indent="0" lvl="0" marL="45720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120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Comprar software del fabricante, así nos aseguramos que es original y no tiene virus incrustados</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Usar antivirus actualizados</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Si es software libre, asegurarse que está asegurado por la comunidad y que la versión que se está descargando para instalar es la versión estable y con soporte, versión LTS </a:t>
            </a:r>
            <a:endParaRPr b="0" i="0" sz="1800" u="none" cap="none" strike="noStrike">
              <a:solidFill>
                <a:schemeClr val="dk2"/>
              </a:solidFill>
              <a:latin typeface="Open Sans"/>
              <a:ea typeface="Open Sans"/>
              <a:cs typeface="Open Sans"/>
              <a:sym typeface="Open Sans"/>
            </a:endParaRPr>
          </a:p>
          <a:p>
            <a:pPr indent="0" lvl="0" marL="45720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236" name="Google Shape;236;p22"/>
          <p:cNvSpPr txBox="1"/>
          <p:nvPr>
            <p:ph idx="1" type="body"/>
          </p:nvPr>
        </p:nvSpPr>
        <p:spPr>
          <a:xfrm>
            <a:off x="311700" y="1266325"/>
            <a:ext cx="7863900" cy="62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solidFill>
                  <a:srgbClr val="4A86E8"/>
                </a:solidFill>
              </a:rPr>
              <a:t>Ataques a la integridad y seguridad del sistema de archivos</a:t>
            </a:r>
            <a:endParaRPr b="1">
              <a:solidFill>
                <a:srgbClr val="4A86E8"/>
              </a:solidFill>
            </a:endParaRPr>
          </a:p>
        </p:txBody>
      </p:sp>
      <p:sp>
        <p:nvSpPr>
          <p:cNvPr id="237" name="Google Shape;237;p22"/>
          <p:cNvSpPr txBox="1"/>
          <p:nvPr/>
        </p:nvSpPr>
        <p:spPr>
          <a:xfrm>
            <a:off x="44900" y="1886725"/>
            <a:ext cx="8610000" cy="31146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Cómo suelen funcionar los virus, son fragmentos de códigos incrustados en otros archivos o programas, los cuales son activados al momentos de ejecutar o leer el archivo infectado, por lo general, cuando se leer o ejecuta el archivo original, este salta a la posición del virus y este realiza su labor, que podría ser: robar información, dañar el sistema de archivos, realizar acciones molestas y ralentizar el pc, etc…</a:t>
            </a:r>
            <a:endParaRPr b="0" i="0" sz="1800" u="none" cap="none" strike="noStrike">
              <a:solidFill>
                <a:schemeClr val="dk2"/>
              </a:solidFill>
              <a:latin typeface="Open Sans"/>
              <a:ea typeface="Open Sans"/>
              <a:cs typeface="Open Sans"/>
              <a:sym typeface="Open Sans"/>
            </a:endParaRPr>
          </a:p>
          <a:p>
            <a:pPr indent="0" lvl="0" marL="45720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243" name="Google Shape;243;p23"/>
          <p:cNvSpPr txBox="1"/>
          <p:nvPr>
            <p:ph idx="1" type="body"/>
          </p:nvPr>
        </p:nvSpPr>
        <p:spPr>
          <a:xfrm>
            <a:off x="311700" y="1266325"/>
            <a:ext cx="7863900" cy="62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solidFill>
                  <a:srgbClr val="4A86E8"/>
                </a:solidFill>
              </a:rPr>
              <a:t>Principios de diseño de sistemas seguros</a:t>
            </a:r>
            <a:endParaRPr b="1">
              <a:solidFill>
                <a:srgbClr val="4A86E8"/>
              </a:solidFill>
            </a:endParaRPr>
          </a:p>
        </p:txBody>
      </p:sp>
      <p:sp>
        <p:nvSpPr>
          <p:cNvPr id="244" name="Google Shape;244;p23"/>
          <p:cNvSpPr txBox="1"/>
          <p:nvPr/>
        </p:nvSpPr>
        <p:spPr>
          <a:xfrm>
            <a:off x="82325" y="1699550"/>
            <a:ext cx="8819700" cy="3114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Existe un compendio de normas que permiten realizar diseño seguro de software, algunas de estas normas son:</a:t>
            </a:r>
            <a:endParaRPr b="0" i="0" sz="1800" u="none" cap="none" strike="noStrike">
              <a:solidFill>
                <a:schemeClr val="dk2"/>
              </a:solidFill>
              <a:latin typeface="Open Sans"/>
              <a:ea typeface="Open Sans"/>
              <a:cs typeface="Open Sans"/>
              <a:sym typeface="Open Sans"/>
            </a:endParaRPr>
          </a:p>
          <a:p>
            <a:pPr indent="0" lvl="0" marL="45720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120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El diseño del sistema debe ser público, es decir, los algoritmos pueden ser públicos, pero las claves de la implementación debe ser privados</a:t>
            </a:r>
            <a:endParaRPr b="0" i="0" sz="1800" u="none" cap="none" strike="noStrike">
              <a:solidFill>
                <a:schemeClr val="dk2"/>
              </a:solidFill>
              <a:latin typeface="Open Sans"/>
              <a:ea typeface="Open Sans"/>
              <a:cs typeface="Open Sans"/>
              <a:sym typeface="Open Sans"/>
            </a:endParaRPr>
          </a:p>
          <a:p>
            <a:pPr indent="0" lvl="0" marL="45720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120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El estado en un sistema debe ser “no acceso”, los acceso solo deben ser asignados por un canal seguro y autorizado</a:t>
            </a:r>
            <a:endParaRPr b="0" i="0" sz="1800" u="none" cap="none" strike="noStrike">
              <a:solidFill>
                <a:schemeClr val="dk2"/>
              </a:solidFill>
              <a:latin typeface="Open Sans"/>
              <a:ea typeface="Open Sans"/>
              <a:cs typeface="Open Sans"/>
              <a:sym typeface="Open Sans"/>
            </a:endParaRPr>
          </a:p>
          <a:p>
            <a:pPr indent="0" lvl="0" marL="45720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250" name="Google Shape;250;p24"/>
          <p:cNvSpPr txBox="1"/>
          <p:nvPr>
            <p:ph idx="1" type="body"/>
          </p:nvPr>
        </p:nvSpPr>
        <p:spPr>
          <a:xfrm>
            <a:off x="311700" y="1234775"/>
            <a:ext cx="7863900" cy="62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solidFill>
                  <a:srgbClr val="4A86E8"/>
                </a:solidFill>
              </a:rPr>
              <a:t>Principios de diseño de sistemas seguros</a:t>
            </a:r>
            <a:endParaRPr b="1">
              <a:solidFill>
                <a:srgbClr val="4A86E8"/>
              </a:solidFill>
            </a:endParaRPr>
          </a:p>
        </p:txBody>
      </p:sp>
      <p:sp>
        <p:nvSpPr>
          <p:cNvPr id="251" name="Google Shape;251;p24"/>
          <p:cNvSpPr txBox="1"/>
          <p:nvPr/>
        </p:nvSpPr>
        <p:spPr>
          <a:xfrm>
            <a:off x="68550" y="1855175"/>
            <a:ext cx="9006900" cy="30336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Verificar la autorización actual, cada petición debe ser bajo el criterio de validar quien está solicitando el acceso y con qué permisos.</a:t>
            </a:r>
            <a:endParaRPr b="0" i="0" sz="1800" u="none" cap="none" strike="noStrike">
              <a:solidFill>
                <a:schemeClr val="dk2"/>
              </a:solidFill>
              <a:latin typeface="Open Sans"/>
              <a:ea typeface="Open Sans"/>
              <a:cs typeface="Open Sans"/>
              <a:sym typeface="Open Sans"/>
            </a:endParaRPr>
          </a:p>
          <a:p>
            <a:pPr indent="0" lvl="0" marL="45720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120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Cada proceso debe presentar los mínimos privilegios posibles para que cumpla con su cometido, es decir, no todos los sistemas deben tener permisos 777 (xrw) para cualquier usuarios</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5"/>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257" name="Google Shape;257;p25"/>
          <p:cNvSpPr txBox="1"/>
          <p:nvPr>
            <p:ph idx="1" type="body"/>
          </p:nvPr>
        </p:nvSpPr>
        <p:spPr>
          <a:xfrm>
            <a:off x="311700" y="1152425"/>
            <a:ext cx="7863900" cy="62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solidFill>
                  <a:srgbClr val="4A86E8"/>
                </a:solidFill>
              </a:rPr>
              <a:t>Principios de diseño de sistemas seguros</a:t>
            </a:r>
            <a:endParaRPr b="1">
              <a:solidFill>
                <a:srgbClr val="4A86E8"/>
              </a:solidFill>
            </a:endParaRPr>
          </a:p>
        </p:txBody>
      </p:sp>
      <p:sp>
        <p:nvSpPr>
          <p:cNvPr id="258" name="Google Shape;258;p25"/>
          <p:cNvSpPr txBox="1"/>
          <p:nvPr/>
        </p:nvSpPr>
        <p:spPr>
          <a:xfrm>
            <a:off x="68550" y="1639625"/>
            <a:ext cx="9006900" cy="32493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Mantener los diseños lo más simple posible, que posibilite una fácil verificación y corrección rápida</a:t>
            </a:r>
            <a:endParaRPr b="0" i="0" sz="1800" u="none" cap="none" strike="noStrike">
              <a:solidFill>
                <a:schemeClr val="dk2"/>
              </a:solidFill>
              <a:latin typeface="Open Sans"/>
              <a:ea typeface="Open Sans"/>
              <a:cs typeface="Open Sans"/>
              <a:sym typeface="Open Sans"/>
            </a:endParaRPr>
          </a:p>
          <a:p>
            <a:pPr indent="0" lvl="0" marL="45720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120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Psicológicamente accesible, es decir, que el sistema sea aceptado por los usuarios, utilizado correctamente y permita un fácil manejo del mismo (principios de usabilidad)</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45720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6"/>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Seguridad y protección</a:t>
            </a:r>
            <a:endParaRPr/>
          </a:p>
        </p:txBody>
      </p:sp>
      <p:sp>
        <p:nvSpPr>
          <p:cNvPr id="264" name="Google Shape;264;p26"/>
          <p:cNvSpPr txBox="1"/>
          <p:nvPr>
            <p:ph idx="1" type="body"/>
          </p:nvPr>
        </p:nvSpPr>
        <p:spPr>
          <a:xfrm>
            <a:off x="311700" y="1152425"/>
            <a:ext cx="7863900" cy="620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b="1" lang="es">
                <a:solidFill>
                  <a:srgbClr val="4A86E8"/>
                </a:solidFill>
              </a:rPr>
              <a:t>Identificación de usuarios</a:t>
            </a:r>
            <a:endParaRPr b="1">
              <a:solidFill>
                <a:srgbClr val="4A86E8"/>
              </a:solidFill>
            </a:endParaRPr>
          </a:p>
        </p:txBody>
      </p:sp>
      <p:sp>
        <p:nvSpPr>
          <p:cNvPr id="265" name="Google Shape;265;p26"/>
          <p:cNvSpPr txBox="1"/>
          <p:nvPr/>
        </p:nvSpPr>
        <p:spPr>
          <a:xfrm>
            <a:off x="68550" y="1639625"/>
            <a:ext cx="9006900" cy="3249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El principal problema de identificar al usuario es la validación y como esta se lleva a cabo, y los principales mecanismos de autenticación:</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120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Posesión de un secreto (una contraseña que de acceso)</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Posesión de un artefacto (como el digipass de los bancos o las tarjetas de codificación, en la actualidad los códigos enviados a los celulares o correos personales)</a:t>
            </a:r>
            <a:endParaRPr b="0" i="0" sz="1800" u="none" cap="none" strike="noStrike">
              <a:solidFill>
                <a:schemeClr val="dk2"/>
              </a:solidFill>
              <a:latin typeface="Open Sans"/>
              <a:ea typeface="Open Sans"/>
              <a:cs typeface="Open Sans"/>
              <a:sym typeface="Open Sans"/>
            </a:endParaRPr>
          </a:p>
          <a:p>
            <a:pPr indent="-342900" lvl="0" marL="457200" marR="0" rtl="0" algn="l">
              <a:lnSpc>
                <a:spcPct val="115000"/>
              </a:lnSpc>
              <a:spcBef>
                <a:spcPts val="0"/>
              </a:spcBef>
              <a:spcAft>
                <a:spcPts val="0"/>
              </a:spcAft>
              <a:buClr>
                <a:schemeClr val="dk2"/>
              </a:buClr>
              <a:buSzPts val="1800"/>
              <a:buFont typeface="Open Sans"/>
              <a:buChar char="●"/>
            </a:pPr>
            <a:r>
              <a:rPr b="0" i="0" lang="es" sz="1800" u="none" cap="none" strike="noStrike">
                <a:solidFill>
                  <a:schemeClr val="dk2"/>
                </a:solidFill>
                <a:latin typeface="Open Sans"/>
                <a:ea typeface="Open Sans"/>
                <a:cs typeface="Open Sans"/>
                <a:sym typeface="Open Sans"/>
              </a:rPr>
              <a:t>Uso de alguna característica fisiológica o de comportamiento del usuario</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7"/>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Mecanismos de protección y control de accesos</a:t>
            </a:r>
            <a:endParaRPr/>
          </a:p>
        </p:txBody>
      </p:sp>
      <p:sp>
        <p:nvSpPr>
          <p:cNvPr id="271" name="Google Shape;271;p27"/>
          <p:cNvSpPr txBox="1"/>
          <p:nvPr>
            <p:ph idx="1" type="body"/>
          </p:nvPr>
        </p:nvSpPr>
        <p:spPr>
          <a:xfrm>
            <a:off x="311700" y="1266325"/>
            <a:ext cx="8520600" cy="3668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
              <a:t>Los mecanismos de protección surgen debido a la multiprogramación y al multientorno de los sistemas, ya que se complejiza la labor de mantener individualiza la información de los usuarios, ya sea en disco o en memoria. Además, la necesidad de compartir objetos (información y/o programas) entre los diferentes perfiles de usuario complejiza aún más la situación.</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s"/>
              <a:t>Es importante distinguir la diferencia entre los conceptos que surgen en este que punto, que son:</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s"/>
              <a:t>POLÍTICAS DE PROTECCIÓN                             MECANISMO DE PROTECCIÓN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8"/>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Mecanismos de protección y control de accesos</a:t>
            </a:r>
            <a:endParaRPr/>
          </a:p>
        </p:txBody>
      </p:sp>
      <p:sp>
        <p:nvSpPr>
          <p:cNvPr id="277" name="Google Shape;277;p28"/>
          <p:cNvSpPr/>
          <p:nvPr/>
        </p:nvSpPr>
        <p:spPr>
          <a:xfrm>
            <a:off x="144475" y="1282275"/>
            <a:ext cx="4214100" cy="24204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es" sz="1800" u="none" cap="none" strike="noStrike">
                <a:solidFill>
                  <a:schemeClr val="dk2"/>
                </a:solidFill>
                <a:latin typeface="Open Sans"/>
                <a:ea typeface="Open Sans"/>
                <a:cs typeface="Open Sans"/>
                <a:sym typeface="Open Sans"/>
              </a:rPr>
              <a:t>MECANISMO DE PROTECCIÓN</a:t>
            </a:r>
            <a:endParaRPr b="1"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Indica </a:t>
            </a:r>
            <a:r>
              <a:rPr b="1" i="0" lang="es" sz="1800" u="none" cap="none" strike="noStrike">
                <a:solidFill>
                  <a:srgbClr val="FF0000"/>
                </a:solidFill>
                <a:latin typeface="Open Sans"/>
                <a:ea typeface="Open Sans"/>
                <a:cs typeface="Open Sans"/>
                <a:sym typeface="Open Sans"/>
              </a:rPr>
              <a:t>cómo se hará algo</a:t>
            </a:r>
            <a:r>
              <a:rPr b="0" i="0" lang="es" sz="1800" u="none" cap="none" strike="noStrike">
                <a:solidFill>
                  <a:schemeClr val="dk2"/>
                </a:solidFill>
                <a:latin typeface="Open Sans"/>
                <a:ea typeface="Open Sans"/>
                <a:cs typeface="Open Sans"/>
                <a:sym typeface="Open Sans"/>
              </a:rPr>
              <a:t> frente a una situación de seguridad</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120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 </a:t>
            </a:r>
            <a:endParaRPr b="0" i="0" sz="1400" u="none" cap="none" strike="noStrike">
              <a:solidFill>
                <a:srgbClr val="000000"/>
              </a:solidFill>
              <a:latin typeface="Open Sans"/>
              <a:ea typeface="Open Sans"/>
              <a:cs typeface="Open Sans"/>
              <a:sym typeface="Open Sans"/>
            </a:endParaRPr>
          </a:p>
        </p:txBody>
      </p:sp>
      <p:sp>
        <p:nvSpPr>
          <p:cNvPr id="278" name="Google Shape;278;p28"/>
          <p:cNvSpPr/>
          <p:nvPr/>
        </p:nvSpPr>
        <p:spPr>
          <a:xfrm>
            <a:off x="4511100" y="1282275"/>
            <a:ext cx="4321200" cy="24204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1" i="0" lang="es" sz="1800" u="none" cap="none" strike="noStrike">
                <a:solidFill>
                  <a:schemeClr val="dk2"/>
                </a:solidFill>
                <a:latin typeface="Open Sans"/>
                <a:ea typeface="Open Sans"/>
                <a:cs typeface="Open Sans"/>
                <a:sym typeface="Open Sans"/>
              </a:rPr>
              <a:t>POLÍTICAS DE PROTECCIÓN</a:t>
            </a:r>
            <a:endParaRPr b="1"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t/>
            </a:r>
            <a:endParaRPr b="1"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Indica </a:t>
            </a:r>
            <a:r>
              <a:rPr b="1" i="0" lang="es" sz="1800" u="none" cap="none" strike="noStrike">
                <a:solidFill>
                  <a:srgbClr val="FF0000"/>
                </a:solidFill>
                <a:latin typeface="Open Sans"/>
                <a:ea typeface="Open Sans"/>
                <a:cs typeface="Open Sans"/>
                <a:sym typeface="Open Sans"/>
              </a:rPr>
              <a:t>que se hará algo</a:t>
            </a:r>
            <a:r>
              <a:rPr b="0" i="0" lang="es" sz="1800" u="none" cap="none" strike="noStrike">
                <a:solidFill>
                  <a:schemeClr val="dk2"/>
                </a:solidFill>
                <a:latin typeface="Open Sans"/>
                <a:ea typeface="Open Sans"/>
                <a:cs typeface="Open Sans"/>
                <a:sym typeface="Open Sans"/>
              </a:rPr>
              <a:t> frente a una situación de seguridad</a:t>
            </a:r>
            <a:endParaRPr b="0" i="0" sz="1800" u="none" cap="none" strike="noStrike">
              <a:solidFill>
                <a:schemeClr val="dk2"/>
              </a:solidFill>
              <a:latin typeface="Open Sans"/>
              <a:ea typeface="Open Sans"/>
              <a:cs typeface="Open Sans"/>
              <a:sym typeface="Open Sans"/>
            </a:endParaRPr>
          </a:p>
          <a:p>
            <a:pPr indent="0" lvl="0" marL="0" marR="0" rtl="0" algn="l">
              <a:lnSpc>
                <a:spcPct val="115000"/>
              </a:lnSpc>
              <a:spcBef>
                <a:spcPts val="1200"/>
              </a:spcBef>
              <a:spcAft>
                <a:spcPts val="1200"/>
              </a:spcAft>
              <a:buClr>
                <a:srgbClr val="000000"/>
              </a:buClr>
              <a:buSzPts val="1800"/>
              <a:buFont typeface="Arial"/>
              <a:buNone/>
            </a:pPr>
            <a:r>
              <a:t/>
            </a:r>
            <a:endParaRPr b="1" i="0" sz="1800" u="none" cap="none" strike="noStrike">
              <a:solidFill>
                <a:schemeClr val="dk2"/>
              </a:solidFill>
              <a:latin typeface="Open Sans"/>
              <a:ea typeface="Open Sans"/>
              <a:cs typeface="Open Sans"/>
              <a:sym typeface="Open Sans"/>
            </a:endParaRPr>
          </a:p>
        </p:txBody>
      </p:sp>
      <p:sp>
        <p:nvSpPr>
          <p:cNvPr id="279" name="Google Shape;279;p28"/>
          <p:cNvSpPr txBox="1"/>
          <p:nvPr/>
        </p:nvSpPr>
        <p:spPr>
          <a:xfrm>
            <a:off x="857250" y="3947675"/>
            <a:ext cx="7635900" cy="102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Open Sans"/>
                <a:ea typeface="Open Sans"/>
                <a:cs typeface="Open Sans"/>
                <a:sym typeface="Open Sans"/>
              </a:rPr>
              <a:t>⇒ nos permite mayor flexibilidad, ya que podemos cambiar la política a lo largo del tiempo, pero mantener el mecanismo</a:t>
            </a:r>
            <a:endParaRPr b="0" i="0" sz="1800" u="none" cap="none" strike="noStrike">
              <a:solidFill>
                <a:schemeClr val="dk2"/>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2"/>
                </a:solidFill>
                <a:latin typeface="Open Sans"/>
                <a:ea typeface="Open Sans"/>
                <a:cs typeface="Open Sans"/>
                <a:sym typeface="Open Sans"/>
              </a:rPr>
              <a:t>Ej: el mecanismo (time to live - TTL) ⇒ la política el TTL = 3seg</a:t>
            </a:r>
            <a:endParaRPr b="1" i="0" sz="1800" u="none" cap="none" strike="noStrike">
              <a:solidFill>
                <a:schemeClr val="dk2"/>
              </a:solidFill>
              <a:latin typeface="Open Sans"/>
              <a:ea typeface="Open Sans"/>
              <a:cs typeface="Open Sans"/>
              <a:sym typeface="Open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9"/>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Mecanismos de protección y control de accesos</a:t>
            </a:r>
            <a:endParaRPr/>
          </a:p>
        </p:txBody>
      </p:sp>
      <p:sp>
        <p:nvSpPr>
          <p:cNvPr id="285" name="Google Shape;285;p29"/>
          <p:cNvSpPr txBox="1"/>
          <p:nvPr>
            <p:ph idx="1" type="body"/>
          </p:nvPr>
        </p:nvSpPr>
        <p:spPr>
          <a:xfrm>
            <a:off x="369325" y="1259100"/>
            <a:ext cx="8520600" cy="3668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s">
                <a:solidFill>
                  <a:srgbClr val="E06666"/>
                </a:solidFill>
              </a:rPr>
              <a:t>Dominio de protección</a:t>
            </a:r>
            <a:endParaRPr b="1">
              <a:solidFill>
                <a:srgbClr val="E06666"/>
              </a:solidFill>
            </a:endParaRPr>
          </a:p>
          <a:p>
            <a:pPr indent="0" lvl="0" marL="0" rtl="0" algn="l">
              <a:lnSpc>
                <a:spcPct val="115000"/>
              </a:lnSpc>
              <a:spcBef>
                <a:spcPts val="1200"/>
              </a:spcBef>
              <a:spcAft>
                <a:spcPts val="0"/>
              </a:spcAft>
              <a:buSzPts val="1800"/>
              <a:buNone/>
            </a:pPr>
            <a:r>
              <a:rPr lang="es"/>
              <a:t>Consiste en identificar y etiquetar cuales son los posible objetos a verse afectados en términos de seguridad, identificar las acciones u operaciones que se pueden ver afectadas,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s"/>
              <a:t>Ejemplo: </a:t>
            </a:r>
            <a:endParaRPr/>
          </a:p>
          <a:p>
            <a:pPr indent="0" lvl="0" marL="0" rtl="0" algn="l">
              <a:lnSpc>
                <a:spcPct val="115000"/>
              </a:lnSpc>
              <a:spcBef>
                <a:spcPts val="1200"/>
              </a:spcBef>
              <a:spcAft>
                <a:spcPts val="0"/>
              </a:spcAft>
              <a:buSzPts val="1800"/>
              <a:buNone/>
            </a:pPr>
            <a:r>
              <a:rPr lang="es"/>
              <a:t>dominio ⇒ archivo txt ⇒ operaciones (escritura, lectura ,....) </a:t>
            </a:r>
            <a:endParaRPr/>
          </a:p>
          <a:p>
            <a:pPr indent="0" lvl="0" marL="0" rtl="0" algn="l">
              <a:lnSpc>
                <a:spcPct val="115000"/>
              </a:lnSpc>
              <a:spcBef>
                <a:spcPts val="1200"/>
              </a:spcBef>
              <a:spcAft>
                <a:spcPts val="0"/>
              </a:spcAft>
              <a:buSzPts val="1800"/>
              <a:buNone/>
            </a:pPr>
            <a:r>
              <a:rPr lang="es"/>
              <a:t>dominio ⇒ archivo sh ⇒ operaciones (ejecución, escritura, lectura)</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0"/>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Mecanismos de protección y control de accesos</a:t>
            </a:r>
            <a:endParaRPr/>
          </a:p>
        </p:txBody>
      </p:sp>
      <p:sp>
        <p:nvSpPr>
          <p:cNvPr id="291" name="Google Shape;291;p30"/>
          <p:cNvSpPr txBox="1"/>
          <p:nvPr>
            <p:ph idx="1" type="body"/>
          </p:nvPr>
        </p:nvSpPr>
        <p:spPr>
          <a:xfrm>
            <a:off x="311700" y="1266325"/>
            <a:ext cx="7987200" cy="113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a:solidFill>
                  <a:srgbClr val="E06666"/>
                </a:solidFill>
              </a:rPr>
              <a:t>Dominio de protección</a:t>
            </a:r>
            <a:endParaRPr b="1">
              <a:solidFill>
                <a:srgbClr val="E06666"/>
              </a:solidFill>
            </a:endParaRPr>
          </a:p>
          <a:p>
            <a:pPr indent="0" lvl="0" marL="0" rtl="0" algn="l">
              <a:lnSpc>
                <a:spcPct val="115000"/>
              </a:lnSpc>
              <a:spcBef>
                <a:spcPts val="1200"/>
              </a:spcBef>
              <a:spcAft>
                <a:spcPts val="1200"/>
              </a:spcAft>
              <a:buSzPts val="1800"/>
              <a:buNone/>
            </a:pPr>
            <a:r>
              <a:rPr lang="es">
                <a:solidFill>
                  <a:srgbClr val="666666"/>
                </a:solidFill>
              </a:rPr>
              <a:t>Dominios D1, D2, D3</a:t>
            </a:r>
            <a:endParaRPr>
              <a:solidFill>
                <a:srgbClr val="666666"/>
              </a:solidFill>
            </a:endParaRPr>
          </a:p>
        </p:txBody>
      </p:sp>
      <p:pic>
        <p:nvPicPr>
          <p:cNvPr id="292" name="Google Shape;292;p30"/>
          <p:cNvPicPr preferRelativeResize="0"/>
          <p:nvPr/>
        </p:nvPicPr>
        <p:blipFill rotWithShape="1">
          <a:blip r:embed="rId3">
            <a:alphaModFix/>
          </a:blip>
          <a:srcRect b="0" l="0" r="0" t="0"/>
          <a:stretch/>
        </p:blipFill>
        <p:spPr>
          <a:xfrm>
            <a:off x="3104850" y="1922525"/>
            <a:ext cx="5935899" cy="2216575"/>
          </a:xfrm>
          <a:prstGeom prst="rect">
            <a:avLst/>
          </a:prstGeom>
          <a:noFill/>
          <a:ln>
            <a:noFill/>
          </a:ln>
        </p:spPr>
      </p:pic>
      <p:sp>
        <p:nvSpPr>
          <p:cNvPr id="293" name="Google Shape;293;p30"/>
          <p:cNvSpPr txBox="1"/>
          <p:nvPr/>
        </p:nvSpPr>
        <p:spPr>
          <a:xfrm>
            <a:off x="288150" y="2348425"/>
            <a:ext cx="2859900" cy="2571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rgbClr val="000000"/>
              </a:buClr>
              <a:buSzPts val="1600"/>
              <a:buFont typeface="Arial"/>
              <a:buNone/>
            </a:pPr>
            <a:r>
              <a:rPr b="0" i="0" lang="es" sz="1600" u="none" cap="none" strike="noStrike">
                <a:solidFill>
                  <a:srgbClr val="666666"/>
                </a:solidFill>
                <a:latin typeface="Open Sans"/>
                <a:ea typeface="Open Sans"/>
                <a:cs typeface="Open Sans"/>
                <a:sym typeface="Open Sans"/>
              </a:rPr>
              <a:t>El dominio protección les permite determinar los mecanismos y políticas de protección </a:t>
            </a:r>
            <a:r>
              <a:rPr b="0" i="0" lang="es" sz="1600" u="none" cap="none" strike="noStrike">
                <a:solidFill>
                  <a:schemeClr val="dk2"/>
                </a:solidFill>
                <a:latin typeface="Open Sans"/>
                <a:ea typeface="Open Sans"/>
                <a:cs typeface="Open Sans"/>
                <a:sym typeface="Open Sans"/>
              </a:rPr>
              <a:t>aplicables sobre dichos objetos para mantener la seguridad, integridad y consistencias de la información</a:t>
            </a:r>
            <a:r>
              <a:rPr b="0" i="0" lang="es" sz="1600" u="none" cap="none" strike="noStrike">
                <a:solidFill>
                  <a:srgbClr val="666666"/>
                </a:solidFill>
                <a:latin typeface="Open Sans"/>
                <a:ea typeface="Open Sans"/>
                <a:cs typeface="Open Sans"/>
                <a:sym typeface="Open Sans"/>
              </a:rPr>
              <a:t> </a:t>
            </a:r>
            <a:endParaRPr b="0" i="0" sz="1600" u="none" cap="none" strike="noStrike">
              <a:solidFill>
                <a:schemeClr val="dk2"/>
              </a:solidFill>
              <a:latin typeface="Open Sans"/>
              <a:ea typeface="Open Sans"/>
              <a:cs typeface="Open Sans"/>
              <a:sym typeface="Open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Mecanismos de protección y control de accesos</a:t>
            </a:r>
            <a:endParaRPr/>
          </a:p>
        </p:txBody>
      </p:sp>
      <p:sp>
        <p:nvSpPr>
          <p:cNvPr id="299" name="Google Shape;299;p31"/>
          <p:cNvSpPr txBox="1"/>
          <p:nvPr>
            <p:ph idx="1" type="body"/>
          </p:nvPr>
        </p:nvSpPr>
        <p:spPr>
          <a:xfrm>
            <a:off x="311700" y="1266325"/>
            <a:ext cx="8520600" cy="3668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b="1" lang="es">
                <a:solidFill>
                  <a:srgbClr val="E06666"/>
                </a:solidFill>
              </a:rPr>
              <a:t>Matriz de acceso</a:t>
            </a:r>
            <a:endParaRPr b="1">
              <a:solidFill>
                <a:srgbClr val="E06666"/>
              </a:solidFill>
            </a:endParaRPr>
          </a:p>
          <a:p>
            <a:pPr indent="0" lvl="0" marL="0" rtl="0" algn="l">
              <a:lnSpc>
                <a:spcPct val="115000"/>
              </a:lnSpc>
              <a:spcBef>
                <a:spcPts val="1200"/>
              </a:spcBef>
              <a:spcAft>
                <a:spcPts val="0"/>
              </a:spcAft>
              <a:buSzPts val="1800"/>
              <a:buNone/>
            </a:pPr>
            <a:r>
              <a:rPr lang="es"/>
              <a:t>Consiste en identificar y etiquetar cuales son los posible objetos a verse afectados en términos de seguridad, identificar las acciones u operaciones que se pueden ver afectadas y establecer el dominio de dicha situación, es decir, los posibles mecanismos y políticas aplicables sobre dichos objetos para mantener la seguridad, integridad y consistencias de la información, </a:t>
            </a:r>
            <a:endParaRPr/>
          </a:p>
          <a:p>
            <a:pPr indent="0" lvl="0" marL="0" rtl="0" algn="l">
              <a:lnSpc>
                <a:spcPct val="115000"/>
              </a:lnSpc>
              <a:spcBef>
                <a:spcPts val="1200"/>
              </a:spcBef>
              <a:spcAft>
                <a:spcPts val="0"/>
              </a:spcAft>
              <a:buSzPts val="1800"/>
              <a:buNone/>
            </a:pPr>
            <a:r>
              <a:rPr lang="es"/>
              <a:t>Ejemplo: dominio  ⇒ archivo, operaciones (escritura, lectura ,....) </a:t>
            </a:r>
            <a:endParaRPr/>
          </a:p>
          <a:p>
            <a:pPr indent="0" lvl="0" marL="0" rtl="0" algn="l">
              <a:lnSpc>
                <a:spcPct val="115000"/>
              </a:lnSpc>
              <a:spcBef>
                <a:spcPts val="1200"/>
              </a:spcBef>
              <a:spcAft>
                <a:spcPts val="1200"/>
              </a:spcAft>
              <a:buSzPts val="1800"/>
              <a:buNone/>
            </a:pPr>
            <a:r>
              <a:rPr lang="es"/>
              <a:t>El dominio el mecanismo: permisos sobre las operaciones y quien las puede llevar a cabo (permisos de usuario), la politica, dependera del tipo de archivo (txt ⇒ lectura y escritura, sh⇒ ejecución)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2"/>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Mecanismos de protección y control de accesos</a:t>
            </a:r>
            <a:endParaRPr/>
          </a:p>
        </p:txBody>
      </p:sp>
      <p:sp>
        <p:nvSpPr>
          <p:cNvPr id="305" name="Google Shape;305;p32"/>
          <p:cNvSpPr txBox="1"/>
          <p:nvPr>
            <p:ph idx="1" type="body"/>
          </p:nvPr>
        </p:nvSpPr>
        <p:spPr>
          <a:xfrm>
            <a:off x="311700" y="1259100"/>
            <a:ext cx="8714700" cy="19611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b="1" lang="es">
                <a:solidFill>
                  <a:srgbClr val="E06666"/>
                </a:solidFill>
              </a:rPr>
              <a:t>Matriz de acceso</a:t>
            </a:r>
            <a:endParaRPr b="1">
              <a:solidFill>
                <a:srgbClr val="E06666"/>
              </a:solidFill>
            </a:endParaRPr>
          </a:p>
          <a:p>
            <a:pPr indent="0" lvl="0" marL="0" rtl="0" algn="l">
              <a:lnSpc>
                <a:spcPct val="115000"/>
              </a:lnSpc>
              <a:spcBef>
                <a:spcPts val="1200"/>
              </a:spcBef>
              <a:spcAft>
                <a:spcPts val="1200"/>
              </a:spcAft>
              <a:buSzPts val="1800"/>
              <a:buNone/>
            </a:pPr>
            <a:r>
              <a:rPr lang="es"/>
              <a:t>Establece las relaciones del dominio de protección  en un esquema de matriz, mucho más fácil de leer. Con una matriz como esta el sistema puede determinar que tipo de acceso se permite a cada objeto específico. El problema que surge tiene relación con la reacción en tiempo real de la matriz y el desperdicio de espacio al construirla. </a:t>
            </a:r>
            <a:endParaRPr/>
          </a:p>
        </p:txBody>
      </p:sp>
      <p:pic>
        <p:nvPicPr>
          <p:cNvPr id="306" name="Google Shape;306;p32"/>
          <p:cNvPicPr preferRelativeResize="0"/>
          <p:nvPr/>
        </p:nvPicPr>
        <p:blipFill rotWithShape="1">
          <a:blip r:embed="rId3">
            <a:alphaModFix/>
          </a:blip>
          <a:srcRect b="0" l="0" r="0" t="0"/>
          <a:stretch/>
        </p:blipFill>
        <p:spPr>
          <a:xfrm>
            <a:off x="2796200" y="3140946"/>
            <a:ext cx="5977999" cy="1693275"/>
          </a:xfrm>
          <a:prstGeom prst="rect">
            <a:avLst/>
          </a:prstGeom>
          <a:noFill/>
          <a:ln>
            <a:noFill/>
          </a:ln>
        </p:spPr>
      </p:pic>
      <p:sp>
        <p:nvSpPr>
          <p:cNvPr id="307" name="Google Shape;307;p32"/>
          <p:cNvSpPr txBox="1"/>
          <p:nvPr/>
        </p:nvSpPr>
        <p:spPr>
          <a:xfrm>
            <a:off x="151275" y="3220201"/>
            <a:ext cx="2600700" cy="1192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200"/>
              </a:spcAft>
              <a:buClr>
                <a:srgbClr val="000000"/>
              </a:buClr>
              <a:buSzPts val="1300"/>
              <a:buFont typeface="Arial"/>
              <a:buNone/>
            </a:pPr>
            <a:r>
              <a:rPr b="0" i="0" lang="es" sz="1300" u="none" cap="none" strike="noStrike">
                <a:solidFill>
                  <a:schemeClr val="dk2"/>
                </a:solidFill>
                <a:latin typeface="Open Sans"/>
                <a:ea typeface="Open Sans"/>
                <a:cs typeface="Open Sans"/>
                <a:sym typeface="Open Sans"/>
              </a:rPr>
              <a:t>Esta matriz se complejiza aún más al considerar múltiples usuarios y niveles de accesibilidad</a:t>
            </a:r>
            <a:endParaRPr b="0" i="0" sz="1300" u="none" cap="none" strike="noStrike">
              <a:solidFill>
                <a:schemeClr val="dk2"/>
              </a:solidFill>
              <a:latin typeface="Open Sans"/>
              <a:ea typeface="Open Sans"/>
              <a:cs typeface="Open Sans"/>
              <a:sym typeface="Open Sans"/>
            </a:endParaRPr>
          </a:p>
        </p:txBody>
      </p:sp>
      <p:pic>
        <p:nvPicPr>
          <p:cNvPr id="308" name="Google Shape;308;p32"/>
          <p:cNvPicPr preferRelativeResize="0"/>
          <p:nvPr/>
        </p:nvPicPr>
        <p:blipFill rotWithShape="1">
          <a:blip r:embed="rId4">
            <a:alphaModFix/>
          </a:blip>
          <a:srcRect b="0" l="0" r="0" t="0"/>
          <a:stretch/>
        </p:blipFill>
        <p:spPr>
          <a:xfrm>
            <a:off x="2026374" y="4257649"/>
            <a:ext cx="625448" cy="707400"/>
          </a:xfrm>
          <a:prstGeom prst="rect">
            <a:avLst/>
          </a:prstGeom>
          <a:noFill/>
          <a:ln>
            <a:noFill/>
          </a:ln>
        </p:spPr>
      </p:pic>
      <p:sp>
        <p:nvSpPr>
          <p:cNvPr id="309" name="Google Shape;309;p32"/>
          <p:cNvSpPr/>
          <p:nvPr/>
        </p:nvSpPr>
        <p:spPr>
          <a:xfrm>
            <a:off x="52828" y="3118291"/>
            <a:ext cx="2673625" cy="1549750"/>
          </a:xfrm>
          <a:custGeom>
            <a:rect b="b" l="l" r="r" t="t"/>
            <a:pathLst>
              <a:path extrusionOk="0" h="61990" w="106945">
                <a:moveTo>
                  <a:pt x="78858" y="61990"/>
                </a:moveTo>
                <a:cubicBezTo>
                  <a:pt x="74373" y="57505"/>
                  <a:pt x="69033" y="52536"/>
                  <a:pt x="62721" y="51905"/>
                </a:cubicBezTo>
                <a:cubicBezTo>
                  <a:pt x="50773" y="50711"/>
                  <a:pt x="38589" y="54178"/>
                  <a:pt x="26702" y="52481"/>
                </a:cubicBezTo>
                <a:cubicBezTo>
                  <a:pt x="24815" y="52212"/>
                  <a:pt x="24230" y="49197"/>
                  <a:pt x="22380" y="48735"/>
                </a:cubicBezTo>
                <a:cubicBezTo>
                  <a:pt x="17993" y="47639"/>
                  <a:pt x="12887" y="48363"/>
                  <a:pt x="9125" y="45854"/>
                </a:cubicBezTo>
                <a:cubicBezTo>
                  <a:pt x="4943" y="43065"/>
                  <a:pt x="4088" y="37078"/>
                  <a:pt x="2497" y="32310"/>
                </a:cubicBezTo>
                <a:cubicBezTo>
                  <a:pt x="-404" y="23616"/>
                  <a:pt x="-1950" y="10804"/>
                  <a:pt x="5091" y="4936"/>
                </a:cubicBezTo>
                <a:cubicBezTo>
                  <a:pt x="11531" y="-431"/>
                  <a:pt x="21777" y="2919"/>
                  <a:pt x="30160" y="2919"/>
                </a:cubicBezTo>
                <a:cubicBezTo>
                  <a:pt x="40665" y="2919"/>
                  <a:pt x="51144" y="-976"/>
                  <a:pt x="61568" y="326"/>
                </a:cubicBezTo>
                <a:cubicBezTo>
                  <a:pt x="65731" y="846"/>
                  <a:pt x="69532" y="3094"/>
                  <a:pt x="73671" y="3783"/>
                </a:cubicBezTo>
                <a:cubicBezTo>
                  <a:pt x="84724" y="5624"/>
                  <a:pt x="101820" y="1840"/>
                  <a:pt x="106232" y="12140"/>
                </a:cubicBezTo>
                <a:cubicBezTo>
                  <a:pt x="107993" y="16252"/>
                  <a:pt x="106210" y="22243"/>
                  <a:pt x="102774" y="25107"/>
                </a:cubicBezTo>
                <a:cubicBezTo>
                  <a:pt x="98484" y="28682"/>
                  <a:pt x="92578" y="29725"/>
                  <a:pt x="87790" y="32599"/>
                </a:cubicBezTo>
                <a:cubicBezTo>
                  <a:pt x="85502" y="33972"/>
                  <a:pt x="85839" y="37846"/>
                  <a:pt x="83756" y="39514"/>
                </a:cubicBezTo>
                <a:cubicBezTo>
                  <a:pt x="81073" y="41662"/>
                  <a:pt x="76735" y="41485"/>
                  <a:pt x="74535" y="44125"/>
                </a:cubicBezTo>
                <a:cubicBezTo>
                  <a:pt x="70760" y="48655"/>
                  <a:pt x="72687" y="59549"/>
                  <a:pt x="78281" y="61414"/>
                </a:cubicBezTo>
              </a:path>
            </a:pathLst>
          </a:cu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Mecanismos de protección y control de accesos</a:t>
            </a:r>
            <a:endParaRPr/>
          </a:p>
        </p:txBody>
      </p:sp>
      <p:sp>
        <p:nvSpPr>
          <p:cNvPr id="315" name="Google Shape;315;p33"/>
          <p:cNvSpPr txBox="1"/>
          <p:nvPr>
            <p:ph idx="1" type="body"/>
          </p:nvPr>
        </p:nvSpPr>
        <p:spPr>
          <a:xfrm>
            <a:off x="311700" y="1266325"/>
            <a:ext cx="8520600" cy="2313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a:solidFill>
                  <a:srgbClr val="E06666"/>
                </a:solidFill>
              </a:rPr>
              <a:t>Lista de accesos</a:t>
            </a:r>
            <a:endParaRPr b="1">
              <a:solidFill>
                <a:srgbClr val="E06666"/>
              </a:solidFill>
            </a:endParaRPr>
          </a:p>
          <a:p>
            <a:pPr indent="0" lvl="0" marL="0" rtl="0" algn="l">
              <a:lnSpc>
                <a:spcPct val="115000"/>
              </a:lnSpc>
              <a:spcBef>
                <a:spcPts val="1200"/>
              </a:spcBef>
              <a:spcAft>
                <a:spcPts val="1200"/>
              </a:spcAft>
              <a:buSzPts val="1800"/>
              <a:buNone/>
            </a:pPr>
            <a:r>
              <a:rPr lang="es"/>
              <a:t>Este mecanismo establece una lista donde cada objeto presenta una segunda lista asociada, la cual contiene el dominio del objeto. El problema es el retardo al realizar la búsqueda de cada objeto. Una posible solución sería trabajar como lo hicimos en el motor de búsqueda, trabajando con hashmap (mapas tipo key-value)</a:t>
            </a:r>
            <a:endParaRPr/>
          </a:p>
        </p:txBody>
      </p:sp>
      <p:pic>
        <p:nvPicPr>
          <p:cNvPr id="316" name="Google Shape;316;p33"/>
          <p:cNvPicPr preferRelativeResize="0"/>
          <p:nvPr/>
        </p:nvPicPr>
        <p:blipFill rotWithShape="1">
          <a:blip r:embed="rId3">
            <a:alphaModFix/>
          </a:blip>
          <a:srcRect b="0" l="0" r="0" t="0"/>
          <a:stretch/>
        </p:blipFill>
        <p:spPr>
          <a:xfrm>
            <a:off x="418824" y="3616647"/>
            <a:ext cx="3077311" cy="1318075"/>
          </a:xfrm>
          <a:prstGeom prst="rect">
            <a:avLst/>
          </a:prstGeom>
          <a:noFill/>
          <a:ln cap="flat" cmpd="sng" w="9525">
            <a:solidFill>
              <a:schemeClr val="dk2"/>
            </a:solidFill>
            <a:prstDash val="dash"/>
            <a:round/>
            <a:headEnd len="sm" w="sm" type="none"/>
            <a:tailEnd len="sm" w="sm" type="none"/>
          </a:ln>
        </p:spPr>
      </p:pic>
      <p:sp>
        <p:nvSpPr>
          <p:cNvPr id="317" name="Google Shape;317;p33"/>
          <p:cNvSpPr/>
          <p:nvPr/>
        </p:nvSpPr>
        <p:spPr>
          <a:xfrm>
            <a:off x="3789175" y="4199700"/>
            <a:ext cx="705900" cy="381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sp>
        <p:nvSpPr>
          <p:cNvPr id="318" name="Google Shape;318;p33"/>
          <p:cNvSpPr txBox="1"/>
          <p:nvPr/>
        </p:nvSpPr>
        <p:spPr>
          <a:xfrm>
            <a:off x="3846850" y="3836063"/>
            <a:ext cx="806700" cy="30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Open Sans"/>
                <a:ea typeface="Open Sans"/>
                <a:cs typeface="Open Sans"/>
                <a:sym typeface="Open Sans"/>
              </a:rPr>
              <a:t>similar</a:t>
            </a:r>
            <a:endParaRPr b="0" i="0" sz="1400" u="none" cap="none" strike="noStrike">
              <a:solidFill>
                <a:schemeClr val="dk2"/>
              </a:solidFill>
              <a:latin typeface="Open Sans"/>
              <a:ea typeface="Open Sans"/>
              <a:cs typeface="Open Sans"/>
              <a:sym typeface="Open Sans"/>
            </a:endParaRPr>
          </a:p>
        </p:txBody>
      </p:sp>
      <p:pic>
        <p:nvPicPr>
          <p:cNvPr id="319" name="Google Shape;319;p33"/>
          <p:cNvPicPr preferRelativeResize="0"/>
          <p:nvPr/>
        </p:nvPicPr>
        <p:blipFill rotWithShape="1">
          <a:blip r:embed="rId4">
            <a:alphaModFix/>
          </a:blip>
          <a:srcRect b="0" l="0" r="0" t="0"/>
          <a:stretch/>
        </p:blipFill>
        <p:spPr>
          <a:xfrm>
            <a:off x="4877100" y="3616650"/>
            <a:ext cx="3869181" cy="13180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4"/>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Mecanismos de protección y control de accesos</a:t>
            </a:r>
            <a:endParaRPr/>
          </a:p>
        </p:txBody>
      </p:sp>
      <p:sp>
        <p:nvSpPr>
          <p:cNvPr id="325" name="Google Shape;325;p34"/>
          <p:cNvSpPr txBox="1"/>
          <p:nvPr>
            <p:ph idx="1" type="body"/>
          </p:nvPr>
        </p:nvSpPr>
        <p:spPr>
          <a:xfrm>
            <a:off x="311700" y="1266325"/>
            <a:ext cx="8520600" cy="3668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s">
                <a:solidFill>
                  <a:srgbClr val="E06666"/>
                </a:solidFill>
              </a:rPr>
              <a:t>Lista de capacidades</a:t>
            </a:r>
            <a:endParaRPr b="1">
              <a:solidFill>
                <a:srgbClr val="E06666"/>
              </a:solidFill>
            </a:endParaRPr>
          </a:p>
          <a:p>
            <a:pPr indent="0" lvl="0" marL="0" rtl="0" algn="l">
              <a:lnSpc>
                <a:spcPct val="115000"/>
              </a:lnSpc>
              <a:spcBef>
                <a:spcPts val="1200"/>
              </a:spcBef>
              <a:spcAft>
                <a:spcPts val="0"/>
              </a:spcAft>
              <a:buSzPts val="1800"/>
              <a:buNone/>
            </a:pPr>
            <a:r>
              <a:rPr lang="es"/>
              <a:t>Es otro mecanismo de protección, que solo puede ser accedido por el Sistema Operativo, ya que lo que realiza es establecer punteros directos a los objetos estableciendo los permisos o derechos de acción. Los procesos de usuarios no pueden acceder a esta lista de forma directa, deben pasar por un hardware o un firmware, que autorice su utilización</a:t>
            </a:r>
            <a:r>
              <a:rPr lang="es">
                <a:solidFill>
                  <a:srgbClr val="666666"/>
                </a:solidFill>
              </a:rPr>
              <a:t> (mecanismos de autenticación por huella digital)</a:t>
            </a:r>
            <a:endParaRPr>
              <a:solidFill>
                <a:srgbClr val="666666"/>
              </a:solidFill>
            </a:endParaRPr>
          </a:p>
          <a:p>
            <a:pPr indent="0" lvl="0" marL="0" rtl="0" algn="l">
              <a:lnSpc>
                <a:spcPct val="115000"/>
              </a:lnSpc>
              <a:spcBef>
                <a:spcPts val="1200"/>
              </a:spcBef>
              <a:spcAft>
                <a:spcPts val="1200"/>
              </a:spcAft>
              <a:buSzPts val="1800"/>
              <a:buNone/>
            </a:pPr>
            <a:r>
              <a:t/>
            </a:r>
            <a:endParaRPr/>
          </a:p>
        </p:txBody>
      </p:sp>
      <p:pic>
        <p:nvPicPr>
          <p:cNvPr id="326" name="Google Shape;326;p34"/>
          <p:cNvPicPr preferRelativeResize="0"/>
          <p:nvPr/>
        </p:nvPicPr>
        <p:blipFill rotWithShape="1">
          <a:blip r:embed="rId3">
            <a:alphaModFix/>
          </a:blip>
          <a:srcRect b="0" l="0" r="0" t="0"/>
          <a:stretch/>
        </p:blipFill>
        <p:spPr>
          <a:xfrm>
            <a:off x="3842051" y="3594226"/>
            <a:ext cx="4861925" cy="12539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id="331" name="Google Shape;331;g316f00e02c7_0_0"/>
          <p:cNvPicPr preferRelativeResize="0"/>
          <p:nvPr/>
        </p:nvPicPr>
        <p:blipFill>
          <a:blip r:embed="rId3">
            <a:alphaModFix/>
          </a:blip>
          <a:stretch>
            <a:fillRect/>
          </a:stretch>
        </p:blipFill>
        <p:spPr>
          <a:xfrm>
            <a:off x="1178200" y="58975"/>
            <a:ext cx="6545475" cy="4909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
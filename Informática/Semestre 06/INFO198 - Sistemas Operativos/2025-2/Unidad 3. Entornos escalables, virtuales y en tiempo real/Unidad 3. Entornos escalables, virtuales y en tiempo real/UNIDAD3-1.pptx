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5143500" cx="9144000"/>
  <p:notesSz cx="6858000" cy="9144000"/>
  <p:embeddedFontLst>
    <p:embeddedFont>
      <p:font typeface="PT Sans Narrow"/>
      <p:regular r:id="rId37"/>
      <p:bold r:id="rId38"/>
    </p:embeddedFont>
    <p:embeddedFont>
      <p:font typeface="Open Sans"/>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43" roundtripDataSignature="AMtx7miWQ3iDezV5/EDobCidMQQLPXU+3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penSans-bold.fntdata"/><Relationship Id="rId20" Type="http://schemas.openxmlformats.org/officeDocument/2006/relationships/slide" Target="slides/slide15.xml"/><Relationship Id="rId42" Type="http://schemas.openxmlformats.org/officeDocument/2006/relationships/font" Target="fonts/OpenSans-boldItalic.fntdata"/><Relationship Id="rId41" Type="http://schemas.openxmlformats.org/officeDocument/2006/relationships/font" Target="fonts/OpenSans-italic.fntdata"/><Relationship Id="rId22" Type="http://schemas.openxmlformats.org/officeDocument/2006/relationships/slide" Target="slides/slide17.xml"/><Relationship Id="rId21" Type="http://schemas.openxmlformats.org/officeDocument/2006/relationships/slide" Target="slides/slide16.xml"/><Relationship Id="rId43" Type="http://customschemas.google.com/relationships/presentationmetadata" Target="meta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PTSansNarrow-regular.fntdata"/><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OpenSans-regular.fntdata"/><Relationship Id="rId16" Type="http://schemas.openxmlformats.org/officeDocument/2006/relationships/slide" Target="slides/slide11.xml"/><Relationship Id="rId38" Type="http://schemas.openxmlformats.org/officeDocument/2006/relationships/font" Target="fonts/PTSansNarrow-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 name="Google Shape;7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 name="Google Shape;7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 name="Google Shape;10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 name="Google Shape;11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2" name="Google Shape;14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 name="Google Shape;161;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 name="Google Shape;179;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 name="Google Shape;185;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1" name="Google Shape;191;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7" name="Google Shape;197;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5" name="Google Shape;205;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 name="Google Shape;221;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1" name="Google Shape;231;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3" name="Google Shape;243;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4" name="Google Shape;254;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0" name="Google Shape;260;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6" name="Google Shape;266;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2" name="Google Shape;272;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9" name="Google Shape;279;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7" name="Google Shape;287;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3" name="Google Shape;293;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9" name="Google Shape;299;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5" name="Google Shape;305;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2" name="Google Shape;312;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9" name="Google Shape;319;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33"/>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1" name="Google Shape;11;p33"/>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2" name="Google Shape;12;p33"/>
          <p:cNvGrpSpPr/>
          <p:nvPr/>
        </p:nvGrpSpPr>
        <p:grpSpPr>
          <a:xfrm>
            <a:off x="1004144" y="1022025"/>
            <a:ext cx="7136668" cy="152400"/>
            <a:chOff x="1346429" y="1011300"/>
            <a:chExt cx="6452100" cy="152400"/>
          </a:xfrm>
        </p:grpSpPr>
        <p:cxnSp>
          <p:nvCxnSpPr>
            <p:cNvPr id="13" name="Google Shape;13;p33"/>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4" name="Google Shape;14;p33"/>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5" name="Google Shape;15;p33"/>
          <p:cNvGrpSpPr/>
          <p:nvPr/>
        </p:nvGrpSpPr>
        <p:grpSpPr>
          <a:xfrm>
            <a:off x="1004151" y="3969100"/>
            <a:ext cx="7136668" cy="152400"/>
            <a:chOff x="1346435" y="3969088"/>
            <a:chExt cx="6452100" cy="152400"/>
          </a:xfrm>
        </p:grpSpPr>
        <p:cxnSp>
          <p:nvCxnSpPr>
            <p:cNvPr id="16" name="Google Shape;16;p33"/>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7" name="Google Shape;17;p33"/>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8" name="Google Shape;18;p33"/>
          <p:cNvSpPr txBox="1"/>
          <p:nvPr>
            <p:ph type="ctrTitle"/>
          </p:nvPr>
        </p:nvSpPr>
        <p:spPr>
          <a:xfrm>
            <a:off x="1004150" y="1751764"/>
            <a:ext cx="7136700" cy="1022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400"/>
              <a:buNone/>
              <a:defRPr sz="5400"/>
            </a:lvl1pPr>
            <a:lvl2pPr lvl="1" algn="ctr">
              <a:lnSpc>
                <a:spcPct val="100000"/>
              </a:lnSpc>
              <a:spcBef>
                <a:spcPts val="0"/>
              </a:spcBef>
              <a:spcAft>
                <a:spcPts val="0"/>
              </a:spcAft>
              <a:buSzPts val="5400"/>
              <a:buNone/>
              <a:defRPr sz="5400"/>
            </a:lvl2pPr>
            <a:lvl3pPr lvl="2" algn="ctr">
              <a:lnSpc>
                <a:spcPct val="100000"/>
              </a:lnSpc>
              <a:spcBef>
                <a:spcPts val="0"/>
              </a:spcBef>
              <a:spcAft>
                <a:spcPts val="0"/>
              </a:spcAft>
              <a:buSzPts val="5400"/>
              <a:buNone/>
              <a:defRPr sz="5400"/>
            </a:lvl3pPr>
            <a:lvl4pPr lvl="3" algn="ctr">
              <a:lnSpc>
                <a:spcPct val="100000"/>
              </a:lnSpc>
              <a:spcBef>
                <a:spcPts val="0"/>
              </a:spcBef>
              <a:spcAft>
                <a:spcPts val="0"/>
              </a:spcAft>
              <a:buSzPts val="5400"/>
              <a:buNone/>
              <a:defRPr sz="5400"/>
            </a:lvl4pPr>
            <a:lvl5pPr lvl="4" algn="ctr">
              <a:lnSpc>
                <a:spcPct val="100000"/>
              </a:lnSpc>
              <a:spcBef>
                <a:spcPts val="0"/>
              </a:spcBef>
              <a:spcAft>
                <a:spcPts val="0"/>
              </a:spcAft>
              <a:buSzPts val="5400"/>
              <a:buNone/>
              <a:defRPr sz="5400"/>
            </a:lvl5pPr>
            <a:lvl6pPr lvl="5" algn="ctr">
              <a:lnSpc>
                <a:spcPct val="100000"/>
              </a:lnSpc>
              <a:spcBef>
                <a:spcPts val="0"/>
              </a:spcBef>
              <a:spcAft>
                <a:spcPts val="0"/>
              </a:spcAft>
              <a:buSzPts val="5400"/>
              <a:buNone/>
              <a:defRPr sz="5400"/>
            </a:lvl6pPr>
            <a:lvl7pPr lvl="6" algn="ctr">
              <a:lnSpc>
                <a:spcPct val="100000"/>
              </a:lnSpc>
              <a:spcBef>
                <a:spcPts val="0"/>
              </a:spcBef>
              <a:spcAft>
                <a:spcPts val="0"/>
              </a:spcAft>
              <a:buSzPts val="5400"/>
              <a:buNone/>
              <a:defRPr sz="5400"/>
            </a:lvl7pPr>
            <a:lvl8pPr lvl="7" algn="ctr">
              <a:lnSpc>
                <a:spcPct val="100000"/>
              </a:lnSpc>
              <a:spcBef>
                <a:spcPts val="0"/>
              </a:spcBef>
              <a:spcAft>
                <a:spcPts val="0"/>
              </a:spcAft>
              <a:buSzPts val="5400"/>
              <a:buNone/>
              <a:defRPr sz="5400"/>
            </a:lvl8pPr>
            <a:lvl9pPr lvl="8" algn="ctr">
              <a:lnSpc>
                <a:spcPct val="100000"/>
              </a:lnSpc>
              <a:spcBef>
                <a:spcPts val="0"/>
              </a:spcBef>
              <a:spcAft>
                <a:spcPts val="0"/>
              </a:spcAft>
              <a:buSzPts val="5400"/>
              <a:buNone/>
              <a:defRPr sz="5400"/>
            </a:lvl9pPr>
          </a:lstStyle>
          <a:p/>
        </p:txBody>
      </p:sp>
      <p:sp>
        <p:nvSpPr>
          <p:cNvPr id="19" name="Google Shape;19;p33"/>
          <p:cNvSpPr txBox="1"/>
          <p:nvPr>
            <p:ph idx="1" type="subTitle"/>
          </p:nvPr>
        </p:nvSpPr>
        <p:spPr>
          <a:xfrm>
            <a:off x="2137225" y="2850039"/>
            <a:ext cx="48705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 name="Google Shape;20;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sp>
        <p:nvSpPr>
          <p:cNvPr id="22" name="Google Shape;22;p34"/>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34"/>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24" name="Google Shape;24;p34"/>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5" name="Google Shape;25;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6" name="Shape 26"/>
        <p:cNvGrpSpPr/>
        <p:nvPr/>
      </p:nvGrpSpPr>
      <p:grpSpPr>
        <a:xfrm>
          <a:off x="0" y="0"/>
          <a:ext cx="0" cy="0"/>
          <a:chOff x="0" y="0"/>
          <a:chExt cx="0" cy="0"/>
        </a:xfrm>
      </p:grpSpPr>
      <p:sp>
        <p:nvSpPr>
          <p:cNvPr id="27" name="Google Shape;27;p35"/>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35"/>
          <p:cNvSpPr txBox="1"/>
          <p:nvPr>
            <p:ph type="title"/>
          </p:nvPr>
        </p:nvSpPr>
        <p:spPr>
          <a:xfrm>
            <a:off x="311700" y="814800"/>
            <a:ext cx="8571300" cy="9420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a:lvl1pPr>
            <a:lvl2pPr lvl="1" algn="ctr">
              <a:lnSpc>
                <a:spcPct val="100000"/>
              </a:lnSpc>
              <a:spcBef>
                <a:spcPts val="0"/>
              </a:spcBef>
              <a:spcAft>
                <a:spcPts val="0"/>
              </a:spcAft>
              <a:buSzPts val="3600"/>
              <a:buNone/>
              <a:defRPr/>
            </a:lvl2pPr>
            <a:lvl3pPr lvl="2" algn="ctr">
              <a:lnSpc>
                <a:spcPct val="100000"/>
              </a:lnSpc>
              <a:spcBef>
                <a:spcPts val="0"/>
              </a:spcBef>
              <a:spcAft>
                <a:spcPts val="0"/>
              </a:spcAft>
              <a:buSzPts val="3600"/>
              <a:buNone/>
              <a:defRPr/>
            </a:lvl3pPr>
            <a:lvl4pPr lvl="3" algn="ctr">
              <a:lnSpc>
                <a:spcPct val="100000"/>
              </a:lnSpc>
              <a:spcBef>
                <a:spcPts val="0"/>
              </a:spcBef>
              <a:spcAft>
                <a:spcPts val="0"/>
              </a:spcAft>
              <a:buSzPts val="3600"/>
              <a:buNone/>
              <a:defRPr/>
            </a:lvl4pPr>
            <a:lvl5pPr lvl="4" algn="ctr">
              <a:lnSpc>
                <a:spcPct val="100000"/>
              </a:lnSpc>
              <a:spcBef>
                <a:spcPts val="0"/>
              </a:spcBef>
              <a:spcAft>
                <a:spcPts val="0"/>
              </a:spcAft>
              <a:buSzPts val="3600"/>
              <a:buNone/>
              <a:defRPr/>
            </a:lvl5pPr>
            <a:lvl6pPr lvl="5" algn="ctr">
              <a:lnSpc>
                <a:spcPct val="100000"/>
              </a:lnSpc>
              <a:spcBef>
                <a:spcPts val="0"/>
              </a:spcBef>
              <a:spcAft>
                <a:spcPts val="0"/>
              </a:spcAft>
              <a:buSzPts val="3600"/>
              <a:buNone/>
              <a:defRPr/>
            </a:lvl6pPr>
            <a:lvl7pPr lvl="6" algn="ctr">
              <a:lnSpc>
                <a:spcPct val="100000"/>
              </a:lnSpc>
              <a:spcBef>
                <a:spcPts val="0"/>
              </a:spcBef>
              <a:spcAft>
                <a:spcPts val="0"/>
              </a:spcAft>
              <a:buSzPts val="3600"/>
              <a:buNone/>
              <a:defRPr/>
            </a:lvl7pPr>
            <a:lvl8pPr lvl="7" algn="ctr">
              <a:lnSpc>
                <a:spcPct val="100000"/>
              </a:lnSpc>
              <a:spcBef>
                <a:spcPts val="0"/>
              </a:spcBef>
              <a:spcAft>
                <a:spcPts val="0"/>
              </a:spcAft>
              <a:buSzPts val="3600"/>
              <a:buNone/>
              <a:defRPr/>
            </a:lvl8pPr>
            <a:lvl9pPr lvl="8" algn="ctr">
              <a:lnSpc>
                <a:spcPct val="100000"/>
              </a:lnSpc>
              <a:spcBef>
                <a:spcPts val="0"/>
              </a:spcBef>
              <a:spcAft>
                <a:spcPts val="0"/>
              </a:spcAft>
              <a:buSzPts val="3600"/>
              <a:buNone/>
              <a:defRPr/>
            </a:lvl9pPr>
          </a:lstStyle>
          <a:p/>
        </p:txBody>
      </p:sp>
      <p:sp>
        <p:nvSpPr>
          <p:cNvPr id="29" name="Google Shape;29;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36"/>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32" name="Google Shape;32;p36"/>
          <p:cNvSpPr txBox="1"/>
          <p:nvPr>
            <p:ph idx="1" type="body"/>
          </p:nvPr>
        </p:nvSpPr>
        <p:spPr>
          <a:xfrm>
            <a:off x="311700" y="1266175"/>
            <a:ext cx="3999900" cy="33027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3" name="Google Shape;33;p36"/>
          <p:cNvSpPr txBox="1"/>
          <p:nvPr>
            <p:ph idx="2" type="body"/>
          </p:nvPr>
        </p:nvSpPr>
        <p:spPr>
          <a:xfrm>
            <a:off x="4832400" y="1266175"/>
            <a:ext cx="3999900" cy="33027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4" name="Google Shape;34;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37"/>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37" name="Google Shape;37;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3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0" name="Google Shape;40;p3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1" name="Google Shape;41;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42" name="Shape 42"/>
        <p:cNvGrpSpPr/>
        <p:nvPr/>
      </p:nvGrpSpPr>
      <p:grpSpPr>
        <a:xfrm>
          <a:off x="0" y="0"/>
          <a:ext cx="0" cy="0"/>
          <a:chOff x="0" y="0"/>
          <a:chExt cx="0" cy="0"/>
        </a:xfrm>
      </p:grpSpPr>
      <p:sp>
        <p:nvSpPr>
          <p:cNvPr id="43" name="Google Shape;43;p39"/>
          <p:cNvSpPr txBox="1"/>
          <p:nvPr>
            <p:ph type="title"/>
          </p:nvPr>
        </p:nvSpPr>
        <p:spPr>
          <a:xfrm>
            <a:off x="490250" y="526350"/>
            <a:ext cx="56136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dk2"/>
              </a:buClr>
              <a:buSzPts val="5400"/>
              <a:buNone/>
              <a:defRPr b="0" sz="5400">
                <a:solidFill>
                  <a:schemeClr val="dk2"/>
                </a:solidFill>
              </a:defRPr>
            </a:lvl1pPr>
            <a:lvl2pPr lvl="1" algn="l">
              <a:lnSpc>
                <a:spcPct val="100000"/>
              </a:lnSpc>
              <a:spcBef>
                <a:spcPts val="0"/>
              </a:spcBef>
              <a:spcAft>
                <a:spcPts val="0"/>
              </a:spcAft>
              <a:buClr>
                <a:schemeClr val="dk2"/>
              </a:buClr>
              <a:buSzPts val="5400"/>
              <a:buNone/>
              <a:defRPr b="0" sz="5400">
                <a:solidFill>
                  <a:schemeClr val="dk2"/>
                </a:solidFill>
              </a:defRPr>
            </a:lvl2pPr>
            <a:lvl3pPr lvl="2" algn="l">
              <a:lnSpc>
                <a:spcPct val="100000"/>
              </a:lnSpc>
              <a:spcBef>
                <a:spcPts val="0"/>
              </a:spcBef>
              <a:spcAft>
                <a:spcPts val="0"/>
              </a:spcAft>
              <a:buClr>
                <a:schemeClr val="dk2"/>
              </a:buClr>
              <a:buSzPts val="5400"/>
              <a:buNone/>
              <a:defRPr b="0" sz="5400">
                <a:solidFill>
                  <a:schemeClr val="dk2"/>
                </a:solidFill>
              </a:defRPr>
            </a:lvl3pPr>
            <a:lvl4pPr lvl="3" algn="l">
              <a:lnSpc>
                <a:spcPct val="100000"/>
              </a:lnSpc>
              <a:spcBef>
                <a:spcPts val="0"/>
              </a:spcBef>
              <a:spcAft>
                <a:spcPts val="0"/>
              </a:spcAft>
              <a:buClr>
                <a:schemeClr val="dk2"/>
              </a:buClr>
              <a:buSzPts val="5400"/>
              <a:buNone/>
              <a:defRPr b="0" sz="5400">
                <a:solidFill>
                  <a:schemeClr val="dk2"/>
                </a:solidFill>
              </a:defRPr>
            </a:lvl4pPr>
            <a:lvl5pPr lvl="4" algn="l">
              <a:lnSpc>
                <a:spcPct val="100000"/>
              </a:lnSpc>
              <a:spcBef>
                <a:spcPts val="0"/>
              </a:spcBef>
              <a:spcAft>
                <a:spcPts val="0"/>
              </a:spcAft>
              <a:buClr>
                <a:schemeClr val="dk2"/>
              </a:buClr>
              <a:buSzPts val="5400"/>
              <a:buNone/>
              <a:defRPr b="0" sz="5400">
                <a:solidFill>
                  <a:schemeClr val="dk2"/>
                </a:solidFill>
              </a:defRPr>
            </a:lvl5pPr>
            <a:lvl6pPr lvl="5" algn="l">
              <a:lnSpc>
                <a:spcPct val="100000"/>
              </a:lnSpc>
              <a:spcBef>
                <a:spcPts val="0"/>
              </a:spcBef>
              <a:spcAft>
                <a:spcPts val="0"/>
              </a:spcAft>
              <a:buClr>
                <a:schemeClr val="dk2"/>
              </a:buClr>
              <a:buSzPts val="5400"/>
              <a:buNone/>
              <a:defRPr b="0" sz="5400">
                <a:solidFill>
                  <a:schemeClr val="dk2"/>
                </a:solidFill>
              </a:defRPr>
            </a:lvl6pPr>
            <a:lvl7pPr lvl="6" algn="l">
              <a:lnSpc>
                <a:spcPct val="100000"/>
              </a:lnSpc>
              <a:spcBef>
                <a:spcPts val="0"/>
              </a:spcBef>
              <a:spcAft>
                <a:spcPts val="0"/>
              </a:spcAft>
              <a:buClr>
                <a:schemeClr val="dk2"/>
              </a:buClr>
              <a:buSzPts val="5400"/>
              <a:buNone/>
              <a:defRPr b="0" sz="5400">
                <a:solidFill>
                  <a:schemeClr val="dk2"/>
                </a:solidFill>
              </a:defRPr>
            </a:lvl7pPr>
            <a:lvl8pPr lvl="7" algn="l">
              <a:lnSpc>
                <a:spcPct val="100000"/>
              </a:lnSpc>
              <a:spcBef>
                <a:spcPts val="0"/>
              </a:spcBef>
              <a:spcAft>
                <a:spcPts val="0"/>
              </a:spcAft>
              <a:buClr>
                <a:schemeClr val="dk2"/>
              </a:buClr>
              <a:buSzPts val="5400"/>
              <a:buNone/>
              <a:defRPr b="0" sz="5400">
                <a:solidFill>
                  <a:schemeClr val="dk2"/>
                </a:solidFill>
              </a:defRPr>
            </a:lvl8pPr>
            <a:lvl9pPr lvl="8" algn="l">
              <a:lnSpc>
                <a:spcPct val="100000"/>
              </a:lnSpc>
              <a:spcBef>
                <a:spcPts val="0"/>
              </a:spcBef>
              <a:spcAft>
                <a:spcPts val="0"/>
              </a:spcAft>
              <a:buClr>
                <a:schemeClr val="dk2"/>
              </a:buClr>
              <a:buSzPts val="5400"/>
              <a:buNone/>
              <a:defRPr b="0" sz="5400">
                <a:solidFill>
                  <a:schemeClr val="dk2"/>
                </a:solidFill>
              </a:defRPr>
            </a:lvl9pPr>
          </a:lstStyle>
          <a:p/>
        </p:txBody>
      </p:sp>
      <p:sp>
        <p:nvSpPr>
          <p:cNvPr id="44" name="Google Shape;44;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40"/>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7" name="Google Shape;47;p40"/>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8" name="Google Shape;48;p40"/>
          <p:cNvSpPr txBox="1"/>
          <p:nvPr>
            <p:ph type="title"/>
          </p:nvPr>
        </p:nvSpPr>
        <p:spPr>
          <a:xfrm>
            <a:off x="265500" y="1039675"/>
            <a:ext cx="4045200" cy="16758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9" name="Google Shape;49;p40"/>
          <p:cNvSpPr txBox="1"/>
          <p:nvPr>
            <p:ph idx="1" type="subTitle"/>
          </p:nvPr>
        </p:nvSpPr>
        <p:spPr>
          <a:xfrm>
            <a:off x="265500" y="27268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40"/>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51" name="Google Shape;51;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41"/>
          <p:cNvSpPr txBox="1"/>
          <p:nvPr>
            <p:ph idx="1" type="body"/>
          </p:nvPr>
        </p:nvSpPr>
        <p:spPr>
          <a:xfrm>
            <a:off x="311700" y="423072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54" name="Google Shape;54;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42"/>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42"/>
          <p:cNvSpPr txBox="1"/>
          <p:nvPr>
            <p:ph hasCustomPrompt="1" type="title"/>
          </p:nvPr>
        </p:nvSpPr>
        <p:spPr>
          <a:xfrm>
            <a:off x="311700" y="1304850"/>
            <a:ext cx="8520600" cy="15384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accent3"/>
              </a:buClr>
              <a:buSzPts val="13000"/>
              <a:buNone/>
              <a:defRPr sz="13000">
                <a:solidFill>
                  <a:schemeClr val="accent3"/>
                </a:solidFill>
              </a:defRPr>
            </a:lvl1pPr>
            <a:lvl2pPr lvl="1" algn="ctr">
              <a:lnSpc>
                <a:spcPct val="100000"/>
              </a:lnSpc>
              <a:spcBef>
                <a:spcPts val="0"/>
              </a:spcBef>
              <a:spcAft>
                <a:spcPts val="0"/>
              </a:spcAft>
              <a:buClr>
                <a:schemeClr val="accent3"/>
              </a:buClr>
              <a:buSzPts val="13000"/>
              <a:buNone/>
              <a:defRPr sz="13000">
                <a:solidFill>
                  <a:schemeClr val="accent3"/>
                </a:solidFill>
              </a:defRPr>
            </a:lvl2pPr>
            <a:lvl3pPr lvl="2" algn="ctr">
              <a:lnSpc>
                <a:spcPct val="100000"/>
              </a:lnSpc>
              <a:spcBef>
                <a:spcPts val="0"/>
              </a:spcBef>
              <a:spcAft>
                <a:spcPts val="0"/>
              </a:spcAft>
              <a:buClr>
                <a:schemeClr val="accent3"/>
              </a:buClr>
              <a:buSzPts val="13000"/>
              <a:buNone/>
              <a:defRPr sz="13000">
                <a:solidFill>
                  <a:schemeClr val="accent3"/>
                </a:solidFill>
              </a:defRPr>
            </a:lvl3pPr>
            <a:lvl4pPr lvl="3" algn="ctr">
              <a:lnSpc>
                <a:spcPct val="100000"/>
              </a:lnSpc>
              <a:spcBef>
                <a:spcPts val="0"/>
              </a:spcBef>
              <a:spcAft>
                <a:spcPts val="0"/>
              </a:spcAft>
              <a:buClr>
                <a:schemeClr val="accent3"/>
              </a:buClr>
              <a:buSzPts val="13000"/>
              <a:buNone/>
              <a:defRPr sz="13000">
                <a:solidFill>
                  <a:schemeClr val="accent3"/>
                </a:solidFill>
              </a:defRPr>
            </a:lvl4pPr>
            <a:lvl5pPr lvl="4" algn="ctr">
              <a:lnSpc>
                <a:spcPct val="100000"/>
              </a:lnSpc>
              <a:spcBef>
                <a:spcPts val="0"/>
              </a:spcBef>
              <a:spcAft>
                <a:spcPts val="0"/>
              </a:spcAft>
              <a:buClr>
                <a:schemeClr val="accent3"/>
              </a:buClr>
              <a:buSzPts val="13000"/>
              <a:buNone/>
              <a:defRPr sz="13000">
                <a:solidFill>
                  <a:schemeClr val="accent3"/>
                </a:solidFill>
              </a:defRPr>
            </a:lvl5pPr>
            <a:lvl6pPr lvl="5" algn="ctr">
              <a:lnSpc>
                <a:spcPct val="100000"/>
              </a:lnSpc>
              <a:spcBef>
                <a:spcPts val="0"/>
              </a:spcBef>
              <a:spcAft>
                <a:spcPts val="0"/>
              </a:spcAft>
              <a:buClr>
                <a:schemeClr val="accent3"/>
              </a:buClr>
              <a:buSzPts val="13000"/>
              <a:buNone/>
              <a:defRPr sz="13000">
                <a:solidFill>
                  <a:schemeClr val="accent3"/>
                </a:solidFill>
              </a:defRPr>
            </a:lvl6pPr>
            <a:lvl7pPr lvl="6" algn="ctr">
              <a:lnSpc>
                <a:spcPct val="100000"/>
              </a:lnSpc>
              <a:spcBef>
                <a:spcPts val="0"/>
              </a:spcBef>
              <a:spcAft>
                <a:spcPts val="0"/>
              </a:spcAft>
              <a:buClr>
                <a:schemeClr val="accent3"/>
              </a:buClr>
              <a:buSzPts val="13000"/>
              <a:buNone/>
              <a:defRPr sz="13000">
                <a:solidFill>
                  <a:schemeClr val="accent3"/>
                </a:solidFill>
              </a:defRPr>
            </a:lvl7pPr>
            <a:lvl8pPr lvl="7" algn="ctr">
              <a:lnSpc>
                <a:spcPct val="100000"/>
              </a:lnSpc>
              <a:spcBef>
                <a:spcPts val="0"/>
              </a:spcBef>
              <a:spcAft>
                <a:spcPts val="0"/>
              </a:spcAft>
              <a:buClr>
                <a:schemeClr val="accent3"/>
              </a:buClr>
              <a:buSzPts val="13000"/>
              <a:buNone/>
              <a:defRPr sz="13000">
                <a:solidFill>
                  <a:schemeClr val="accent3"/>
                </a:solidFill>
              </a:defRPr>
            </a:lvl8pPr>
            <a:lvl9pPr lvl="8" algn="ctr">
              <a:lnSpc>
                <a:spcPct val="100000"/>
              </a:lnSpc>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42"/>
          <p:cNvSpPr txBox="1"/>
          <p:nvPr>
            <p:ph idx="1" type="body"/>
          </p:nvPr>
        </p:nvSpPr>
        <p:spPr>
          <a:xfrm>
            <a:off x="311700" y="2995650"/>
            <a:ext cx="8520600" cy="10716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9" name="Google Shape;59;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p32"/>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1pPr>
            <a:lvl2pPr lvl="1"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2pPr>
            <a:lvl3pPr lvl="2"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3pPr>
            <a:lvl4pPr lvl="3"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4pPr>
            <a:lvl5pPr lvl="4"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5pPr>
            <a:lvl6pPr lvl="5"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6pPr>
            <a:lvl7pPr lvl="6"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7pPr>
            <a:lvl8pPr lvl="7"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8pPr>
            <a:lvl9pPr lvl="8"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9pPr>
          </a:lstStyle>
          <a:p/>
        </p:txBody>
      </p:sp>
      <p:sp>
        <p:nvSpPr>
          <p:cNvPr id="7" name="Google Shape;7;p32"/>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Open Sans"/>
              <a:buChar char="●"/>
              <a:defRPr b="0" i="0" sz="1800" u="none" cap="none" strike="noStrike">
                <a:solidFill>
                  <a:schemeClr val="dk2"/>
                </a:solidFill>
                <a:latin typeface="Open Sans"/>
                <a:ea typeface="Open Sans"/>
                <a:cs typeface="Open Sans"/>
                <a:sym typeface="Open Sans"/>
              </a:defRPr>
            </a:lvl1pPr>
            <a:lvl2pPr indent="-317500" lvl="1" marL="9144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2pPr>
            <a:lvl3pPr indent="-317500" lvl="2" marL="13716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3pPr>
            <a:lvl4pPr indent="-317500" lvl="3" marL="18288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4pPr>
            <a:lvl5pPr indent="-317500" lvl="4" marL="22860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5pPr>
            <a:lvl6pPr indent="-317500" lvl="5" marL="27432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6pPr>
            <a:lvl7pPr indent="-317500" lvl="6" marL="32004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7pPr>
            <a:lvl8pPr indent="-317500" lvl="7" marL="36576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8pPr>
            <a:lvl9pPr indent="-317500" lvl="8" marL="41148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9pPr>
          </a:lstStyle>
          <a:p/>
        </p:txBody>
      </p:sp>
      <p:sp>
        <p:nvSpPr>
          <p:cNvPr id="8" name="Google Shape;8;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20.png"/><Relationship Id="rId5"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1.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7.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4.png"/><Relationship Id="rId4" Type="http://schemas.openxmlformats.org/officeDocument/2006/relationships/image" Target="../media/image2.png"/><Relationship Id="rId5" Type="http://schemas.openxmlformats.org/officeDocument/2006/relationships/image" Target="../media/image2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hyperlink" Target="https://es.wikipedia.org/wiki/CPU" TargetMode="External"/><Relationship Id="rId4" Type="http://schemas.openxmlformats.org/officeDocument/2006/relationships/hyperlink" Target="https://es.wikipedia.org/wiki/Memoria_cache" TargetMode="External"/><Relationship Id="rId5" Type="http://schemas.openxmlformats.org/officeDocument/2006/relationships/hyperlink" Target="https://es.wikipedia.org/wiki/Memoria_de_acceso_aleatorio"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8.png"/><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
          <p:cNvSpPr txBox="1"/>
          <p:nvPr>
            <p:ph type="ctrTitle"/>
          </p:nvPr>
        </p:nvSpPr>
        <p:spPr>
          <a:xfrm>
            <a:off x="1004150" y="1751764"/>
            <a:ext cx="7136700" cy="1022400"/>
          </a:xfrm>
          <a:prstGeom prst="rect">
            <a:avLst/>
          </a:prstGeom>
          <a:noFill/>
          <a:ln>
            <a:noFill/>
          </a:ln>
        </p:spPr>
        <p:txBody>
          <a:bodyPr anchorCtr="0" anchor="b"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s"/>
              <a:t>Unidad 3: Gestión de la memoria</a:t>
            </a:r>
            <a:endParaRPr/>
          </a:p>
        </p:txBody>
      </p:sp>
      <p:sp>
        <p:nvSpPr>
          <p:cNvPr id="67" name="Google Shape;67;p1"/>
          <p:cNvSpPr txBox="1"/>
          <p:nvPr>
            <p:ph idx="1" type="subTitle"/>
          </p:nvPr>
        </p:nvSpPr>
        <p:spPr>
          <a:xfrm>
            <a:off x="2137225" y="2850039"/>
            <a:ext cx="48705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400"/>
              <a:buNone/>
            </a:pPr>
            <a:r>
              <a:rPr lang="es" sz="1700">
                <a:solidFill>
                  <a:srgbClr val="695D46"/>
                </a:solidFill>
              </a:rPr>
              <a:t>2024-02 (lvc)</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2"/>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Temas</a:t>
            </a:r>
            <a:endParaRPr/>
          </a:p>
        </p:txBody>
      </p:sp>
      <p:sp>
        <p:nvSpPr>
          <p:cNvPr id="73" name="Google Shape;73;p2"/>
          <p:cNvSpPr txBox="1"/>
          <p:nvPr>
            <p:ph idx="1" type="body"/>
          </p:nvPr>
        </p:nvSpPr>
        <p:spPr>
          <a:xfrm>
            <a:off x="311700" y="1266325"/>
            <a:ext cx="8520600" cy="37329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s"/>
              <a:t>Paginación</a:t>
            </a:r>
            <a:endParaRPr/>
          </a:p>
          <a:p>
            <a:pPr indent="-342900" lvl="0" marL="457200" rtl="0" algn="l">
              <a:lnSpc>
                <a:spcPct val="115000"/>
              </a:lnSpc>
              <a:spcBef>
                <a:spcPts val="0"/>
              </a:spcBef>
              <a:spcAft>
                <a:spcPts val="0"/>
              </a:spcAft>
              <a:buSzPts val="1800"/>
              <a:buChar char="●"/>
            </a:pPr>
            <a:r>
              <a:rPr lang="es"/>
              <a:t>Segmentación</a:t>
            </a:r>
            <a:endParaRPr/>
          </a:p>
          <a:p>
            <a:pPr indent="-342900" lvl="0" marL="457200" rtl="0" algn="l">
              <a:lnSpc>
                <a:spcPct val="115000"/>
              </a:lnSpc>
              <a:spcBef>
                <a:spcPts val="0"/>
              </a:spcBef>
              <a:spcAft>
                <a:spcPts val="0"/>
              </a:spcAft>
              <a:buSzPts val="1800"/>
              <a:buChar char="●"/>
            </a:pPr>
            <a:r>
              <a:rPr lang="es"/>
              <a:t>Memoria Virtual</a:t>
            </a:r>
            <a:endParaRPr/>
          </a:p>
          <a:p>
            <a:pPr indent="0" lvl="0" marL="457200" rtl="0" algn="l">
              <a:lnSpc>
                <a:spcPct val="115000"/>
              </a:lnSpc>
              <a:spcBef>
                <a:spcPts val="1200"/>
              </a:spcBef>
              <a:spcAft>
                <a:spcPts val="1200"/>
              </a:spcAft>
              <a:buSzPts val="18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3"/>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Paginación</a:t>
            </a:r>
            <a:endParaRPr/>
          </a:p>
        </p:txBody>
      </p:sp>
      <p:sp>
        <p:nvSpPr>
          <p:cNvPr id="79" name="Google Shape;79;p3"/>
          <p:cNvSpPr txBox="1"/>
          <p:nvPr>
            <p:ph idx="1" type="body"/>
          </p:nvPr>
        </p:nvSpPr>
        <p:spPr>
          <a:xfrm>
            <a:off x="311700" y="1266325"/>
            <a:ext cx="8520600" cy="37329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s"/>
              <a:t>Es un mecanismo de manejo de memoria que subdivide la memoria en bloques del mismo tamaño llamados marcos de páginas o FRAMES</a:t>
            </a:r>
            <a:endParaRPr/>
          </a:p>
          <a:p>
            <a:pPr indent="0" lvl="0" marL="457200" rtl="0" algn="l">
              <a:lnSpc>
                <a:spcPct val="115000"/>
              </a:lnSpc>
              <a:spcBef>
                <a:spcPts val="1200"/>
              </a:spcBef>
              <a:spcAft>
                <a:spcPts val="0"/>
              </a:spcAft>
              <a:buSzPts val="1800"/>
              <a:buNone/>
            </a:pPr>
            <a:r>
              <a:t/>
            </a:r>
            <a:endParaRPr/>
          </a:p>
          <a:p>
            <a:pPr indent="-342900" lvl="0" marL="457200" rtl="0" algn="l">
              <a:lnSpc>
                <a:spcPct val="115000"/>
              </a:lnSpc>
              <a:spcBef>
                <a:spcPts val="1200"/>
              </a:spcBef>
              <a:spcAft>
                <a:spcPts val="0"/>
              </a:spcAft>
              <a:buSzPts val="1800"/>
              <a:buChar char="●"/>
            </a:pPr>
            <a:r>
              <a:rPr lang="es"/>
              <a:t>Por otro lado, los procesos o la memoria requerida por los procesos también es subdividida en bloques fijos de memoria, llamados Páginas, que son del mismo tamaño que los marcos de páginas</a:t>
            </a:r>
            <a:endParaRPr/>
          </a:p>
          <a:p>
            <a:pPr indent="0" lvl="0" marL="457200" rtl="0" algn="l">
              <a:lnSpc>
                <a:spcPct val="115000"/>
              </a:lnSpc>
              <a:spcBef>
                <a:spcPts val="1200"/>
              </a:spcBef>
              <a:spcAft>
                <a:spcPts val="0"/>
              </a:spcAft>
              <a:buSzPts val="1800"/>
              <a:buNone/>
            </a:pPr>
            <a:r>
              <a:t/>
            </a:r>
            <a:endParaRPr/>
          </a:p>
          <a:p>
            <a:pPr indent="-342900" lvl="0" marL="457200" rtl="0" algn="l">
              <a:lnSpc>
                <a:spcPct val="115000"/>
              </a:lnSpc>
              <a:spcBef>
                <a:spcPts val="1200"/>
              </a:spcBef>
              <a:spcAft>
                <a:spcPts val="0"/>
              </a:spcAft>
              <a:buSzPts val="1800"/>
              <a:buChar char="●"/>
            </a:pPr>
            <a:r>
              <a:rPr lang="es"/>
              <a:t>El tamaño de estas subdivisiones siempre es de potencia de 2, ejemplos: 512 bytes pot(2,9) o  8192 bytes pot(2,13)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4"/>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Paginación</a:t>
            </a:r>
            <a:endParaRPr/>
          </a:p>
        </p:txBody>
      </p:sp>
      <p:pic>
        <p:nvPicPr>
          <p:cNvPr id="85" name="Google Shape;85;p4"/>
          <p:cNvPicPr preferRelativeResize="0"/>
          <p:nvPr/>
        </p:nvPicPr>
        <p:blipFill rotWithShape="1">
          <a:blip r:embed="rId3">
            <a:alphaModFix/>
          </a:blip>
          <a:srcRect b="0" l="0" r="0" t="0"/>
          <a:stretch/>
        </p:blipFill>
        <p:spPr>
          <a:xfrm>
            <a:off x="1460197" y="1311635"/>
            <a:ext cx="1774275" cy="3555824"/>
          </a:xfrm>
          <a:prstGeom prst="rect">
            <a:avLst/>
          </a:prstGeom>
          <a:noFill/>
          <a:ln>
            <a:noFill/>
          </a:ln>
        </p:spPr>
      </p:pic>
      <p:pic>
        <p:nvPicPr>
          <p:cNvPr id="86" name="Google Shape;86;p4"/>
          <p:cNvPicPr preferRelativeResize="0"/>
          <p:nvPr/>
        </p:nvPicPr>
        <p:blipFill rotWithShape="1">
          <a:blip r:embed="rId4">
            <a:alphaModFix/>
          </a:blip>
          <a:srcRect b="0" l="0" r="0" t="0"/>
          <a:stretch/>
        </p:blipFill>
        <p:spPr>
          <a:xfrm>
            <a:off x="122400" y="3702745"/>
            <a:ext cx="1230800" cy="849850"/>
          </a:xfrm>
          <a:prstGeom prst="rect">
            <a:avLst/>
          </a:prstGeom>
          <a:noFill/>
          <a:ln>
            <a:noFill/>
          </a:ln>
        </p:spPr>
      </p:pic>
      <p:pic>
        <p:nvPicPr>
          <p:cNvPr id="87" name="Google Shape;87;p4"/>
          <p:cNvPicPr preferRelativeResize="0"/>
          <p:nvPr/>
        </p:nvPicPr>
        <p:blipFill rotWithShape="1">
          <a:blip r:embed="rId5">
            <a:alphaModFix/>
          </a:blip>
          <a:srcRect b="0" l="0" r="0" t="0"/>
          <a:stretch/>
        </p:blipFill>
        <p:spPr>
          <a:xfrm>
            <a:off x="6844700" y="1641550"/>
            <a:ext cx="1684575" cy="3175550"/>
          </a:xfrm>
          <a:prstGeom prst="rect">
            <a:avLst/>
          </a:prstGeom>
          <a:noFill/>
          <a:ln>
            <a:noFill/>
          </a:ln>
        </p:spPr>
      </p:pic>
      <p:sp>
        <p:nvSpPr>
          <p:cNvPr id="88" name="Google Shape;88;p4"/>
          <p:cNvSpPr/>
          <p:nvPr/>
        </p:nvSpPr>
        <p:spPr>
          <a:xfrm>
            <a:off x="3104825" y="440756"/>
            <a:ext cx="3745975" cy="1331375"/>
          </a:xfrm>
          <a:custGeom>
            <a:rect b="b" l="l" r="r" t="t"/>
            <a:pathLst>
              <a:path extrusionOk="0" h="53255" w="149839">
                <a:moveTo>
                  <a:pt x="0" y="52967"/>
                </a:moveTo>
                <a:cubicBezTo>
                  <a:pt x="12484" y="42266"/>
                  <a:pt x="18256" y="24798"/>
                  <a:pt x="31409" y="14931"/>
                </a:cubicBezTo>
                <a:cubicBezTo>
                  <a:pt x="43801" y="5636"/>
                  <a:pt x="60069" y="1641"/>
                  <a:pt x="75496" y="235"/>
                </a:cubicBezTo>
                <a:cubicBezTo>
                  <a:pt x="85797" y="-704"/>
                  <a:pt x="96227" y="2438"/>
                  <a:pt x="106040" y="5710"/>
                </a:cubicBezTo>
                <a:cubicBezTo>
                  <a:pt x="112538" y="7876"/>
                  <a:pt x="119796" y="9105"/>
                  <a:pt x="125058" y="13490"/>
                </a:cubicBezTo>
                <a:cubicBezTo>
                  <a:pt x="131714" y="19037"/>
                  <a:pt x="136033" y="27001"/>
                  <a:pt x="140330" y="34525"/>
                </a:cubicBezTo>
                <a:cubicBezTo>
                  <a:pt x="143803" y="40605"/>
                  <a:pt x="149839" y="46253"/>
                  <a:pt x="149839" y="53255"/>
                </a:cubicBezTo>
              </a:path>
            </a:pathLst>
          </a:cu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9" name="Google Shape;89;p4"/>
          <p:cNvCxnSpPr/>
          <p:nvPr/>
        </p:nvCxnSpPr>
        <p:spPr>
          <a:xfrm flipH="1" rot="10800000">
            <a:off x="6859700" y="1509375"/>
            <a:ext cx="9300" cy="262500"/>
          </a:xfrm>
          <a:prstGeom prst="straightConnector1">
            <a:avLst/>
          </a:prstGeom>
          <a:noFill/>
          <a:ln cap="flat" cmpd="sng" w="28575">
            <a:solidFill>
              <a:schemeClr val="dk2"/>
            </a:solidFill>
            <a:prstDash val="solid"/>
            <a:round/>
            <a:headEnd len="sm" w="sm" type="none"/>
            <a:tailEnd len="sm" w="sm" type="none"/>
          </a:ln>
        </p:spPr>
      </p:cxnSp>
      <p:cxnSp>
        <p:nvCxnSpPr>
          <p:cNvPr id="90" name="Google Shape;90;p4"/>
          <p:cNvCxnSpPr/>
          <p:nvPr/>
        </p:nvCxnSpPr>
        <p:spPr>
          <a:xfrm rot="10800000">
            <a:off x="6702600" y="1554375"/>
            <a:ext cx="148200" cy="217500"/>
          </a:xfrm>
          <a:prstGeom prst="straightConnector1">
            <a:avLst/>
          </a:prstGeom>
          <a:noFill/>
          <a:ln cap="flat" cmpd="sng" w="28575">
            <a:solidFill>
              <a:schemeClr val="dk2"/>
            </a:solidFill>
            <a:prstDash val="solid"/>
            <a:round/>
            <a:headEnd len="sm" w="sm" type="none"/>
            <a:tailEnd len="sm" w="sm" type="none"/>
          </a:ln>
        </p:spPr>
      </p:cxnSp>
      <p:sp>
        <p:nvSpPr>
          <p:cNvPr id="91" name="Google Shape;91;p4"/>
          <p:cNvSpPr txBox="1"/>
          <p:nvPr/>
        </p:nvSpPr>
        <p:spPr>
          <a:xfrm>
            <a:off x="4135572" y="79400"/>
            <a:ext cx="1334100" cy="324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2"/>
                </a:solidFill>
                <a:latin typeface="Open Sans"/>
                <a:ea typeface="Open Sans"/>
                <a:cs typeface="Open Sans"/>
                <a:sym typeface="Open Sans"/>
              </a:rPr>
              <a:t>Asignación</a:t>
            </a:r>
            <a:endParaRPr b="0" i="0" sz="1800" u="none" cap="none" strike="noStrike">
              <a:solidFill>
                <a:schemeClr val="dk2"/>
              </a:solidFill>
              <a:latin typeface="Open Sans"/>
              <a:ea typeface="Open Sans"/>
              <a:cs typeface="Open Sans"/>
              <a:sym typeface="Open Sans"/>
            </a:endParaRPr>
          </a:p>
        </p:txBody>
      </p:sp>
      <p:sp>
        <p:nvSpPr>
          <p:cNvPr id="92" name="Google Shape;92;p4"/>
          <p:cNvSpPr/>
          <p:nvPr/>
        </p:nvSpPr>
        <p:spPr>
          <a:xfrm>
            <a:off x="3932675" y="1641550"/>
            <a:ext cx="1926000" cy="2341800"/>
          </a:xfrm>
          <a:prstGeom prst="roundRect">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700"/>
              <a:buFont typeface="Arial"/>
              <a:buNone/>
            </a:pPr>
            <a:r>
              <a:rPr b="0" i="0" lang="es" sz="1700" u="none" cap="none" strike="noStrike">
                <a:solidFill>
                  <a:srgbClr val="000000"/>
                </a:solidFill>
                <a:latin typeface="Open Sans"/>
                <a:ea typeface="Open Sans"/>
                <a:cs typeface="Open Sans"/>
                <a:sym typeface="Open Sans"/>
              </a:rPr>
              <a:t>El espacio de direcciones lógico de un proceso </a:t>
            </a:r>
            <a:r>
              <a:rPr b="1" i="0" lang="es" sz="1700" u="none" cap="none" strike="noStrike">
                <a:solidFill>
                  <a:srgbClr val="000000"/>
                </a:solidFill>
                <a:latin typeface="Open Sans"/>
                <a:ea typeface="Open Sans"/>
                <a:cs typeface="Open Sans"/>
                <a:sym typeface="Open Sans"/>
              </a:rPr>
              <a:t>no tiene por que ser continuo</a:t>
            </a:r>
            <a:endParaRPr b="1" i="0" sz="1700" u="none" cap="none" strike="noStrike">
              <a:solidFill>
                <a:srgbClr val="000000"/>
              </a:solidFill>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5"/>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Paginación</a:t>
            </a:r>
            <a:endParaRPr/>
          </a:p>
        </p:txBody>
      </p:sp>
      <p:sp>
        <p:nvSpPr>
          <p:cNvPr id="98" name="Google Shape;98;p5"/>
          <p:cNvSpPr txBox="1"/>
          <p:nvPr>
            <p:ph idx="1" type="body"/>
          </p:nvPr>
        </p:nvSpPr>
        <p:spPr>
          <a:xfrm>
            <a:off x="311700" y="1266325"/>
            <a:ext cx="8786700" cy="37329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s"/>
              <a:t>Implica que para ejecutar un proceso de N páginas, se necesitan N marcos de página disponibles en memoria, es decir, se debe cargar todo el proceso</a:t>
            </a:r>
            <a:endParaRPr/>
          </a:p>
          <a:p>
            <a:pPr indent="0" lvl="0" marL="457200" rtl="0" algn="l">
              <a:lnSpc>
                <a:spcPct val="115000"/>
              </a:lnSpc>
              <a:spcBef>
                <a:spcPts val="1200"/>
              </a:spcBef>
              <a:spcAft>
                <a:spcPts val="0"/>
              </a:spcAft>
              <a:buSzPts val="1800"/>
              <a:buNone/>
            </a:pPr>
            <a:r>
              <a:t/>
            </a:r>
            <a:endParaRPr/>
          </a:p>
          <a:p>
            <a:pPr indent="-342900" lvl="0" marL="457200" rtl="0" algn="l">
              <a:lnSpc>
                <a:spcPct val="115000"/>
              </a:lnSpc>
              <a:spcBef>
                <a:spcPts val="1200"/>
              </a:spcBef>
              <a:spcAft>
                <a:spcPts val="0"/>
              </a:spcAft>
              <a:buSzPts val="1800"/>
              <a:buChar char="●"/>
            </a:pPr>
            <a:r>
              <a:rPr lang="es"/>
              <a:t>Para realizar el proceso de asignación, el algoritmo requiere una tabla que le ayude a traducir las direcciones lógicas en direcciones físicas</a:t>
            </a:r>
            <a:endParaRPr/>
          </a:p>
          <a:p>
            <a:pPr indent="0" lvl="0" marL="457200" rtl="0" algn="l">
              <a:lnSpc>
                <a:spcPct val="115000"/>
              </a:lnSpc>
              <a:spcBef>
                <a:spcPts val="1200"/>
              </a:spcBef>
              <a:spcAft>
                <a:spcPts val="0"/>
              </a:spcAft>
              <a:buSzPts val="1800"/>
              <a:buNone/>
            </a:pPr>
            <a:r>
              <a:t/>
            </a:r>
            <a:endParaRPr/>
          </a:p>
          <a:p>
            <a:pPr indent="-342900" lvl="0" marL="457200" rtl="0" algn="l">
              <a:lnSpc>
                <a:spcPct val="115000"/>
              </a:lnSpc>
              <a:spcBef>
                <a:spcPts val="1200"/>
              </a:spcBef>
              <a:spcAft>
                <a:spcPts val="0"/>
              </a:spcAft>
              <a:buSzPts val="1800"/>
              <a:buChar char="●"/>
            </a:pPr>
            <a:r>
              <a:rPr lang="es"/>
              <a:t>Pese a lo anterior, de todas formas se presenta el problema de la fragmentación externa (en menor medida, ya que solo afecta a algunos bloques y no continuos)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6"/>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Paginación</a:t>
            </a:r>
            <a:endParaRPr/>
          </a:p>
        </p:txBody>
      </p:sp>
      <p:sp>
        <p:nvSpPr>
          <p:cNvPr id="104" name="Google Shape;104;p6"/>
          <p:cNvSpPr txBox="1"/>
          <p:nvPr>
            <p:ph idx="1" type="body"/>
          </p:nvPr>
        </p:nvSpPr>
        <p:spPr>
          <a:xfrm>
            <a:off x="311700" y="1266325"/>
            <a:ext cx="5576400" cy="37329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s"/>
              <a:t>Ejemplo, fragmentación externa:</a:t>
            </a:r>
            <a:endParaRPr/>
          </a:p>
          <a:p>
            <a:pPr indent="0" lvl="0" marL="457200" rtl="0" algn="l">
              <a:lnSpc>
                <a:spcPct val="115000"/>
              </a:lnSpc>
              <a:spcBef>
                <a:spcPts val="1200"/>
              </a:spcBef>
              <a:spcAft>
                <a:spcPts val="0"/>
              </a:spcAft>
              <a:buSzPts val="1800"/>
              <a:buNone/>
            </a:pPr>
            <a:r>
              <a:t/>
            </a:r>
            <a:endParaRPr/>
          </a:p>
          <a:p>
            <a:pPr indent="0" lvl="0" marL="457200" rtl="0" algn="l">
              <a:lnSpc>
                <a:spcPct val="115000"/>
              </a:lnSpc>
              <a:spcBef>
                <a:spcPts val="1200"/>
              </a:spcBef>
              <a:spcAft>
                <a:spcPts val="0"/>
              </a:spcAft>
              <a:buSzPts val="1800"/>
              <a:buNone/>
            </a:pPr>
            <a:r>
              <a:rPr lang="es"/>
              <a:t>Marcos de página de 512 bytes</a:t>
            </a:r>
            <a:endParaRPr/>
          </a:p>
          <a:p>
            <a:pPr indent="0" lvl="0" marL="457200" rtl="0" algn="l">
              <a:lnSpc>
                <a:spcPct val="115000"/>
              </a:lnSpc>
              <a:spcBef>
                <a:spcPts val="1200"/>
              </a:spcBef>
              <a:spcAft>
                <a:spcPts val="0"/>
              </a:spcAft>
              <a:buSzPts val="1800"/>
              <a:buNone/>
            </a:pPr>
            <a:r>
              <a:rPr lang="es"/>
              <a:t>Proceso A de 1200 bytes</a:t>
            </a:r>
            <a:endParaRPr/>
          </a:p>
          <a:p>
            <a:pPr indent="0" lvl="0" marL="457200" rtl="0" algn="l">
              <a:lnSpc>
                <a:spcPct val="115000"/>
              </a:lnSpc>
              <a:spcBef>
                <a:spcPts val="1200"/>
              </a:spcBef>
              <a:spcAft>
                <a:spcPts val="0"/>
              </a:spcAft>
              <a:buSzPts val="1800"/>
              <a:buNone/>
            </a:pPr>
            <a:r>
              <a:rPr lang="es"/>
              <a:t>Requiere 3 páginas y se desperdicia</a:t>
            </a:r>
            <a:endParaRPr/>
          </a:p>
          <a:p>
            <a:pPr indent="0" lvl="0" marL="457200" rtl="0" algn="l">
              <a:lnSpc>
                <a:spcPct val="115000"/>
              </a:lnSpc>
              <a:spcBef>
                <a:spcPts val="1200"/>
              </a:spcBef>
              <a:spcAft>
                <a:spcPts val="0"/>
              </a:spcAft>
              <a:buSzPts val="1800"/>
              <a:buNone/>
            </a:pPr>
            <a:r>
              <a:t/>
            </a:r>
            <a:endParaRPr/>
          </a:p>
          <a:p>
            <a:pPr indent="0" lvl="0" marL="457200" rtl="0" algn="l">
              <a:lnSpc>
                <a:spcPct val="115000"/>
              </a:lnSpc>
              <a:spcBef>
                <a:spcPts val="1200"/>
              </a:spcBef>
              <a:spcAft>
                <a:spcPts val="1200"/>
              </a:spcAft>
              <a:buSzPts val="1800"/>
              <a:buNone/>
            </a:pPr>
            <a:r>
              <a:rPr lang="es"/>
              <a:t>512*3 - 1200 = 1536 - 1200 = 336 bytes</a:t>
            </a:r>
            <a:endParaRPr/>
          </a:p>
        </p:txBody>
      </p:sp>
      <p:pic>
        <p:nvPicPr>
          <p:cNvPr id="105" name="Google Shape;105;p6"/>
          <p:cNvPicPr preferRelativeResize="0"/>
          <p:nvPr/>
        </p:nvPicPr>
        <p:blipFill rotWithShape="1">
          <a:blip r:embed="rId3">
            <a:alphaModFix/>
          </a:blip>
          <a:srcRect b="0" l="0" r="0" t="0"/>
          <a:stretch/>
        </p:blipFill>
        <p:spPr>
          <a:xfrm>
            <a:off x="5831900" y="1805288"/>
            <a:ext cx="1809750" cy="2543175"/>
          </a:xfrm>
          <a:prstGeom prst="rect">
            <a:avLst/>
          </a:prstGeom>
          <a:noFill/>
          <a:ln>
            <a:noFill/>
          </a:ln>
        </p:spPr>
      </p:pic>
      <p:sp>
        <p:nvSpPr>
          <p:cNvPr id="106" name="Google Shape;106;p6"/>
          <p:cNvSpPr txBox="1"/>
          <p:nvPr/>
        </p:nvSpPr>
        <p:spPr>
          <a:xfrm>
            <a:off x="5234000" y="2022563"/>
            <a:ext cx="5979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Clr>
                <a:srgbClr val="000000"/>
              </a:buClr>
              <a:buSzPts val="1800"/>
              <a:buFont typeface="Arial"/>
              <a:buNone/>
            </a:pPr>
            <a:r>
              <a:rPr b="0" i="0" lang="es" sz="1800" u="none" cap="none" strike="noStrike">
                <a:solidFill>
                  <a:schemeClr val="dk2"/>
                </a:solidFill>
                <a:latin typeface="Open Sans"/>
                <a:ea typeface="Open Sans"/>
                <a:cs typeface="Open Sans"/>
                <a:sym typeface="Open Sans"/>
              </a:rPr>
              <a:t>512</a:t>
            </a:r>
            <a:endParaRPr b="0" i="0" sz="1400" u="none" cap="none" strike="noStrike">
              <a:solidFill>
                <a:srgbClr val="000000"/>
              </a:solidFill>
              <a:latin typeface="Arial"/>
              <a:ea typeface="Arial"/>
              <a:cs typeface="Arial"/>
              <a:sym typeface="Arial"/>
            </a:endParaRPr>
          </a:p>
        </p:txBody>
      </p:sp>
      <p:sp>
        <p:nvSpPr>
          <p:cNvPr id="107" name="Google Shape;107;p6"/>
          <p:cNvSpPr txBox="1"/>
          <p:nvPr/>
        </p:nvSpPr>
        <p:spPr>
          <a:xfrm>
            <a:off x="5234000" y="2803400"/>
            <a:ext cx="5979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Clr>
                <a:srgbClr val="000000"/>
              </a:buClr>
              <a:buSzPts val="1800"/>
              <a:buFont typeface="Arial"/>
              <a:buNone/>
            </a:pPr>
            <a:r>
              <a:rPr b="0" i="0" lang="es" sz="1800" u="none" cap="none" strike="noStrike">
                <a:solidFill>
                  <a:schemeClr val="dk2"/>
                </a:solidFill>
                <a:latin typeface="Open Sans"/>
                <a:ea typeface="Open Sans"/>
                <a:cs typeface="Open Sans"/>
                <a:sym typeface="Open Sans"/>
              </a:rPr>
              <a:t>512</a:t>
            </a:r>
            <a:endParaRPr b="0" i="0" sz="1400" u="none" cap="none" strike="noStrike">
              <a:solidFill>
                <a:srgbClr val="000000"/>
              </a:solidFill>
              <a:latin typeface="Arial"/>
              <a:ea typeface="Arial"/>
              <a:cs typeface="Arial"/>
              <a:sym typeface="Arial"/>
            </a:endParaRPr>
          </a:p>
        </p:txBody>
      </p:sp>
      <p:sp>
        <p:nvSpPr>
          <p:cNvPr id="108" name="Google Shape;108;p6"/>
          <p:cNvSpPr txBox="1"/>
          <p:nvPr/>
        </p:nvSpPr>
        <p:spPr>
          <a:xfrm>
            <a:off x="5234000" y="3669513"/>
            <a:ext cx="5979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Clr>
                <a:srgbClr val="000000"/>
              </a:buClr>
              <a:buSzPts val="1800"/>
              <a:buFont typeface="Arial"/>
              <a:buNone/>
            </a:pPr>
            <a:r>
              <a:rPr b="0" i="0" lang="es" sz="1800" u="none" cap="none" strike="noStrike">
                <a:solidFill>
                  <a:schemeClr val="dk2"/>
                </a:solidFill>
                <a:latin typeface="Open Sans"/>
                <a:ea typeface="Open Sans"/>
                <a:cs typeface="Open Sans"/>
                <a:sym typeface="Open Sans"/>
              </a:rPr>
              <a:t>512</a:t>
            </a:r>
            <a:endParaRPr b="0" i="0" sz="1400" u="none" cap="none" strike="noStrike">
              <a:solidFill>
                <a:srgbClr val="000000"/>
              </a:solidFill>
              <a:latin typeface="Arial"/>
              <a:ea typeface="Arial"/>
              <a:cs typeface="Arial"/>
              <a:sym typeface="Arial"/>
            </a:endParaRPr>
          </a:p>
        </p:txBody>
      </p:sp>
      <p:sp>
        <p:nvSpPr>
          <p:cNvPr id="109" name="Google Shape;109;p6"/>
          <p:cNvSpPr/>
          <p:nvPr/>
        </p:nvSpPr>
        <p:spPr>
          <a:xfrm>
            <a:off x="7721025" y="1854500"/>
            <a:ext cx="281400" cy="19917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110" name="Google Shape;110;p6"/>
          <p:cNvSpPr/>
          <p:nvPr/>
        </p:nvSpPr>
        <p:spPr>
          <a:xfrm>
            <a:off x="7678600" y="3897475"/>
            <a:ext cx="281400" cy="3744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111" name="Google Shape;111;p6"/>
          <p:cNvSpPr txBox="1"/>
          <p:nvPr/>
        </p:nvSpPr>
        <p:spPr>
          <a:xfrm>
            <a:off x="8133200" y="2571750"/>
            <a:ext cx="7857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Clr>
                <a:srgbClr val="000000"/>
              </a:buClr>
              <a:buSzPts val="1800"/>
              <a:buFont typeface="Arial"/>
              <a:buNone/>
            </a:pPr>
            <a:r>
              <a:rPr b="0" i="0" lang="es" sz="1800" u="none" cap="none" strike="noStrike">
                <a:solidFill>
                  <a:schemeClr val="dk2"/>
                </a:solidFill>
                <a:latin typeface="Open Sans"/>
                <a:ea typeface="Open Sans"/>
                <a:cs typeface="Open Sans"/>
                <a:sym typeface="Open Sans"/>
              </a:rPr>
              <a:t>1200</a:t>
            </a:r>
            <a:endParaRPr b="0" i="0" sz="1400" u="none" cap="none" strike="noStrike">
              <a:solidFill>
                <a:srgbClr val="000000"/>
              </a:solidFill>
              <a:latin typeface="Arial"/>
              <a:ea typeface="Arial"/>
              <a:cs typeface="Arial"/>
              <a:sym typeface="Arial"/>
            </a:endParaRPr>
          </a:p>
        </p:txBody>
      </p:sp>
      <p:sp>
        <p:nvSpPr>
          <p:cNvPr id="112" name="Google Shape;112;p6"/>
          <p:cNvSpPr txBox="1"/>
          <p:nvPr/>
        </p:nvSpPr>
        <p:spPr>
          <a:xfrm>
            <a:off x="7996950" y="3810175"/>
            <a:ext cx="7857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Clr>
                <a:srgbClr val="000000"/>
              </a:buClr>
              <a:buSzPts val="1800"/>
              <a:buFont typeface="Arial"/>
              <a:buNone/>
            </a:pPr>
            <a:r>
              <a:rPr b="0" i="0" lang="es" sz="1800" u="none" cap="none" strike="noStrike">
                <a:solidFill>
                  <a:schemeClr val="dk2"/>
                </a:solidFill>
                <a:latin typeface="Open Sans"/>
                <a:ea typeface="Open Sans"/>
                <a:cs typeface="Open Sans"/>
                <a:sym typeface="Open Sans"/>
              </a:rPr>
              <a:t>336</a:t>
            </a:r>
            <a:endParaRPr b="0" i="0" sz="1400" u="none" cap="none" strike="noStrike">
              <a:solidFill>
                <a:srgbClr val="000000"/>
              </a:solidFill>
              <a:latin typeface="Arial"/>
              <a:ea typeface="Arial"/>
              <a:cs typeface="Arial"/>
              <a:sym typeface="Arial"/>
            </a:endParaRPr>
          </a:p>
        </p:txBody>
      </p:sp>
      <p:sp>
        <p:nvSpPr>
          <p:cNvPr id="113" name="Google Shape;113;p6"/>
          <p:cNvSpPr txBox="1"/>
          <p:nvPr/>
        </p:nvSpPr>
        <p:spPr>
          <a:xfrm>
            <a:off x="6440025" y="1970800"/>
            <a:ext cx="5115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Clr>
                <a:srgbClr val="000000"/>
              </a:buClr>
              <a:buSzPts val="1800"/>
              <a:buFont typeface="Arial"/>
              <a:buNone/>
            </a:pPr>
            <a:r>
              <a:rPr b="0" i="0" lang="es" sz="1800" u="none" cap="none" strike="noStrike">
                <a:solidFill>
                  <a:schemeClr val="dk2"/>
                </a:solidFill>
                <a:latin typeface="Open Sans"/>
                <a:ea typeface="Open Sans"/>
                <a:cs typeface="Open Sans"/>
                <a:sym typeface="Open Sans"/>
              </a:rPr>
              <a:t>A0</a:t>
            </a:r>
            <a:endParaRPr b="0" i="0" sz="1400" u="none" cap="none" strike="noStrike">
              <a:solidFill>
                <a:srgbClr val="000000"/>
              </a:solidFill>
              <a:latin typeface="Arial"/>
              <a:ea typeface="Arial"/>
              <a:cs typeface="Arial"/>
              <a:sym typeface="Arial"/>
            </a:endParaRPr>
          </a:p>
        </p:txBody>
      </p:sp>
      <p:sp>
        <p:nvSpPr>
          <p:cNvPr id="114" name="Google Shape;114;p6"/>
          <p:cNvSpPr txBox="1"/>
          <p:nvPr/>
        </p:nvSpPr>
        <p:spPr>
          <a:xfrm>
            <a:off x="6440025" y="2846038"/>
            <a:ext cx="5115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Clr>
                <a:srgbClr val="000000"/>
              </a:buClr>
              <a:buSzPts val="1800"/>
              <a:buFont typeface="Arial"/>
              <a:buNone/>
            </a:pPr>
            <a:r>
              <a:rPr b="0" i="0" lang="es" sz="1800" u="none" cap="none" strike="noStrike">
                <a:solidFill>
                  <a:schemeClr val="dk2"/>
                </a:solidFill>
                <a:latin typeface="Open Sans"/>
                <a:ea typeface="Open Sans"/>
                <a:cs typeface="Open Sans"/>
                <a:sym typeface="Open Sans"/>
              </a:rPr>
              <a:t>A1</a:t>
            </a:r>
            <a:endParaRPr b="0" i="0" sz="1400" u="none" cap="none" strike="noStrike">
              <a:solidFill>
                <a:srgbClr val="000000"/>
              </a:solidFill>
              <a:latin typeface="Arial"/>
              <a:ea typeface="Arial"/>
              <a:cs typeface="Arial"/>
              <a:sym typeface="Arial"/>
            </a:endParaRPr>
          </a:p>
        </p:txBody>
      </p:sp>
      <p:sp>
        <p:nvSpPr>
          <p:cNvPr id="115" name="Google Shape;115;p6"/>
          <p:cNvSpPr txBox="1"/>
          <p:nvPr/>
        </p:nvSpPr>
        <p:spPr>
          <a:xfrm>
            <a:off x="6440025" y="3561100"/>
            <a:ext cx="5115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Clr>
                <a:srgbClr val="000000"/>
              </a:buClr>
              <a:buSzPts val="1800"/>
              <a:buFont typeface="Arial"/>
              <a:buNone/>
            </a:pPr>
            <a:r>
              <a:rPr b="0" i="0" lang="es" sz="1800" u="none" cap="none" strike="noStrike">
                <a:solidFill>
                  <a:schemeClr val="dk2"/>
                </a:solidFill>
                <a:latin typeface="Open Sans"/>
                <a:ea typeface="Open Sans"/>
                <a:cs typeface="Open Sans"/>
                <a:sym typeface="Open Sans"/>
              </a:rPr>
              <a:t>A2</a:t>
            </a:r>
            <a:endParaRPr b="0" i="0" sz="1400" u="none" cap="none" strike="noStrike">
              <a:solidFill>
                <a:srgbClr val="000000"/>
              </a:solidFill>
              <a:latin typeface="Arial"/>
              <a:ea typeface="Arial"/>
              <a:cs typeface="Arial"/>
              <a:sym typeface="Arial"/>
            </a:endParaRPr>
          </a:p>
        </p:txBody>
      </p:sp>
      <p:sp>
        <p:nvSpPr>
          <p:cNvPr id="116" name="Google Shape;116;p6"/>
          <p:cNvSpPr txBox="1"/>
          <p:nvPr/>
        </p:nvSpPr>
        <p:spPr>
          <a:xfrm>
            <a:off x="5965800" y="4022800"/>
            <a:ext cx="15789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Clr>
                <a:srgbClr val="000000"/>
              </a:buClr>
              <a:buSzPts val="1000"/>
              <a:buFont typeface="Arial"/>
              <a:buNone/>
            </a:pPr>
            <a:r>
              <a:rPr b="0" i="0" lang="es" sz="1000" u="none" cap="none" strike="noStrike">
                <a:solidFill>
                  <a:schemeClr val="dk2"/>
                </a:solidFill>
                <a:latin typeface="Open Sans"/>
                <a:ea typeface="Open Sans"/>
                <a:cs typeface="Open Sans"/>
                <a:sym typeface="Open Sans"/>
              </a:rPr>
              <a:t>fragmentación externa</a:t>
            </a:r>
            <a:endParaRPr b="0" i="0" sz="6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7"/>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Paginación</a:t>
            </a:r>
            <a:endParaRPr/>
          </a:p>
        </p:txBody>
      </p:sp>
      <p:sp>
        <p:nvSpPr>
          <p:cNvPr id="122" name="Google Shape;122;p7"/>
          <p:cNvSpPr txBox="1"/>
          <p:nvPr>
            <p:ph idx="1" type="body"/>
          </p:nvPr>
        </p:nvSpPr>
        <p:spPr>
          <a:xfrm>
            <a:off x="311700" y="1266325"/>
            <a:ext cx="8520600" cy="3732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a:t>Una tabla de página es una estructura que permite establecer la asignación de memoria, donde los índices de dicha estructura indican el número de página de cada uno de los procesos y el contenido corresponde al marco de página (frame) donde se asigna esa página </a:t>
            </a:r>
            <a:endParaRPr/>
          </a:p>
        </p:txBody>
      </p:sp>
      <p:pic>
        <p:nvPicPr>
          <p:cNvPr id="123" name="Google Shape;123;p7"/>
          <p:cNvPicPr preferRelativeResize="0"/>
          <p:nvPr/>
        </p:nvPicPr>
        <p:blipFill rotWithShape="1">
          <a:blip r:embed="rId3">
            <a:alphaModFix/>
          </a:blip>
          <a:srcRect b="0" l="0" r="0" t="0"/>
          <a:stretch/>
        </p:blipFill>
        <p:spPr>
          <a:xfrm>
            <a:off x="648195" y="3393350"/>
            <a:ext cx="1105500" cy="1377375"/>
          </a:xfrm>
          <a:prstGeom prst="rect">
            <a:avLst/>
          </a:prstGeom>
          <a:noFill/>
          <a:ln>
            <a:noFill/>
          </a:ln>
        </p:spPr>
      </p:pic>
      <p:sp>
        <p:nvSpPr>
          <p:cNvPr id="124" name="Google Shape;124;p7"/>
          <p:cNvSpPr txBox="1"/>
          <p:nvPr/>
        </p:nvSpPr>
        <p:spPr>
          <a:xfrm>
            <a:off x="417400" y="2909675"/>
            <a:ext cx="607800" cy="332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chemeClr val="dk2"/>
                </a:solidFill>
                <a:latin typeface="Open Sans"/>
                <a:ea typeface="Open Sans"/>
                <a:cs typeface="Open Sans"/>
                <a:sym typeface="Open Sans"/>
              </a:rPr>
              <a:t>índice</a:t>
            </a:r>
            <a:endParaRPr b="0" i="0" sz="1200" u="none" cap="none" strike="noStrike">
              <a:solidFill>
                <a:schemeClr val="dk2"/>
              </a:solidFill>
              <a:latin typeface="Open Sans"/>
              <a:ea typeface="Open Sans"/>
              <a:cs typeface="Open Sans"/>
              <a:sym typeface="Open Sans"/>
            </a:endParaRPr>
          </a:p>
        </p:txBody>
      </p:sp>
      <p:sp>
        <p:nvSpPr>
          <p:cNvPr id="125" name="Google Shape;125;p7"/>
          <p:cNvSpPr txBox="1"/>
          <p:nvPr/>
        </p:nvSpPr>
        <p:spPr>
          <a:xfrm>
            <a:off x="1384775" y="2859150"/>
            <a:ext cx="938700" cy="56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chemeClr val="dk2"/>
                </a:solidFill>
                <a:latin typeface="Open Sans"/>
                <a:ea typeface="Open Sans"/>
                <a:cs typeface="Open Sans"/>
                <a:sym typeface="Open Sans"/>
              </a:rPr>
              <a:t>marco de página</a:t>
            </a:r>
            <a:endParaRPr b="0" i="0" sz="1200" u="none" cap="none" strike="noStrike">
              <a:solidFill>
                <a:schemeClr val="dk2"/>
              </a:solidFill>
              <a:latin typeface="Open Sans"/>
              <a:ea typeface="Open Sans"/>
              <a:cs typeface="Open Sans"/>
              <a:sym typeface="Open Sans"/>
            </a:endParaRPr>
          </a:p>
        </p:txBody>
      </p:sp>
      <p:cxnSp>
        <p:nvCxnSpPr>
          <p:cNvPr id="126" name="Google Shape;126;p7"/>
          <p:cNvCxnSpPr>
            <a:endCxn id="124" idx="2"/>
          </p:cNvCxnSpPr>
          <p:nvPr/>
        </p:nvCxnSpPr>
        <p:spPr>
          <a:xfrm rot="10800000">
            <a:off x="721300" y="3241775"/>
            <a:ext cx="65400" cy="303000"/>
          </a:xfrm>
          <a:prstGeom prst="straightConnector1">
            <a:avLst/>
          </a:prstGeom>
          <a:noFill/>
          <a:ln cap="flat" cmpd="sng" w="9525">
            <a:solidFill>
              <a:schemeClr val="dk2"/>
            </a:solidFill>
            <a:prstDash val="solid"/>
            <a:round/>
            <a:headEnd len="sm" w="sm" type="none"/>
            <a:tailEnd len="med" w="med" type="triangle"/>
          </a:ln>
        </p:spPr>
      </p:cxnSp>
      <p:cxnSp>
        <p:nvCxnSpPr>
          <p:cNvPr id="127" name="Google Shape;127;p7"/>
          <p:cNvCxnSpPr/>
          <p:nvPr/>
        </p:nvCxnSpPr>
        <p:spPr>
          <a:xfrm flipH="1" rot="10800000">
            <a:off x="1500925" y="3321375"/>
            <a:ext cx="122700" cy="216300"/>
          </a:xfrm>
          <a:prstGeom prst="straightConnector1">
            <a:avLst/>
          </a:prstGeom>
          <a:noFill/>
          <a:ln cap="flat" cmpd="sng" w="9525">
            <a:solidFill>
              <a:schemeClr val="dk2"/>
            </a:solidFill>
            <a:prstDash val="solid"/>
            <a:round/>
            <a:headEnd len="sm" w="sm" type="none"/>
            <a:tailEnd len="med" w="med" type="triangle"/>
          </a:ln>
        </p:spPr>
      </p:cxnSp>
      <p:pic>
        <p:nvPicPr>
          <p:cNvPr id="128" name="Google Shape;128;p7"/>
          <p:cNvPicPr preferRelativeResize="0"/>
          <p:nvPr/>
        </p:nvPicPr>
        <p:blipFill rotWithShape="1">
          <a:blip r:embed="rId4">
            <a:alphaModFix/>
          </a:blip>
          <a:srcRect b="0" l="0" r="0" t="0"/>
          <a:stretch/>
        </p:blipFill>
        <p:spPr>
          <a:xfrm>
            <a:off x="6242624" y="2375927"/>
            <a:ext cx="1308975" cy="2623300"/>
          </a:xfrm>
          <a:prstGeom prst="rect">
            <a:avLst/>
          </a:prstGeom>
          <a:noFill/>
          <a:ln>
            <a:noFill/>
          </a:ln>
        </p:spPr>
      </p:pic>
      <p:pic>
        <p:nvPicPr>
          <p:cNvPr id="129" name="Google Shape;129;p7"/>
          <p:cNvPicPr preferRelativeResize="0"/>
          <p:nvPr/>
        </p:nvPicPr>
        <p:blipFill rotWithShape="1">
          <a:blip r:embed="rId5">
            <a:alphaModFix/>
          </a:blip>
          <a:srcRect b="0" l="0" r="0" t="0"/>
          <a:stretch/>
        </p:blipFill>
        <p:spPr>
          <a:xfrm>
            <a:off x="2896700" y="3521250"/>
            <a:ext cx="890526" cy="1161075"/>
          </a:xfrm>
          <a:prstGeom prst="rect">
            <a:avLst/>
          </a:prstGeom>
          <a:noFill/>
          <a:ln>
            <a:noFill/>
          </a:ln>
        </p:spPr>
      </p:pic>
      <p:pic>
        <p:nvPicPr>
          <p:cNvPr id="130" name="Google Shape;130;p7"/>
          <p:cNvPicPr preferRelativeResize="0"/>
          <p:nvPr/>
        </p:nvPicPr>
        <p:blipFill rotWithShape="1">
          <a:blip r:embed="rId6">
            <a:alphaModFix/>
          </a:blip>
          <a:srcRect b="0" l="0" r="0" t="0"/>
          <a:stretch/>
        </p:blipFill>
        <p:spPr>
          <a:xfrm>
            <a:off x="4545882" y="3521250"/>
            <a:ext cx="845525" cy="1249475"/>
          </a:xfrm>
          <a:prstGeom prst="rect">
            <a:avLst/>
          </a:prstGeom>
          <a:noFill/>
          <a:ln>
            <a:noFill/>
          </a:ln>
        </p:spPr>
      </p:pic>
      <p:pic>
        <p:nvPicPr>
          <p:cNvPr id="131" name="Google Shape;131;p7"/>
          <p:cNvPicPr preferRelativeResize="0"/>
          <p:nvPr/>
        </p:nvPicPr>
        <p:blipFill rotWithShape="1">
          <a:blip r:embed="rId7">
            <a:alphaModFix/>
          </a:blip>
          <a:srcRect b="0" l="0" r="0" t="0"/>
          <a:stretch/>
        </p:blipFill>
        <p:spPr>
          <a:xfrm>
            <a:off x="7645725" y="2462500"/>
            <a:ext cx="1416025" cy="2536725"/>
          </a:xfrm>
          <a:prstGeom prst="rect">
            <a:avLst/>
          </a:prstGeom>
          <a:noFill/>
          <a:ln>
            <a:noFill/>
          </a:ln>
        </p:spPr>
      </p:pic>
      <p:sp>
        <p:nvSpPr>
          <p:cNvPr id="132" name="Google Shape;132;p7"/>
          <p:cNvSpPr txBox="1"/>
          <p:nvPr/>
        </p:nvSpPr>
        <p:spPr>
          <a:xfrm>
            <a:off x="3167950" y="2901425"/>
            <a:ext cx="938700" cy="56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chemeClr val="dk2"/>
                </a:solidFill>
                <a:latin typeface="Open Sans"/>
                <a:ea typeface="Open Sans"/>
                <a:cs typeface="Open Sans"/>
                <a:sym typeface="Open Sans"/>
              </a:rPr>
              <a:t>marco de página</a:t>
            </a:r>
            <a:endParaRPr b="0" i="0" sz="1200" u="none" cap="none" strike="noStrike">
              <a:solidFill>
                <a:schemeClr val="dk2"/>
              </a:solidFill>
              <a:latin typeface="Open Sans"/>
              <a:ea typeface="Open Sans"/>
              <a:cs typeface="Open Sans"/>
              <a:sym typeface="Open Sans"/>
            </a:endParaRPr>
          </a:p>
        </p:txBody>
      </p:sp>
      <p:cxnSp>
        <p:nvCxnSpPr>
          <p:cNvPr id="133" name="Google Shape;133;p7"/>
          <p:cNvCxnSpPr/>
          <p:nvPr/>
        </p:nvCxnSpPr>
        <p:spPr>
          <a:xfrm flipH="1" rot="10800000">
            <a:off x="3284100" y="3363650"/>
            <a:ext cx="122700" cy="216300"/>
          </a:xfrm>
          <a:prstGeom prst="straightConnector1">
            <a:avLst/>
          </a:prstGeom>
          <a:noFill/>
          <a:ln cap="flat" cmpd="sng" w="9525">
            <a:solidFill>
              <a:schemeClr val="dk2"/>
            </a:solidFill>
            <a:prstDash val="solid"/>
            <a:round/>
            <a:headEnd len="sm" w="sm" type="none"/>
            <a:tailEnd len="med" w="med" type="triangle"/>
          </a:ln>
        </p:spPr>
      </p:cxnSp>
      <p:sp>
        <p:nvSpPr>
          <p:cNvPr id="134" name="Google Shape;134;p7"/>
          <p:cNvSpPr txBox="1"/>
          <p:nvPr/>
        </p:nvSpPr>
        <p:spPr>
          <a:xfrm>
            <a:off x="4812088" y="2931175"/>
            <a:ext cx="938700" cy="56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chemeClr val="dk2"/>
                </a:solidFill>
                <a:latin typeface="Open Sans"/>
                <a:ea typeface="Open Sans"/>
                <a:cs typeface="Open Sans"/>
                <a:sym typeface="Open Sans"/>
              </a:rPr>
              <a:t>marco de página</a:t>
            </a:r>
            <a:endParaRPr b="0" i="0" sz="1200" u="none" cap="none" strike="noStrike">
              <a:solidFill>
                <a:schemeClr val="dk2"/>
              </a:solidFill>
              <a:latin typeface="Open Sans"/>
              <a:ea typeface="Open Sans"/>
              <a:cs typeface="Open Sans"/>
              <a:sym typeface="Open Sans"/>
            </a:endParaRPr>
          </a:p>
        </p:txBody>
      </p:sp>
      <p:cxnSp>
        <p:nvCxnSpPr>
          <p:cNvPr id="135" name="Google Shape;135;p7"/>
          <p:cNvCxnSpPr/>
          <p:nvPr/>
        </p:nvCxnSpPr>
        <p:spPr>
          <a:xfrm flipH="1" rot="10800000">
            <a:off x="4928238" y="3393400"/>
            <a:ext cx="122700" cy="216300"/>
          </a:xfrm>
          <a:prstGeom prst="straightConnector1">
            <a:avLst/>
          </a:prstGeom>
          <a:noFill/>
          <a:ln cap="flat" cmpd="sng" w="9525">
            <a:solidFill>
              <a:schemeClr val="dk2"/>
            </a:solidFill>
            <a:prstDash val="solid"/>
            <a:round/>
            <a:headEnd len="sm" w="sm" type="none"/>
            <a:tailEnd len="med" w="med" type="triangle"/>
          </a:ln>
        </p:spPr>
      </p:cxnSp>
      <p:sp>
        <p:nvSpPr>
          <p:cNvPr id="136" name="Google Shape;136;p7"/>
          <p:cNvSpPr txBox="1"/>
          <p:nvPr/>
        </p:nvSpPr>
        <p:spPr>
          <a:xfrm>
            <a:off x="2590450" y="2931175"/>
            <a:ext cx="607800" cy="332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chemeClr val="dk2"/>
                </a:solidFill>
                <a:latin typeface="Open Sans"/>
                <a:ea typeface="Open Sans"/>
                <a:cs typeface="Open Sans"/>
                <a:sym typeface="Open Sans"/>
              </a:rPr>
              <a:t>índice</a:t>
            </a:r>
            <a:endParaRPr b="0" i="0" sz="1200" u="none" cap="none" strike="noStrike">
              <a:solidFill>
                <a:schemeClr val="dk2"/>
              </a:solidFill>
              <a:latin typeface="Open Sans"/>
              <a:ea typeface="Open Sans"/>
              <a:cs typeface="Open Sans"/>
              <a:sym typeface="Open Sans"/>
            </a:endParaRPr>
          </a:p>
        </p:txBody>
      </p:sp>
      <p:cxnSp>
        <p:nvCxnSpPr>
          <p:cNvPr id="137" name="Google Shape;137;p7"/>
          <p:cNvCxnSpPr>
            <a:endCxn id="136" idx="2"/>
          </p:cNvCxnSpPr>
          <p:nvPr/>
        </p:nvCxnSpPr>
        <p:spPr>
          <a:xfrm rot="10800000">
            <a:off x="2894350" y="3263275"/>
            <a:ext cx="65400" cy="303000"/>
          </a:xfrm>
          <a:prstGeom prst="straightConnector1">
            <a:avLst/>
          </a:prstGeom>
          <a:noFill/>
          <a:ln cap="flat" cmpd="sng" w="9525">
            <a:solidFill>
              <a:schemeClr val="dk2"/>
            </a:solidFill>
            <a:prstDash val="solid"/>
            <a:round/>
            <a:headEnd len="sm" w="sm" type="none"/>
            <a:tailEnd len="med" w="med" type="triangle"/>
          </a:ln>
        </p:spPr>
      </p:cxnSp>
      <p:sp>
        <p:nvSpPr>
          <p:cNvPr id="138" name="Google Shape;138;p7"/>
          <p:cNvSpPr txBox="1"/>
          <p:nvPr/>
        </p:nvSpPr>
        <p:spPr>
          <a:xfrm>
            <a:off x="4279063" y="3008900"/>
            <a:ext cx="607800" cy="332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chemeClr val="dk2"/>
                </a:solidFill>
                <a:latin typeface="Open Sans"/>
                <a:ea typeface="Open Sans"/>
                <a:cs typeface="Open Sans"/>
                <a:sym typeface="Open Sans"/>
              </a:rPr>
              <a:t>índice</a:t>
            </a:r>
            <a:endParaRPr b="0" i="0" sz="1200" u="none" cap="none" strike="noStrike">
              <a:solidFill>
                <a:schemeClr val="dk2"/>
              </a:solidFill>
              <a:latin typeface="Open Sans"/>
              <a:ea typeface="Open Sans"/>
              <a:cs typeface="Open Sans"/>
              <a:sym typeface="Open Sans"/>
            </a:endParaRPr>
          </a:p>
        </p:txBody>
      </p:sp>
      <p:cxnSp>
        <p:nvCxnSpPr>
          <p:cNvPr id="139" name="Google Shape;139;p7"/>
          <p:cNvCxnSpPr>
            <a:endCxn id="138" idx="2"/>
          </p:cNvCxnSpPr>
          <p:nvPr/>
        </p:nvCxnSpPr>
        <p:spPr>
          <a:xfrm rot="10800000">
            <a:off x="4582963" y="3341000"/>
            <a:ext cx="65400" cy="303000"/>
          </a:xfrm>
          <a:prstGeom prst="straightConnector1">
            <a:avLst/>
          </a:prstGeom>
          <a:noFill/>
          <a:ln cap="flat" cmpd="sng" w="9525">
            <a:solidFill>
              <a:schemeClr val="dk2"/>
            </a:solidFill>
            <a:prstDash val="solid"/>
            <a:round/>
            <a:headEnd len="sm" w="sm" type="none"/>
            <a:tailEnd len="med" w="med" type="triangl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8"/>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Paginación</a:t>
            </a:r>
            <a:endParaRPr/>
          </a:p>
        </p:txBody>
      </p:sp>
      <p:sp>
        <p:nvSpPr>
          <p:cNvPr id="145" name="Google Shape;145;p8"/>
          <p:cNvSpPr txBox="1"/>
          <p:nvPr>
            <p:ph idx="1" type="body"/>
          </p:nvPr>
        </p:nvSpPr>
        <p:spPr>
          <a:xfrm>
            <a:off x="311700" y="1266325"/>
            <a:ext cx="8520600" cy="2341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a:t>Como se calcula la dirección física de memoria basada en la dirección lógica, donde la dirección lógica se compone de:</a:t>
            </a:r>
            <a:endParaRPr/>
          </a:p>
          <a:p>
            <a:pPr indent="0" lvl="0" marL="0" rtl="0" algn="l">
              <a:lnSpc>
                <a:spcPct val="115000"/>
              </a:lnSpc>
              <a:spcBef>
                <a:spcPts val="1200"/>
              </a:spcBef>
              <a:spcAft>
                <a:spcPts val="0"/>
              </a:spcAft>
              <a:buSzPts val="1800"/>
              <a:buNone/>
            </a:pPr>
            <a:r>
              <a:t/>
            </a:r>
            <a:endParaRPr/>
          </a:p>
          <a:p>
            <a:pPr indent="-342900" lvl="0" marL="457200" rtl="0" algn="l">
              <a:lnSpc>
                <a:spcPct val="115000"/>
              </a:lnSpc>
              <a:spcBef>
                <a:spcPts val="1200"/>
              </a:spcBef>
              <a:spcAft>
                <a:spcPts val="0"/>
              </a:spcAft>
              <a:buSzPts val="1800"/>
              <a:buChar char="●"/>
            </a:pPr>
            <a:r>
              <a:rPr lang="es"/>
              <a:t>Número de la página del proceso</a:t>
            </a:r>
            <a:endParaRPr/>
          </a:p>
          <a:p>
            <a:pPr indent="-342900" lvl="0" marL="457200" rtl="0" algn="l">
              <a:lnSpc>
                <a:spcPct val="115000"/>
              </a:lnSpc>
              <a:spcBef>
                <a:spcPts val="0"/>
              </a:spcBef>
              <a:spcAft>
                <a:spcPts val="0"/>
              </a:spcAft>
              <a:buSzPts val="1800"/>
              <a:buChar char="●"/>
            </a:pPr>
            <a:r>
              <a:rPr lang="es"/>
              <a:t>Desplazamiento, cantidad de bytes que me debo mover desde que inicio la página para llegar a la posición que deseo acceder </a:t>
            </a:r>
            <a:endParaRPr/>
          </a:p>
        </p:txBody>
      </p:sp>
      <p:pic>
        <p:nvPicPr>
          <p:cNvPr id="146" name="Google Shape;146;p8"/>
          <p:cNvPicPr preferRelativeResize="0"/>
          <p:nvPr/>
        </p:nvPicPr>
        <p:blipFill rotWithShape="1">
          <a:blip r:embed="rId3">
            <a:alphaModFix/>
          </a:blip>
          <a:srcRect b="0" l="0" r="0" t="0"/>
          <a:stretch/>
        </p:blipFill>
        <p:spPr>
          <a:xfrm>
            <a:off x="2168525" y="3664000"/>
            <a:ext cx="4317552" cy="13040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9"/>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Paginación</a:t>
            </a:r>
            <a:endParaRPr/>
          </a:p>
        </p:txBody>
      </p:sp>
      <p:pic>
        <p:nvPicPr>
          <p:cNvPr id="152" name="Google Shape;152;p9"/>
          <p:cNvPicPr preferRelativeResize="0"/>
          <p:nvPr/>
        </p:nvPicPr>
        <p:blipFill rotWithShape="1">
          <a:blip r:embed="rId3">
            <a:alphaModFix/>
          </a:blip>
          <a:srcRect b="0" l="0" r="0" t="0"/>
          <a:stretch/>
        </p:blipFill>
        <p:spPr>
          <a:xfrm>
            <a:off x="116325" y="1950775"/>
            <a:ext cx="3520500" cy="2181650"/>
          </a:xfrm>
          <a:prstGeom prst="rect">
            <a:avLst/>
          </a:prstGeom>
          <a:noFill/>
          <a:ln>
            <a:noFill/>
          </a:ln>
        </p:spPr>
      </p:pic>
      <p:pic>
        <p:nvPicPr>
          <p:cNvPr id="153" name="Google Shape;153;p9"/>
          <p:cNvPicPr preferRelativeResize="0"/>
          <p:nvPr/>
        </p:nvPicPr>
        <p:blipFill rotWithShape="1">
          <a:blip r:embed="rId4">
            <a:alphaModFix/>
          </a:blip>
          <a:srcRect b="0" l="0" r="0" t="0"/>
          <a:stretch/>
        </p:blipFill>
        <p:spPr>
          <a:xfrm>
            <a:off x="3818100" y="1759450"/>
            <a:ext cx="5173500" cy="2706754"/>
          </a:xfrm>
          <a:prstGeom prst="rect">
            <a:avLst/>
          </a:prstGeom>
          <a:noFill/>
          <a:ln>
            <a:noFill/>
          </a:ln>
        </p:spPr>
      </p:pic>
      <p:cxnSp>
        <p:nvCxnSpPr>
          <p:cNvPr id="154" name="Google Shape;154;p9"/>
          <p:cNvCxnSpPr/>
          <p:nvPr/>
        </p:nvCxnSpPr>
        <p:spPr>
          <a:xfrm flipH="1">
            <a:off x="3737900" y="1298875"/>
            <a:ext cx="28800" cy="3665700"/>
          </a:xfrm>
          <a:prstGeom prst="straightConnector1">
            <a:avLst/>
          </a:prstGeom>
          <a:noFill/>
          <a:ln cap="flat" cmpd="sng" w="28575">
            <a:solidFill>
              <a:schemeClr val="dk2"/>
            </a:solidFill>
            <a:prstDash val="dash"/>
            <a:round/>
            <a:headEnd len="sm" w="sm" type="none"/>
            <a:tailEnd len="sm" w="sm" type="none"/>
          </a:ln>
        </p:spPr>
      </p:cxnSp>
      <p:sp>
        <p:nvSpPr>
          <p:cNvPr id="155" name="Google Shape;155;p9"/>
          <p:cNvSpPr txBox="1"/>
          <p:nvPr/>
        </p:nvSpPr>
        <p:spPr>
          <a:xfrm>
            <a:off x="1209150" y="2229725"/>
            <a:ext cx="1392600" cy="24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1" i="0" lang="es" sz="800" u="none" cap="none" strike="noStrike">
                <a:solidFill>
                  <a:srgbClr val="FF0000"/>
                </a:solidFill>
                <a:latin typeface="Open Sans"/>
                <a:ea typeface="Open Sans"/>
                <a:cs typeface="Open Sans"/>
                <a:sym typeface="Open Sans"/>
              </a:rPr>
              <a:t>Desplazamiento</a:t>
            </a:r>
            <a:endParaRPr b="1" i="0" sz="800" u="none" cap="none" strike="noStrike">
              <a:solidFill>
                <a:srgbClr val="FF0000"/>
              </a:solidFill>
              <a:latin typeface="Open Sans"/>
              <a:ea typeface="Open Sans"/>
              <a:cs typeface="Open Sans"/>
              <a:sym typeface="Open Sans"/>
            </a:endParaRPr>
          </a:p>
        </p:txBody>
      </p:sp>
      <p:sp>
        <p:nvSpPr>
          <p:cNvPr id="156" name="Google Shape;156;p9"/>
          <p:cNvSpPr txBox="1"/>
          <p:nvPr/>
        </p:nvSpPr>
        <p:spPr>
          <a:xfrm>
            <a:off x="225100" y="3161425"/>
            <a:ext cx="785100" cy="36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1" i="0" lang="es" sz="800" u="none" cap="none" strike="noStrike">
                <a:solidFill>
                  <a:srgbClr val="FF0000"/>
                </a:solidFill>
                <a:latin typeface="Open Sans"/>
                <a:ea typeface="Open Sans"/>
                <a:cs typeface="Open Sans"/>
                <a:sym typeface="Open Sans"/>
              </a:rPr>
              <a:t>número de</a:t>
            </a:r>
            <a:endParaRPr b="1" i="0" sz="800" u="none" cap="none" strike="noStrike">
              <a:solidFill>
                <a:srgbClr val="FF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800"/>
              <a:buFont typeface="Arial"/>
              <a:buNone/>
            </a:pPr>
            <a:r>
              <a:rPr b="1" i="0" lang="es" sz="800" u="none" cap="none" strike="noStrike">
                <a:solidFill>
                  <a:srgbClr val="FF0000"/>
                </a:solidFill>
                <a:latin typeface="Open Sans"/>
                <a:ea typeface="Open Sans"/>
                <a:cs typeface="Open Sans"/>
                <a:sym typeface="Open Sans"/>
              </a:rPr>
              <a:t> página</a:t>
            </a:r>
            <a:endParaRPr b="1" i="0" sz="800" u="none" cap="none" strike="noStrike">
              <a:solidFill>
                <a:srgbClr val="FF0000"/>
              </a:solidFill>
              <a:latin typeface="Open Sans"/>
              <a:ea typeface="Open Sans"/>
              <a:cs typeface="Open Sans"/>
              <a:sym typeface="Open Sans"/>
            </a:endParaRPr>
          </a:p>
        </p:txBody>
      </p:sp>
      <p:sp>
        <p:nvSpPr>
          <p:cNvPr id="157" name="Google Shape;157;p9"/>
          <p:cNvSpPr txBox="1"/>
          <p:nvPr/>
        </p:nvSpPr>
        <p:spPr>
          <a:xfrm>
            <a:off x="1874700" y="3528625"/>
            <a:ext cx="998700" cy="36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1" i="0" lang="es" sz="800" u="none" cap="none" strike="noStrike">
                <a:solidFill>
                  <a:srgbClr val="FF0000"/>
                </a:solidFill>
                <a:latin typeface="Open Sans"/>
                <a:ea typeface="Open Sans"/>
                <a:cs typeface="Open Sans"/>
                <a:sym typeface="Open Sans"/>
              </a:rPr>
              <a:t>Marco de Página (Frame)</a:t>
            </a:r>
            <a:endParaRPr b="1" i="0" sz="800" u="none" cap="none" strike="noStrike">
              <a:solidFill>
                <a:srgbClr val="FF0000"/>
              </a:solidFill>
              <a:latin typeface="Open Sans"/>
              <a:ea typeface="Open Sans"/>
              <a:cs typeface="Open Sans"/>
              <a:sym typeface="Open Sans"/>
            </a:endParaRPr>
          </a:p>
        </p:txBody>
      </p:sp>
      <p:sp>
        <p:nvSpPr>
          <p:cNvPr id="158" name="Google Shape;158;p9"/>
          <p:cNvSpPr txBox="1"/>
          <p:nvPr/>
        </p:nvSpPr>
        <p:spPr>
          <a:xfrm>
            <a:off x="4919300" y="885550"/>
            <a:ext cx="2700600" cy="87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s" sz="1400" u="none" cap="none" strike="noStrike">
                <a:solidFill>
                  <a:srgbClr val="FF0000"/>
                </a:solidFill>
                <a:latin typeface="Open Sans"/>
                <a:ea typeface="Open Sans"/>
                <a:cs typeface="Open Sans"/>
                <a:sym typeface="Open Sans"/>
              </a:rPr>
              <a:t>números en hexadecimal, al ser potencias de 2, es mucho más rápido calcular las direcciones de memoria</a:t>
            </a:r>
            <a:endParaRPr b="1" i="0" sz="1400" u="none" cap="none" strike="noStrike">
              <a:solidFill>
                <a:srgbClr val="FF0000"/>
              </a:solidFill>
              <a:latin typeface="Open Sans"/>
              <a:ea typeface="Open Sans"/>
              <a:cs typeface="Open Sans"/>
              <a:sym typeface="Open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2" name="Shape 162"/>
        <p:cNvGrpSpPr/>
        <p:nvPr/>
      </p:nvGrpSpPr>
      <p:grpSpPr>
        <a:xfrm>
          <a:off x="0" y="0"/>
          <a:ext cx="0" cy="0"/>
          <a:chOff x="0" y="0"/>
          <a:chExt cx="0" cy="0"/>
        </a:xfrm>
      </p:grpSpPr>
      <p:sp>
        <p:nvSpPr>
          <p:cNvPr id="163" name="Google Shape;163;p10"/>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Segmentación</a:t>
            </a:r>
            <a:endParaRPr/>
          </a:p>
        </p:txBody>
      </p:sp>
      <p:sp>
        <p:nvSpPr>
          <p:cNvPr id="164" name="Google Shape;164;p10"/>
          <p:cNvSpPr txBox="1"/>
          <p:nvPr>
            <p:ph idx="1" type="body"/>
          </p:nvPr>
        </p:nvSpPr>
        <p:spPr>
          <a:xfrm>
            <a:off x="311700" y="1266325"/>
            <a:ext cx="8520600" cy="37329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s"/>
              <a:t>La segmentación es otro sistema de gestión de memoria, pero a diferencia de los anteriores sistemas estudiados, este sistema no ve a la memoria como un array lineal de palabras. </a:t>
            </a:r>
            <a:endParaRPr/>
          </a:p>
          <a:p>
            <a:pPr indent="0" lvl="0" marL="457200" rtl="0" algn="l">
              <a:lnSpc>
                <a:spcPct val="115000"/>
              </a:lnSpc>
              <a:spcBef>
                <a:spcPts val="1200"/>
              </a:spcBef>
              <a:spcAft>
                <a:spcPts val="0"/>
              </a:spcAft>
              <a:buSzPts val="1800"/>
              <a:buNone/>
            </a:pPr>
            <a:r>
              <a:t/>
            </a:r>
            <a:endParaRPr/>
          </a:p>
          <a:p>
            <a:pPr indent="-342900" lvl="0" marL="457200" rtl="0" algn="l">
              <a:lnSpc>
                <a:spcPct val="115000"/>
              </a:lnSpc>
              <a:spcBef>
                <a:spcPts val="1200"/>
              </a:spcBef>
              <a:spcAft>
                <a:spcPts val="0"/>
              </a:spcAft>
              <a:buSzPts val="1800"/>
              <a:buChar char="●"/>
            </a:pPr>
            <a:r>
              <a:rPr lang="es"/>
              <a:t>La segmentación se aproxima más a la forma en la que los programadores diseñan sus aplicaciones, pensando en un programa principal que tiene un conjunto de subrutinas, funciones, módulos, estructuras de datos, arrays, variables, etc. Cada uno de estos elementos  tiene un nombre y es asignada a un segmento de memoria de tamaño variable </a:t>
            </a:r>
            <a:r>
              <a:rPr b="1" lang="es">
                <a:solidFill>
                  <a:srgbClr val="FF0000"/>
                </a:solidFill>
              </a:rPr>
              <a:t>(sin preocuparse directamente de la posición de memoria que pueden ocupar estos elementos)</a:t>
            </a:r>
            <a:endParaRPr b="1">
              <a:solidFill>
                <a:srgbClr val="FF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Segmentación</a:t>
            </a:r>
            <a:endParaRPr/>
          </a:p>
        </p:txBody>
      </p:sp>
      <p:sp>
        <p:nvSpPr>
          <p:cNvPr id="170" name="Google Shape;170;p11"/>
          <p:cNvSpPr txBox="1"/>
          <p:nvPr>
            <p:ph idx="1" type="body"/>
          </p:nvPr>
        </p:nvSpPr>
        <p:spPr>
          <a:xfrm>
            <a:off x="81200" y="1208700"/>
            <a:ext cx="5530500" cy="3740400"/>
          </a:xfrm>
          <a:prstGeom prst="rect">
            <a:avLst/>
          </a:prstGeom>
          <a:noFill/>
          <a:ln>
            <a:noFill/>
          </a:ln>
        </p:spPr>
        <p:txBody>
          <a:bodyPr anchorCtr="0" anchor="t" bIns="91425" lIns="91425" spcFirstLastPara="1" rIns="91425" wrap="square" tIns="91425">
            <a:normAutofit fontScale="92500"/>
          </a:bodyPr>
          <a:lstStyle/>
          <a:p>
            <a:pPr indent="0" lvl="0" marL="0" rtl="0" algn="l">
              <a:lnSpc>
                <a:spcPct val="115000"/>
              </a:lnSpc>
              <a:spcBef>
                <a:spcPts val="0"/>
              </a:spcBef>
              <a:spcAft>
                <a:spcPts val="0"/>
              </a:spcAft>
              <a:buSzPct val="108108"/>
              <a:buNone/>
            </a:pPr>
            <a:r>
              <a:rPr lang="es"/>
              <a:t>La segmentación entonces ve al programa como un conjunto de segmentos,</a:t>
            </a:r>
            <a:endParaRPr/>
          </a:p>
          <a:p>
            <a:pPr indent="0" lvl="0" marL="0" rtl="0" algn="l">
              <a:lnSpc>
                <a:spcPct val="115000"/>
              </a:lnSpc>
              <a:spcBef>
                <a:spcPts val="1200"/>
              </a:spcBef>
              <a:spcAft>
                <a:spcPts val="0"/>
              </a:spcAft>
              <a:buSzPct val="108108"/>
              <a:buNone/>
            </a:pPr>
            <a:r>
              <a:rPr lang="es"/>
              <a:t>donde cada segmento es una unidad lógica, como:</a:t>
            </a:r>
            <a:endParaRPr/>
          </a:p>
          <a:p>
            <a:pPr indent="-334327" lvl="0" marL="457200" rtl="0" algn="l">
              <a:lnSpc>
                <a:spcPct val="115000"/>
              </a:lnSpc>
              <a:spcBef>
                <a:spcPts val="1200"/>
              </a:spcBef>
              <a:spcAft>
                <a:spcPts val="0"/>
              </a:spcAft>
              <a:buSzPct val="100000"/>
              <a:buChar char="●"/>
            </a:pPr>
            <a:r>
              <a:rPr lang="es"/>
              <a:t>Código (programa principal, funciones)</a:t>
            </a:r>
            <a:endParaRPr/>
          </a:p>
          <a:p>
            <a:pPr indent="0" lvl="0" marL="457200" rtl="0" algn="l">
              <a:lnSpc>
                <a:spcPct val="115000"/>
              </a:lnSpc>
              <a:spcBef>
                <a:spcPts val="1200"/>
              </a:spcBef>
              <a:spcAft>
                <a:spcPts val="0"/>
              </a:spcAft>
              <a:buSzPct val="108108"/>
              <a:buNone/>
            </a:pPr>
            <a:r>
              <a:t/>
            </a:r>
            <a:endParaRPr/>
          </a:p>
          <a:p>
            <a:pPr indent="-334327" lvl="0" marL="457200" rtl="0" algn="l">
              <a:lnSpc>
                <a:spcPct val="115000"/>
              </a:lnSpc>
              <a:spcBef>
                <a:spcPts val="1200"/>
              </a:spcBef>
              <a:spcAft>
                <a:spcPts val="0"/>
              </a:spcAft>
              <a:buSzPct val="100000"/>
              <a:buChar char="●"/>
            </a:pPr>
            <a:r>
              <a:rPr lang="es"/>
              <a:t>Stack (para retorno de las llamadas a funciones, paso de parámetros y variables locales)</a:t>
            </a:r>
            <a:endParaRPr/>
          </a:p>
          <a:p>
            <a:pPr indent="0" lvl="0" marL="457200" rtl="0" algn="l">
              <a:lnSpc>
                <a:spcPct val="115000"/>
              </a:lnSpc>
              <a:spcBef>
                <a:spcPts val="1200"/>
              </a:spcBef>
              <a:spcAft>
                <a:spcPts val="0"/>
              </a:spcAft>
              <a:buSzPct val="108108"/>
              <a:buNone/>
            </a:pPr>
            <a:r>
              <a:t/>
            </a:r>
            <a:endParaRPr/>
          </a:p>
          <a:p>
            <a:pPr indent="-334327" lvl="0" marL="457200" rtl="0" algn="l">
              <a:lnSpc>
                <a:spcPct val="115000"/>
              </a:lnSpc>
              <a:spcBef>
                <a:spcPts val="1200"/>
              </a:spcBef>
              <a:spcAft>
                <a:spcPts val="0"/>
              </a:spcAft>
              <a:buSzPct val="100000"/>
              <a:buChar char="●"/>
            </a:pPr>
            <a:r>
              <a:rPr lang="es"/>
              <a:t>Datos (variables globales)</a:t>
            </a:r>
            <a:endParaRPr/>
          </a:p>
        </p:txBody>
      </p:sp>
      <p:pic>
        <p:nvPicPr>
          <p:cNvPr id="171" name="Google Shape;171;p11"/>
          <p:cNvPicPr preferRelativeResize="0"/>
          <p:nvPr/>
        </p:nvPicPr>
        <p:blipFill rotWithShape="1">
          <a:blip r:embed="rId3">
            <a:alphaModFix/>
          </a:blip>
          <a:srcRect b="0" l="0" r="0" t="0"/>
          <a:stretch/>
        </p:blipFill>
        <p:spPr>
          <a:xfrm>
            <a:off x="5611700" y="2082825"/>
            <a:ext cx="3227499" cy="2275199"/>
          </a:xfrm>
          <a:prstGeom prst="rect">
            <a:avLst/>
          </a:prstGeom>
          <a:noFill/>
          <a:ln>
            <a:noFill/>
          </a:ln>
        </p:spPr>
      </p:pic>
      <p:sp>
        <p:nvSpPr>
          <p:cNvPr id="172" name="Google Shape;172;p11"/>
          <p:cNvSpPr/>
          <p:nvPr/>
        </p:nvSpPr>
        <p:spPr>
          <a:xfrm>
            <a:off x="6202450" y="1469575"/>
            <a:ext cx="331500" cy="5691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173" name="Google Shape;173;p11"/>
          <p:cNvSpPr/>
          <p:nvPr/>
        </p:nvSpPr>
        <p:spPr>
          <a:xfrm>
            <a:off x="7939700" y="1469575"/>
            <a:ext cx="331500" cy="5691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174" name="Google Shape;174;p11"/>
          <p:cNvSpPr txBox="1"/>
          <p:nvPr/>
        </p:nvSpPr>
        <p:spPr>
          <a:xfrm>
            <a:off x="5471350" y="660725"/>
            <a:ext cx="1793700" cy="764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s" sz="1300" u="none" cap="none" strike="noStrike">
                <a:solidFill>
                  <a:schemeClr val="dk2"/>
                </a:solidFill>
                <a:latin typeface="Open Sans"/>
                <a:ea typeface="Open Sans"/>
                <a:cs typeface="Open Sans"/>
                <a:sym typeface="Open Sans"/>
              </a:rPr>
              <a:t>Vista de la memoria producto de la segmentación</a:t>
            </a:r>
            <a:endParaRPr b="0" i="0" sz="1300" u="none" cap="none" strike="noStrike">
              <a:solidFill>
                <a:schemeClr val="dk2"/>
              </a:solidFill>
              <a:latin typeface="Open Sans"/>
              <a:ea typeface="Open Sans"/>
              <a:cs typeface="Open Sans"/>
              <a:sym typeface="Open Sans"/>
            </a:endParaRPr>
          </a:p>
        </p:txBody>
      </p:sp>
      <p:sp>
        <p:nvSpPr>
          <p:cNvPr id="175" name="Google Shape;175;p11"/>
          <p:cNvSpPr txBox="1"/>
          <p:nvPr/>
        </p:nvSpPr>
        <p:spPr>
          <a:xfrm>
            <a:off x="7323875" y="921725"/>
            <a:ext cx="1623300" cy="503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s" sz="1300" u="none" cap="none" strike="noStrike">
                <a:solidFill>
                  <a:schemeClr val="dk2"/>
                </a:solidFill>
                <a:latin typeface="Open Sans"/>
                <a:ea typeface="Open Sans"/>
                <a:cs typeface="Open Sans"/>
                <a:sym typeface="Open Sans"/>
              </a:rPr>
              <a:t>Asignación en la memoria física</a:t>
            </a:r>
            <a:endParaRPr b="0" i="0" sz="1300" u="none" cap="none" strike="noStrike">
              <a:solidFill>
                <a:schemeClr val="dk2"/>
              </a:solidFill>
              <a:latin typeface="Open Sans"/>
              <a:ea typeface="Open Sans"/>
              <a:cs typeface="Open Sans"/>
              <a:sym typeface="Open Sans"/>
            </a:endParaRPr>
          </a:p>
        </p:txBody>
      </p:sp>
      <p:sp>
        <p:nvSpPr>
          <p:cNvPr id="176" name="Google Shape;176;p11"/>
          <p:cNvSpPr txBox="1"/>
          <p:nvPr/>
        </p:nvSpPr>
        <p:spPr>
          <a:xfrm>
            <a:off x="5849475" y="4358025"/>
            <a:ext cx="2816700" cy="656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s" sz="1300" u="none" cap="none" strike="noStrike">
                <a:solidFill>
                  <a:schemeClr val="dk2"/>
                </a:solidFill>
                <a:latin typeface="Open Sans"/>
                <a:ea typeface="Open Sans"/>
                <a:cs typeface="Open Sans"/>
                <a:sym typeface="Open Sans"/>
              </a:rPr>
              <a:t>Notar que cada segmento es de tamaño variable</a:t>
            </a:r>
            <a:endParaRPr b="0" i="0" sz="1300" u="none" cap="none" strike="noStrike">
              <a:solidFill>
                <a:schemeClr val="dk2"/>
              </a:solidFill>
              <a:latin typeface="Open Sans"/>
              <a:ea typeface="Open Sans"/>
              <a:cs typeface="Open Sans"/>
              <a:sym typeface="Open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2"/>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Segmentación</a:t>
            </a:r>
            <a:endParaRPr/>
          </a:p>
        </p:txBody>
      </p:sp>
      <p:sp>
        <p:nvSpPr>
          <p:cNvPr id="182" name="Google Shape;182;p12"/>
          <p:cNvSpPr txBox="1"/>
          <p:nvPr>
            <p:ph idx="1" type="body"/>
          </p:nvPr>
        </p:nvSpPr>
        <p:spPr>
          <a:xfrm>
            <a:off x="311700" y="1266325"/>
            <a:ext cx="8520600" cy="3732900"/>
          </a:xfrm>
          <a:prstGeom prst="rect">
            <a:avLst/>
          </a:prstGeom>
          <a:noFill/>
          <a:ln>
            <a:noFill/>
          </a:ln>
        </p:spPr>
        <p:txBody>
          <a:bodyPr anchorCtr="0" anchor="t" bIns="91425" lIns="91425" spcFirstLastPara="1" rIns="91425" wrap="square" tIns="91425">
            <a:normAutofit fontScale="92500" lnSpcReduction="20000"/>
          </a:bodyPr>
          <a:lstStyle/>
          <a:p>
            <a:pPr indent="-334327" lvl="0" marL="457200" rtl="0" algn="l">
              <a:lnSpc>
                <a:spcPct val="115000"/>
              </a:lnSpc>
              <a:spcBef>
                <a:spcPts val="0"/>
              </a:spcBef>
              <a:spcAft>
                <a:spcPts val="0"/>
              </a:spcAft>
              <a:buSzPct val="100000"/>
              <a:buChar char="●"/>
            </a:pPr>
            <a:r>
              <a:rPr lang="es"/>
              <a:t>En la segmentación las direcciones de memoria se especifican basados </a:t>
            </a:r>
            <a:r>
              <a:rPr b="1" lang="es"/>
              <a:t>“el nombre del segmento”</a:t>
            </a:r>
            <a:r>
              <a:rPr lang="es"/>
              <a:t> y </a:t>
            </a:r>
            <a:r>
              <a:rPr b="1" lang="es"/>
              <a:t>“el desplazamiento dentro del segmento”</a:t>
            </a:r>
            <a:endParaRPr b="1"/>
          </a:p>
          <a:p>
            <a:pPr indent="0" lvl="0" marL="0" rtl="0" algn="l">
              <a:lnSpc>
                <a:spcPct val="115000"/>
              </a:lnSpc>
              <a:spcBef>
                <a:spcPts val="1200"/>
              </a:spcBef>
              <a:spcAft>
                <a:spcPts val="0"/>
              </a:spcAft>
              <a:buSzPct val="108108"/>
              <a:buNone/>
            </a:pPr>
            <a:r>
              <a:t/>
            </a:r>
            <a:endParaRPr b="1"/>
          </a:p>
          <a:p>
            <a:pPr indent="0" lvl="0" marL="0" rtl="0" algn="l">
              <a:lnSpc>
                <a:spcPct val="115000"/>
              </a:lnSpc>
              <a:spcBef>
                <a:spcPts val="1200"/>
              </a:spcBef>
              <a:spcAft>
                <a:spcPts val="0"/>
              </a:spcAft>
              <a:buSzPct val="108108"/>
              <a:buNone/>
            </a:pPr>
            <a:r>
              <a:rPr b="1" lang="es"/>
              <a:t>Ejemplo: </a:t>
            </a:r>
            <a:r>
              <a:rPr lang="es"/>
              <a:t>(segmento S, elemento 4) </a:t>
            </a:r>
            <a:r>
              <a:rPr b="1" lang="es"/>
              <a:t>⇒ </a:t>
            </a:r>
            <a:r>
              <a:rPr lang="es"/>
              <a:t>(segmento Coseno, sentencia 7)</a:t>
            </a:r>
            <a:endParaRPr/>
          </a:p>
          <a:p>
            <a:pPr indent="0" lvl="0" marL="0" rtl="0" algn="l">
              <a:lnSpc>
                <a:spcPct val="115000"/>
              </a:lnSpc>
              <a:spcBef>
                <a:spcPts val="1200"/>
              </a:spcBef>
              <a:spcAft>
                <a:spcPts val="0"/>
              </a:spcAft>
              <a:buSzPct val="108108"/>
              <a:buNone/>
            </a:pPr>
            <a:r>
              <a:t/>
            </a:r>
            <a:endParaRPr/>
          </a:p>
          <a:p>
            <a:pPr indent="0" lvl="0" marL="0" rtl="0" algn="l">
              <a:lnSpc>
                <a:spcPct val="115000"/>
              </a:lnSpc>
              <a:spcBef>
                <a:spcPts val="1200"/>
              </a:spcBef>
              <a:spcAft>
                <a:spcPts val="0"/>
              </a:spcAft>
              <a:buSzPct val="108108"/>
              <a:buNone/>
            </a:pPr>
            <a:r>
              <a:rPr lang="es"/>
              <a:t>En el ejemplo se ve que la segmentación define un segmento para funciones, en este caso la función “COSENO” y se encuentra en en la posición 7 del programa, es decir es la séptima instrucción a ejecutar.</a:t>
            </a:r>
            <a:endParaRPr/>
          </a:p>
          <a:p>
            <a:pPr indent="0" lvl="0" marL="0" rtl="0" algn="l">
              <a:lnSpc>
                <a:spcPct val="115000"/>
              </a:lnSpc>
              <a:spcBef>
                <a:spcPts val="1200"/>
              </a:spcBef>
              <a:spcAft>
                <a:spcPts val="0"/>
              </a:spcAft>
              <a:buSzPct val="108108"/>
              <a:buNone/>
            </a:pPr>
            <a:r>
              <a:rPr lang="es"/>
              <a:t> </a:t>
            </a:r>
            <a:endParaRPr/>
          </a:p>
          <a:p>
            <a:pPr indent="0" lvl="0" marL="0" rtl="0" algn="l">
              <a:lnSpc>
                <a:spcPct val="115000"/>
              </a:lnSpc>
              <a:spcBef>
                <a:spcPts val="1200"/>
              </a:spcBef>
              <a:spcAft>
                <a:spcPts val="1200"/>
              </a:spcAft>
              <a:buSzPct val="108108"/>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3"/>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Segmentación</a:t>
            </a:r>
            <a:endParaRPr/>
          </a:p>
        </p:txBody>
      </p:sp>
      <p:sp>
        <p:nvSpPr>
          <p:cNvPr id="188" name="Google Shape;188;p13"/>
          <p:cNvSpPr txBox="1"/>
          <p:nvPr>
            <p:ph idx="1" type="body"/>
          </p:nvPr>
        </p:nvSpPr>
        <p:spPr>
          <a:xfrm>
            <a:off x="81200" y="1208700"/>
            <a:ext cx="8786700" cy="37404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SzPts val="1800"/>
              <a:buNone/>
            </a:pPr>
            <a:r>
              <a:rPr b="1" lang="es">
                <a:solidFill>
                  <a:srgbClr val="6D9EEB"/>
                </a:solidFill>
              </a:rPr>
              <a:t>Proceso de conversión de direcciones en segmentación</a:t>
            </a:r>
            <a:endParaRPr b="1">
              <a:solidFill>
                <a:srgbClr val="6D9EEB"/>
              </a:solidFill>
            </a:endParaRPr>
          </a:p>
          <a:p>
            <a:pPr indent="-342900" lvl="0" marL="457200" rtl="0" algn="l">
              <a:lnSpc>
                <a:spcPct val="115000"/>
              </a:lnSpc>
              <a:spcBef>
                <a:spcPts val="1200"/>
              </a:spcBef>
              <a:spcAft>
                <a:spcPts val="0"/>
              </a:spcAft>
              <a:buClr>
                <a:srgbClr val="000000"/>
              </a:buClr>
              <a:buSzPts val="1800"/>
              <a:buAutoNum type="alphaUcParenR"/>
            </a:pPr>
            <a:r>
              <a:rPr lang="es">
                <a:solidFill>
                  <a:srgbClr val="000000"/>
                </a:solidFill>
              </a:rPr>
              <a:t>El programa es compilado y el compilador construye automáticamente los segmentos de acuerdo a la estructura del programa</a:t>
            </a:r>
            <a:endParaRPr>
              <a:solidFill>
                <a:srgbClr val="000000"/>
              </a:solidFill>
            </a:endParaRPr>
          </a:p>
          <a:p>
            <a:pPr indent="0" lvl="0" marL="457200" rtl="0" algn="l">
              <a:lnSpc>
                <a:spcPct val="115000"/>
              </a:lnSpc>
              <a:spcBef>
                <a:spcPts val="1200"/>
              </a:spcBef>
              <a:spcAft>
                <a:spcPts val="0"/>
              </a:spcAft>
              <a:buSzPts val="1800"/>
              <a:buNone/>
            </a:pPr>
            <a:r>
              <a:rPr lang="es">
                <a:solidFill>
                  <a:srgbClr val="000000"/>
                </a:solidFill>
              </a:rPr>
              <a:t>Ejemplo: </a:t>
            </a:r>
            <a:endParaRPr>
              <a:solidFill>
                <a:srgbClr val="000000"/>
              </a:solidFill>
            </a:endParaRPr>
          </a:p>
          <a:p>
            <a:pPr indent="-342900" lvl="0" marL="457200" rtl="0" algn="l">
              <a:lnSpc>
                <a:spcPct val="115000"/>
              </a:lnSpc>
              <a:spcBef>
                <a:spcPts val="1200"/>
              </a:spcBef>
              <a:spcAft>
                <a:spcPts val="0"/>
              </a:spcAft>
              <a:buClr>
                <a:srgbClr val="000000"/>
              </a:buClr>
              <a:buSzPts val="1800"/>
              <a:buChar char="●"/>
            </a:pPr>
            <a:r>
              <a:rPr lang="es">
                <a:solidFill>
                  <a:srgbClr val="000000"/>
                </a:solidFill>
              </a:rPr>
              <a:t>segmentos para variables</a:t>
            </a:r>
            <a:endParaRPr>
              <a:solidFill>
                <a:srgbClr val="000000"/>
              </a:solidFill>
            </a:endParaRPr>
          </a:p>
          <a:p>
            <a:pPr indent="-342900" lvl="0" marL="457200" rtl="0" algn="l">
              <a:lnSpc>
                <a:spcPct val="115000"/>
              </a:lnSpc>
              <a:spcBef>
                <a:spcPts val="0"/>
              </a:spcBef>
              <a:spcAft>
                <a:spcPts val="0"/>
              </a:spcAft>
              <a:buClr>
                <a:srgbClr val="000000"/>
              </a:buClr>
              <a:buSzPts val="1800"/>
              <a:buChar char="●"/>
            </a:pPr>
            <a:r>
              <a:rPr lang="es">
                <a:solidFill>
                  <a:srgbClr val="000000"/>
                </a:solidFill>
              </a:rPr>
              <a:t>segmentos para pila de procedimientos</a:t>
            </a:r>
            <a:endParaRPr>
              <a:solidFill>
                <a:srgbClr val="000000"/>
              </a:solidFill>
            </a:endParaRPr>
          </a:p>
          <a:p>
            <a:pPr indent="-342900" lvl="0" marL="457200" rtl="0" algn="l">
              <a:lnSpc>
                <a:spcPct val="115000"/>
              </a:lnSpc>
              <a:spcBef>
                <a:spcPts val="0"/>
              </a:spcBef>
              <a:spcAft>
                <a:spcPts val="0"/>
              </a:spcAft>
              <a:buClr>
                <a:srgbClr val="000000"/>
              </a:buClr>
              <a:buSzPts val="1800"/>
              <a:buChar char="●"/>
            </a:pPr>
            <a:r>
              <a:rPr lang="es">
                <a:solidFill>
                  <a:srgbClr val="000000"/>
                </a:solidFill>
              </a:rPr>
              <a:t>segmentos códigos de funciones</a:t>
            </a:r>
            <a:endParaRPr>
              <a:solidFill>
                <a:srgbClr val="000000"/>
              </a:solidFill>
            </a:endParaRPr>
          </a:p>
          <a:p>
            <a:pPr indent="-342900" lvl="0" marL="457200" rtl="0" algn="l">
              <a:lnSpc>
                <a:spcPct val="115000"/>
              </a:lnSpc>
              <a:spcBef>
                <a:spcPts val="0"/>
              </a:spcBef>
              <a:spcAft>
                <a:spcPts val="0"/>
              </a:spcAft>
              <a:buClr>
                <a:srgbClr val="000000"/>
              </a:buClr>
              <a:buSzPts val="1800"/>
              <a:buChar char="●"/>
            </a:pPr>
            <a:r>
              <a:rPr lang="es">
                <a:solidFill>
                  <a:srgbClr val="000000"/>
                </a:solidFill>
              </a:rPr>
              <a:t>segmentos códigos de procedimientos</a:t>
            </a:r>
            <a:endParaRPr>
              <a:solidFill>
                <a:srgbClr val="000000"/>
              </a:solidFill>
            </a:endParaRPr>
          </a:p>
          <a:p>
            <a:pPr indent="0" lvl="0" marL="0" rtl="0" algn="l">
              <a:lnSpc>
                <a:spcPct val="115000"/>
              </a:lnSpc>
              <a:spcBef>
                <a:spcPts val="1200"/>
              </a:spcBef>
              <a:spcAft>
                <a:spcPts val="0"/>
              </a:spcAft>
              <a:buSzPts val="1800"/>
              <a:buNone/>
            </a:pPr>
            <a:r>
              <a:t/>
            </a:r>
            <a:endParaRPr>
              <a:solidFill>
                <a:srgbClr val="000000"/>
              </a:solidFill>
            </a:endParaRPr>
          </a:p>
          <a:p>
            <a:pPr indent="0" lvl="0" marL="0" rtl="0" algn="l">
              <a:lnSpc>
                <a:spcPct val="115000"/>
              </a:lnSpc>
              <a:spcBef>
                <a:spcPts val="1200"/>
              </a:spcBef>
              <a:spcAft>
                <a:spcPts val="1200"/>
              </a:spcAft>
              <a:buSzPts val="180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4"/>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Segmentación</a:t>
            </a:r>
            <a:endParaRPr/>
          </a:p>
        </p:txBody>
      </p:sp>
      <p:sp>
        <p:nvSpPr>
          <p:cNvPr id="194" name="Google Shape;194;p14"/>
          <p:cNvSpPr txBox="1"/>
          <p:nvPr>
            <p:ph idx="1" type="body"/>
          </p:nvPr>
        </p:nvSpPr>
        <p:spPr>
          <a:xfrm>
            <a:off x="81200" y="1208700"/>
            <a:ext cx="8786700" cy="37404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15000"/>
              </a:lnSpc>
              <a:spcBef>
                <a:spcPts val="0"/>
              </a:spcBef>
              <a:spcAft>
                <a:spcPts val="0"/>
              </a:spcAft>
              <a:buSzPct val="108108"/>
              <a:buNone/>
            </a:pPr>
            <a:r>
              <a:rPr b="1" lang="es">
                <a:solidFill>
                  <a:srgbClr val="6D9EEB"/>
                </a:solidFill>
              </a:rPr>
              <a:t>Proceso de conversión de direcciones en segmentación</a:t>
            </a:r>
            <a:endParaRPr b="1">
              <a:solidFill>
                <a:srgbClr val="6D9EEB"/>
              </a:solidFill>
            </a:endParaRPr>
          </a:p>
          <a:p>
            <a:pPr indent="0" lvl="0" marL="0" rtl="0" algn="l">
              <a:lnSpc>
                <a:spcPct val="115000"/>
              </a:lnSpc>
              <a:spcBef>
                <a:spcPts val="1200"/>
              </a:spcBef>
              <a:spcAft>
                <a:spcPts val="0"/>
              </a:spcAft>
              <a:buSzPct val="108108"/>
              <a:buNone/>
            </a:pPr>
            <a:r>
              <a:rPr lang="es">
                <a:solidFill>
                  <a:srgbClr val="000000"/>
                </a:solidFill>
              </a:rPr>
              <a:t>B) 	El cargador toma todos los segmentos y les asigna un número de segmento, indicado por la posición lógica “0”.</a:t>
            </a:r>
            <a:endParaRPr>
              <a:solidFill>
                <a:srgbClr val="000000"/>
              </a:solidFill>
            </a:endParaRPr>
          </a:p>
          <a:p>
            <a:pPr indent="0" lvl="0" marL="0" rtl="0" algn="l">
              <a:lnSpc>
                <a:spcPct val="115000"/>
              </a:lnSpc>
              <a:spcBef>
                <a:spcPts val="1200"/>
              </a:spcBef>
              <a:spcAft>
                <a:spcPts val="0"/>
              </a:spcAft>
              <a:buSzPct val="108108"/>
              <a:buNone/>
            </a:pPr>
            <a:r>
              <a:t/>
            </a:r>
            <a:endParaRPr>
              <a:solidFill>
                <a:srgbClr val="000000"/>
              </a:solidFill>
            </a:endParaRPr>
          </a:p>
          <a:p>
            <a:pPr indent="0" lvl="0" marL="0" rtl="0" algn="l">
              <a:lnSpc>
                <a:spcPct val="115000"/>
              </a:lnSpc>
              <a:spcBef>
                <a:spcPts val="1200"/>
              </a:spcBef>
              <a:spcAft>
                <a:spcPts val="0"/>
              </a:spcAft>
              <a:buSzPct val="108108"/>
              <a:buNone/>
            </a:pPr>
            <a:r>
              <a:rPr lang="es">
                <a:solidFill>
                  <a:srgbClr val="000000"/>
                </a:solidFill>
              </a:rPr>
              <a:t>C) 	Cómo quedan en la posición “0” del segmento, se les debe determinar el desplazamiento dentro del segmento. </a:t>
            </a:r>
            <a:endParaRPr>
              <a:solidFill>
                <a:srgbClr val="000000"/>
              </a:solidFill>
            </a:endParaRPr>
          </a:p>
          <a:p>
            <a:pPr indent="0" lvl="0" marL="0" rtl="0" algn="l">
              <a:lnSpc>
                <a:spcPct val="115000"/>
              </a:lnSpc>
              <a:spcBef>
                <a:spcPts val="1200"/>
              </a:spcBef>
              <a:spcAft>
                <a:spcPts val="0"/>
              </a:spcAft>
              <a:buSzPct val="108108"/>
              <a:buNone/>
            </a:pPr>
            <a:r>
              <a:t/>
            </a:r>
            <a:endParaRPr>
              <a:solidFill>
                <a:srgbClr val="000000"/>
              </a:solidFill>
            </a:endParaRPr>
          </a:p>
          <a:p>
            <a:pPr indent="0" lvl="0" marL="0" rtl="0" algn="l">
              <a:lnSpc>
                <a:spcPct val="115000"/>
              </a:lnSpc>
              <a:spcBef>
                <a:spcPts val="1200"/>
              </a:spcBef>
              <a:spcAft>
                <a:spcPts val="0"/>
              </a:spcAft>
              <a:buSzPct val="108108"/>
              <a:buNone/>
            </a:pPr>
            <a:r>
              <a:rPr lang="es">
                <a:solidFill>
                  <a:srgbClr val="000000"/>
                </a:solidFill>
              </a:rPr>
              <a:t>D)	Luego se utiliza la </a:t>
            </a:r>
            <a:r>
              <a:rPr b="1" lang="es">
                <a:solidFill>
                  <a:schemeClr val="accent3"/>
                </a:solidFill>
              </a:rPr>
              <a:t>“Tabla de Segmentos”</a:t>
            </a:r>
            <a:r>
              <a:rPr lang="es">
                <a:solidFill>
                  <a:srgbClr val="000000"/>
                </a:solidFill>
              </a:rPr>
              <a:t>, la cual permitirá transformar las direcciones bidimensionales a la posición física que es unidireccional</a:t>
            </a:r>
            <a:endParaRPr>
              <a:solidFill>
                <a:srgbClr val="000000"/>
              </a:solidFill>
            </a:endParaRPr>
          </a:p>
          <a:p>
            <a:pPr indent="0" lvl="0" marL="0" rtl="0" algn="l">
              <a:lnSpc>
                <a:spcPct val="115000"/>
              </a:lnSpc>
              <a:spcBef>
                <a:spcPts val="1200"/>
              </a:spcBef>
              <a:spcAft>
                <a:spcPts val="1200"/>
              </a:spcAft>
              <a:buSzPct val="108108"/>
              <a:buNone/>
            </a:pPr>
            <a:r>
              <a:rPr lang="es">
                <a:solidFill>
                  <a:srgbClr val="000000"/>
                </a:solidFill>
              </a:rPr>
              <a:t>Ejemplo: </a:t>
            </a:r>
            <a:r>
              <a:rPr b="1" lang="es">
                <a:solidFill>
                  <a:srgbClr val="000000"/>
                </a:solidFill>
              </a:rPr>
              <a:t>F-Transformación(</a:t>
            </a:r>
            <a:r>
              <a:rPr b="1" lang="es">
                <a:solidFill>
                  <a:srgbClr val="4A86E8"/>
                </a:solidFill>
              </a:rPr>
              <a:t>(segmento Coseno, sentencia 7)</a:t>
            </a:r>
            <a:r>
              <a:rPr lang="es"/>
              <a:t>, </a:t>
            </a:r>
            <a:r>
              <a:rPr b="1" lang="es">
                <a:solidFill>
                  <a:srgbClr val="CC0000"/>
                </a:solidFill>
              </a:rPr>
              <a:t>T de S</a:t>
            </a:r>
            <a:r>
              <a:rPr b="1" lang="es">
                <a:solidFill>
                  <a:srgbClr val="000000"/>
                </a:solidFill>
              </a:rPr>
              <a:t>)</a:t>
            </a:r>
            <a:r>
              <a:rPr lang="es"/>
              <a:t> </a:t>
            </a:r>
            <a:r>
              <a:rPr lang="es">
                <a:solidFill>
                  <a:srgbClr val="000000"/>
                </a:solidFill>
              </a:rPr>
              <a:t>⇒</a:t>
            </a:r>
            <a:r>
              <a:rPr b="1" lang="es">
                <a:solidFill>
                  <a:schemeClr val="accent5"/>
                </a:solidFill>
              </a:rPr>
              <a:t> 0x13241f  </a:t>
            </a:r>
            <a:endParaRPr b="1">
              <a:solidFill>
                <a:schemeClr val="accent5"/>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5"/>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Segmentación</a:t>
            </a:r>
            <a:endParaRPr/>
          </a:p>
        </p:txBody>
      </p:sp>
      <p:sp>
        <p:nvSpPr>
          <p:cNvPr id="200" name="Google Shape;200;p15"/>
          <p:cNvSpPr txBox="1"/>
          <p:nvPr>
            <p:ph idx="1" type="body"/>
          </p:nvPr>
        </p:nvSpPr>
        <p:spPr>
          <a:xfrm>
            <a:off x="81200" y="1208700"/>
            <a:ext cx="4623000" cy="37404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15000"/>
              </a:lnSpc>
              <a:spcBef>
                <a:spcPts val="0"/>
              </a:spcBef>
              <a:spcAft>
                <a:spcPts val="0"/>
              </a:spcAft>
              <a:buSzPct val="108108"/>
              <a:buNone/>
            </a:pPr>
            <a:r>
              <a:rPr b="1" lang="es">
                <a:solidFill>
                  <a:srgbClr val="6D9EEB"/>
                </a:solidFill>
              </a:rPr>
              <a:t>Proceso de conversión de direcciones en segmentación</a:t>
            </a:r>
            <a:endParaRPr b="1">
              <a:solidFill>
                <a:srgbClr val="6D9EEB"/>
              </a:solidFill>
            </a:endParaRPr>
          </a:p>
          <a:p>
            <a:pPr indent="0" lvl="0" marL="0" rtl="0" algn="l">
              <a:lnSpc>
                <a:spcPct val="115000"/>
              </a:lnSpc>
              <a:spcBef>
                <a:spcPts val="1200"/>
              </a:spcBef>
              <a:spcAft>
                <a:spcPts val="0"/>
              </a:spcAft>
              <a:buSzPct val="108108"/>
              <a:buNone/>
            </a:pPr>
            <a:r>
              <a:rPr b="1" lang="es">
                <a:solidFill>
                  <a:schemeClr val="accent5"/>
                </a:solidFill>
              </a:rPr>
              <a:t>La Tabla de segmentos</a:t>
            </a:r>
            <a:r>
              <a:rPr lang="es">
                <a:solidFill>
                  <a:srgbClr val="000000"/>
                </a:solidFill>
              </a:rPr>
              <a:t>, es un mapa bidireccional de direcciones físicas, que consta de:</a:t>
            </a:r>
            <a:endParaRPr>
              <a:solidFill>
                <a:srgbClr val="000000"/>
              </a:solidFill>
            </a:endParaRPr>
          </a:p>
          <a:p>
            <a:pPr indent="-334327" lvl="0" marL="457200" rtl="0" algn="l">
              <a:lnSpc>
                <a:spcPct val="115000"/>
              </a:lnSpc>
              <a:spcBef>
                <a:spcPts val="1200"/>
              </a:spcBef>
              <a:spcAft>
                <a:spcPts val="0"/>
              </a:spcAft>
              <a:buSzPct val="100000"/>
              <a:buChar char="●"/>
            </a:pPr>
            <a:r>
              <a:rPr b="1" lang="es">
                <a:solidFill>
                  <a:schemeClr val="accent5"/>
                </a:solidFill>
              </a:rPr>
              <a:t>Base</a:t>
            </a:r>
            <a:r>
              <a:rPr lang="es">
                <a:solidFill>
                  <a:srgbClr val="000000"/>
                </a:solidFill>
              </a:rPr>
              <a:t>, dirección inicial donde se aloja el segmento de memoria</a:t>
            </a:r>
            <a:endParaRPr>
              <a:solidFill>
                <a:srgbClr val="000000"/>
              </a:solidFill>
            </a:endParaRPr>
          </a:p>
          <a:p>
            <a:pPr indent="-334327" lvl="0" marL="457200" rtl="0" algn="l">
              <a:lnSpc>
                <a:spcPct val="115000"/>
              </a:lnSpc>
              <a:spcBef>
                <a:spcPts val="0"/>
              </a:spcBef>
              <a:spcAft>
                <a:spcPts val="0"/>
              </a:spcAft>
              <a:buSzPct val="100000"/>
              <a:buChar char="●"/>
            </a:pPr>
            <a:r>
              <a:rPr b="1" lang="es">
                <a:solidFill>
                  <a:schemeClr val="accent5"/>
                </a:solidFill>
              </a:rPr>
              <a:t>Límite</a:t>
            </a:r>
            <a:r>
              <a:rPr lang="es">
                <a:solidFill>
                  <a:srgbClr val="000000"/>
                </a:solidFill>
              </a:rPr>
              <a:t>, tamaño del segmento</a:t>
            </a:r>
            <a:endParaRPr>
              <a:solidFill>
                <a:srgbClr val="000000"/>
              </a:solidFill>
            </a:endParaRPr>
          </a:p>
          <a:p>
            <a:pPr indent="0" lvl="0" marL="457200" rtl="0" algn="l">
              <a:lnSpc>
                <a:spcPct val="115000"/>
              </a:lnSpc>
              <a:spcBef>
                <a:spcPts val="1200"/>
              </a:spcBef>
              <a:spcAft>
                <a:spcPts val="0"/>
              </a:spcAft>
              <a:buSzPct val="108108"/>
              <a:buNone/>
            </a:pPr>
            <a:r>
              <a:t/>
            </a:r>
            <a:endParaRPr>
              <a:solidFill>
                <a:srgbClr val="000000"/>
              </a:solidFill>
            </a:endParaRPr>
          </a:p>
          <a:p>
            <a:pPr indent="0" lvl="0" marL="0" rtl="0" algn="l">
              <a:lnSpc>
                <a:spcPct val="115000"/>
              </a:lnSpc>
              <a:spcBef>
                <a:spcPts val="1200"/>
              </a:spcBef>
              <a:spcAft>
                <a:spcPts val="1200"/>
              </a:spcAft>
              <a:buSzPct val="108108"/>
              <a:buNone/>
            </a:pPr>
            <a:r>
              <a:rPr lang="es">
                <a:solidFill>
                  <a:srgbClr val="000000"/>
                </a:solidFill>
              </a:rPr>
              <a:t>Esta permite transformar las direcciones lógicas de memoria en direcciones físicas de memoria</a:t>
            </a:r>
            <a:endParaRPr>
              <a:solidFill>
                <a:srgbClr val="000000"/>
              </a:solidFill>
            </a:endParaRPr>
          </a:p>
        </p:txBody>
      </p:sp>
      <p:pic>
        <p:nvPicPr>
          <p:cNvPr id="201" name="Google Shape;201;p15"/>
          <p:cNvPicPr preferRelativeResize="0"/>
          <p:nvPr/>
        </p:nvPicPr>
        <p:blipFill rotWithShape="1">
          <a:blip r:embed="rId3">
            <a:alphaModFix/>
          </a:blip>
          <a:srcRect b="0" l="0" r="0" t="0"/>
          <a:stretch/>
        </p:blipFill>
        <p:spPr>
          <a:xfrm>
            <a:off x="4618850" y="1650625"/>
            <a:ext cx="4359424" cy="2520375"/>
          </a:xfrm>
          <a:prstGeom prst="rect">
            <a:avLst/>
          </a:prstGeom>
          <a:noFill/>
          <a:ln>
            <a:noFill/>
          </a:ln>
        </p:spPr>
      </p:pic>
      <p:sp>
        <p:nvSpPr>
          <p:cNvPr id="202" name="Google Shape;202;p15"/>
          <p:cNvSpPr txBox="1"/>
          <p:nvPr/>
        </p:nvSpPr>
        <p:spPr>
          <a:xfrm>
            <a:off x="7130500" y="1239925"/>
            <a:ext cx="987000" cy="410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s" sz="1000" u="none" cap="none" strike="noStrike">
                <a:solidFill>
                  <a:srgbClr val="CC0000"/>
                </a:solidFill>
                <a:latin typeface="Open Sans"/>
                <a:ea typeface="Open Sans"/>
                <a:cs typeface="Open Sans"/>
                <a:sym typeface="Open Sans"/>
              </a:rPr>
              <a:t>Memoria física</a:t>
            </a:r>
            <a:endParaRPr b="1" i="0" sz="1000" u="none" cap="none" strike="noStrike">
              <a:solidFill>
                <a:srgbClr val="CC0000"/>
              </a:solidFill>
              <a:latin typeface="Open Sans"/>
              <a:ea typeface="Open Sans"/>
              <a:cs typeface="Open Sans"/>
              <a:sym typeface="Open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6"/>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Segmentación</a:t>
            </a:r>
            <a:endParaRPr/>
          </a:p>
        </p:txBody>
      </p:sp>
      <p:pic>
        <p:nvPicPr>
          <p:cNvPr id="208" name="Google Shape;208;p16"/>
          <p:cNvPicPr preferRelativeResize="0"/>
          <p:nvPr/>
        </p:nvPicPr>
        <p:blipFill rotWithShape="1">
          <a:blip r:embed="rId3">
            <a:alphaModFix/>
          </a:blip>
          <a:srcRect b="0" l="0" r="0" t="0"/>
          <a:stretch/>
        </p:blipFill>
        <p:spPr>
          <a:xfrm>
            <a:off x="0" y="2060300"/>
            <a:ext cx="4173126" cy="2823875"/>
          </a:xfrm>
          <a:prstGeom prst="rect">
            <a:avLst/>
          </a:prstGeom>
          <a:noFill/>
          <a:ln>
            <a:noFill/>
          </a:ln>
        </p:spPr>
      </p:pic>
      <p:pic>
        <p:nvPicPr>
          <p:cNvPr id="209" name="Google Shape;209;p16"/>
          <p:cNvPicPr preferRelativeResize="0"/>
          <p:nvPr/>
        </p:nvPicPr>
        <p:blipFill rotWithShape="1">
          <a:blip r:embed="rId4">
            <a:alphaModFix/>
          </a:blip>
          <a:srcRect b="0" l="0" r="0" t="0"/>
          <a:stretch/>
        </p:blipFill>
        <p:spPr>
          <a:xfrm>
            <a:off x="4572000" y="1894600"/>
            <a:ext cx="4330750" cy="2859900"/>
          </a:xfrm>
          <a:prstGeom prst="rect">
            <a:avLst/>
          </a:prstGeom>
          <a:noFill/>
          <a:ln>
            <a:noFill/>
          </a:ln>
        </p:spPr>
      </p:pic>
      <p:sp>
        <p:nvSpPr>
          <p:cNvPr id="210" name="Google Shape;210;p16"/>
          <p:cNvSpPr txBox="1"/>
          <p:nvPr/>
        </p:nvSpPr>
        <p:spPr>
          <a:xfrm>
            <a:off x="4312700" y="1152425"/>
            <a:ext cx="987000" cy="576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s" sz="1000" u="none" cap="none" strike="noStrike">
                <a:solidFill>
                  <a:srgbClr val="CC0000"/>
                </a:solidFill>
                <a:latin typeface="Open Sans"/>
                <a:ea typeface="Open Sans"/>
                <a:cs typeface="Open Sans"/>
                <a:sym typeface="Open Sans"/>
              </a:rPr>
              <a:t>Número del segmento o índice</a:t>
            </a:r>
            <a:endParaRPr b="1" i="0" sz="1000" u="none" cap="none" strike="noStrike">
              <a:solidFill>
                <a:srgbClr val="CC0000"/>
              </a:solidFill>
              <a:latin typeface="Open Sans"/>
              <a:ea typeface="Open Sans"/>
              <a:cs typeface="Open Sans"/>
              <a:sym typeface="Open Sans"/>
            </a:endParaRPr>
          </a:p>
        </p:txBody>
      </p:sp>
      <p:sp>
        <p:nvSpPr>
          <p:cNvPr id="211" name="Google Shape;211;p16"/>
          <p:cNvSpPr txBox="1"/>
          <p:nvPr/>
        </p:nvSpPr>
        <p:spPr>
          <a:xfrm>
            <a:off x="5668125" y="1152425"/>
            <a:ext cx="1391700" cy="576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s" sz="1000" u="none" cap="none" strike="noStrike">
                <a:solidFill>
                  <a:srgbClr val="CC0000"/>
                </a:solidFill>
                <a:latin typeface="Open Sans"/>
                <a:ea typeface="Open Sans"/>
                <a:cs typeface="Open Sans"/>
                <a:sym typeface="Open Sans"/>
              </a:rPr>
              <a:t>Desplazamiento, no puede ser mayor que el tamaño del segmento</a:t>
            </a:r>
            <a:endParaRPr b="1" i="0" sz="1000" u="none" cap="none" strike="noStrike">
              <a:solidFill>
                <a:srgbClr val="CC0000"/>
              </a:solidFill>
              <a:latin typeface="Open Sans"/>
              <a:ea typeface="Open Sans"/>
              <a:cs typeface="Open Sans"/>
              <a:sym typeface="Open Sans"/>
            </a:endParaRPr>
          </a:p>
        </p:txBody>
      </p:sp>
      <p:cxnSp>
        <p:nvCxnSpPr>
          <p:cNvPr id="212" name="Google Shape;212;p16"/>
          <p:cNvCxnSpPr/>
          <p:nvPr/>
        </p:nvCxnSpPr>
        <p:spPr>
          <a:xfrm flipH="1">
            <a:off x="5791900" y="1541600"/>
            <a:ext cx="115200" cy="353100"/>
          </a:xfrm>
          <a:prstGeom prst="straightConnector1">
            <a:avLst/>
          </a:prstGeom>
          <a:noFill/>
          <a:ln cap="flat" cmpd="sng" w="19050">
            <a:solidFill>
              <a:schemeClr val="dk2"/>
            </a:solidFill>
            <a:prstDash val="solid"/>
            <a:round/>
            <a:headEnd len="sm" w="sm" type="none"/>
            <a:tailEnd len="med" w="med" type="triangle"/>
          </a:ln>
        </p:spPr>
      </p:cxnSp>
      <p:cxnSp>
        <p:nvCxnSpPr>
          <p:cNvPr id="213" name="Google Shape;213;p16"/>
          <p:cNvCxnSpPr/>
          <p:nvPr/>
        </p:nvCxnSpPr>
        <p:spPr>
          <a:xfrm>
            <a:off x="5150700" y="1620850"/>
            <a:ext cx="252300" cy="273900"/>
          </a:xfrm>
          <a:prstGeom prst="straightConnector1">
            <a:avLst/>
          </a:prstGeom>
          <a:noFill/>
          <a:ln cap="flat" cmpd="sng" w="19050">
            <a:solidFill>
              <a:schemeClr val="dk2"/>
            </a:solidFill>
            <a:prstDash val="solid"/>
            <a:round/>
            <a:headEnd len="sm" w="sm" type="none"/>
            <a:tailEnd len="med" w="med" type="triangle"/>
          </a:ln>
        </p:spPr>
      </p:cxnSp>
      <p:sp>
        <p:nvSpPr>
          <p:cNvPr id="214" name="Google Shape;214;p16"/>
          <p:cNvSpPr txBox="1"/>
          <p:nvPr/>
        </p:nvSpPr>
        <p:spPr>
          <a:xfrm>
            <a:off x="5532375" y="4754500"/>
            <a:ext cx="1391700" cy="308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s" sz="1000" u="none" cap="none" strike="noStrike">
                <a:solidFill>
                  <a:srgbClr val="CC0000"/>
                </a:solidFill>
                <a:latin typeface="Open Sans"/>
                <a:ea typeface="Open Sans"/>
                <a:cs typeface="Open Sans"/>
                <a:sym typeface="Open Sans"/>
              </a:rPr>
              <a:t>0x12000 + 0x2F00</a:t>
            </a:r>
            <a:endParaRPr b="1" i="0" sz="1000" u="none" cap="none" strike="noStrike">
              <a:solidFill>
                <a:srgbClr val="CC0000"/>
              </a:solidFill>
              <a:latin typeface="Open Sans"/>
              <a:ea typeface="Open Sans"/>
              <a:cs typeface="Open Sans"/>
              <a:sym typeface="Open Sans"/>
            </a:endParaRPr>
          </a:p>
        </p:txBody>
      </p:sp>
      <p:cxnSp>
        <p:nvCxnSpPr>
          <p:cNvPr id="215" name="Google Shape;215;p16"/>
          <p:cNvCxnSpPr>
            <a:stCxn id="214" idx="0"/>
          </p:cNvCxnSpPr>
          <p:nvPr/>
        </p:nvCxnSpPr>
        <p:spPr>
          <a:xfrm flipH="1" rot="10800000">
            <a:off x="6228225" y="4466200"/>
            <a:ext cx="17400" cy="288300"/>
          </a:xfrm>
          <a:prstGeom prst="straightConnector1">
            <a:avLst/>
          </a:prstGeom>
          <a:noFill/>
          <a:ln cap="flat" cmpd="sng" w="19050">
            <a:solidFill>
              <a:schemeClr val="dk2"/>
            </a:solidFill>
            <a:prstDash val="solid"/>
            <a:round/>
            <a:headEnd len="sm" w="sm" type="none"/>
            <a:tailEnd len="med" w="med" type="triangle"/>
          </a:ln>
        </p:spPr>
      </p:cxnSp>
      <p:cxnSp>
        <p:nvCxnSpPr>
          <p:cNvPr id="216" name="Google Shape;216;p16"/>
          <p:cNvCxnSpPr/>
          <p:nvPr/>
        </p:nvCxnSpPr>
        <p:spPr>
          <a:xfrm>
            <a:off x="4329475" y="1203025"/>
            <a:ext cx="7200" cy="3738900"/>
          </a:xfrm>
          <a:prstGeom prst="straightConnector1">
            <a:avLst/>
          </a:prstGeom>
          <a:noFill/>
          <a:ln cap="flat" cmpd="sng" w="19050">
            <a:solidFill>
              <a:schemeClr val="dk2"/>
            </a:solidFill>
            <a:prstDash val="dash"/>
            <a:round/>
            <a:headEnd len="sm" w="sm" type="none"/>
            <a:tailEnd len="sm" w="sm" type="none"/>
          </a:ln>
        </p:spPr>
      </p:cxnSp>
      <p:sp>
        <p:nvSpPr>
          <p:cNvPr id="217" name="Google Shape;217;p16"/>
          <p:cNvSpPr txBox="1"/>
          <p:nvPr/>
        </p:nvSpPr>
        <p:spPr>
          <a:xfrm>
            <a:off x="230525" y="1109375"/>
            <a:ext cx="4149300" cy="780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Clr>
                <a:srgbClr val="000000"/>
              </a:buClr>
              <a:buSzPts val="1800"/>
              <a:buFont typeface="Arial"/>
              <a:buNone/>
            </a:pPr>
            <a:r>
              <a:rPr b="1" i="0" lang="es" sz="1800" u="none" cap="none" strike="noStrike">
                <a:solidFill>
                  <a:srgbClr val="6D9EEB"/>
                </a:solidFill>
                <a:latin typeface="Open Sans"/>
                <a:ea typeface="Open Sans"/>
                <a:cs typeface="Open Sans"/>
                <a:sym typeface="Open Sans"/>
              </a:rPr>
              <a:t>Proceso de conversión de direcciones en segmentación</a:t>
            </a:r>
            <a:endParaRPr b="0" i="0" sz="1800" u="none" cap="none" strike="noStrike">
              <a:solidFill>
                <a:schemeClr val="dk2"/>
              </a:solidFill>
              <a:latin typeface="Open Sans"/>
              <a:ea typeface="Open Sans"/>
              <a:cs typeface="Open Sans"/>
              <a:sym typeface="Open Sans"/>
            </a:endParaRPr>
          </a:p>
        </p:txBody>
      </p:sp>
      <p:sp>
        <p:nvSpPr>
          <p:cNvPr id="218" name="Google Shape;218;p16"/>
          <p:cNvSpPr txBox="1"/>
          <p:nvPr/>
        </p:nvSpPr>
        <p:spPr>
          <a:xfrm>
            <a:off x="7130500" y="1483975"/>
            <a:ext cx="987000" cy="410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s" sz="1000" u="none" cap="none" strike="noStrike">
                <a:solidFill>
                  <a:srgbClr val="CC0000"/>
                </a:solidFill>
                <a:latin typeface="Open Sans"/>
                <a:ea typeface="Open Sans"/>
                <a:cs typeface="Open Sans"/>
                <a:sym typeface="Open Sans"/>
              </a:rPr>
              <a:t>Memoria física</a:t>
            </a:r>
            <a:endParaRPr b="1" i="0" sz="1000" u="none" cap="none" strike="noStrike">
              <a:solidFill>
                <a:srgbClr val="CC0000"/>
              </a:solidFill>
              <a:latin typeface="Open Sans"/>
              <a:ea typeface="Open Sans"/>
              <a:cs typeface="Open Sans"/>
              <a:sym typeface="Open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7"/>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Segmentación</a:t>
            </a:r>
            <a:endParaRPr/>
          </a:p>
        </p:txBody>
      </p:sp>
      <p:pic>
        <p:nvPicPr>
          <p:cNvPr id="224" name="Google Shape;224;p17"/>
          <p:cNvPicPr preferRelativeResize="0"/>
          <p:nvPr/>
        </p:nvPicPr>
        <p:blipFill rotWithShape="1">
          <a:blip r:embed="rId3">
            <a:alphaModFix/>
          </a:blip>
          <a:srcRect b="0" l="0" r="0" t="0"/>
          <a:stretch/>
        </p:blipFill>
        <p:spPr>
          <a:xfrm>
            <a:off x="3450625" y="1840425"/>
            <a:ext cx="5618825" cy="3036700"/>
          </a:xfrm>
          <a:prstGeom prst="rect">
            <a:avLst/>
          </a:prstGeom>
          <a:noFill/>
          <a:ln>
            <a:noFill/>
          </a:ln>
        </p:spPr>
      </p:pic>
      <p:pic>
        <p:nvPicPr>
          <p:cNvPr id="225" name="Google Shape;225;p17"/>
          <p:cNvPicPr preferRelativeResize="0"/>
          <p:nvPr/>
        </p:nvPicPr>
        <p:blipFill rotWithShape="1">
          <a:blip r:embed="rId4">
            <a:alphaModFix/>
          </a:blip>
          <a:srcRect b="0" l="0" r="0" t="0"/>
          <a:stretch/>
        </p:blipFill>
        <p:spPr>
          <a:xfrm>
            <a:off x="60175" y="2192252"/>
            <a:ext cx="3289564" cy="2684875"/>
          </a:xfrm>
          <a:prstGeom prst="rect">
            <a:avLst/>
          </a:prstGeom>
          <a:noFill/>
          <a:ln>
            <a:noFill/>
          </a:ln>
        </p:spPr>
      </p:pic>
      <p:sp>
        <p:nvSpPr>
          <p:cNvPr id="226" name="Google Shape;226;p17"/>
          <p:cNvSpPr/>
          <p:nvPr/>
        </p:nvSpPr>
        <p:spPr>
          <a:xfrm>
            <a:off x="628675" y="4459150"/>
            <a:ext cx="2591400" cy="533100"/>
          </a:xfrm>
          <a:prstGeom prst="roundRect">
            <a:avLst>
              <a:gd fmla="val 16667" name="adj"/>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pic>
        <p:nvPicPr>
          <p:cNvPr id="227" name="Google Shape;227;p17"/>
          <p:cNvPicPr preferRelativeResize="0"/>
          <p:nvPr/>
        </p:nvPicPr>
        <p:blipFill rotWithShape="1">
          <a:blip r:embed="rId5">
            <a:alphaModFix/>
          </a:blip>
          <a:srcRect b="0" l="0" r="0" t="0"/>
          <a:stretch/>
        </p:blipFill>
        <p:spPr>
          <a:xfrm>
            <a:off x="4907000" y="1313375"/>
            <a:ext cx="553698" cy="561900"/>
          </a:xfrm>
          <a:prstGeom prst="rect">
            <a:avLst/>
          </a:prstGeom>
          <a:noFill/>
          <a:ln>
            <a:noFill/>
          </a:ln>
        </p:spPr>
      </p:pic>
      <p:sp>
        <p:nvSpPr>
          <p:cNvPr id="228" name="Google Shape;228;p17"/>
          <p:cNvSpPr txBox="1"/>
          <p:nvPr/>
        </p:nvSpPr>
        <p:spPr>
          <a:xfrm>
            <a:off x="108050" y="1094975"/>
            <a:ext cx="4351200" cy="780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Clr>
                <a:srgbClr val="000000"/>
              </a:buClr>
              <a:buSzPts val="1800"/>
              <a:buFont typeface="Arial"/>
              <a:buNone/>
            </a:pPr>
            <a:r>
              <a:rPr b="1" i="0" lang="es" sz="1800" u="none" cap="none" strike="noStrike">
                <a:solidFill>
                  <a:srgbClr val="6D9EEB"/>
                </a:solidFill>
                <a:latin typeface="Open Sans"/>
                <a:ea typeface="Open Sans"/>
                <a:cs typeface="Open Sans"/>
                <a:sym typeface="Open Sans"/>
              </a:rPr>
              <a:t>Proceso de conversión de direcciones en segmentación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18"/>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Memoria virtual</a:t>
            </a:r>
            <a:endParaRPr/>
          </a:p>
        </p:txBody>
      </p:sp>
      <p:sp>
        <p:nvSpPr>
          <p:cNvPr id="234" name="Google Shape;234;p18"/>
          <p:cNvSpPr txBox="1"/>
          <p:nvPr>
            <p:ph idx="1" type="body"/>
          </p:nvPr>
        </p:nvSpPr>
        <p:spPr>
          <a:xfrm>
            <a:off x="311700" y="1266325"/>
            <a:ext cx="8520600" cy="3732900"/>
          </a:xfrm>
          <a:prstGeom prst="rect">
            <a:avLst/>
          </a:prstGeom>
          <a:noFill/>
          <a:ln>
            <a:noFill/>
          </a:ln>
        </p:spPr>
        <p:txBody>
          <a:bodyPr anchorCtr="0" anchor="t" bIns="91425" lIns="91425" spcFirstLastPara="1" rIns="91425" wrap="square" tIns="91425">
            <a:normAutofit lnSpcReduction="20000"/>
          </a:bodyPr>
          <a:lstStyle/>
          <a:p>
            <a:pPr indent="-342900" lvl="0" marL="457200" rtl="0" algn="just">
              <a:lnSpc>
                <a:spcPct val="100000"/>
              </a:lnSpc>
              <a:spcBef>
                <a:spcPts val="0"/>
              </a:spcBef>
              <a:spcAft>
                <a:spcPts val="0"/>
              </a:spcAft>
              <a:buSzPts val="1800"/>
              <a:buChar char="●"/>
            </a:pPr>
            <a:r>
              <a:rPr lang="es"/>
              <a:t>Debido al crecimiento de los sistemas y de los recursos que estos necesitan para ser ejecutados en su totalidad, es que surge un problema, el cual es necesitar mayor cantidad de memoria física (principal) de la que se posee </a:t>
            </a:r>
            <a:endParaRPr/>
          </a:p>
          <a:p>
            <a:pPr indent="0" lvl="0" marL="0" rtl="0" algn="just">
              <a:lnSpc>
                <a:spcPct val="100000"/>
              </a:lnSpc>
              <a:spcBef>
                <a:spcPts val="0"/>
              </a:spcBef>
              <a:spcAft>
                <a:spcPts val="0"/>
              </a:spcAft>
              <a:buSzPts val="1800"/>
              <a:buNone/>
            </a:pPr>
            <a:r>
              <a:t/>
            </a:r>
            <a:endParaRPr/>
          </a:p>
          <a:p>
            <a:pPr indent="-342900" lvl="0" marL="457200" rtl="0" algn="just">
              <a:lnSpc>
                <a:spcPct val="100000"/>
              </a:lnSpc>
              <a:spcBef>
                <a:spcPts val="0"/>
              </a:spcBef>
              <a:spcAft>
                <a:spcPts val="0"/>
              </a:spcAft>
              <a:buSzPts val="1800"/>
              <a:buChar char="●"/>
            </a:pPr>
            <a:r>
              <a:rPr b="1" lang="es">
                <a:solidFill>
                  <a:srgbClr val="CC0000"/>
                </a:solidFill>
              </a:rPr>
              <a:t>SURGE UN MECANISMO,</a:t>
            </a:r>
            <a:r>
              <a:rPr lang="es">
                <a:solidFill>
                  <a:srgbClr val="CC0000"/>
                </a:solidFill>
              </a:rPr>
              <a:t> </a:t>
            </a:r>
            <a:r>
              <a:rPr lang="es"/>
              <a:t>el cual permite que las aplicaciones mantengan parte de su información en disco, moviéndola a la memoria principal cuando sea necesario.</a:t>
            </a:r>
            <a:endParaRPr/>
          </a:p>
          <a:p>
            <a:pPr indent="0" lvl="0" marL="457200" rtl="0" algn="just">
              <a:lnSpc>
                <a:spcPct val="115000"/>
              </a:lnSpc>
              <a:spcBef>
                <a:spcPts val="0"/>
              </a:spcBef>
              <a:spcAft>
                <a:spcPts val="0"/>
              </a:spcAft>
              <a:buSzPts val="1800"/>
              <a:buNone/>
            </a:pPr>
            <a:r>
              <a:t/>
            </a:r>
            <a:endParaRPr/>
          </a:p>
          <a:p>
            <a:pPr indent="-342900" lvl="0" marL="457200" rtl="0" algn="just">
              <a:lnSpc>
                <a:spcPct val="115000"/>
              </a:lnSpc>
              <a:spcBef>
                <a:spcPts val="1200"/>
              </a:spcBef>
              <a:spcAft>
                <a:spcPts val="0"/>
              </a:spcAft>
              <a:buSzPts val="1800"/>
              <a:buChar char="●"/>
            </a:pPr>
            <a:r>
              <a:rPr lang="es"/>
              <a:t>Este mecanismo es </a:t>
            </a:r>
            <a:r>
              <a:rPr b="1" lang="es">
                <a:solidFill>
                  <a:srgbClr val="CC0000"/>
                </a:solidFill>
              </a:rPr>
              <a:t>LA MEMORIA VIRTUAL</a:t>
            </a:r>
            <a:r>
              <a:rPr lang="es"/>
              <a:t> que permite ejecutar procesos cargados parcialmente en memoria, tanto así, que podría permitir cargar procesos que requieran más memoria que la memoria física  disponible.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9"/>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Memoria virtual</a:t>
            </a:r>
            <a:endParaRPr/>
          </a:p>
        </p:txBody>
      </p:sp>
      <p:sp>
        <p:nvSpPr>
          <p:cNvPr id="240" name="Google Shape;240;p19"/>
          <p:cNvSpPr txBox="1"/>
          <p:nvPr>
            <p:ph idx="1" type="body"/>
          </p:nvPr>
        </p:nvSpPr>
        <p:spPr>
          <a:xfrm>
            <a:off x="311700" y="1266325"/>
            <a:ext cx="8520600" cy="3732900"/>
          </a:xfrm>
          <a:prstGeom prst="rect">
            <a:avLst/>
          </a:prstGeom>
          <a:noFill/>
          <a:ln>
            <a:noFill/>
          </a:ln>
        </p:spPr>
        <p:txBody>
          <a:bodyPr anchorCtr="0" anchor="t" bIns="91425" lIns="91425" spcFirstLastPara="1" rIns="91425" wrap="square" tIns="91425">
            <a:normAutofit fontScale="92500" lnSpcReduction="10000"/>
          </a:bodyPr>
          <a:lstStyle/>
          <a:p>
            <a:pPr indent="-334327" lvl="0" marL="457200" rtl="0" algn="l">
              <a:lnSpc>
                <a:spcPct val="115000"/>
              </a:lnSpc>
              <a:spcBef>
                <a:spcPts val="0"/>
              </a:spcBef>
              <a:spcAft>
                <a:spcPts val="0"/>
              </a:spcAft>
              <a:buSzPct val="100000"/>
              <a:buChar char="●"/>
            </a:pPr>
            <a:r>
              <a:rPr lang="es"/>
              <a:t>En otras palabras, la memoria virtual es el sistema de gestión de memoria que permite que el espacio de direcciones virtuales de un proceso activo sea mayor que la memoria física disponible.</a:t>
            </a:r>
            <a:endParaRPr/>
          </a:p>
          <a:p>
            <a:pPr indent="0" lvl="0" marL="457200" rtl="0" algn="l">
              <a:lnSpc>
                <a:spcPct val="115000"/>
              </a:lnSpc>
              <a:spcBef>
                <a:spcPts val="1200"/>
              </a:spcBef>
              <a:spcAft>
                <a:spcPts val="0"/>
              </a:spcAft>
              <a:buSzPct val="108108"/>
              <a:buNone/>
            </a:pPr>
            <a:r>
              <a:t/>
            </a:r>
            <a:endParaRPr/>
          </a:p>
          <a:p>
            <a:pPr indent="-334327" lvl="0" marL="457200" rtl="0" algn="l">
              <a:lnSpc>
                <a:spcPct val="115000"/>
              </a:lnSpc>
              <a:spcBef>
                <a:spcPts val="1200"/>
              </a:spcBef>
              <a:spcAft>
                <a:spcPts val="0"/>
              </a:spcAft>
              <a:buSzPct val="100000"/>
              <a:buChar char="●"/>
            </a:pPr>
            <a:r>
              <a:rPr lang="es"/>
              <a:t>Debido a lo anterior y al funcionamiento de los últimos dos temas vistos en clases, se hace fácil imaginar este mecanismo gracias a la paginación y a la segmentación, que permiten ejecutar los proceso de forma parcial (páginas y segmentos).</a:t>
            </a:r>
            <a:endParaRPr/>
          </a:p>
          <a:p>
            <a:pPr indent="0" lvl="0" marL="457200" rtl="0" algn="l">
              <a:lnSpc>
                <a:spcPct val="115000"/>
              </a:lnSpc>
              <a:spcBef>
                <a:spcPts val="1200"/>
              </a:spcBef>
              <a:spcAft>
                <a:spcPts val="0"/>
              </a:spcAft>
              <a:buSzPct val="108108"/>
              <a:buNone/>
            </a:pPr>
            <a:r>
              <a:t/>
            </a:r>
            <a:endParaRPr/>
          </a:p>
          <a:p>
            <a:pPr indent="-334327" lvl="0" marL="457200" rtl="0" algn="l">
              <a:lnSpc>
                <a:spcPct val="115000"/>
              </a:lnSpc>
              <a:spcBef>
                <a:spcPts val="1200"/>
              </a:spcBef>
              <a:spcAft>
                <a:spcPts val="0"/>
              </a:spcAft>
              <a:buSzPct val="100000"/>
              <a:buChar char="●"/>
            </a:pPr>
            <a:r>
              <a:rPr lang="es"/>
              <a:t>El S.O. mantiene en memoria principal aquella parte del proceso que se utiliza en cada momento, el resto permanece en disco, hasta ser requerido.</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0"/>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Memoria virtual</a:t>
            </a:r>
            <a:endParaRPr/>
          </a:p>
        </p:txBody>
      </p:sp>
      <p:sp>
        <p:nvSpPr>
          <p:cNvPr id="246" name="Google Shape;246;p20"/>
          <p:cNvSpPr txBox="1"/>
          <p:nvPr>
            <p:ph idx="1" type="body"/>
          </p:nvPr>
        </p:nvSpPr>
        <p:spPr>
          <a:xfrm>
            <a:off x="311700" y="1296275"/>
            <a:ext cx="3184800" cy="19605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00000"/>
              </a:lnSpc>
              <a:spcBef>
                <a:spcPts val="0"/>
              </a:spcBef>
              <a:spcAft>
                <a:spcPts val="0"/>
              </a:spcAft>
              <a:buSzPts val="1800"/>
              <a:buChar char="●"/>
            </a:pPr>
            <a:r>
              <a:rPr lang="es"/>
              <a:t>Como ya lo vimos en las primeras clases, donde hablamos de memoria la mayoría de los computadores modernos tienen:</a:t>
            </a:r>
            <a:endParaRPr/>
          </a:p>
          <a:p>
            <a:pPr indent="0" lvl="0" marL="0" rtl="0" algn="l">
              <a:lnSpc>
                <a:spcPct val="100000"/>
              </a:lnSpc>
              <a:spcBef>
                <a:spcPts val="0"/>
              </a:spcBef>
              <a:spcAft>
                <a:spcPts val="0"/>
              </a:spcAft>
              <a:buSzPts val="1800"/>
              <a:buNone/>
            </a:pPr>
            <a:r>
              <a:t/>
            </a:r>
            <a:endParaRPr/>
          </a:p>
        </p:txBody>
      </p:sp>
      <p:sp>
        <p:nvSpPr>
          <p:cNvPr id="247" name="Google Shape;247;p20"/>
          <p:cNvSpPr txBox="1"/>
          <p:nvPr/>
        </p:nvSpPr>
        <p:spPr>
          <a:xfrm>
            <a:off x="2258725" y="2942325"/>
            <a:ext cx="1639500" cy="912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chemeClr val="dk2"/>
                </a:solidFill>
                <a:latin typeface="Open Sans"/>
                <a:ea typeface="Open Sans"/>
                <a:cs typeface="Open Sans"/>
                <a:sym typeface="Open Sans"/>
              </a:rPr>
              <a:t>Mayor capacidad y </a:t>
            </a:r>
            <a:endParaRPr b="0" i="0" sz="1400" u="none" cap="none" strike="noStrike">
              <a:solidFill>
                <a:schemeClr val="dk2"/>
              </a:solidFill>
              <a:latin typeface="Open Sans"/>
              <a:ea typeface="Open Sans"/>
              <a:cs typeface="Open Sans"/>
              <a:sym typeface="Open Sans"/>
            </a:endParaRPr>
          </a:p>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chemeClr val="dk2"/>
                </a:solidFill>
                <a:latin typeface="Open Sans"/>
                <a:ea typeface="Open Sans"/>
                <a:cs typeface="Open Sans"/>
                <a:sym typeface="Open Sans"/>
              </a:rPr>
              <a:t>Menor velocidad</a:t>
            </a:r>
            <a:endParaRPr b="0" i="0" sz="1400" u="none" cap="none" strike="noStrike">
              <a:solidFill>
                <a:schemeClr val="dk2"/>
              </a:solidFill>
              <a:latin typeface="Open Sans"/>
              <a:ea typeface="Open Sans"/>
              <a:cs typeface="Open Sans"/>
              <a:sym typeface="Open Sans"/>
            </a:endParaRPr>
          </a:p>
        </p:txBody>
      </p:sp>
      <p:sp>
        <p:nvSpPr>
          <p:cNvPr id="248" name="Google Shape;248;p20"/>
          <p:cNvSpPr/>
          <p:nvPr/>
        </p:nvSpPr>
        <p:spPr>
          <a:xfrm>
            <a:off x="4320038" y="1639075"/>
            <a:ext cx="2874900" cy="3271800"/>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30200" lvl="0" marL="457200" marR="0" rtl="0" algn="ctr">
              <a:lnSpc>
                <a:spcPct val="100000"/>
              </a:lnSpc>
              <a:spcBef>
                <a:spcPts val="0"/>
              </a:spcBef>
              <a:spcAft>
                <a:spcPts val="0"/>
              </a:spcAft>
              <a:buClr>
                <a:schemeClr val="dk2"/>
              </a:buClr>
              <a:buSzPts val="1600"/>
              <a:buFont typeface="Open Sans"/>
              <a:buChar char="●"/>
            </a:pPr>
            <a:r>
              <a:rPr b="0" i="0" lang="es" sz="1600" u="none" cap="none" strike="noStrike">
                <a:solidFill>
                  <a:schemeClr val="dk2"/>
                </a:solidFill>
                <a:latin typeface="Open Sans"/>
                <a:ea typeface="Open Sans"/>
                <a:cs typeface="Open Sans"/>
                <a:sym typeface="Open Sans"/>
              </a:rPr>
              <a:t>Registros en la </a:t>
            </a:r>
            <a:r>
              <a:rPr b="0" i="0" lang="es" sz="1600" u="none" cap="none" strike="noStrike">
                <a:solidFill>
                  <a:schemeClr val="dk2"/>
                </a:solidFill>
                <a:uFill>
                  <a:noFill/>
                </a:uFill>
                <a:latin typeface="Open Sans"/>
                <a:ea typeface="Open Sans"/>
                <a:cs typeface="Open Sans"/>
                <a:sym typeface="Open Sans"/>
                <a:hlinkClick r:id="rId3">
                  <a:extLst>
                    <a:ext uri="{A12FA001-AC4F-418D-AE19-62706E023703}">
                      <ahyp:hlinkClr val="tx"/>
                    </a:ext>
                  </a:extLst>
                </a:hlinkClick>
              </a:rPr>
              <a:t>CPU</a:t>
            </a:r>
            <a:endParaRPr b="0" i="0" sz="1600" u="none" cap="none" strike="noStrike">
              <a:solidFill>
                <a:schemeClr val="dk2"/>
              </a:solidFill>
              <a:latin typeface="Open Sans"/>
              <a:ea typeface="Open Sans"/>
              <a:cs typeface="Open Sans"/>
              <a:sym typeface="Open Sans"/>
            </a:endParaRPr>
          </a:p>
          <a:p>
            <a:pPr indent="0" lvl="0" marL="457200" marR="0" rtl="0" algn="ctr">
              <a:lnSpc>
                <a:spcPct val="100000"/>
              </a:lnSpc>
              <a:spcBef>
                <a:spcPts val="0"/>
              </a:spcBef>
              <a:spcAft>
                <a:spcPts val="0"/>
              </a:spcAft>
              <a:buClr>
                <a:srgbClr val="000000"/>
              </a:buClr>
              <a:buSzPts val="1600"/>
              <a:buFont typeface="Arial"/>
              <a:buNone/>
            </a:pPr>
            <a:r>
              <a:rPr b="0" i="0" lang="es" sz="1600" u="none" cap="none" strike="noStrike">
                <a:solidFill>
                  <a:schemeClr val="dk2"/>
                </a:solidFill>
                <a:latin typeface="Open Sans"/>
                <a:ea typeface="Open Sans"/>
                <a:cs typeface="Open Sans"/>
                <a:sym typeface="Open Sans"/>
              </a:rPr>
              <a:t> </a:t>
            </a:r>
            <a:endParaRPr b="0" i="0" sz="1600" u="none" cap="none" strike="noStrike">
              <a:solidFill>
                <a:schemeClr val="dk2"/>
              </a:solidFill>
              <a:latin typeface="Open Sans"/>
              <a:ea typeface="Open Sans"/>
              <a:cs typeface="Open Sans"/>
              <a:sym typeface="Open Sans"/>
            </a:endParaRPr>
          </a:p>
          <a:p>
            <a:pPr indent="-330200" lvl="0" marL="457200" marR="0" rtl="0" algn="ctr">
              <a:lnSpc>
                <a:spcPct val="100000"/>
              </a:lnSpc>
              <a:spcBef>
                <a:spcPts val="0"/>
              </a:spcBef>
              <a:spcAft>
                <a:spcPts val="0"/>
              </a:spcAft>
              <a:buClr>
                <a:schemeClr val="dk2"/>
              </a:buClr>
              <a:buSzPts val="1600"/>
              <a:buFont typeface="Open Sans"/>
              <a:buChar char="●"/>
            </a:pPr>
            <a:r>
              <a:rPr b="0" i="0" lang="es" sz="1600" u="none" cap="none" strike="noStrike">
                <a:solidFill>
                  <a:schemeClr val="dk2"/>
                </a:solidFill>
                <a:latin typeface="Open Sans"/>
                <a:ea typeface="Open Sans"/>
                <a:cs typeface="Open Sans"/>
                <a:sym typeface="Open Sans"/>
              </a:rPr>
              <a:t>La </a:t>
            </a:r>
            <a:r>
              <a:rPr b="0" i="0" lang="es" sz="1600" u="none" cap="none" strike="noStrike">
                <a:solidFill>
                  <a:schemeClr val="dk2"/>
                </a:solidFill>
                <a:uFill>
                  <a:noFill/>
                </a:uFill>
                <a:latin typeface="Open Sans"/>
                <a:ea typeface="Open Sans"/>
                <a:cs typeface="Open Sans"/>
                <a:sym typeface="Open Sans"/>
                <a:hlinkClick r:id="rId4">
                  <a:extLst>
                    <a:ext uri="{A12FA001-AC4F-418D-AE19-62706E023703}">
                      <ahyp:hlinkClr val="tx"/>
                    </a:ext>
                  </a:extLst>
                </a:hlinkClick>
              </a:rPr>
              <a:t>memoria caché</a:t>
            </a:r>
            <a:r>
              <a:rPr b="0" i="0" lang="es" sz="1600" u="none" cap="none" strike="noStrike">
                <a:solidFill>
                  <a:schemeClr val="dk2"/>
                </a:solidFill>
                <a:latin typeface="Open Sans"/>
                <a:ea typeface="Open Sans"/>
                <a:cs typeface="Open Sans"/>
                <a:sym typeface="Open Sans"/>
              </a:rPr>
              <a:t> (tanto dentro como fuera del CPU)</a:t>
            </a:r>
            <a:endParaRPr b="0" i="0" sz="1600" u="none" cap="none" strike="noStrike">
              <a:solidFill>
                <a:schemeClr val="dk2"/>
              </a:solidFill>
              <a:latin typeface="Open Sans"/>
              <a:ea typeface="Open Sans"/>
              <a:cs typeface="Open Sans"/>
              <a:sym typeface="Open Sans"/>
            </a:endParaRPr>
          </a:p>
          <a:p>
            <a:pPr indent="0" lvl="0" marL="457200" marR="0" rtl="0" algn="ctr">
              <a:lnSpc>
                <a:spcPct val="100000"/>
              </a:lnSpc>
              <a:spcBef>
                <a:spcPts val="0"/>
              </a:spcBef>
              <a:spcAft>
                <a:spcPts val="0"/>
              </a:spcAft>
              <a:buClr>
                <a:srgbClr val="000000"/>
              </a:buClr>
              <a:buSzPts val="1600"/>
              <a:buFont typeface="Arial"/>
              <a:buNone/>
            </a:pPr>
            <a:r>
              <a:rPr b="0" i="0" lang="es" sz="1600" u="none" cap="none" strike="noStrike">
                <a:solidFill>
                  <a:schemeClr val="dk2"/>
                </a:solidFill>
                <a:latin typeface="Open Sans"/>
                <a:ea typeface="Open Sans"/>
                <a:cs typeface="Open Sans"/>
                <a:sym typeface="Open Sans"/>
              </a:rPr>
              <a:t> </a:t>
            </a:r>
            <a:endParaRPr b="0" i="0" sz="1600" u="none" cap="none" strike="noStrike">
              <a:solidFill>
                <a:schemeClr val="dk2"/>
              </a:solidFill>
              <a:latin typeface="Open Sans"/>
              <a:ea typeface="Open Sans"/>
              <a:cs typeface="Open Sans"/>
              <a:sym typeface="Open Sans"/>
            </a:endParaRPr>
          </a:p>
          <a:p>
            <a:pPr indent="-330200" lvl="0" marL="457200" marR="0" rtl="0" algn="ctr">
              <a:lnSpc>
                <a:spcPct val="100000"/>
              </a:lnSpc>
              <a:spcBef>
                <a:spcPts val="0"/>
              </a:spcBef>
              <a:spcAft>
                <a:spcPts val="0"/>
              </a:spcAft>
              <a:buClr>
                <a:schemeClr val="dk2"/>
              </a:buClr>
              <a:buSzPts val="1600"/>
              <a:buFont typeface="Open Sans"/>
              <a:buChar char="●"/>
            </a:pPr>
            <a:r>
              <a:rPr b="0" i="0" lang="es" sz="1600" u="none" cap="none" strike="noStrike">
                <a:solidFill>
                  <a:schemeClr val="dk2"/>
                </a:solidFill>
                <a:latin typeface="Open Sans"/>
                <a:ea typeface="Open Sans"/>
                <a:cs typeface="Open Sans"/>
                <a:sym typeface="Open Sans"/>
              </a:rPr>
              <a:t>La memoria </a:t>
            </a:r>
            <a:r>
              <a:rPr b="0" i="0" lang="es" sz="1600" u="none" cap="none" strike="noStrike">
                <a:solidFill>
                  <a:schemeClr val="dk2"/>
                </a:solidFill>
                <a:uFill>
                  <a:noFill/>
                </a:uFill>
                <a:latin typeface="Open Sans"/>
                <a:ea typeface="Open Sans"/>
                <a:cs typeface="Open Sans"/>
                <a:sym typeface="Open Sans"/>
                <a:hlinkClick r:id="rId5">
                  <a:extLst>
                    <a:ext uri="{A12FA001-AC4F-418D-AE19-62706E023703}">
                      <ahyp:hlinkClr val="tx"/>
                    </a:ext>
                  </a:extLst>
                </a:hlinkClick>
              </a:rPr>
              <a:t>RAM</a:t>
            </a:r>
            <a:endParaRPr b="0" i="0" sz="1600" u="none" cap="none" strike="noStrike">
              <a:solidFill>
                <a:schemeClr val="dk2"/>
              </a:solidFill>
              <a:latin typeface="Open Sans"/>
              <a:ea typeface="Open Sans"/>
              <a:cs typeface="Open Sans"/>
              <a:sym typeface="Open Sans"/>
            </a:endParaRPr>
          </a:p>
          <a:p>
            <a:pPr indent="0" lvl="0" marL="45720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Open Sans"/>
              <a:ea typeface="Open Sans"/>
              <a:cs typeface="Open Sans"/>
              <a:sym typeface="Open Sans"/>
            </a:endParaRPr>
          </a:p>
          <a:p>
            <a:pPr indent="-330200" lvl="0" marL="457200" marR="0" rtl="0" algn="ctr">
              <a:lnSpc>
                <a:spcPct val="100000"/>
              </a:lnSpc>
              <a:spcBef>
                <a:spcPts val="0"/>
              </a:spcBef>
              <a:spcAft>
                <a:spcPts val="0"/>
              </a:spcAft>
              <a:buClr>
                <a:schemeClr val="dk2"/>
              </a:buClr>
              <a:buSzPts val="1600"/>
              <a:buFont typeface="Open Sans"/>
              <a:buChar char="●"/>
            </a:pPr>
            <a:r>
              <a:rPr b="0" i="0" lang="es" sz="1600" u="none" cap="none" strike="noStrike">
                <a:solidFill>
                  <a:schemeClr val="dk2"/>
                </a:solidFill>
                <a:latin typeface="Open Sans"/>
                <a:ea typeface="Open Sans"/>
                <a:cs typeface="Open Sans"/>
                <a:sym typeface="Open Sans"/>
              </a:rPr>
              <a:t>Disco duro</a:t>
            </a:r>
            <a:endParaRPr b="0" i="0" sz="1200" u="none" cap="none" strike="noStrike">
              <a:solidFill>
                <a:srgbClr val="000000"/>
              </a:solidFill>
              <a:latin typeface="Open Sans"/>
              <a:ea typeface="Open Sans"/>
              <a:cs typeface="Open Sans"/>
              <a:sym typeface="Open Sans"/>
            </a:endParaRPr>
          </a:p>
        </p:txBody>
      </p:sp>
      <p:sp>
        <p:nvSpPr>
          <p:cNvPr id="249" name="Google Shape;249;p20"/>
          <p:cNvSpPr/>
          <p:nvPr/>
        </p:nvSpPr>
        <p:spPr>
          <a:xfrm>
            <a:off x="3898225" y="2283575"/>
            <a:ext cx="284400" cy="21477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250" name="Google Shape;250;p20"/>
          <p:cNvSpPr/>
          <p:nvPr/>
        </p:nvSpPr>
        <p:spPr>
          <a:xfrm rot="10800000">
            <a:off x="7332375" y="2283575"/>
            <a:ext cx="284400" cy="21477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251" name="Google Shape;251;p20"/>
          <p:cNvSpPr txBox="1"/>
          <p:nvPr/>
        </p:nvSpPr>
        <p:spPr>
          <a:xfrm>
            <a:off x="7466950" y="2763175"/>
            <a:ext cx="1707000" cy="785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00"/>
              <a:buFont typeface="Arial"/>
              <a:buNone/>
            </a:pPr>
            <a:r>
              <a:rPr b="0" i="0" lang="es" sz="1300" u="none" cap="none" strike="noStrike">
                <a:solidFill>
                  <a:schemeClr val="dk2"/>
                </a:solidFill>
                <a:latin typeface="Open Sans"/>
                <a:ea typeface="Open Sans"/>
                <a:cs typeface="Open Sans"/>
                <a:sym typeface="Open Sans"/>
              </a:rPr>
              <a:t>Menor capacidad </a:t>
            </a:r>
            <a:endParaRPr b="0" i="0" sz="1300" u="none" cap="none" strike="noStrike">
              <a:solidFill>
                <a:schemeClr val="dk2"/>
              </a:solidFill>
              <a:latin typeface="Open Sans"/>
              <a:ea typeface="Open Sans"/>
              <a:cs typeface="Open Sans"/>
              <a:sym typeface="Open Sans"/>
            </a:endParaRPr>
          </a:p>
          <a:p>
            <a:pPr indent="0" lvl="0" marL="0" marR="0" rtl="0" algn="ctr">
              <a:lnSpc>
                <a:spcPct val="100000"/>
              </a:lnSpc>
              <a:spcBef>
                <a:spcPts val="0"/>
              </a:spcBef>
              <a:spcAft>
                <a:spcPts val="0"/>
              </a:spcAft>
              <a:buClr>
                <a:srgbClr val="000000"/>
              </a:buClr>
              <a:buSzPts val="1300"/>
              <a:buFont typeface="Arial"/>
              <a:buNone/>
            </a:pPr>
            <a:r>
              <a:rPr b="0" i="0" lang="es" sz="1300" u="none" cap="none" strike="noStrike">
                <a:solidFill>
                  <a:schemeClr val="dk2"/>
                </a:solidFill>
                <a:latin typeface="Open Sans"/>
                <a:ea typeface="Open Sans"/>
                <a:cs typeface="Open Sans"/>
                <a:sym typeface="Open Sans"/>
              </a:rPr>
              <a:t>y </a:t>
            </a:r>
            <a:endParaRPr b="0" i="0" sz="1300" u="none" cap="none" strike="noStrike">
              <a:solidFill>
                <a:schemeClr val="dk2"/>
              </a:solidFill>
              <a:latin typeface="Open Sans"/>
              <a:ea typeface="Open Sans"/>
              <a:cs typeface="Open Sans"/>
              <a:sym typeface="Open Sans"/>
            </a:endParaRPr>
          </a:p>
          <a:p>
            <a:pPr indent="0" lvl="0" marL="0" marR="0" rtl="0" algn="ctr">
              <a:lnSpc>
                <a:spcPct val="100000"/>
              </a:lnSpc>
              <a:spcBef>
                <a:spcPts val="0"/>
              </a:spcBef>
              <a:spcAft>
                <a:spcPts val="0"/>
              </a:spcAft>
              <a:buClr>
                <a:srgbClr val="000000"/>
              </a:buClr>
              <a:buSzPts val="1300"/>
              <a:buFont typeface="Arial"/>
              <a:buNone/>
            </a:pPr>
            <a:r>
              <a:rPr b="0" i="0" lang="es" sz="1300" u="none" cap="none" strike="noStrike">
                <a:solidFill>
                  <a:schemeClr val="dk2"/>
                </a:solidFill>
                <a:latin typeface="Open Sans"/>
                <a:ea typeface="Open Sans"/>
                <a:cs typeface="Open Sans"/>
                <a:sym typeface="Open Sans"/>
              </a:rPr>
              <a:t>Mayor velocidad </a:t>
            </a:r>
            <a:endParaRPr b="0" i="0" sz="9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Memoria virtual</a:t>
            </a:r>
            <a:endParaRPr/>
          </a:p>
        </p:txBody>
      </p:sp>
      <p:sp>
        <p:nvSpPr>
          <p:cNvPr id="257" name="Google Shape;257;p21"/>
          <p:cNvSpPr txBox="1"/>
          <p:nvPr>
            <p:ph idx="1" type="body"/>
          </p:nvPr>
        </p:nvSpPr>
        <p:spPr>
          <a:xfrm>
            <a:off x="311700" y="1266325"/>
            <a:ext cx="8520600" cy="36756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s"/>
              <a:t>¿Que podría pasar si es mal gestionada la memoria virtual?</a:t>
            </a:r>
            <a:endParaRPr/>
          </a:p>
          <a:p>
            <a:pPr indent="0" lvl="0" marL="0" rtl="0" algn="l">
              <a:lnSpc>
                <a:spcPct val="115000"/>
              </a:lnSpc>
              <a:spcBef>
                <a:spcPts val="1200"/>
              </a:spcBef>
              <a:spcAft>
                <a:spcPts val="0"/>
              </a:spcAft>
              <a:buSzPts val="1800"/>
              <a:buNone/>
            </a:pPr>
            <a:r>
              <a:rPr lang="es"/>
              <a:t>Si este proceso se realiza sin cuidado, puede hacer decrecer notoriamente el rendimiento global del sistema, es por este motivo, que es importante seleccionar correctamente los algoritmos a utilizar y el tamaño de la memoria (disco) a utilizar, ya que </a:t>
            </a:r>
            <a:endParaRPr/>
          </a:p>
          <a:p>
            <a:pPr indent="-342900" lvl="0" marL="457200" rtl="0" algn="l">
              <a:lnSpc>
                <a:spcPct val="115000"/>
              </a:lnSpc>
              <a:spcBef>
                <a:spcPts val="1200"/>
              </a:spcBef>
              <a:spcAft>
                <a:spcPts val="0"/>
              </a:spcAft>
              <a:buSzPts val="1800"/>
              <a:buChar char="●"/>
            </a:pPr>
            <a:r>
              <a:rPr lang="es"/>
              <a:t>si es muy pequeña ⇒ no contener todo lo requerido</a:t>
            </a:r>
            <a:endParaRPr/>
          </a:p>
          <a:p>
            <a:pPr indent="0" lvl="0" marL="457200" rtl="0" algn="l">
              <a:lnSpc>
                <a:spcPct val="115000"/>
              </a:lnSpc>
              <a:spcBef>
                <a:spcPts val="1200"/>
              </a:spcBef>
              <a:spcAft>
                <a:spcPts val="0"/>
              </a:spcAft>
              <a:buSzPts val="1800"/>
              <a:buNone/>
            </a:pPr>
            <a:r>
              <a:t/>
            </a:r>
            <a:endParaRPr/>
          </a:p>
          <a:p>
            <a:pPr indent="-342900" lvl="0" marL="457200" rtl="0" algn="l">
              <a:lnSpc>
                <a:spcPct val="115000"/>
              </a:lnSpc>
              <a:spcBef>
                <a:spcPts val="1200"/>
              </a:spcBef>
              <a:spcAft>
                <a:spcPts val="0"/>
              </a:spcAft>
              <a:buSzPts val="1800"/>
              <a:buChar char="●"/>
            </a:pPr>
            <a:r>
              <a:rPr lang="es"/>
              <a:t>si es muy grande ⇒ demora al momento de la asignación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2"/>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Memoria virtual</a:t>
            </a:r>
            <a:endParaRPr/>
          </a:p>
        </p:txBody>
      </p:sp>
      <p:sp>
        <p:nvSpPr>
          <p:cNvPr id="263" name="Google Shape;263;p22"/>
          <p:cNvSpPr txBox="1"/>
          <p:nvPr>
            <p:ph idx="1" type="body"/>
          </p:nvPr>
        </p:nvSpPr>
        <p:spPr>
          <a:xfrm>
            <a:off x="311700" y="1266325"/>
            <a:ext cx="8520600" cy="3675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s"/>
              <a:t>¿Cómo elegir el tamaño de memoria virtual?</a:t>
            </a:r>
            <a:endParaRPr b="1"/>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0"/>
              </a:spcAft>
              <a:buSzPts val="1800"/>
              <a:buNone/>
            </a:pPr>
            <a:r>
              <a:rPr lang="es"/>
              <a:t>Existen varios formas en las cuales se podría determinar el tamaño ideal de la memoria virtual, pero uno bastante sencillo de utilizar es:</a:t>
            </a:r>
            <a:endParaRPr/>
          </a:p>
          <a:p>
            <a:pPr indent="0" lvl="0" marL="0" rtl="0" algn="l">
              <a:lnSpc>
                <a:spcPct val="115000"/>
              </a:lnSpc>
              <a:spcBef>
                <a:spcPts val="1200"/>
              </a:spcBef>
              <a:spcAft>
                <a:spcPts val="0"/>
              </a:spcAft>
              <a:buSzPts val="1800"/>
              <a:buNone/>
            </a:pPr>
            <a:r>
              <a:t/>
            </a:r>
            <a:endParaRPr/>
          </a:p>
          <a:p>
            <a:pPr indent="-342900" lvl="0" marL="457200" rtl="0" algn="l">
              <a:lnSpc>
                <a:spcPct val="115000"/>
              </a:lnSpc>
              <a:spcBef>
                <a:spcPts val="1200"/>
              </a:spcBef>
              <a:spcAft>
                <a:spcPts val="0"/>
              </a:spcAft>
              <a:buSzPts val="1800"/>
              <a:buChar char="●"/>
            </a:pPr>
            <a:r>
              <a:rPr lang="es"/>
              <a:t>Identificar las capacidades del procesamiento del procesador</a:t>
            </a:r>
            <a:endParaRPr/>
          </a:p>
          <a:p>
            <a:pPr indent="-317500" lvl="1" marL="914400" rtl="0" algn="l">
              <a:lnSpc>
                <a:spcPct val="115000"/>
              </a:lnSpc>
              <a:spcBef>
                <a:spcPts val="0"/>
              </a:spcBef>
              <a:spcAft>
                <a:spcPts val="0"/>
              </a:spcAft>
              <a:buSzPts val="1400"/>
              <a:buChar char="○"/>
            </a:pPr>
            <a:r>
              <a:rPr lang="es"/>
              <a:t>En la actualidad 32 bits ⇒ pot(2,32) = 4064 MB (4GB )</a:t>
            </a:r>
            <a:endParaRPr/>
          </a:p>
          <a:p>
            <a:pPr indent="-317500" lvl="1" marL="914400" rtl="0" algn="l">
              <a:lnSpc>
                <a:spcPct val="115000"/>
              </a:lnSpc>
              <a:spcBef>
                <a:spcPts val="0"/>
              </a:spcBef>
              <a:spcAft>
                <a:spcPts val="0"/>
              </a:spcAft>
              <a:buSzPts val="1400"/>
              <a:buChar char="○"/>
            </a:pPr>
            <a:r>
              <a:rPr lang="es"/>
              <a:t>En la actualidad 64 bits ⇒ pot(2,64) = 8192 MB (8GB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3"/>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Memoria virtual</a:t>
            </a:r>
            <a:endParaRPr/>
          </a:p>
        </p:txBody>
      </p:sp>
      <p:sp>
        <p:nvSpPr>
          <p:cNvPr id="269" name="Google Shape;269;p23"/>
          <p:cNvSpPr txBox="1"/>
          <p:nvPr>
            <p:ph idx="1" type="body"/>
          </p:nvPr>
        </p:nvSpPr>
        <p:spPr>
          <a:xfrm>
            <a:off x="311700" y="1266325"/>
            <a:ext cx="8520600" cy="3652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a:t>Esta forma de manejar de memoria es transparente para los procesos, es decir, ellos actúan tal y como lo harían si sólo existiese memoria principal</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0"/>
              </a:spcAft>
              <a:buSzPts val="1800"/>
              <a:buNone/>
            </a:pPr>
            <a:r>
              <a:rPr lang="es"/>
              <a:t>Lo que se ve afectado debido al uso de memoria virtual es:</a:t>
            </a:r>
            <a:endParaRPr/>
          </a:p>
          <a:p>
            <a:pPr indent="0" lvl="0" marL="457200" rtl="0" algn="l">
              <a:lnSpc>
                <a:spcPct val="115000"/>
              </a:lnSpc>
              <a:spcBef>
                <a:spcPts val="1200"/>
              </a:spcBef>
              <a:spcAft>
                <a:spcPts val="0"/>
              </a:spcAft>
              <a:buSzPts val="1800"/>
              <a:buNone/>
            </a:pPr>
            <a:r>
              <a:t/>
            </a:r>
            <a:endParaRPr/>
          </a:p>
          <a:p>
            <a:pPr indent="-342900" lvl="0" marL="457200" rtl="0" algn="l">
              <a:lnSpc>
                <a:spcPct val="115000"/>
              </a:lnSpc>
              <a:spcBef>
                <a:spcPts val="1200"/>
              </a:spcBef>
              <a:spcAft>
                <a:spcPts val="0"/>
              </a:spcAft>
              <a:buSzPts val="1800"/>
              <a:buChar char="●"/>
            </a:pPr>
            <a:r>
              <a:rPr lang="es"/>
              <a:t>Procesador ⇒ + trabajo</a:t>
            </a:r>
            <a:endParaRPr/>
          </a:p>
          <a:p>
            <a:pPr indent="-342900" lvl="0" marL="457200" rtl="0" algn="l">
              <a:lnSpc>
                <a:spcPct val="115000"/>
              </a:lnSpc>
              <a:spcBef>
                <a:spcPts val="0"/>
              </a:spcBef>
              <a:spcAft>
                <a:spcPts val="0"/>
              </a:spcAft>
              <a:buSzPts val="1800"/>
              <a:buChar char="●"/>
            </a:pPr>
            <a:r>
              <a:rPr lang="es"/>
              <a:t>La performance de proceso en ejecución ⇒ podría verse reducida</a:t>
            </a:r>
            <a:endParaRPr/>
          </a:p>
          <a:p>
            <a:pPr indent="-342900" lvl="0" marL="457200" rtl="0" algn="l">
              <a:lnSpc>
                <a:spcPct val="115000"/>
              </a:lnSpc>
              <a:spcBef>
                <a:spcPts val="0"/>
              </a:spcBef>
              <a:spcAft>
                <a:spcPts val="0"/>
              </a:spcAft>
              <a:buSzPts val="1800"/>
              <a:buChar char="●"/>
            </a:pPr>
            <a:r>
              <a:rPr lang="es"/>
              <a:t>El tamaño del disco utilizado ⇒ - capacidad para almacenamiento permanente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24"/>
          <p:cNvSpPr txBox="1"/>
          <p:nvPr>
            <p:ph type="title"/>
          </p:nvPr>
        </p:nvSpPr>
        <p:spPr>
          <a:xfrm>
            <a:off x="311700" y="489950"/>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Memoria virtual</a:t>
            </a:r>
            <a:endParaRPr/>
          </a:p>
        </p:txBody>
      </p:sp>
      <p:sp>
        <p:nvSpPr>
          <p:cNvPr id="275" name="Google Shape;275;p24"/>
          <p:cNvSpPr txBox="1"/>
          <p:nvPr>
            <p:ph idx="1" type="body"/>
          </p:nvPr>
        </p:nvSpPr>
        <p:spPr>
          <a:xfrm>
            <a:off x="311700" y="1266300"/>
            <a:ext cx="2638200" cy="36525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s"/>
              <a:t>Ejemplo de activación de memoria virtual (cuando mantienen múltiples programas abiertos, pero solo se está utilizando “uno”)</a:t>
            </a:r>
            <a:endParaRPr sz="1600"/>
          </a:p>
        </p:txBody>
      </p:sp>
      <p:pic>
        <p:nvPicPr>
          <p:cNvPr id="276" name="Google Shape;276;p24"/>
          <p:cNvPicPr preferRelativeResize="0"/>
          <p:nvPr/>
        </p:nvPicPr>
        <p:blipFill rotWithShape="1">
          <a:blip r:embed="rId3">
            <a:alphaModFix/>
          </a:blip>
          <a:srcRect b="0" l="0" r="0" t="0"/>
          <a:stretch/>
        </p:blipFill>
        <p:spPr>
          <a:xfrm>
            <a:off x="3000325" y="291988"/>
            <a:ext cx="6008924" cy="45595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25"/>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Memoria virtual</a:t>
            </a:r>
            <a:endParaRPr/>
          </a:p>
        </p:txBody>
      </p:sp>
      <p:sp>
        <p:nvSpPr>
          <p:cNvPr id="282" name="Google Shape;282;p25"/>
          <p:cNvSpPr txBox="1"/>
          <p:nvPr>
            <p:ph idx="1" type="body"/>
          </p:nvPr>
        </p:nvSpPr>
        <p:spPr>
          <a:xfrm>
            <a:off x="311700" y="1266325"/>
            <a:ext cx="3978300" cy="36525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s"/>
              <a:t>La memoria virtual se ha transformado en un componente esencial de los computadores modernos, esto debido al:</a:t>
            </a:r>
            <a:endParaRPr/>
          </a:p>
          <a:p>
            <a:pPr indent="0" lvl="0" marL="457200" rtl="0" algn="l">
              <a:lnSpc>
                <a:spcPct val="115000"/>
              </a:lnSpc>
              <a:spcBef>
                <a:spcPts val="1200"/>
              </a:spcBef>
              <a:spcAft>
                <a:spcPts val="0"/>
              </a:spcAft>
              <a:buSzPts val="1800"/>
              <a:buNone/>
            </a:pPr>
            <a:r>
              <a:t/>
            </a:r>
            <a:endParaRPr/>
          </a:p>
          <a:p>
            <a:pPr indent="-330200" lvl="1" marL="914400" rtl="0" algn="l">
              <a:lnSpc>
                <a:spcPct val="115000"/>
              </a:lnSpc>
              <a:spcBef>
                <a:spcPts val="1200"/>
              </a:spcBef>
              <a:spcAft>
                <a:spcPts val="0"/>
              </a:spcAft>
              <a:buSzPts val="1600"/>
              <a:buChar char="○"/>
            </a:pPr>
            <a:r>
              <a:rPr lang="es" sz="1600"/>
              <a:t>Alto grado de exigencia de los sistemas actuales, los cuales suelen necesitar una gran cantidad de memoria para su correcta ejecución</a:t>
            </a:r>
            <a:endParaRPr sz="1600"/>
          </a:p>
        </p:txBody>
      </p:sp>
      <p:pic>
        <p:nvPicPr>
          <p:cNvPr id="283" name="Google Shape;283;p25"/>
          <p:cNvPicPr preferRelativeResize="0"/>
          <p:nvPr/>
        </p:nvPicPr>
        <p:blipFill rotWithShape="1">
          <a:blip r:embed="rId3">
            <a:alphaModFix/>
          </a:blip>
          <a:srcRect b="0" l="0" r="0" t="0"/>
          <a:stretch/>
        </p:blipFill>
        <p:spPr>
          <a:xfrm>
            <a:off x="4849025" y="47575"/>
            <a:ext cx="3591369" cy="2363624"/>
          </a:xfrm>
          <a:prstGeom prst="rect">
            <a:avLst/>
          </a:prstGeom>
          <a:noFill/>
          <a:ln>
            <a:noFill/>
          </a:ln>
        </p:spPr>
      </p:pic>
      <p:pic>
        <p:nvPicPr>
          <p:cNvPr id="284" name="Google Shape;284;p25"/>
          <p:cNvPicPr preferRelativeResize="0"/>
          <p:nvPr/>
        </p:nvPicPr>
        <p:blipFill rotWithShape="1">
          <a:blip r:embed="rId4">
            <a:alphaModFix/>
          </a:blip>
          <a:srcRect b="0" l="0" r="0" t="0"/>
          <a:stretch/>
        </p:blipFill>
        <p:spPr>
          <a:xfrm>
            <a:off x="4861600" y="2555200"/>
            <a:ext cx="3701876" cy="245352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6"/>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Memoria virtual</a:t>
            </a:r>
            <a:endParaRPr/>
          </a:p>
        </p:txBody>
      </p:sp>
      <p:sp>
        <p:nvSpPr>
          <p:cNvPr id="290" name="Google Shape;290;p26"/>
          <p:cNvSpPr txBox="1"/>
          <p:nvPr>
            <p:ph idx="1" type="body"/>
          </p:nvPr>
        </p:nvSpPr>
        <p:spPr>
          <a:xfrm>
            <a:off x="311700" y="1266325"/>
            <a:ext cx="8520600" cy="36525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20000"/>
              </a:lnSpc>
              <a:spcBef>
                <a:spcPts val="3800"/>
              </a:spcBef>
              <a:spcAft>
                <a:spcPts val="0"/>
              </a:spcAft>
              <a:buSzPts val="1800"/>
              <a:buNone/>
            </a:pPr>
            <a:r>
              <a:rPr b="1" lang="es">
                <a:solidFill>
                  <a:srgbClr val="FF0000"/>
                </a:solidFill>
              </a:rPr>
              <a:t>Limitaciones de la memoria virtual</a:t>
            </a:r>
            <a:endParaRPr b="1">
              <a:solidFill>
                <a:srgbClr val="FF0000"/>
              </a:solidFill>
            </a:endParaRPr>
          </a:p>
          <a:p>
            <a:pPr indent="0" lvl="0" marL="0" rtl="0" algn="l">
              <a:lnSpc>
                <a:spcPct val="115000"/>
              </a:lnSpc>
              <a:spcBef>
                <a:spcPts val="1500"/>
              </a:spcBef>
              <a:spcAft>
                <a:spcPts val="0"/>
              </a:spcAft>
              <a:buSzPts val="1800"/>
              <a:buNone/>
            </a:pPr>
            <a:r>
              <a:rPr lang="es"/>
              <a:t>Aunque la memoria virtual tiene muchas ventajas, he aquí algunas de sus limitaciones:</a:t>
            </a:r>
            <a:endParaRPr/>
          </a:p>
          <a:p>
            <a:pPr indent="-311150" lvl="0" marL="876300" rtl="0" algn="l">
              <a:lnSpc>
                <a:spcPct val="115000"/>
              </a:lnSpc>
              <a:spcBef>
                <a:spcPts val="1900"/>
              </a:spcBef>
              <a:spcAft>
                <a:spcPts val="0"/>
              </a:spcAft>
              <a:buClr>
                <a:srgbClr val="222222"/>
              </a:buClr>
              <a:buSzPts val="1300"/>
              <a:buFont typeface="Arial"/>
              <a:buChar char="●"/>
            </a:pPr>
            <a:r>
              <a:rPr lang="es"/>
              <a:t>La memoria virtual suele ser más lenta que la física, por lo que la mayoría de los ordenadores priorizan el uso de la memoria física cuando es posible.</a:t>
            </a:r>
            <a:endParaRPr/>
          </a:p>
          <a:p>
            <a:pPr indent="0" lvl="0" marL="457200" rtl="0" algn="l">
              <a:lnSpc>
                <a:spcPct val="115000"/>
              </a:lnSpc>
              <a:spcBef>
                <a:spcPts val="1900"/>
              </a:spcBef>
              <a:spcAft>
                <a:spcPts val="0"/>
              </a:spcAft>
              <a:buSzPts val="1800"/>
              <a:buNone/>
            </a:pPr>
            <a:r>
              <a:t/>
            </a:r>
            <a:endParaRPr/>
          </a:p>
          <a:p>
            <a:pPr indent="-311150" lvl="0" marL="876300" rtl="0" algn="l">
              <a:lnSpc>
                <a:spcPct val="115000"/>
              </a:lnSpc>
              <a:spcBef>
                <a:spcPts val="1900"/>
              </a:spcBef>
              <a:spcAft>
                <a:spcPts val="0"/>
              </a:spcAft>
              <a:buClr>
                <a:srgbClr val="222222"/>
              </a:buClr>
              <a:buSzPts val="1300"/>
              <a:buFont typeface="Arial"/>
              <a:buChar char="●"/>
            </a:pPr>
            <a:r>
              <a:rPr lang="es"/>
              <a:t>Requiere un soporte de hardware adicional para mover los datos entre la memoria virtual y física de un ordenador.</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27"/>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Memoria virtual</a:t>
            </a:r>
            <a:endParaRPr/>
          </a:p>
        </p:txBody>
      </p:sp>
      <p:sp>
        <p:nvSpPr>
          <p:cNvPr id="296" name="Google Shape;296;p27"/>
          <p:cNvSpPr txBox="1"/>
          <p:nvPr>
            <p:ph idx="1" type="body"/>
          </p:nvPr>
        </p:nvSpPr>
        <p:spPr>
          <a:xfrm>
            <a:off x="311700" y="1266325"/>
            <a:ext cx="8520600" cy="3652500"/>
          </a:xfrm>
          <a:prstGeom prst="rect">
            <a:avLst/>
          </a:prstGeom>
          <a:noFill/>
          <a:ln>
            <a:noFill/>
          </a:ln>
        </p:spPr>
        <p:txBody>
          <a:bodyPr anchorCtr="0" anchor="t" bIns="91425" lIns="91425" spcFirstLastPara="1" rIns="91425" wrap="square" tIns="91425">
            <a:normAutofit/>
          </a:bodyPr>
          <a:lstStyle/>
          <a:p>
            <a:pPr indent="0" lvl="0" marL="0" rtl="0" algn="l">
              <a:lnSpc>
                <a:spcPct val="120000"/>
              </a:lnSpc>
              <a:spcBef>
                <a:spcPts val="3800"/>
              </a:spcBef>
              <a:spcAft>
                <a:spcPts val="0"/>
              </a:spcAft>
              <a:buSzPts val="1800"/>
              <a:buNone/>
            </a:pPr>
            <a:r>
              <a:rPr b="1" lang="es">
                <a:solidFill>
                  <a:srgbClr val="FF0000"/>
                </a:solidFill>
              </a:rPr>
              <a:t>Limitaciones de la memoria virtual</a:t>
            </a:r>
            <a:endParaRPr/>
          </a:p>
          <a:p>
            <a:pPr indent="-311150" lvl="0" marL="876300" rtl="0" algn="l">
              <a:lnSpc>
                <a:spcPct val="115000"/>
              </a:lnSpc>
              <a:spcBef>
                <a:spcPts val="1500"/>
              </a:spcBef>
              <a:spcAft>
                <a:spcPts val="0"/>
              </a:spcAft>
              <a:buClr>
                <a:srgbClr val="222222"/>
              </a:buClr>
              <a:buSzPts val="1300"/>
              <a:buFont typeface="Arial"/>
              <a:buChar char="●"/>
            </a:pPr>
            <a:r>
              <a:rPr lang="es"/>
              <a:t>La cantidad de almacenamiento que puede proporcionar la memoria virtual depende de la cantidad de almacenamiento secundario que tenga un computador.</a:t>
            </a:r>
            <a:endParaRPr/>
          </a:p>
          <a:p>
            <a:pPr indent="0" lvl="0" marL="0" rtl="0" algn="l">
              <a:lnSpc>
                <a:spcPct val="115000"/>
              </a:lnSpc>
              <a:spcBef>
                <a:spcPts val="1900"/>
              </a:spcBef>
              <a:spcAft>
                <a:spcPts val="0"/>
              </a:spcAft>
              <a:buSzPts val="1800"/>
              <a:buNone/>
            </a:pPr>
            <a:r>
              <a:t/>
            </a:r>
            <a:endParaRPr/>
          </a:p>
          <a:p>
            <a:pPr indent="-311150" lvl="0" marL="876300" rtl="0" algn="l">
              <a:lnSpc>
                <a:spcPct val="115000"/>
              </a:lnSpc>
              <a:spcBef>
                <a:spcPts val="1900"/>
              </a:spcBef>
              <a:spcAft>
                <a:spcPts val="0"/>
              </a:spcAft>
              <a:buClr>
                <a:srgbClr val="222222"/>
              </a:buClr>
              <a:buSzPts val="1300"/>
              <a:buFont typeface="Arial"/>
              <a:buChar char="●"/>
            </a:pPr>
            <a:r>
              <a:rPr lang="es"/>
              <a:t>Cuando se utiliza la memoria virtual, las aplicaciones pueden tardar más en cargarse o el computador en cambiar de aplicación.</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28"/>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Memoria virtual</a:t>
            </a:r>
            <a:endParaRPr/>
          </a:p>
        </p:txBody>
      </p:sp>
      <p:sp>
        <p:nvSpPr>
          <p:cNvPr id="302" name="Google Shape;302;p28"/>
          <p:cNvSpPr txBox="1"/>
          <p:nvPr>
            <p:ph idx="1" type="body"/>
          </p:nvPr>
        </p:nvSpPr>
        <p:spPr>
          <a:xfrm>
            <a:off x="311700" y="1266325"/>
            <a:ext cx="8520600" cy="3652500"/>
          </a:xfrm>
          <a:prstGeom prst="rect">
            <a:avLst/>
          </a:prstGeom>
          <a:noFill/>
          <a:ln>
            <a:noFill/>
          </a:ln>
        </p:spPr>
        <p:txBody>
          <a:bodyPr anchorCtr="0" anchor="t" bIns="91425" lIns="91425" spcFirstLastPara="1" rIns="91425" wrap="square" tIns="91425">
            <a:normAutofit/>
          </a:bodyPr>
          <a:lstStyle/>
          <a:p>
            <a:pPr indent="0" lvl="0" marL="0" rtl="0" algn="l">
              <a:lnSpc>
                <a:spcPct val="120000"/>
              </a:lnSpc>
              <a:spcBef>
                <a:spcPts val="3800"/>
              </a:spcBef>
              <a:spcAft>
                <a:spcPts val="0"/>
              </a:spcAft>
              <a:buSzPts val="1800"/>
              <a:buNone/>
            </a:pPr>
            <a:r>
              <a:rPr b="1" lang="es">
                <a:solidFill>
                  <a:srgbClr val="FF0000"/>
                </a:solidFill>
              </a:rPr>
              <a:t>Limitaciones de la memoria virtual</a:t>
            </a:r>
            <a:endParaRPr/>
          </a:p>
          <a:p>
            <a:pPr indent="0" lvl="0" marL="457200" rtl="0" algn="l">
              <a:lnSpc>
                <a:spcPct val="115000"/>
              </a:lnSpc>
              <a:spcBef>
                <a:spcPts val="1500"/>
              </a:spcBef>
              <a:spcAft>
                <a:spcPts val="0"/>
              </a:spcAft>
              <a:buSzPts val="1800"/>
              <a:buNone/>
            </a:pPr>
            <a:r>
              <a:t/>
            </a:r>
            <a:endParaRPr/>
          </a:p>
          <a:p>
            <a:pPr indent="-311150" lvl="0" marL="876300" rtl="0" algn="l">
              <a:lnSpc>
                <a:spcPct val="115000"/>
              </a:lnSpc>
              <a:spcBef>
                <a:spcPts val="1900"/>
              </a:spcBef>
              <a:spcAft>
                <a:spcPts val="0"/>
              </a:spcAft>
              <a:buClr>
                <a:srgbClr val="222222"/>
              </a:buClr>
              <a:buSzPts val="1300"/>
              <a:buFont typeface="Arial"/>
              <a:buChar char="●"/>
            </a:pPr>
            <a:r>
              <a:rPr lang="es"/>
              <a:t>Si el computador sólo tiene una pequeña cantidad de memoria RAM, la memoria virtual puede causar </a:t>
            </a:r>
            <a:r>
              <a:rPr b="1" lang="es">
                <a:solidFill>
                  <a:srgbClr val="980000"/>
                </a:solidFill>
              </a:rPr>
              <a:t>«thrashing»</a:t>
            </a:r>
            <a:r>
              <a:rPr lang="es"/>
              <a:t>, que es cuando el ordenador debe intercambiar constantemente datos entre la memoria virtual y física, lo que resulta en retrasos significativos en el rendimiento.</a:t>
            </a:r>
            <a:endParaRPr/>
          </a:p>
          <a:p>
            <a:pPr indent="0" lvl="0" marL="457200" rtl="0" algn="l">
              <a:lnSpc>
                <a:spcPct val="115000"/>
              </a:lnSpc>
              <a:spcBef>
                <a:spcPts val="1900"/>
              </a:spcBef>
              <a:spcAft>
                <a:spcPts val="1900"/>
              </a:spcAft>
              <a:buSzPts val="1800"/>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pic>
        <p:nvPicPr>
          <p:cNvPr id="307" name="Google Shape;307;p29"/>
          <p:cNvPicPr preferRelativeResize="0"/>
          <p:nvPr/>
        </p:nvPicPr>
        <p:blipFill rotWithShape="1">
          <a:blip r:embed="rId3">
            <a:alphaModFix/>
          </a:blip>
          <a:srcRect b="0" l="0" r="0" t="0"/>
          <a:stretch/>
        </p:blipFill>
        <p:spPr>
          <a:xfrm>
            <a:off x="3054350" y="34025"/>
            <a:ext cx="5914949" cy="4995899"/>
          </a:xfrm>
          <a:prstGeom prst="rect">
            <a:avLst/>
          </a:prstGeom>
          <a:noFill/>
          <a:ln>
            <a:noFill/>
          </a:ln>
        </p:spPr>
      </p:pic>
      <p:sp>
        <p:nvSpPr>
          <p:cNvPr id="308" name="Google Shape;308;p29"/>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Memoria virtual</a:t>
            </a:r>
            <a:endParaRPr/>
          </a:p>
        </p:txBody>
      </p:sp>
      <p:sp>
        <p:nvSpPr>
          <p:cNvPr id="309" name="Google Shape;309;p29"/>
          <p:cNvSpPr txBox="1"/>
          <p:nvPr/>
        </p:nvSpPr>
        <p:spPr>
          <a:xfrm>
            <a:off x="662750" y="2341225"/>
            <a:ext cx="2391600" cy="172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2"/>
                </a:solidFill>
                <a:latin typeface="Open Sans"/>
                <a:ea typeface="Open Sans"/>
                <a:cs typeface="Open Sans"/>
                <a:sym typeface="Open Sans"/>
              </a:rPr>
              <a:t>Con paginación</a:t>
            </a:r>
            <a:endParaRPr b="0" i="0" sz="1800" u="none" cap="none" strike="noStrike">
              <a:solidFill>
                <a:schemeClr val="dk2"/>
              </a:solidFill>
              <a:latin typeface="Open Sans"/>
              <a:ea typeface="Open Sans"/>
              <a:cs typeface="Open Sans"/>
              <a:sym typeface="Open Sa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0"/>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Memoria virtual</a:t>
            </a:r>
            <a:endParaRPr/>
          </a:p>
        </p:txBody>
      </p:sp>
      <p:sp>
        <p:nvSpPr>
          <p:cNvPr id="315" name="Google Shape;315;p30"/>
          <p:cNvSpPr txBox="1"/>
          <p:nvPr/>
        </p:nvSpPr>
        <p:spPr>
          <a:xfrm>
            <a:off x="662750" y="2341225"/>
            <a:ext cx="2391600" cy="172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2"/>
                </a:solidFill>
                <a:latin typeface="Open Sans"/>
                <a:ea typeface="Open Sans"/>
                <a:cs typeface="Open Sans"/>
                <a:sym typeface="Open Sans"/>
              </a:rPr>
              <a:t>segmentada</a:t>
            </a:r>
            <a:endParaRPr b="0" i="0" sz="1800" u="none" cap="none" strike="noStrike">
              <a:solidFill>
                <a:schemeClr val="dk2"/>
              </a:solidFill>
              <a:latin typeface="Open Sans"/>
              <a:ea typeface="Open Sans"/>
              <a:cs typeface="Open Sans"/>
              <a:sym typeface="Open Sans"/>
            </a:endParaRPr>
          </a:p>
        </p:txBody>
      </p:sp>
      <p:pic>
        <p:nvPicPr>
          <p:cNvPr id="316" name="Google Shape;316;p30"/>
          <p:cNvPicPr preferRelativeResize="0"/>
          <p:nvPr/>
        </p:nvPicPr>
        <p:blipFill rotWithShape="1">
          <a:blip r:embed="rId3">
            <a:alphaModFix/>
          </a:blip>
          <a:srcRect b="0" l="0" r="0" t="0"/>
          <a:stretch/>
        </p:blipFill>
        <p:spPr>
          <a:xfrm>
            <a:off x="3054350" y="803500"/>
            <a:ext cx="5720025" cy="39357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Memoria virtual</a:t>
            </a:r>
            <a:endParaRPr/>
          </a:p>
        </p:txBody>
      </p:sp>
      <p:sp>
        <p:nvSpPr>
          <p:cNvPr id="322" name="Google Shape;322;p31"/>
          <p:cNvSpPr txBox="1"/>
          <p:nvPr/>
        </p:nvSpPr>
        <p:spPr>
          <a:xfrm>
            <a:off x="146150" y="2377000"/>
            <a:ext cx="1815300" cy="975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s" sz="1800" u="none" cap="none" strike="noStrike">
                <a:solidFill>
                  <a:schemeClr val="dk2"/>
                </a:solidFill>
                <a:latin typeface="Open Sans"/>
                <a:ea typeface="Open Sans"/>
                <a:cs typeface="Open Sans"/>
                <a:sym typeface="Open Sans"/>
              </a:rPr>
              <a:t>paginación </a:t>
            </a:r>
            <a:endParaRPr b="0" i="0" sz="1800" u="none" cap="none" strike="noStrike">
              <a:solidFill>
                <a:schemeClr val="dk2"/>
              </a:solidFill>
              <a:latin typeface="Open Sans"/>
              <a:ea typeface="Open Sans"/>
              <a:cs typeface="Open Sans"/>
              <a:sym typeface="Open Sans"/>
            </a:endParaRPr>
          </a:p>
          <a:p>
            <a:pPr indent="0" lvl="0" marL="0" marR="0" rtl="0" algn="ctr">
              <a:lnSpc>
                <a:spcPct val="100000"/>
              </a:lnSpc>
              <a:spcBef>
                <a:spcPts val="0"/>
              </a:spcBef>
              <a:spcAft>
                <a:spcPts val="0"/>
              </a:spcAft>
              <a:buClr>
                <a:srgbClr val="000000"/>
              </a:buClr>
              <a:buSzPts val="1800"/>
              <a:buFont typeface="Arial"/>
              <a:buNone/>
            </a:pPr>
            <a:r>
              <a:rPr b="0" i="0" lang="es" sz="1800" u="none" cap="none" strike="noStrike">
                <a:solidFill>
                  <a:schemeClr val="dk2"/>
                </a:solidFill>
                <a:latin typeface="Open Sans"/>
                <a:ea typeface="Open Sans"/>
                <a:cs typeface="Open Sans"/>
                <a:sym typeface="Open Sans"/>
              </a:rPr>
              <a:t>+ segmentación</a:t>
            </a:r>
            <a:endParaRPr b="0" i="0" sz="1800" u="none" cap="none" strike="noStrike">
              <a:solidFill>
                <a:schemeClr val="dk2"/>
              </a:solidFill>
              <a:latin typeface="Open Sans"/>
              <a:ea typeface="Open Sans"/>
              <a:cs typeface="Open Sans"/>
              <a:sym typeface="Open Sans"/>
            </a:endParaRPr>
          </a:p>
        </p:txBody>
      </p:sp>
      <p:pic>
        <p:nvPicPr>
          <p:cNvPr id="323" name="Google Shape;323;p31"/>
          <p:cNvPicPr preferRelativeResize="0"/>
          <p:nvPr/>
        </p:nvPicPr>
        <p:blipFill rotWithShape="1">
          <a:blip r:embed="rId3">
            <a:alphaModFix/>
          </a:blip>
          <a:srcRect b="0" l="0" r="0" t="0"/>
          <a:stretch/>
        </p:blipFill>
        <p:spPr>
          <a:xfrm>
            <a:off x="1873575" y="1339600"/>
            <a:ext cx="7159625" cy="33621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
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457200"/>
            <a:ext cx="4114800" cy="4114800"/>
          </a:xfrm>
          <a:prstGeom prst="hexagon">
            <a:avLst/>
          </a:prstGeom>
          <a:solidFill>
            <a:srgbClr val="00C896">
              <a:alpha val="92000"/>
            </a:srgbClr>
          </a:solidFill>
          <a:ln w="12700">
            <a:solidFill>
              <a:srgbClr val="00C896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645920"/>
            <a:ext cx="2743200" cy="2743200"/>
          </a:xfrm>
          <a:prstGeom prst="hexagon">
            <a:avLst/>
          </a:prstGeom>
          <a:solidFill>
            <a:srgbClr val="1B72BE">
              <a:alpha val="90000"/>
            </a:srgbClr>
          </a:solidFill>
          <a:ln w="12700">
            <a:solidFill>
              <a:srgbClr val="1B72BE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2286000"/>
            <a:ext cx="3200400" cy="3200400"/>
          </a:xfrm>
          <a:prstGeom prst="hexagon">
            <a:avLst/>
          </a:prstGeom>
          <a:solidFill>
            <a:srgbClr val="F5A623">
              <a:alpha val="94000"/>
            </a:srgbClr>
          </a:solidFill>
          <a:ln w="12700">
            <a:solidFill>
              <a:srgbClr val="F5A62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31720"/>
            <a:ext cx="3840480" cy="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2482596" cy="274320"/>
          </a:xfrm>
          <a:prstGeom prst="roundRect">
            <a:avLst>
              <a:gd name="adj" fmla="val 16667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24825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N  ·  CATEGORÍA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[Nombre del Protocolo]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 breve del protocolo y su relevancia en criptografía moderna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en Sistemas Embebidos  </a:t>
            </a:r>
            <a:pPr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ESP32 + ESP-NOW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0" y="1371600"/>
            <a:ext cx="1097280" cy="1097280"/>
          </a:xfrm>
          <a:prstGeom prst="ellipse">
            <a:avLst/>
          </a:prstGeom>
          <a:solidFill>
            <a:srgbClr val="0D1B2A"/>
          </a:solidFill>
          <a:ln w="38100">
            <a:solidFill>
              <a:srgbClr val="00C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233172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00C896">
              <a:alpha val="85000"/>
            </a:srgbClr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23774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🔐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" y="4754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 · CRIPTO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que resuelve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0" y="320040"/>
            <a:ext cx="2167128" cy="274320"/>
          </a:xfrm>
          <a:prstGeom prst="roundRect">
            <a:avLst>
              <a:gd name="adj" fmla="val 16667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320040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HISTÓRICO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05840" y="1143000"/>
            <a:ext cx="822960" cy="822960"/>
          </a:xfrm>
          <a:prstGeom prst="ellipse">
            <a:avLst/>
          </a:prstGeom>
          <a:solidFill>
            <a:srgbClr val="1B72BE"/>
          </a:solidFill>
          <a:ln w="12700">
            <a:solidFill>
              <a:srgbClr val="1B72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143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0" y="1554480"/>
            <a:ext cx="1371600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65760" y="210312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amenaza o necesidad existía? ¿Cómo se comunicaban de forma segura antes?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0" y="1143000"/>
            <a:ext cx="822960" cy="82296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143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554480"/>
            <a:ext cx="1371600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200400" y="210312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26060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lo creó? ¿En qué año? ¿Qué contexto histórico lo motivó?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1143000"/>
            <a:ext cx="822960" cy="822960"/>
          </a:xfrm>
          <a:prstGeom prst="ellipse">
            <a:avLst/>
          </a:prstGeom>
          <a:solidFill>
            <a:srgbClr val="1B72BE"/>
          </a:solidFill>
          <a:ln w="12700">
            <a:solidFill>
              <a:srgbClr val="1B72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143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35040" y="210312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2648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legado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6480" y="26060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¿Dónde se usa actualmente? ¿Sigue siendo seguro? ¿Lo reemplazó algo mejor?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7160" y="4754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 · CRIPTO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4572000" cy="4572000"/>
          </a:xfrm>
          <a:prstGeom prst="hexagon">
            <a:avLst/>
          </a:prstGeom>
          <a:solidFill>
            <a:srgbClr val="1B72BE">
              <a:alpha val="92000"/>
            </a:srgbClr>
          </a:solidFill>
          <a:ln w="12700">
            <a:solidFill>
              <a:srgbClr val="1B72BE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funciona?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377440" cy="274320"/>
          </a:xfrm>
          <a:prstGeom prst="roundRect">
            <a:avLst>
              <a:gd name="adj" fmla="val 16667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MECANISMO MATEMÁTICO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B72BE">
              <a:alpha val="85000"/>
            </a:srgbClr>
          </a:solidFill>
          <a:ln w="19050">
            <a:solidFill>
              <a:srgbClr val="1B72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7099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el primer paso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algoritmo aquí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40280" y="1783080"/>
            <a:ext cx="22860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1448" y="17099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3258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0C896">
              <a:alpha val="85000"/>
            </a:srgbClr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17099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la operación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del protocolo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0" y="1783080"/>
            <a:ext cx="22860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17099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13258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5A623">
              <a:alpha val="85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17099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 la transformación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garantiza seguridad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37960" y="1783080"/>
            <a:ext cx="22860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39128" y="17099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13258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0C896">
              <a:alpha val="85000"/>
            </a:srgbClr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17099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se obtiene?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garantiza esto?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numérico concreto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2788920"/>
            <a:ext cx="8229600" cy="2011680"/>
          </a:xfrm>
          <a:prstGeom prst="rect">
            <a:avLst/>
          </a:prstGeom>
          <a:solidFill>
            <a:srgbClr val="111A24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788920"/>
            <a:ext cx="54864" cy="20116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2862072"/>
            <a:ext cx="8065008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Ejemplo con valores pequeños para ilustrar el mecanismo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  = [H, o, l, a]   // mensaje original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clave    = [0x4C, 0xAB, 0x12, 0xF3]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   = [0x04, 0xC6, 0x7E, 0xBF] // resultado cifrado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Reemplaza con tu ejemplo específico del protocolo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7160" y="4754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 · CRIPTO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claves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0" y="320040"/>
            <a:ext cx="3323844" cy="2743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0" y="320040"/>
            <a:ext cx="3323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PÚBLICA / PRIVADA / SIMÉTRICA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1B72BE">
              <a:alpha val="15000"/>
            </a:srgbClr>
          </a:solidFill>
          <a:ln w="19050">
            <a:solidFill>
              <a:srgbClr val="1B72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7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7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(ESP32-A)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</a:t>
            </a:r>
            <a:pPr indent="0" marL="0">
              <a:buNone/>
            </a:pPr>
            <a:r>
              <a:rPr lang="en-US" sz="1100" b="1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 Privada
</a:t>
            </a:r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se comparte.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Guardada en memoria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volátil.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32461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 </a:t>
            </a:r>
            <a:pPr indent="0" marL="0">
              <a:buNone/>
            </a:pPr>
            <a:r>
              <a:rPr lang="en-US" sz="1100" b="1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 Pública
</a:t>
            </a:r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publica.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Cualquiera puede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usarla para cifrar.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51760" y="2011680"/>
            <a:ext cx="3840480" cy="1005840"/>
          </a:xfrm>
          <a:prstGeom prst="rect">
            <a:avLst/>
          </a:prstGeom>
          <a:solidFill>
            <a:srgbClr val="E63946">
              <a:alpha val="15000"/>
            </a:srgbClr>
          </a:solidFill>
          <a:ln w="12700">
            <a:solidFill>
              <a:srgbClr val="E63946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651760" y="2057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Canal inseguro (ESP-NOW / Wi-Fi)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24505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atacante puede interceptar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viaja por aquí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31720" y="2468880"/>
            <a:ext cx="347472" cy="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23957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2468880"/>
            <a:ext cx="347472" cy="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93992" y="23957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118872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00C896">
              <a:alpha val="15000"/>
            </a:srgbClr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234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(ESP32-B)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205740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 aquí qué clave usa el receptor para descifrar, verificar o derivar el secreto compartido.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Adapta este diagrama a tu protocolo: asimétrico (RSA, ECDH), simétrico (AES, XOR) o híbrido (PGP, TLS)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7160" y="4754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 · CRIPTO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0A"/>
          </a:solidFill>
          <a:ln w="12700">
            <a:solidFill>
              <a:srgbClr val="1A0A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Vulnerabilidades y ataques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675120" y="320040"/>
            <a:ext cx="1746504" cy="274320"/>
          </a:xfrm>
          <a:prstGeom prst="roundRect">
            <a:avLst>
              <a:gd name="adj" fmla="val 1666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32004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REAL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  Ataques conocidos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4023360" cy="960120"/>
          </a:xfrm>
          <a:prstGeom prst="roundRect">
            <a:avLst>
              <a:gd name="adj" fmla="val 6667"/>
            </a:avLst>
          </a:prstGeom>
          <a:solidFill>
            <a:srgbClr val="FFF0F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Nombre del ataque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brevemente cómo funciona y qué permite al atacante obtener.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4023360" cy="960120"/>
          </a:xfrm>
          <a:prstGeom prst="roundRect">
            <a:avLst>
              <a:gd name="adj" fmla="val 6667"/>
            </a:avLst>
          </a:prstGeom>
          <a:solidFill>
            <a:srgbClr val="FFF0F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97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Nombre del ataque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97180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histórico real: cuándo ocurrió, qué sistema afectó, qué consecuencias tuvo.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4023360" cy="960120"/>
          </a:xfrm>
          <a:prstGeom prst="roundRect">
            <a:avLst>
              <a:gd name="adj" fmla="val 6667"/>
            </a:avLst>
          </a:prstGeom>
          <a:solidFill>
            <a:srgbClr val="FFF0F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49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Fuerza bruta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02336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¿Cuántas claves posibles? ¿Cuánto tiempo tardaría romperlo hoy con hardware moderno?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¿Sigue siendo seguro?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600200"/>
            <a:ext cx="4023360" cy="960120"/>
          </a:xfrm>
          <a:prstGeom prst="roundRect">
            <a:avLst>
              <a:gd name="adj" fmla="val 6667"/>
            </a:avLst>
          </a:prstGeom>
          <a:solidFill>
            <a:srgbClr val="E6F9F2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Seguro hoy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192024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protocolo no ha sido roto. Se sigue usando en producción.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651760"/>
            <a:ext cx="4023360" cy="960120"/>
          </a:xfrm>
          <a:prstGeom prst="roundRect">
            <a:avLst>
              <a:gd name="adj" fmla="val 6667"/>
            </a:avLst>
          </a:prstGeom>
          <a:solidFill>
            <a:srgbClr val="FFFBE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697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Obsoleto parcialmente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297180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Algunos parámetros (tamaño de clave, modo) son inseguros. Hay versiones modernas seguras.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703320"/>
            <a:ext cx="4023360" cy="960120"/>
          </a:xfrm>
          <a:prstGeom prst="roundRect">
            <a:avLst>
              <a:gd name="adj" fmla="val 6667"/>
            </a:avLst>
          </a:prstGeom>
          <a:solidFill>
            <a:srgbClr val="FFF0F0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749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Roto / No usar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402336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protocolo fue comprometido. Solo se usa con fines académicos y de comparación.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Marca con un borde más grueso el estado que aplica a tu protocolo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7160" y="4754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 · CRIPTO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474720"/>
            <a:ext cx="2926080" cy="2926080"/>
          </a:xfrm>
          <a:prstGeom prst="hexagon">
            <a:avLst/>
          </a:prstGeom>
          <a:solidFill>
            <a:srgbClr val="00C896">
              <a:alpha val="93000"/>
            </a:srgbClr>
          </a:solidFill>
          <a:ln w="12700">
            <a:solidFill>
              <a:srgbClr val="00C896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3657600" cy="3657600"/>
          </a:xfrm>
          <a:prstGeom prst="hexagon">
            <a:avLst/>
          </a:prstGeom>
          <a:solidFill>
            <a:srgbClr val="F5A623">
              <a:alpha val="94000"/>
            </a:srgbClr>
          </a:solidFill>
          <a:ln w="12700">
            <a:solidFill>
              <a:srgbClr val="F5A623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en IoT y ESP32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2272284" cy="2743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2272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REAL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¿Dónde se usa en la práctica?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Protocolo X en comunicaciones web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Integrado en sistemas 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Usado en firmware de dispositivos IoT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Conexión directa con el laboratorio ESP32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337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Conexión con el lab base (XOR)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703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 qué línea del código del laboratorio base reemplaza tu protocolo. ¿Qué cambió en la función xorCifrar()? ¿Qué se mantiene igual?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3258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Fragmento de implementación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1691640"/>
            <a:ext cx="4206240" cy="3017520"/>
          </a:xfrm>
          <a:prstGeom prst="rect">
            <a:avLst/>
          </a:prstGeom>
          <a:solidFill>
            <a:srgbClr val="111A24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691640"/>
            <a:ext cx="54864" cy="30175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1764792"/>
            <a:ext cx="4041648" cy="2871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Reemplaza xorCifrar() en el lab base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miProtocolo_cifrar(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uint8_t *entrada,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uint8_t *salida,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size_t   longitud)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Tu implementación aquí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7160" y="4754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 · CRIPTO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protocolo vs XOR del laboratorio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5603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15568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seguridad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097280"/>
            <a:ext cx="27432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115568"/>
            <a:ext cx="2651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 (Lab base)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23560" y="1097280"/>
            <a:ext cx="35661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115568"/>
            <a:ext cx="3474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Protocolo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554480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1600200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Known-plaintext attack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34640" y="1554480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07792" y="1600200"/>
            <a:ext cx="2596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Vulnerable — clave = cifrado ⊕ texto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23560" y="1554480"/>
            <a:ext cx="3566160" cy="621792"/>
          </a:xfrm>
          <a:prstGeom prst="rect">
            <a:avLst/>
          </a:prstGeom>
          <a:solidFill>
            <a:srgbClr val="E8F5EE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96712" y="1600200"/>
            <a:ext cx="34198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la resistencia de tu protocolo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212848"/>
            <a:ext cx="2560320" cy="621792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2258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Reutilización de clave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4640" y="2212848"/>
            <a:ext cx="2743200" cy="621792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07792" y="2258568"/>
            <a:ext cx="2596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Two-time pad filtra información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23560" y="2212848"/>
            <a:ext cx="3566160" cy="621792"/>
          </a:xfrm>
          <a:prstGeom prst="rect">
            <a:avLst/>
          </a:prstGeom>
          <a:solidFill>
            <a:srgbClr val="D4EDE0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96712" y="2258568"/>
            <a:ext cx="34198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garantiza tu protocolo al reusar clave?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2871216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" y="2916936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Fuerza bruta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34640" y="2871216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07792" y="2916936"/>
            <a:ext cx="2596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del tamaño de clave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23560" y="2871216"/>
            <a:ext cx="3566160" cy="621792"/>
          </a:xfrm>
          <a:prstGeom prst="rect">
            <a:avLst/>
          </a:prstGeom>
          <a:solidFill>
            <a:srgbClr val="E8F5EE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96712" y="2916936"/>
            <a:ext cx="34198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¿Cuántas claves posibles? ¿Cuánto tiempo?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529584"/>
            <a:ext cx="2560320" cy="621792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" y="357530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del origen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34640" y="3529584"/>
            <a:ext cx="2743200" cy="621792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07792" y="3575304"/>
            <a:ext cx="2596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 — cualquier ESP32 puede enviar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23560" y="3529584"/>
            <a:ext cx="3566160" cy="621792"/>
          </a:xfrm>
          <a:prstGeom prst="rect">
            <a:avLst/>
          </a:prstGeom>
          <a:solidFill>
            <a:srgbClr val="D4EDE0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96712" y="3575304"/>
            <a:ext cx="34198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¿Tu protocolo verifica quién envió?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4187952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" y="423367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 del mensaje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834640" y="4187952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07792" y="4233672"/>
            <a:ext cx="2596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 detecta manipulación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23560" y="4187952"/>
            <a:ext cx="3566160" cy="621792"/>
          </a:xfrm>
          <a:prstGeom prst="rect">
            <a:avLst/>
          </a:prstGeom>
          <a:solidFill>
            <a:srgbClr val="E8F5EE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96712" y="4233672"/>
            <a:ext cx="34198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¿Detecta si el mensaje fue alterado?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37160" y="4754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 · CRIPTO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182880"/>
            <a:ext cx="5486400" cy="5486400"/>
          </a:xfrm>
          <a:prstGeom prst="hexagon">
            <a:avLst/>
          </a:prstGeom>
          <a:solidFill>
            <a:srgbClr val="00C896">
              <a:alpha val="93000"/>
            </a:srgbClr>
          </a:solidFill>
          <a:ln w="12700">
            <a:solidFill>
              <a:srgbClr val="00C896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43200"/>
            <a:ext cx="3200400" cy="3200400"/>
          </a:xfrm>
          <a:prstGeom prst="hexagon">
            <a:avLst/>
          </a:prstGeom>
          <a:solidFill>
            <a:srgbClr val="F5A623">
              <a:alpha val="92000"/>
            </a:srgbClr>
          </a:solidFill>
          <a:ln w="12700">
            <a:solidFill>
              <a:srgbClr val="F5A623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ideas que debes llevarte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8686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25880" y="886968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idea clave sobre el protocolo — máximo 2 líneas, directa y memorable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031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25880" y="2121408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Segunda idea: la limitación más importante o el ataque más relevante del protocolo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3375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25880" y="3355848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Tercera idea: su rol en el sistema mayor (IoT, TLS, laboratorio ESP32)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731520"/>
            <a:ext cx="3108960" cy="3200400"/>
          </a:xfrm>
          <a:prstGeom prst="roundRect">
            <a:avLst>
              <a:gd name="adj" fmla="val 2941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1B72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822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Pregunta al curso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97880" y="12344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aquí una pregunta abierta para que el curso reflexione. Idealmente que conecte tu protocolo con el laboratorio o con su uso cotidiano.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97880" y="2423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Pista de respuesta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97880" y="277063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brevemente la respuesta esperada para facilitar la discusión.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080F18"/>
          </a:solidFill>
          <a:ln w="12700">
            <a:solidFill>
              <a:srgbClr val="080F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en Sistemas Embebidos  </a:t>
            </a:r>
            <a:pPr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ESP32 + ESP-NOW  </a:t>
            </a:r>
            <a:pPr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Exposición de protocolos criptográficos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— Protocolos Criptográficos ESP32</dc:title>
  <dc:subject>PptxGenJS Presentation</dc:subject>
  <dc:creator>Seguridad en Sistemas Embebidos</dc:creator>
  <cp:lastModifiedBy>Seguridad en Sistemas Embebidos</cp:lastModifiedBy>
  <cp:revision>1</cp:revision>
  <dcterms:created xsi:type="dcterms:W3CDTF">2026-06-26T02:41:07Z</dcterms:created>
  <dcterms:modified xsi:type="dcterms:W3CDTF">2026-06-26T02:41:07Z</dcterms:modified>
</cp:coreProperties>
</file>
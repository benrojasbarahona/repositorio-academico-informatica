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302" r:id="rId3"/>
    <p:sldId id="277" r:id="rId4"/>
    <p:sldId id="303" r:id="rId5"/>
  </p:sldIdLst>
  <p:sldSz cx="12192000" cy="6858000"/>
  <p:notesSz cx="7077075" cy="90281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80284" autoAdjust="0"/>
  </p:normalViewPr>
  <p:slideViewPr>
    <p:cSldViewPr snapToGrid="0">
      <p:cViewPr varScale="1">
        <p:scale>
          <a:sx n="90" d="100"/>
          <a:sy n="90" d="100"/>
        </p:scale>
        <p:origin x="80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28713"/>
            <a:ext cx="5416550" cy="3046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7708" y="4344780"/>
            <a:ext cx="5661660" cy="35548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s-CL" dirty="0"/>
              <a:t>Cohesión y acoplamiento,</a:t>
            </a:r>
            <a:r>
              <a:rPr lang="es-CL" baseline="0" dirty="0"/>
              <a:t> usamos la idea de módulos. Debemos buscar alta cohesión dentro de un mismo módulo y bajo acoplamiento entre módulos.</a:t>
            </a:r>
          </a:p>
          <a:p>
            <a:pPr marL="228600" indent="-228600">
              <a:buAutoNum type="arabicParenR"/>
            </a:pPr>
            <a:r>
              <a:rPr lang="es-CL" baseline="0" dirty="0"/>
              <a:t>Distribución física, no podemos tener un mismo </a:t>
            </a:r>
            <a:r>
              <a:rPr lang="es-CL" baseline="0" dirty="0" err="1"/>
              <a:t>schema</a:t>
            </a:r>
            <a:r>
              <a:rPr lang="es-CL" baseline="0" dirty="0"/>
              <a:t> “fragmentado” en distintos servidores. </a:t>
            </a:r>
          </a:p>
          <a:p>
            <a:pPr marL="228600" indent="-228600">
              <a:buAutoNum type="arabicParenR"/>
            </a:pPr>
            <a:r>
              <a:rPr lang="es-CL" baseline="0" dirty="0"/>
              <a:t>Seguridad, se refiere a restringir acceso total a </a:t>
            </a:r>
            <a:r>
              <a:rPr lang="es-CL" baseline="0" dirty="0" err="1"/>
              <a:t>schemas</a:t>
            </a:r>
            <a:r>
              <a:rPr lang="es-CL" baseline="0"/>
              <a:t> críticos. </a:t>
            </a:r>
            <a:endParaRPr lang="es-CL" baseline="0" dirty="0"/>
          </a:p>
          <a:p>
            <a:pPr marL="228600" indent="-228600">
              <a:buAutoNum type="arabicParenR"/>
            </a:pPr>
            <a:r>
              <a:rPr lang="es-CL" baseline="0" dirty="0"/>
              <a:t>Proveedores, no es recomendable tener varios proveedores de software trabajando en el mismo </a:t>
            </a:r>
            <a:r>
              <a:rPr lang="es-CL" baseline="0" dirty="0" err="1"/>
              <a:t>schema</a:t>
            </a:r>
            <a:r>
              <a:rPr lang="es-CL" baseline="0" dirty="0"/>
              <a:t>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7883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Al menos para mí, que aprendí</a:t>
            </a:r>
            <a:r>
              <a:rPr lang="es-CL" baseline="0" dirty="0"/>
              <a:t> BBDD en Oracle, esta estructura es un tanto extraña. Si quiero crear un objeto en un </a:t>
            </a:r>
            <a:r>
              <a:rPr lang="es-CL" baseline="0" dirty="0" err="1"/>
              <a:t>schema</a:t>
            </a:r>
            <a:r>
              <a:rPr lang="es-CL" baseline="0" dirty="0"/>
              <a:t>, que hace uso de objetos de otro </a:t>
            </a:r>
            <a:r>
              <a:rPr lang="es-CL" baseline="0" dirty="0" err="1"/>
              <a:t>schema</a:t>
            </a:r>
            <a:r>
              <a:rPr lang="es-CL" baseline="0" dirty="0"/>
              <a:t>, le doy permisos de acceso al usuario y </a:t>
            </a:r>
            <a:r>
              <a:rPr lang="es-CL" baseline="0"/>
              <a:t>creo el </a:t>
            </a:r>
            <a:r>
              <a:rPr lang="es-CL" baseline="0" dirty="0"/>
              <a:t>objeto (explicar).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4206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26-03-2026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53665"/>
            <a:ext cx="9144000" cy="1538883"/>
          </a:xfrm>
        </p:spPr>
        <p:txBody>
          <a:bodyPr/>
          <a:lstStyle/>
          <a:p>
            <a:r>
              <a:rPr lang="es-CL" dirty="0"/>
              <a:t>Unidad 0 – Introducción</a:t>
            </a:r>
            <a:br>
              <a:rPr lang="es-CL" dirty="0"/>
            </a:br>
            <a:r>
              <a:rPr lang="es-CL" sz="4000" dirty="0">
                <a:solidFill>
                  <a:schemeClr val="tx1"/>
                </a:solidFill>
              </a:rPr>
              <a:t>Bases de datos relacionales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0945" y="4845470"/>
            <a:ext cx="9144000" cy="738664"/>
          </a:xfrm>
        </p:spPr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Salazar, 2026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586633"/>
            <a:ext cx="12192000" cy="923330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6000" kern="0" dirty="0">
                <a:solidFill>
                  <a:prstClr val="black"/>
                </a:solidFill>
              </a:rPr>
              <a:t>Unidad 1. Introducción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1" y="1481932"/>
            <a:ext cx="7867824" cy="45671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Trabajaremos con </a:t>
            </a:r>
            <a:r>
              <a:rPr lang="es-CL" dirty="0" err="1"/>
              <a:t>MySQL</a:t>
            </a:r>
            <a:r>
              <a:rPr lang="es-CL" dirty="0"/>
              <a:t> </a:t>
            </a:r>
            <a:r>
              <a:rPr lang="es-CL" dirty="0" err="1"/>
              <a:t>Workbench</a:t>
            </a:r>
            <a:endParaRPr lang="en-US" dirty="0"/>
          </a:p>
        </p:txBody>
      </p:sp>
      <p:sp>
        <p:nvSpPr>
          <p:cNvPr id="6" name="Rectángulo redondeado 5"/>
          <p:cNvSpPr/>
          <p:nvPr/>
        </p:nvSpPr>
        <p:spPr>
          <a:xfrm>
            <a:off x="815926" y="5050301"/>
            <a:ext cx="1969477" cy="9003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81686" y="2138868"/>
            <a:ext cx="630834" cy="485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 </a:t>
            </a:r>
            <a:r>
              <a:rPr lang="es-CL" dirty="0" err="1"/>
              <a:t>Schema</a:t>
            </a:r>
            <a:r>
              <a:rPr lang="es-CL" dirty="0"/>
              <a:t>?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09" y="1268784"/>
            <a:ext cx="1036618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En todas las bases de datos relacionales, necesitamos una colección lógica de objetos (tablas, vistas, procedimientos, etc.). Esa es la unidad básica. </a:t>
            </a:r>
          </a:p>
          <a:p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En </a:t>
            </a:r>
            <a:r>
              <a:rPr lang="es-CL" dirty="0" err="1"/>
              <a:t>MySQL</a:t>
            </a:r>
            <a:r>
              <a:rPr lang="es-CL" dirty="0"/>
              <a:t>, esta colección se llama </a:t>
            </a:r>
            <a:r>
              <a:rPr lang="es-CL" b="1" dirty="0" err="1"/>
              <a:t>schema</a:t>
            </a:r>
            <a:r>
              <a:rPr lang="es-CL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En un sistema grande o complejo, se recomienda organizar la base de datos en varios </a:t>
            </a:r>
            <a:r>
              <a:rPr lang="es-CL" b="1" dirty="0" err="1"/>
              <a:t>schemas</a:t>
            </a:r>
            <a:r>
              <a:rPr lang="es-CL" dirty="0"/>
              <a:t>. ¿Cómo los dividimos? 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Siguiendo los principios básicos de </a:t>
            </a:r>
            <a:r>
              <a:rPr lang="es-CL" sz="2000" b="1" dirty="0"/>
              <a:t>cohesión</a:t>
            </a:r>
            <a:r>
              <a:rPr lang="es-CL" sz="2000" dirty="0"/>
              <a:t> y </a:t>
            </a:r>
            <a:r>
              <a:rPr lang="es-CL" sz="2000" b="1" dirty="0"/>
              <a:t>acoplamiento</a:t>
            </a:r>
            <a:r>
              <a:rPr lang="es-CL" sz="2000" dirty="0"/>
              <a:t>. 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Considerando la </a:t>
            </a:r>
            <a:r>
              <a:rPr lang="es-CL" sz="2000" b="1" dirty="0"/>
              <a:t>distribución</a:t>
            </a:r>
            <a:r>
              <a:rPr lang="es-CL" sz="2000" dirty="0"/>
              <a:t> física de los objetos.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Considerando aspectos de </a:t>
            </a:r>
            <a:r>
              <a:rPr lang="es-CL" sz="2000" b="1" dirty="0"/>
              <a:t>seguridad</a:t>
            </a:r>
            <a:r>
              <a:rPr lang="es-CL" sz="2000" dirty="0"/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Considerando a </a:t>
            </a:r>
            <a:r>
              <a:rPr lang="es-CL" sz="2000" b="1" dirty="0"/>
              <a:t>proveedores</a:t>
            </a:r>
            <a:r>
              <a:rPr lang="es-C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35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¿Cómo trabajamos con más de un </a:t>
            </a:r>
            <a:r>
              <a:rPr lang="es-CL" dirty="0" err="1"/>
              <a:t>schema</a:t>
            </a:r>
            <a:r>
              <a:rPr lang="es-CL" dirty="0"/>
              <a:t>?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58247" y="942871"/>
            <a:ext cx="8723710" cy="1462703"/>
          </a:xfrm>
        </p:spPr>
        <p:txBody>
          <a:bodyPr/>
          <a:lstStyle/>
          <a:p>
            <a:r>
              <a:rPr lang="es-CL" sz="2000" dirty="0"/>
              <a:t>CREATE SCHEMA `INFO209` ; /* se puede crear el </a:t>
            </a:r>
            <a:r>
              <a:rPr lang="es-CL" sz="2000" dirty="0" err="1"/>
              <a:t>schema</a:t>
            </a:r>
            <a:r>
              <a:rPr lang="es-CL" sz="2000" dirty="0"/>
              <a:t> utilizando el </a:t>
            </a:r>
            <a:r>
              <a:rPr lang="es-CL" sz="2000" dirty="0" err="1"/>
              <a:t>wizard</a:t>
            </a:r>
            <a:r>
              <a:rPr lang="es-CL" sz="2000" dirty="0"/>
              <a:t> */</a:t>
            </a:r>
          </a:p>
          <a:p>
            <a:endParaRPr lang="es-CL" sz="2000" dirty="0"/>
          </a:p>
          <a:p>
            <a:r>
              <a:rPr lang="es-CL" sz="2000" dirty="0"/>
              <a:t>CREATE USER ‘</a:t>
            </a:r>
            <a:r>
              <a:rPr lang="es-CL" sz="2000" dirty="0" err="1"/>
              <a:t>juansalazar</a:t>
            </a:r>
            <a:r>
              <a:rPr lang="es-CL" sz="2000" dirty="0"/>
              <a:t>’ IDENTIFIED BY ‘</a:t>
            </a:r>
            <a:r>
              <a:rPr lang="es-CL" sz="2000" dirty="0" err="1"/>
              <a:t>jpsf</a:t>
            </a:r>
            <a:r>
              <a:rPr lang="es-CL" sz="2000" dirty="0"/>
              <a:t>’; </a:t>
            </a:r>
          </a:p>
          <a:p>
            <a:endParaRPr lang="es-CL" sz="2000" dirty="0"/>
          </a:p>
          <a:p>
            <a:r>
              <a:rPr lang="es-CL" sz="2000" dirty="0"/>
              <a:t>GRANT &lt;permisos&gt; ON &lt;objetos&gt; TO &lt;</a:t>
            </a:r>
            <a:r>
              <a:rPr lang="es-CL" sz="2000" dirty="0" err="1"/>
              <a:t>schema</a:t>
            </a:r>
            <a:r>
              <a:rPr lang="es-CL" sz="2000" dirty="0"/>
              <a:t>&gt;; </a:t>
            </a:r>
          </a:p>
          <a:p>
            <a:endParaRPr lang="es-CL" sz="20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1467890" y="2950925"/>
            <a:ext cx="2601310" cy="1529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600" dirty="0" err="1">
                <a:solidFill>
                  <a:schemeClr val="tx1"/>
                </a:solidFill>
              </a:rPr>
              <a:t>sakila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467890" y="4631670"/>
            <a:ext cx="2601310" cy="1529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600" dirty="0">
                <a:solidFill>
                  <a:schemeClr val="tx1"/>
                </a:solidFill>
              </a:rPr>
              <a:t>INFO209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6" name="Flecha derecha 5"/>
          <p:cNvSpPr/>
          <p:nvPr/>
        </p:nvSpPr>
        <p:spPr>
          <a:xfrm>
            <a:off x="4302207" y="3783883"/>
            <a:ext cx="2548759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permisos</a:t>
            </a:r>
            <a:endParaRPr lang="en-US" dirty="0"/>
          </a:p>
        </p:txBody>
      </p:sp>
      <p:sp>
        <p:nvSpPr>
          <p:cNvPr id="7" name="Rectángulo redondeado 6"/>
          <p:cNvSpPr/>
          <p:nvPr/>
        </p:nvSpPr>
        <p:spPr>
          <a:xfrm>
            <a:off x="7337189" y="3316778"/>
            <a:ext cx="2601310" cy="264792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600" dirty="0" err="1">
                <a:solidFill>
                  <a:schemeClr val="tx1"/>
                </a:solidFill>
              </a:rPr>
              <a:t>juansalazar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Flecha derecha 7"/>
          <p:cNvSpPr/>
          <p:nvPr/>
        </p:nvSpPr>
        <p:spPr>
          <a:xfrm>
            <a:off x="4302206" y="4996931"/>
            <a:ext cx="2548759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permisos</a:t>
            </a:r>
            <a:endParaRPr lang="en-US" dirty="0"/>
          </a:p>
        </p:txBody>
      </p:sp>
      <p:sp>
        <p:nvSpPr>
          <p:cNvPr id="9" name="CuadroTexto 8"/>
          <p:cNvSpPr txBox="1"/>
          <p:nvPr/>
        </p:nvSpPr>
        <p:spPr>
          <a:xfrm>
            <a:off x="2271453" y="254073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err="1"/>
              <a:t>schemas</a:t>
            </a:r>
            <a:endParaRPr lang="en-US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8339525" y="254073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err="1"/>
              <a:t>user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9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33922</TotalTime>
  <Words>298</Words>
  <Application>Microsoft Office PowerPoint</Application>
  <PresentationFormat>Panorámica</PresentationFormat>
  <Paragraphs>35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Unidad 0 – Introducción Bases de datos relacionales</vt:lpstr>
      <vt:lpstr>Trabajaremos con MySQL Workbench</vt:lpstr>
      <vt:lpstr>¿Qué es un Schema?</vt:lpstr>
      <vt:lpstr>¿Cómo trabajamos con más de un schema?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104</cp:revision>
  <cp:lastPrinted>2018-03-09T00:58:19Z</cp:lastPrinted>
  <dcterms:created xsi:type="dcterms:W3CDTF">2018-03-05T20:26:11Z</dcterms:created>
  <dcterms:modified xsi:type="dcterms:W3CDTF">2026-03-26T14:03:49Z</dcterms:modified>
</cp:coreProperties>
</file>
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7" r:id="rId2"/>
    <p:sldId id="303" r:id="rId3"/>
    <p:sldId id="354" r:id="rId4"/>
    <p:sldId id="341" r:id="rId5"/>
    <p:sldId id="348" r:id="rId6"/>
    <p:sldId id="342" r:id="rId7"/>
    <p:sldId id="338" r:id="rId8"/>
    <p:sldId id="350" r:id="rId9"/>
    <p:sldId id="351" r:id="rId10"/>
    <p:sldId id="352" r:id="rId11"/>
    <p:sldId id="339" r:id="rId12"/>
    <p:sldId id="343" r:id="rId13"/>
    <p:sldId id="344" r:id="rId14"/>
    <p:sldId id="345" r:id="rId15"/>
    <p:sldId id="346" r:id="rId16"/>
    <p:sldId id="353" r:id="rId17"/>
    <p:sldId id="347" r:id="rId18"/>
    <p:sldId id="340" r:id="rId19"/>
    <p:sldId id="355" r:id="rId20"/>
  </p:sldIdLst>
  <p:sldSz cx="12192000" cy="6858000"/>
  <p:notesSz cx="7077075" cy="9028113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3" autoAdjust="0"/>
    <p:restoredTop sz="77920" autoAdjust="0"/>
  </p:normalViewPr>
  <p:slideViewPr>
    <p:cSldViewPr snapToGrid="0">
      <p:cViewPr varScale="1">
        <p:scale>
          <a:sx n="88" d="100"/>
          <a:sy n="88" d="100"/>
        </p:scale>
        <p:origin x="812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27-05-2026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30263" y="1128713"/>
            <a:ext cx="5416550" cy="3046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7708" y="4344780"/>
            <a:ext cx="5661660" cy="355481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Hay que mirar esto en un contexto más general,</a:t>
            </a:r>
            <a:r>
              <a:rPr lang="es-CL" baseline="0" dirty="0"/>
              <a:t> de riesgos, probabilidad de ocurrencia e impactos.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8583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3660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Los</a:t>
            </a:r>
            <a:r>
              <a:rPr lang="es-CL" baseline="0" dirty="0"/>
              <a:t> mecanismos de </a:t>
            </a:r>
            <a:r>
              <a:rPr lang="es-CL" baseline="0" dirty="0" err="1"/>
              <a:t>backup</a:t>
            </a:r>
            <a:r>
              <a:rPr lang="es-CL" baseline="0" dirty="0"/>
              <a:t> nos protegerán de algunos riesgos.</a:t>
            </a:r>
          </a:p>
          <a:p>
            <a:r>
              <a:rPr lang="es-CL" baseline="0" dirty="0"/>
              <a:t>La inversión que hagamos en ellos dependerá de qué impactos queremos mitigar.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0360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5167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¿Qué sign</a:t>
            </a:r>
            <a:r>
              <a:rPr lang="es-CL" baseline="0" dirty="0"/>
              <a:t>ifica esta propiedad?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2650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err="1"/>
              <a:t>Doublewrite</a:t>
            </a:r>
            <a:r>
              <a:rPr lang="es-CL" baseline="0" dirty="0"/>
              <a:t> buffer: Copia bloques del buffer pool. </a:t>
            </a:r>
            <a:r>
              <a:rPr lang="es-CL" dirty="0"/>
              <a:t>Permite actuar de respaldo en caso de </a:t>
            </a:r>
            <a:r>
              <a:rPr lang="es-CL" dirty="0" err="1"/>
              <a:t>crash</a:t>
            </a:r>
            <a:r>
              <a:rPr lang="es-CL" dirty="0"/>
              <a:t>.</a:t>
            </a:r>
          </a:p>
          <a:p>
            <a:r>
              <a:rPr lang="es-CL" dirty="0" err="1"/>
              <a:t>Undo</a:t>
            </a:r>
            <a:r>
              <a:rPr lang="es-CL" dirty="0"/>
              <a:t> </a:t>
            </a:r>
            <a:r>
              <a:rPr lang="es-CL" dirty="0" err="1"/>
              <a:t>tablespaces</a:t>
            </a:r>
            <a:r>
              <a:rPr lang="es-CL" dirty="0"/>
              <a:t>: se usan</a:t>
            </a:r>
            <a:r>
              <a:rPr lang="es-CL" baseline="0" dirty="0"/>
              <a:t> para reconstruir datos en caso de requerir </a:t>
            </a:r>
            <a:r>
              <a:rPr lang="es-CL" baseline="0" dirty="0" err="1"/>
              <a:t>rollback</a:t>
            </a:r>
            <a:r>
              <a:rPr lang="es-CL" baseline="0" dirty="0"/>
              <a:t>.</a:t>
            </a:r>
          </a:p>
          <a:p>
            <a:r>
              <a:rPr lang="es-CL" baseline="0" dirty="0"/>
              <a:t>Redo log: permiten rehacer la base de datos, en caso de requerir reconstruirla desde cero.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672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Requiere respaldar tablas completas (pueden ser muchos datos). </a:t>
            </a:r>
          </a:p>
          <a:p>
            <a:r>
              <a:rPr lang="es-ES" dirty="0"/>
              <a:t>Para obtener foto consistente, requiere tener la base de datos fuera de línea.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3020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7099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Recuperación</a:t>
            </a:r>
            <a:r>
              <a:rPr lang="es-CL" baseline="0" dirty="0"/>
              <a:t> menos flexible: Por ejemplo, si tenemos varias tablas en el mismo data file.</a:t>
            </a:r>
          </a:p>
          <a:p>
            <a:r>
              <a:rPr lang="es-CL" baseline="0" dirty="0"/>
              <a:t>Sólo disponible en versión comercial.</a:t>
            </a:r>
          </a:p>
          <a:p>
            <a:endParaRPr lang="es-CL" baseline="0" dirty="0"/>
          </a:p>
          <a:p>
            <a:r>
              <a:rPr lang="es-CL" baseline="0" dirty="0"/>
              <a:t>(agregar ejercicio en el práctico, donde respaldo 2 tablas y entre medio inserté registros en ambas (</a:t>
            </a:r>
            <a:r>
              <a:rPr lang="es-CL" baseline="0" dirty="0" err="1"/>
              <a:t>fk</a:t>
            </a:r>
            <a:r>
              <a:rPr lang="es-CL" baseline="0" dirty="0"/>
              <a:t>).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8198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 más</a:t>
            </a:r>
            <a:r>
              <a:rPr lang="es-CL" baseline="0" dirty="0"/>
              <a:t> flexible, puedo respaldar sólo estructura, sólo datos, una tabla o todas, etc.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1107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Los respaldos</a:t>
            </a:r>
            <a:r>
              <a:rPr lang="es-CL" baseline="0" dirty="0"/>
              <a:t> en frío y bloqueos aseguran consistencia de datos.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6728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Los respaldos</a:t>
            </a:r>
            <a:r>
              <a:rPr lang="es-CL" baseline="0" dirty="0"/>
              <a:t> en frío y bloqueos aseguran consistencia de datos.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5248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err="1"/>
              <a:t>Doublewrite</a:t>
            </a:r>
            <a:r>
              <a:rPr lang="es-CL" baseline="0" dirty="0"/>
              <a:t> buffer: Copia bloques del buffer pool. </a:t>
            </a:r>
            <a:r>
              <a:rPr lang="es-CL" dirty="0"/>
              <a:t>Permite actuar de respaldo en caso de </a:t>
            </a:r>
            <a:r>
              <a:rPr lang="es-CL" dirty="0" err="1"/>
              <a:t>crash</a:t>
            </a:r>
            <a:r>
              <a:rPr lang="es-CL" dirty="0"/>
              <a:t>.</a:t>
            </a:r>
          </a:p>
          <a:p>
            <a:r>
              <a:rPr lang="es-CL" dirty="0" err="1"/>
              <a:t>Undo</a:t>
            </a:r>
            <a:r>
              <a:rPr lang="es-CL" dirty="0"/>
              <a:t> </a:t>
            </a:r>
            <a:r>
              <a:rPr lang="es-CL" dirty="0" err="1"/>
              <a:t>tablespaces</a:t>
            </a:r>
            <a:r>
              <a:rPr lang="es-CL" dirty="0"/>
              <a:t>: se usan</a:t>
            </a:r>
            <a:r>
              <a:rPr lang="es-CL" baseline="0" dirty="0"/>
              <a:t> para reconstruir datos en caso de requerir </a:t>
            </a:r>
            <a:r>
              <a:rPr lang="es-CL" baseline="0" dirty="0" err="1"/>
              <a:t>rollback</a:t>
            </a:r>
            <a:r>
              <a:rPr lang="es-CL" baseline="0" dirty="0"/>
              <a:t>.</a:t>
            </a:r>
          </a:p>
          <a:p>
            <a:r>
              <a:rPr lang="es-CL" baseline="0" dirty="0"/>
              <a:t>Redo log: permiten rehacer la base de datos, en caso de requerir reconstruirla desde cero.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3370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¿Qué pasa si el respaldo full es muy antiguo?</a:t>
            </a:r>
            <a:r>
              <a:rPr lang="es-CL" baseline="0" dirty="0"/>
              <a:t> 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2508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Usar </a:t>
            </a:r>
            <a:r>
              <a:rPr lang="es-ES" dirty="0" err="1"/>
              <a:t>mysqldump</a:t>
            </a:r>
            <a:r>
              <a:rPr lang="es-ES" dirty="0"/>
              <a:t> en línea de comando y mostrar que las tablas se bloquean si usamos la opción –</a:t>
            </a:r>
            <a:r>
              <a:rPr lang="es-ES" dirty="0" err="1"/>
              <a:t>lock</a:t>
            </a:r>
            <a:r>
              <a:rPr lang="es-ES" dirty="0"/>
              <a:t>-</a:t>
            </a:r>
            <a:r>
              <a:rPr lang="es-ES" dirty="0" err="1"/>
              <a:t>all</a:t>
            </a:r>
            <a:r>
              <a:rPr lang="es-ES" dirty="0"/>
              <a:t>-tables</a:t>
            </a:r>
          </a:p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4770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7647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5/27/2026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5/27/2026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5/27/2026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5/27/2026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5/27/2026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27-05-2026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5/27/2026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us.com.ar/accidentes-informatico-de-base-de-dato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tAqp3w_K2o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mysql-enterprise-backup/8.0/e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60945" y="4845470"/>
            <a:ext cx="9144000" cy="738664"/>
          </a:xfrm>
        </p:spPr>
        <p:txBody>
          <a:bodyPr/>
          <a:lstStyle/>
          <a:p>
            <a:r>
              <a:rPr lang="es-CL" dirty="0"/>
              <a:t>INFO 209 – Taller de Bases de Datos</a:t>
            </a:r>
          </a:p>
          <a:p>
            <a:r>
              <a:rPr lang="es-CL" dirty="0"/>
              <a:t>Juan Pablo Salazar, 2026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1663303"/>
            <a:ext cx="12192000" cy="276998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6000" kern="0" dirty="0">
                <a:solidFill>
                  <a:prstClr val="black"/>
                </a:solidFill>
              </a:rPr>
              <a:t>Unidad 2. </a:t>
            </a:r>
          </a:p>
          <a:p>
            <a:r>
              <a:rPr lang="es-CL" sz="6000" kern="0" dirty="0">
                <a:solidFill>
                  <a:prstClr val="black"/>
                </a:solidFill>
              </a:rPr>
              <a:t>Administración y Optimización</a:t>
            </a:r>
          </a:p>
          <a:p>
            <a:r>
              <a:rPr lang="es-CL" sz="5400" kern="0" dirty="0" err="1">
                <a:solidFill>
                  <a:prstClr val="black"/>
                </a:solidFill>
              </a:rPr>
              <a:t>Backup</a:t>
            </a:r>
            <a:r>
              <a:rPr lang="es-CL" sz="5400" kern="0" dirty="0">
                <a:solidFill>
                  <a:prstClr val="black"/>
                </a:solidFill>
              </a:rPr>
              <a:t> &amp; </a:t>
            </a:r>
            <a:r>
              <a:rPr lang="es-CL" sz="5400" kern="0" dirty="0" err="1">
                <a:solidFill>
                  <a:prstClr val="black"/>
                </a:solidFill>
              </a:rPr>
              <a:t>Recovery</a:t>
            </a:r>
            <a:endParaRPr lang="es-CL" sz="5400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¿Por qué hacemos </a:t>
            </a:r>
            <a:r>
              <a:rPr lang="es-CL" dirty="0" err="1"/>
              <a:t>backups</a:t>
            </a:r>
            <a:r>
              <a:rPr lang="es-CL" dirty="0"/>
              <a:t>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2909" y="1460543"/>
            <a:ext cx="10366180" cy="98488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Buscamos protegernos de determinados riesgos. ¿cuáles?</a:t>
            </a:r>
          </a:p>
          <a:p>
            <a:endParaRPr lang="es-CL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27" y="2132916"/>
            <a:ext cx="11762743" cy="271717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B7F4999-5B3E-48CA-8EED-1FF24C76CC98}"/>
              </a:ext>
            </a:extLst>
          </p:cNvPr>
          <p:cNvSpPr txBox="1"/>
          <p:nvPr/>
        </p:nvSpPr>
        <p:spPr>
          <a:xfrm>
            <a:off x="6766560" y="2260762"/>
            <a:ext cx="117371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dirty="0"/>
              <a:t>5421 3100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78131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¿Por qué hacemos </a:t>
            </a:r>
            <a:r>
              <a:rPr lang="es-CL" dirty="0" err="1"/>
              <a:t>backups</a:t>
            </a:r>
            <a:r>
              <a:rPr lang="es-CL" dirty="0"/>
              <a:t>? (2024)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526C8F3-026A-4728-B808-A1ED48999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81" y="1590365"/>
            <a:ext cx="10288436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6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Análisis de riesgos TI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430" y="1048310"/>
            <a:ext cx="6967138" cy="5065593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5210443" y="6113903"/>
            <a:ext cx="6829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Fuente: </a:t>
            </a:r>
            <a:r>
              <a:rPr lang="en-US" dirty="0">
                <a:hlinkClick r:id="rId4"/>
              </a:rPr>
              <a:t>https://seus.com.ar/accidentes-informatico-de-base-de-datos/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258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</a:t>
            </a:r>
            <a:r>
              <a:rPr lang="es-CL" b="1" dirty="0"/>
              <a:t>Por qué </a:t>
            </a:r>
            <a:r>
              <a:rPr lang="es-CL" dirty="0"/>
              <a:t>hacemos </a:t>
            </a:r>
            <a:r>
              <a:rPr lang="es-CL" dirty="0" err="1"/>
              <a:t>backups</a:t>
            </a:r>
            <a:r>
              <a:rPr lang="es-CL" dirty="0"/>
              <a:t>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2909" y="1460543"/>
            <a:ext cx="10366180" cy="443198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Las estrategias de </a:t>
            </a:r>
            <a:r>
              <a:rPr lang="es-CL" dirty="0" err="1"/>
              <a:t>backup</a:t>
            </a:r>
            <a:r>
              <a:rPr lang="es-CL" dirty="0"/>
              <a:t> </a:t>
            </a:r>
            <a:r>
              <a:rPr lang="es-CL" b="1" dirty="0"/>
              <a:t>dependerán</a:t>
            </a:r>
            <a:r>
              <a:rPr lang="es-CL" dirty="0"/>
              <a:t> de qué riesgos queremos mitigar.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Las estrategias de </a:t>
            </a:r>
            <a:r>
              <a:rPr lang="es-CL" dirty="0" err="1"/>
              <a:t>backup</a:t>
            </a:r>
            <a:r>
              <a:rPr lang="es-CL" dirty="0"/>
              <a:t> debemos analizarlas </a:t>
            </a:r>
            <a:r>
              <a:rPr lang="es-CL" b="1" dirty="0"/>
              <a:t>en conjunto </a:t>
            </a:r>
            <a:r>
              <a:rPr lang="es-CL" dirty="0"/>
              <a:t>con otras estrategias de mitigación de riesgos.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Lo anterior depende también de los </a:t>
            </a:r>
            <a:r>
              <a:rPr lang="es-CL" b="1" dirty="0"/>
              <a:t>costos</a:t>
            </a:r>
            <a:r>
              <a:rPr lang="es-CL" dirty="0"/>
              <a:t> de </a:t>
            </a:r>
            <a:r>
              <a:rPr lang="es-CL" dirty="0" err="1"/>
              <a:t>downtime</a:t>
            </a:r>
            <a:r>
              <a:rPr lang="es-CL" dirty="0"/>
              <a:t> y de los costos de recuperación.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6890805" y="6096716"/>
            <a:ext cx="5301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MySQL 8.0 Reference Manual</a:t>
            </a:r>
            <a:r>
              <a:rPr lang="en-US" dirty="0"/>
              <a:t>  /  Backup and Recovery </a:t>
            </a:r>
          </a:p>
        </p:txBody>
      </p:sp>
    </p:spTree>
    <p:extLst>
      <p:ext uri="{BB962C8B-B14F-4D97-AF65-F5344CB8AC3E}">
        <p14:creationId xmlns:p14="http://schemas.microsoft.com/office/powerpoint/2010/main" val="213747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</a:t>
            </a:r>
            <a:r>
              <a:rPr lang="es-CL" b="1" dirty="0"/>
              <a:t>riesgos</a:t>
            </a:r>
            <a:r>
              <a:rPr lang="es-CL" dirty="0"/>
              <a:t> existen sobre una base de datos?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2909" y="1460543"/>
            <a:ext cx="11015234" cy="443198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Falla de hardware.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Fallas de software (virus, errores de instalación, entre otros).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Borrado de datos por error.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Riesgos físicos (robo, incendio, inundación, terremoto).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  <a:p>
            <a:r>
              <a:rPr lang="es-CL" dirty="0"/>
              <a:t>¿Qué </a:t>
            </a:r>
            <a:r>
              <a:rPr lang="es-CL" b="1" dirty="0"/>
              <a:t>impacto</a:t>
            </a:r>
            <a:r>
              <a:rPr lang="es-CL" dirty="0"/>
              <a:t> puede tener lo anterior?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Ninguno.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Pérdida de información crítica.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Pérdidas económicas, daño en imagen, responsabilidad penal.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6890805" y="6096716"/>
            <a:ext cx="5301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MySQL 8.0 Reference Manual</a:t>
            </a:r>
            <a:r>
              <a:rPr lang="en-US" dirty="0"/>
              <a:t>  /  Backup and Recovery </a:t>
            </a:r>
          </a:p>
        </p:txBody>
      </p:sp>
    </p:spTree>
    <p:extLst>
      <p:ext uri="{BB962C8B-B14F-4D97-AF65-F5344CB8AC3E}">
        <p14:creationId xmlns:p14="http://schemas.microsoft.com/office/powerpoint/2010/main" val="2864493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InnoDB</a:t>
            </a:r>
            <a:r>
              <a:rPr lang="es-CL" dirty="0"/>
              <a:t> </a:t>
            </a:r>
            <a:r>
              <a:rPr lang="es-CL" dirty="0" err="1"/>
              <a:t>Architecture</a:t>
            </a:r>
            <a:r>
              <a:rPr lang="es-CL" dirty="0"/>
              <a:t> – </a:t>
            </a:r>
            <a:r>
              <a:rPr lang="es-CL" dirty="0" err="1"/>
              <a:t>Backup</a:t>
            </a:r>
            <a:r>
              <a:rPr lang="es-CL" dirty="0"/>
              <a:t> &amp; </a:t>
            </a:r>
            <a:r>
              <a:rPr lang="es-CL" dirty="0" err="1"/>
              <a:t>Recovery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12" y="1104097"/>
            <a:ext cx="7382905" cy="575390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74132" y="2826886"/>
            <a:ext cx="403013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/>
              <a:t>Entender la arquitectura nos permite: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Identificar las estructuras que existen para asegurar la durabilidad de la información.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Entender los mecanismos de respaldo y recuperación de información.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961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Gestión de Transacciones – propiedades ACID</a:t>
            </a:r>
            <a:endParaRPr lang="en-US" dirty="0"/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378654" y="1636882"/>
            <a:ext cx="3011660" cy="221599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b="1" dirty="0"/>
              <a:t>Atomicidad.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b="1" dirty="0"/>
              <a:t>Consistencia.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b="1" dirty="0"/>
              <a:t>Aislamiento.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b="1" dirty="0"/>
              <a:t>Durabilidad. </a:t>
            </a:r>
            <a:endParaRPr lang="es-CL" sz="2000" dirty="0"/>
          </a:p>
        </p:txBody>
      </p:sp>
      <p:pic>
        <p:nvPicPr>
          <p:cNvPr id="3" name="0tAqp3w_K2o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390314" y="1242793"/>
            <a:ext cx="8669606" cy="487665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775" y="4393858"/>
            <a:ext cx="3046944" cy="1247287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378653" y="3260774"/>
            <a:ext cx="2803065" cy="817450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InnoDB</a:t>
            </a:r>
            <a:r>
              <a:rPr lang="es-CL" dirty="0"/>
              <a:t> </a:t>
            </a:r>
            <a:r>
              <a:rPr lang="es-CL" dirty="0" err="1"/>
              <a:t>Architecture</a:t>
            </a:r>
            <a:r>
              <a:rPr lang="es-CL" dirty="0"/>
              <a:t> – </a:t>
            </a:r>
            <a:r>
              <a:rPr lang="es-CL" dirty="0" err="1"/>
              <a:t>Backup</a:t>
            </a:r>
            <a:r>
              <a:rPr lang="es-CL" dirty="0"/>
              <a:t> &amp; </a:t>
            </a:r>
            <a:r>
              <a:rPr lang="es-CL" dirty="0" err="1"/>
              <a:t>Recovery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12" y="1104097"/>
            <a:ext cx="7382905" cy="575390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74132" y="2826886"/>
            <a:ext cx="403013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/>
              <a:t>Entender la arquitectura nos permite: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Identificar las estructuras que existen para asegurar la durabilidad de la información.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Entender los mecanismos de respaldo y recuperación de información.</a:t>
            </a:r>
            <a:endParaRPr lang="en-US" dirty="0"/>
          </a:p>
        </p:txBody>
      </p:sp>
      <p:sp>
        <p:nvSpPr>
          <p:cNvPr id="5" name="Rectángulo redondeado 4"/>
          <p:cNvSpPr/>
          <p:nvPr/>
        </p:nvSpPr>
        <p:spPr>
          <a:xfrm>
            <a:off x="7602413" y="2565830"/>
            <a:ext cx="2455987" cy="1110058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redondeado 5"/>
          <p:cNvSpPr/>
          <p:nvPr/>
        </p:nvSpPr>
        <p:spPr>
          <a:xfrm>
            <a:off x="7602412" y="3801619"/>
            <a:ext cx="2455987" cy="1241258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redondeado 7"/>
          <p:cNvSpPr/>
          <p:nvPr/>
        </p:nvSpPr>
        <p:spPr>
          <a:xfrm>
            <a:off x="5298826" y="5137620"/>
            <a:ext cx="4911974" cy="1720379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8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¿Cuál es el </a:t>
            </a:r>
            <a:r>
              <a:rPr lang="es-CL" b="1" dirty="0"/>
              <a:t>mecanismo básico </a:t>
            </a:r>
            <a:r>
              <a:rPr lang="es-CL" dirty="0"/>
              <a:t>de </a:t>
            </a:r>
            <a:r>
              <a:rPr lang="es-CL" dirty="0" err="1"/>
              <a:t>backup</a:t>
            </a:r>
            <a:r>
              <a:rPr lang="es-CL" dirty="0"/>
              <a:t>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2909" y="1460543"/>
            <a:ext cx="10366180" cy="36317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Respaldar la estructura y contenido de las tablas, en una fecha determinada (</a:t>
            </a:r>
            <a:r>
              <a:rPr lang="es-CL" dirty="0" err="1"/>
              <a:t>ejm</a:t>
            </a:r>
            <a:r>
              <a:rPr lang="es-CL" dirty="0"/>
              <a:t>: cierre mensual).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limitaciones tiene este mecanismo?</a:t>
            </a:r>
          </a:p>
          <a:p>
            <a:pPr lvl="1"/>
            <a:endParaRPr lang="es-CL" sz="2800" dirty="0"/>
          </a:p>
          <a:p>
            <a:pPr lvl="1"/>
            <a:endParaRPr lang="es-CL" sz="2800" dirty="0"/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requisitos deben cumplirse para tener una foto consistente?</a:t>
            </a:r>
          </a:p>
        </p:txBody>
      </p:sp>
      <p:sp>
        <p:nvSpPr>
          <p:cNvPr id="4" name="Rectángulo 3"/>
          <p:cNvSpPr/>
          <p:nvPr/>
        </p:nvSpPr>
        <p:spPr>
          <a:xfrm>
            <a:off x="6890805" y="6096716"/>
            <a:ext cx="5301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MySQL 8.0 Reference Manual</a:t>
            </a:r>
            <a:r>
              <a:rPr lang="en-US" dirty="0"/>
              <a:t>  /  Backup and Recovery </a:t>
            </a:r>
          </a:p>
        </p:txBody>
      </p:sp>
    </p:spTree>
    <p:extLst>
      <p:ext uri="{BB962C8B-B14F-4D97-AF65-F5344CB8AC3E}">
        <p14:creationId xmlns:p14="http://schemas.microsoft.com/office/powerpoint/2010/main" val="1402064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419" y="1201221"/>
            <a:ext cx="7485714" cy="547619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¿Dónde realizamos este respaldo básico?</a:t>
            </a:r>
            <a:br>
              <a:rPr lang="es-CL" dirty="0"/>
            </a:br>
            <a:r>
              <a:rPr lang="es-CL" sz="3200" dirty="0" err="1"/>
              <a:t>MySQL</a:t>
            </a:r>
            <a:r>
              <a:rPr lang="es-CL" sz="3200" dirty="0"/>
              <a:t> </a:t>
            </a:r>
            <a:r>
              <a:rPr lang="es-CL" sz="3200" dirty="0" err="1"/>
              <a:t>Workbench</a:t>
            </a:r>
            <a:endParaRPr lang="en-US" sz="3200" dirty="0"/>
          </a:p>
        </p:txBody>
      </p:sp>
      <p:sp>
        <p:nvSpPr>
          <p:cNvPr id="7" name="CuadroTexto 6"/>
          <p:cNvSpPr txBox="1"/>
          <p:nvPr/>
        </p:nvSpPr>
        <p:spPr>
          <a:xfrm>
            <a:off x="355598" y="2046490"/>
            <a:ext cx="40301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Instrucciones y operaciones de </a:t>
            </a:r>
            <a:r>
              <a:rPr lang="es-CL" sz="2400" b="1" dirty="0" err="1"/>
              <a:t>import</a:t>
            </a:r>
            <a:r>
              <a:rPr lang="es-CL" sz="2400" dirty="0"/>
              <a:t> / </a:t>
            </a:r>
            <a:r>
              <a:rPr lang="es-CL" sz="2400" b="1" dirty="0" err="1"/>
              <a:t>export</a:t>
            </a:r>
            <a:r>
              <a:rPr lang="es-CL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Archivos de log.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Opciones.</a:t>
            </a:r>
          </a:p>
        </p:txBody>
      </p:sp>
      <p:sp>
        <p:nvSpPr>
          <p:cNvPr id="6" name="Rectángulo redondeado 5"/>
          <p:cNvSpPr/>
          <p:nvPr/>
        </p:nvSpPr>
        <p:spPr>
          <a:xfrm>
            <a:off x="4418419" y="3404734"/>
            <a:ext cx="1828800" cy="1184198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2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Tipos de </a:t>
            </a:r>
            <a:r>
              <a:rPr lang="es-CL" dirty="0" err="1"/>
              <a:t>backups</a:t>
            </a:r>
            <a:r>
              <a:rPr lang="es-CL" dirty="0"/>
              <a:t> – Físico </a:t>
            </a:r>
            <a:r>
              <a:rPr lang="es-CL" sz="3200" dirty="0"/>
              <a:t>(sólo versión comercial)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2909" y="1460543"/>
            <a:ext cx="11015234" cy="49859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b="1" dirty="0" err="1"/>
              <a:t>Backup</a:t>
            </a:r>
            <a:r>
              <a:rPr lang="es-CL" b="1" dirty="0"/>
              <a:t>: </a:t>
            </a:r>
            <a:r>
              <a:rPr lang="es-CL" dirty="0"/>
              <a:t>Copia de archivos “en bruto” (</a:t>
            </a:r>
            <a:r>
              <a:rPr lang="es-CL" dirty="0" err="1"/>
              <a:t>raw</a:t>
            </a:r>
            <a:r>
              <a:rPr lang="es-CL" dirty="0"/>
              <a:t> files).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Se utiliza la herramienta </a:t>
            </a:r>
            <a:r>
              <a:rPr lang="es-CL" sz="2800" b="1" dirty="0" err="1"/>
              <a:t>MySQL</a:t>
            </a:r>
            <a:r>
              <a:rPr lang="es-CL" sz="2800" b="1" dirty="0"/>
              <a:t> Enterprise </a:t>
            </a:r>
            <a:r>
              <a:rPr lang="es-CL" sz="2800" b="1" dirty="0" err="1"/>
              <a:t>Backup</a:t>
            </a:r>
            <a:r>
              <a:rPr lang="es-CL" sz="2800" b="1" dirty="0"/>
              <a:t>.</a:t>
            </a:r>
            <a:endParaRPr lang="es-CL" sz="2800" dirty="0"/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Son en general mucho más rápidos de realizar.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La salida ocupa menos espacio.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La recuperación puede ser menos flexible.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La portabilidad depende de las características del hardware.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 err="1"/>
              <a:t>MySQL</a:t>
            </a:r>
            <a:r>
              <a:rPr lang="es-CL" sz="2800" dirty="0"/>
              <a:t> debe estar offline.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b="1" dirty="0" err="1"/>
              <a:t>Recovery</a:t>
            </a:r>
            <a:r>
              <a:rPr lang="es-CL" b="1" dirty="0"/>
              <a:t>: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Se utiliza </a:t>
            </a:r>
            <a:r>
              <a:rPr lang="es-CL" sz="2800" b="1" dirty="0" err="1"/>
              <a:t>MySQL</a:t>
            </a:r>
            <a:r>
              <a:rPr lang="es-CL" sz="2800" b="1" dirty="0"/>
              <a:t> Enterprise </a:t>
            </a:r>
            <a:r>
              <a:rPr lang="es-CL" sz="2800" b="1" dirty="0" err="1"/>
              <a:t>Backup</a:t>
            </a:r>
            <a:r>
              <a:rPr lang="es-CL" sz="2800" dirty="0"/>
              <a:t>.</a:t>
            </a:r>
          </a:p>
          <a:p>
            <a:endParaRPr lang="es-CL" dirty="0"/>
          </a:p>
          <a:p>
            <a:endParaRPr lang="es-CL" dirty="0"/>
          </a:p>
        </p:txBody>
      </p:sp>
      <p:sp>
        <p:nvSpPr>
          <p:cNvPr id="5" name="Rectángulo 4"/>
          <p:cNvSpPr/>
          <p:nvPr/>
        </p:nvSpPr>
        <p:spPr>
          <a:xfrm>
            <a:off x="4883623" y="6014520"/>
            <a:ext cx="67117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Fuente: </a:t>
            </a:r>
            <a:r>
              <a:rPr lang="en-US" dirty="0">
                <a:hlinkClick r:id="rId3"/>
              </a:rPr>
              <a:t>https://dev.mysql.com/doc/mysql-enterprise-backup/8.0/en/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791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</a:t>
            </a:r>
            <a:r>
              <a:rPr lang="es-CL" dirty="0" err="1"/>
              <a:t>backups</a:t>
            </a:r>
            <a:r>
              <a:rPr lang="es-CL" dirty="0"/>
              <a:t> - Lógico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2909" y="1460543"/>
            <a:ext cx="11015234" cy="575542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b="1" dirty="0" err="1"/>
              <a:t>Backup</a:t>
            </a:r>
            <a:r>
              <a:rPr lang="es-CL" b="1" dirty="0"/>
              <a:t>: </a:t>
            </a:r>
            <a:r>
              <a:rPr lang="es-CL" dirty="0"/>
              <a:t>Archivo que contiene instrucciones SQL (</a:t>
            </a:r>
            <a:r>
              <a:rPr lang="es-CL" dirty="0" err="1"/>
              <a:t>create</a:t>
            </a:r>
            <a:r>
              <a:rPr lang="es-CL" dirty="0"/>
              <a:t>, </a:t>
            </a:r>
            <a:r>
              <a:rPr lang="es-CL" dirty="0" err="1"/>
              <a:t>insert</a:t>
            </a:r>
            <a:r>
              <a:rPr lang="es-CL" dirty="0"/>
              <a:t>).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más lento, porque pasa por un proceso de conversión de datos.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Tamaño de archivo es mayor.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Más flexible.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Mayor portabilidad.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Pueden realizarse con el servidor online (ojo con consistencia).</a:t>
            </a:r>
          </a:p>
          <a:p>
            <a:pPr lvl="1"/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b="1" dirty="0" err="1"/>
              <a:t>Recovery</a:t>
            </a:r>
            <a:r>
              <a:rPr lang="es-CL" b="1" dirty="0"/>
              <a:t>: </a:t>
            </a:r>
            <a:r>
              <a:rPr lang="es-CL" dirty="0"/>
              <a:t>Puede realizarse utilizando scripts en línea de comandos, o utilizar </a:t>
            </a:r>
            <a:r>
              <a:rPr lang="es-CL" dirty="0" err="1"/>
              <a:t>MySQL</a:t>
            </a:r>
            <a:r>
              <a:rPr lang="es-CL" dirty="0"/>
              <a:t> </a:t>
            </a:r>
            <a:r>
              <a:rPr lang="es-CL" dirty="0" err="1"/>
              <a:t>Workbench</a:t>
            </a:r>
            <a:r>
              <a:rPr lang="es-CL" dirty="0"/>
              <a:t>. </a:t>
            </a:r>
            <a:endParaRPr lang="es-CL" b="1" dirty="0"/>
          </a:p>
          <a:p>
            <a:pPr marL="1066785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066785" lvl="1" indent="-457200">
              <a:buFont typeface="Arial" panose="020B0604020202020204" pitchFamily="34" charset="0"/>
              <a:buChar char="•"/>
            </a:pPr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Rectángulo 3"/>
          <p:cNvSpPr/>
          <p:nvPr/>
        </p:nvSpPr>
        <p:spPr>
          <a:xfrm>
            <a:off x="6890805" y="6096716"/>
            <a:ext cx="5301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MySQL 8.0 Reference Manual</a:t>
            </a:r>
            <a:r>
              <a:rPr lang="en-US" dirty="0"/>
              <a:t>  /  Backup and Recovery </a:t>
            </a:r>
          </a:p>
        </p:txBody>
      </p:sp>
    </p:spTree>
    <p:extLst>
      <p:ext uri="{BB962C8B-B14F-4D97-AF65-F5344CB8AC3E}">
        <p14:creationId xmlns:p14="http://schemas.microsoft.com/office/powerpoint/2010/main" val="341439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</a:t>
            </a:r>
            <a:r>
              <a:rPr lang="es-CL" dirty="0" err="1"/>
              <a:t>backups</a:t>
            </a:r>
            <a:r>
              <a:rPr lang="es-CL" dirty="0"/>
              <a:t> – Online vs Offline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2909" y="1460543"/>
            <a:ext cx="11015234" cy="618630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El </a:t>
            </a:r>
            <a:r>
              <a:rPr lang="es-CL" dirty="0" err="1"/>
              <a:t>backup</a:t>
            </a:r>
            <a:r>
              <a:rPr lang="es-CL" dirty="0"/>
              <a:t> </a:t>
            </a:r>
            <a:r>
              <a:rPr lang="es-CL" b="1" dirty="0"/>
              <a:t>Offline</a:t>
            </a:r>
            <a:r>
              <a:rPr lang="es-CL" dirty="0"/>
              <a:t> requiere que </a:t>
            </a:r>
            <a:r>
              <a:rPr lang="es-CL" dirty="0" err="1"/>
              <a:t>MySQL</a:t>
            </a:r>
            <a:r>
              <a:rPr lang="es-CL" dirty="0"/>
              <a:t> esté detenido.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más simple de realizar.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Afecta disponibilidad.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El </a:t>
            </a:r>
            <a:r>
              <a:rPr lang="es-CL" dirty="0" err="1"/>
              <a:t>backup</a:t>
            </a:r>
            <a:r>
              <a:rPr lang="es-CL" dirty="0"/>
              <a:t> </a:t>
            </a:r>
            <a:r>
              <a:rPr lang="es-CL" b="1" dirty="0"/>
              <a:t>Online</a:t>
            </a:r>
            <a:r>
              <a:rPr lang="es-CL" dirty="0"/>
              <a:t> se puede realizar con </a:t>
            </a:r>
            <a:r>
              <a:rPr lang="es-CL" dirty="0" err="1"/>
              <a:t>MySQL</a:t>
            </a:r>
            <a:r>
              <a:rPr lang="es-CL" dirty="0"/>
              <a:t> funcionando.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posible que algunos usuarios accedan a los datos mientras se está respaldando.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Se deben realizar bloqueos de tablas, para evitar problemas de integridad.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También son llamados “</a:t>
            </a:r>
            <a:r>
              <a:rPr lang="es-CL" b="1" dirty="0" err="1"/>
              <a:t>hot</a:t>
            </a:r>
            <a:r>
              <a:rPr lang="es-CL" dirty="0"/>
              <a:t>” vs “</a:t>
            </a:r>
            <a:r>
              <a:rPr lang="es-CL" b="1" dirty="0" err="1"/>
              <a:t>cold</a:t>
            </a:r>
            <a:r>
              <a:rPr lang="es-CL" dirty="0"/>
              <a:t>” </a:t>
            </a:r>
            <a:r>
              <a:rPr lang="es-CL" dirty="0" err="1"/>
              <a:t>backups</a:t>
            </a:r>
            <a:r>
              <a:rPr lang="es-CL" dirty="0"/>
              <a:t>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Se habla de “</a:t>
            </a:r>
            <a:r>
              <a:rPr lang="es-CL" sz="2800" b="1" dirty="0" err="1"/>
              <a:t>warm</a:t>
            </a:r>
            <a:r>
              <a:rPr lang="es-CL" sz="2800" dirty="0"/>
              <a:t>” </a:t>
            </a:r>
            <a:r>
              <a:rPr lang="es-CL" sz="2800" dirty="0" err="1"/>
              <a:t>backups</a:t>
            </a:r>
            <a:r>
              <a:rPr lang="es-CL" sz="2800" dirty="0"/>
              <a:t>, cuando una base de datos está online, pero las tablas están bloqueadas. 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Rectángulo 3"/>
          <p:cNvSpPr/>
          <p:nvPr/>
        </p:nvSpPr>
        <p:spPr>
          <a:xfrm>
            <a:off x="6890805" y="6096716"/>
            <a:ext cx="5301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MySQL 8.0 Reference Manual</a:t>
            </a:r>
            <a:r>
              <a:rPr lang="en-US" dirty="0"/>
              <a:t>  /  Backup and Recovery </a:t>
            </a:r>
          </a:p>
        </p:txBody>
      </p:sp>
    </p:spTree>
    <p:extLst>
      <p:ext uri="{BB962C8B-B14F-4D97-AF65-F5344CB8AC3E}">
        <p14:creationId xmlns:p14="http://schemas.microsoft.com/office/powerpoint/2010/main" val="2582241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</a:t>
            </a:r>
            <a:r>
              <a:rPr lang="es-CL" dirty="0" err="1"/>
              <a:t>backups</a:t>
            </a:r>
            <a:r>
              <a:rPr lang="es-CL" dirty="0"/>
              <a:t> – Full vs Incremental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2608" y="1460543"/>
            <a:ext cx="11635535" cy="424731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El </a:t>
            </a:r>
            <a:r>
              <a:rPr lang="es-CL" dirty="0" err="1"/>
              <a:t>backup</a:t>
            </a:r>
            <a:r>
              <a:rPr lang="es-CL" dirty="0"/>
              <a:t> </a:t>
            </a:r>
            <a:r>
              <a:rPr lang="es-CL" b="1" dirty="0"/>
              <a:t>Full</a:t>
            </a:r>
            <a:r>
              <a:rPr lang="es-CL" dirty="0"/>
              <a:t> implica respaldar el servidor </a:t>
            </a:r>
            <a:r>
              <a:rPr lang="es-CL" dirty="0" err="1"/>
              <a:t>MySQL</a:t>
            </a:r>
            <a:r>
              <a:rPr lang="es-CL" dirty="0"/>
              <a:t> completo.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El </a:t>
            </a:r>
            <a:r>
              <a:rPr lang="es-CL" dirty="0" err="1"/>
              <a:t>backup</a:t>
            </a:r>
            <a:r>
              <a:rPr lang="es-CL" dirty="0"/>
              <a:t> </a:t>
            </a:r>
            <a:r>
              <a:rPr lang="es-CL" b="1" dirty="0"/>
              <a:t>Incremental</a:t>
            </a:r>
            <a:r>
              <a:rPr lang="es-CL" dirty="0"/>
              <a:t> respalda sólo los cambios realizados desde un punto de tiempo en adelante. 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Utiliza para ello los Logs binarios, que es donde se registran los cambios.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endParaRPr lang="es-CL" sz="28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La </a:t>
            </a:r>
            <a:r>
              <a:rPr lang="es-CL" b="1" dirty="0"/>
              <a:t>recuperación Full </a:t>
            </a:r>
            <a:r>
              <a:rPr lang="es-CL" dirty="0"/>
              <a:t>implica restaurar datos desde un </a:t>
            </a:r>
            <a:r>
              <a:rPr lang="es-CL" b="1" dirty="0" err="1"/>
              <a:t>backup</a:t>
            </a:r>
            <a:r>
              <a:rPr lang="es-CL" b="1" dirty="0"/>
              <a:t> Full</a:t>
            </a:r>
            <a:r>
              <a:rPr lang="es-CL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tx1"/>
                </a:solidFill>
              </a:rPr>
              <a:t>La </a:t>
            </a:r>
            <a:r>
              <a:rPr lang="es-CL" b="1" dirty="0">
                <a:solidFill>
                  <a:schemeClr val="tx1"/>
                </a:solidFill>
              </a:rPr>
              <a:t>recuperación Incremental </a:t>
            </a:r>
            <a:r>
              <a:rPr lang="es-CL" dirty="0">
                <a:solidFill>
                  <a:schemeClr val="tx1"/>
                </a:solidFill>
              </a:rPr>
              <a:t>permite recuperar los cambios hechos después de un </a:t>
            </a:r>
            <a:r>
              <a:rPr lang="es-CL" b="1" dirty="0">
                <a:solidFill>
                  <a:schemeClr val="tx1"/>
                </a:solidFill>
              </a:rPr>
              <a:t>respaldo Full</a:t>
            </a:r>
            <a:r>
              <a:rPr lang="es-CL" dirty="0">
                <a:solidFill>
                  <a:schemeClr val="tx1"/>
                </a:solidFill>
              </a:rPr>
              <a:t>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Requiere previamente recuperación Full.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6890805" y="6096716"/>
            <a:ext cx="5301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MySQL 8.0 Reference Manual</a:t>
            </a:r>
            <a:r>
              <a:rPr lang="en-US" dirty="0"/>
              <a:t>  /  Backup and Recovery </a:t>
            </a:r>
          </a:p>
        </p:txBody>
      </p:sp>
    </p:spTree>
    <p:extLst>
      <p:ext uri="{BB962C8B-B14F-4D97-AF65-F5344CB8AC3E}">
        <p14:creationId xmlns:p14="http://schemas.microsoft.com/office/powerpoint/2010/main" val="1401689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InnoDB</a:t>
            </a:r>
            <a:r>
              <a:rPr lang="es-CL" dirty="0"/>
              <a:t> </a:t>
            </a:r>
            <a:r>
              <a:rPr lang="es-CL" dirty="0" err="1"/>
              <a:t>Architecture</a:t>
            </a:r>
            <a:r>
              <a:rPr lang="es-CL" dirty="0"/>
              <a:t> – </a:t>
            </a:r>
            <a:r>
              <a:rPr lang="es-CL" dirty="0" err="1"/>
              <a:t>Backup</a:t>
            </a:r>
            <a:r>
              <a:rPr lang="es-CL" dirty="0"/>
              <a:t> &amp; </a:t>
            </a:r>
            <a:r>
              <a:rPr lang="es-CL" dirty="0" err="1"/>
              <a:t>Recovery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12" y="1104097"/>
            <a:ext cx="7382905" cy="575390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74132" y="2826886"/>
            <a:ext cx="403013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/>
              <a:t>Entender la arquitectura nos permite: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Identificar las estructuras que existen para asegurar la durabilidad de la información.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Entender los mecanismos de respaldo y recuperación de información.</a:t>
            </a:r>
            <a:endParaRPr lang="en-US" dirty="0"/>
          </a:p>
        </p:txBody>
      </p:sp>
      <p:sp>
        <p:nvSpPr>
          <p:cNvPr id="8" name="Rectángulo redondeado 7"/>
          <p:cNvSpPr/>
          <p:nvPr/>
        </p:nvSpPr>
        <p:spPr>
          <a:xfrm>
            <a:off x="5298826" y="5137620"/>
            <a:ext cx="4911974" cy="1720379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9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</a:t>
            </a:r>
            <a:r>
              <a:rPr lang="es-CL" dirty="0" err="1"/>
              <a:t>backups</a:t>
            </a:r>
            <a:r>
              <a:rPr lang="es-CL" dirty="0"/>
              <a:t> – Full vs Incremental</a:t>
            </a:r>
            <a:endParaRPr lang="en-US" dirty="0"/>
          </a:p>
        </p:txBody>
      </p:sp>
      <p:cxnSp>
        <p:nvCxnSpPr>
          <p:cNvPr id="7" name="Conector recto de flecha 6"/>
          <p:cNvCxnSpPr/>
          <p:nvPr/>
        </p:nvCxnSpPr>
        <p:spPr>
          <a:xfrm>
            <a:off x="873831" y="2374111"/>
            <a:ext cx="3598791" cy="0"/>
          </a:xfrm>
          <a:prstGeom prst="straightConnector1">
            <a:avLst/>
          </a:prstGeom>
          <a:ln w="31750"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4472622" y="2206637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Tiempo</a:t>
            </a:r>
            <a:endParaRPr lang="en-US" dirty="0"/>
          </a:p>
        </p:txBody>
      </p:sp>
      <p:cxnSp>
        <p:nvCxnSpPr>
          <p:cNvPr id="11" name="Conector recto de flecha 10"/>
          <p:cNvCxnSpPr/>
          <p:nvPr/>
        </p:nvCxnSpPr>
        <p:spPr>
          <a:xfrm flipH="1">
            <a:off x="1792224" y="2575969"/>
            <a:ext cx="1" cy="1227700"/>
          </a:xfrm>
          <a:prstGeom prst="straightConnector1">
            <a:avLst/>
          </a:prstGeom>
          <a:ln w="28575"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3382388" y="974133"/>
            <a:ext cx="1550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/>
              <a:t>Falla Grave</a:t>
            </a:r>
            <a:endParaRPr lang="en-US" sz="2400" dirty="0"/>
          </a:p>
        </p:txBody>
      </p:sp>
      <p:cxnSp>
        <p:nvCxnSpPr>
          <p:cNvPr id="18" name="Conector recto de flecha 17"/>
          <p:cNvCxnSpPr/>
          <p:nvPr/>
        </p:nvCxnSpPr>
        <p:spPr>
          <a:xfrm>
            <a:off x="4157472" y="1458615"/>
            <a:ext cx="0" cy="748022"/>
          </a:xfrm>
          <a:prstGeom prst="straightConnector1">
            <a:avLst/>
          </a:prstGeom>
          <a:ln w="28575">
            <a:solidFill>
              <a:srgbClr val="FF0000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243530" y="2206637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BD 1</a:t>
            </a:r>
            <a:endParaRPr lang="en-US" b="1" dirty="0"/>
          </a:p>
        </p:txBody>
      </p:sp>
      <p:cxnSp>
        <p:nvCxnSpPr>
          <p:cNvPr id="23" name="Conector recto de flecha 22"/>
          <p:cNvCxnSpPr/>
          <p:nvPr/>
        </p:nvCxnSpPr>
        <p:spPr>
          <a:xfrm flipV="1">
            <a:off x="4641159" y="4576078"/>
            <a:ext cx="6496233" cy="24152"/>
          </a:xfrm>
          <a:prstGeom prst="straightConnector1">
            <a:avLst/>
          </a:prstGeom>
          <a:ln w="31750"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11137392" y="4391412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Tiempo</a:t>
            </a:r>
            <a:endParaRPr lang="en-US" dirty="0"/>
          </a:p>
        </p:txBody>
      </p:sp>
      <p:sp>
        <p:nvSpPr>
          <p:cNvPr id="25" name="CuadroTexto 24"/>
          <p:cNvSpPr txBox="1"/>
          <p:nvPr/>
        </p:nvSpPr>
        <p:spPr>
          <a:xfrm>
            <a:off x="3842321" y="439141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BD 2</a:t>
            </a:r>
            <a:endParaRPr lang="en-US" b="1" dirty="0"/>
          </a:p>
        </p:txBody>
      </p:sp>
      <p:cxnSp>
        <p:nvCxnSpPr>
          <p:cNvPr id="27" name="Conector recto de flecha 26"/>
          <p:cNvCxnSpPr/>
          <p:nvPr/>
        </p:nvCxnSpPr>
        <p:spPr>
          <a:xfrm>
            <a:off x="5559552" y="4715992"/>
            <a:ext cx="7980" cy="553017"/>
          </a:xfrm>
          <a:prstGeom prst="straightConnector1">
            <a:avLst/>
          </a:prstGeom>
          <a:ln w="28575">
            <a:headEnd type="triangl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brir llave 28"/>
          <p:cNvSpPr/>
          <p:nvPr/>
        </p:nvSpPr>
        <p:spPr>
          <a:xfrm rot="16200000">
            <a:off x="2850338" y="1617507"/>
            <a:ext cx="433089" cy="218117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7146770" y="4150264"/>
            <a:ext cx="0" cy="425814"/>
          </a:xfrm>
          <a:prstGeom prst="straightConnector1">
            <a:avLst/>
          </a:prstGeom>
          <a:ln w="28575"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/>
          <p:nvPr/>
        </p:nvCxnSpPr>
        <p:spPr>
          <a:xfrm>
            <a:off x="5567532" y="4600230"/>
            <a:ext cx="797512" cy="0"/>
          </a:xfrm>
          <a:prstGeom prst="straightConnector1">
            <a:avLst/>
          </a:prstGeom>
          <a:ln w="28575">
            <a:solidFill>
              <a:srgbClr val="FFC000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/>
          <p:cNvCxnSpPr/>
          <p:nvPr/>
        </p:nvCxnSpPr>
        <p:spPr>
          <a:xfrm>
            <a:off x="7146770" y="4584097"/>
            <a:ext cx="758012" cy="8114"/>
          </a:xfrm>
          <a:prstGeom prst="straightConnector1">
            <a:avLst/>
          </a:prstGeom>
          <a:ln w="28575">
            <a:solidFill>
              <a:srgbClr val="FFC000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>
            <a:off x="7904782" y="4847744"/>
            <a:ext cx="0" cy="545682"/>
          </a:xfrm>
          <a:prstGeom prst="straightConnector1">
            <a:avLst/>
          </a:prstGeom>
          <a:ln w="28575">
            <a:solidFill>
              <a:srgbClr val="00B050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/>
          <p:cNvSpPr txBox="1"/>
          <p:nvPr/>
        </p:nvSpPr>
        <p:spPr>
          <a:xfrm>
            <a:off x="7678572" y="5446756"/>
            <a:ext cx="1830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/>
              <a:t>BD Operativa</a:t>
            </a:r>
            <a:endParaRPr lang="en-US" sz="2400" dirty="0"/>
          </a:p>
        </p:txBody>
      </p:sp>
      <p:sp>
        <p:nvSpPr>
          <p:cNvPr id="50" name="Documento 49"/>
          <p:cNvSpPr/>
          <p:nvPr/>
        </p:nvSpPr>
        <p:spPr>
          <a:xfrm>
            <a:off x="467422" y="3924372"/>
            <a:ext cx="2075297" cy="877597"/>
          </a:xfrm>
          <a:prstGeom prst="flowChartDocument">
            <a:avLst/>
          </a:prstGeom>
          <a:solidFill>
            <a:schemeClr val="accent1">
              <a:alpha val="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solidFill>
                  <a:schemeClr val="tx1"/>
                </a:solidFill>
              </a:rPr>
              <a:t>Respaldo Full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2" name="Multidocumento 51"/>
          <p:cNvSpPr/>
          <p:nvPr/>
        </p:nvSpPr>
        <p:spPr>
          <a:xfrm>
            <a:off x="2036300" y="2927284"/>
            <a:ext cx="2305240" cy="876385"/>
          </a:xfrm>
          <a:prstGeom prst="flowChartMultidocument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solidFill>
                  <a:schemeClr val="tx1"/>
                </a:solidFill>
              </a:rPr>
              <a:t>Logs Binarios</a:t>
            </a:r>
            <a:r>
              <a:rPr lang="es-CL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Documento 52"/>
          <p:cNvSpPr/>
          <p:nvPr/>
        </p:nvSpPr>
        <p:spPr>
          <a:xfrm>
            <a:off x="4521903" y="5419270"/>
            <a:ext cx="2075297" cy="877597"/>
          </a:xfrm>
          <a:prstGeom prst="flowChartDocument">
            <a:avLst/>
          </a:prstGeom>
          <a:solidFill>
            <a:schemeClr val="accent1">
              <a:alpha val="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solidFill>
                  <a:schemeClr val="tx1"/>
                </a:solidFill>
              </a:rPr>
              <a:t>Respaldo Full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4" name="Multidocumento 53"/>
          <p:cNvSpPr/>
          <p:nvPr/>
        </p:nvSpPr>
        <p:spPr>
          <a:xfrm>
            <a:off x="6095999" y="3150122"/>
            <a:ext cx="2305240" cy="876385"/>
          </a:xfrm>
          <a:prstGeom prst="flowChartMultidocument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400" dirty="0">
                <a:solidFill>
                  <a:schemeClr val="tx1"/>
                </a:solidFill>
              </a:rPr>
              <a:t>Logs Binarios</a:t>
            </a:r>
            <a:r>
              <a:rPr lang="es-CL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476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haremos hoy?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8912" y="1460543"/>
            <a:ext cx="11192256" cy="196977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Implementar diferentes mecanismos de respaldo/recuperación.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Ver algunas de sus potencialidades y limitaciones.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85276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archivos y </a:t>
            </a:r>
            <a:r>
              <a:rPr lang="es-CL" dirty="0" err="1"/>
              <a:t>schemas</a:t>
            </a:r>
            <a:r>
              <a:rPr lang="es-CL" dirty="0"/>
              <a:t> usaremos?</a:t>
            </a:r>
            <a:endParaRPr lang="en-US" dirty="0"/>
          </a:p>
        </p:txBody>
      </p:sp>
      <p:sp>
        <p:nvSpPr>
          <p:cNvPr id="6" name="Diagrama de flujo: documento 5">
            <a:extLst>
              <a:ext uri="{FF2B5EF4-FFF2-40B4-BE49-F238E27FC236}">
                <a16:creationId xmlns:a16="http://schemas.microsoft.com/office/drawing/2014/main" id="{76F2BF68-F4BC-4687-8457-7D00EDF30500}"/>
              </a:ext>
            </a:extLst>
          </p:cNvPr>
          <p:cNvSpPr/>
          <p:nvPr/>
        </p:nvSpPr>
        <p:spPr>
          <a:xfrm>
            <a:off x="3657600" y="1571171"/>
            <a:ext cx="1615440" cy="8382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sakila_film.sql</a:t>
            </a:r>
            <a:endParaRPr lang="es-CL" dirty="0"/>
          </a:p>
        </p:txBody>
      </p:sp>
      <p:sp>
        <p:nvSpPr>
          <p:cNvPr id="7" name="Diagrama de flujo: disco magnético 6">
            <a:extLst>
              <a:ext uri="{FF2B5EF4-FFF2-40B4-BE49-F238E27FC236}">
                <a16:creationId xmlns:a16="http://schemas.microsoft.com/office/drawing/2014/main" id="{9679B797-10CE-49E8-AEA1-ADD7348326EE}"/>
              </a:ext>
            </a:extLst>
          </p:cNvPr>
          <p:cNvSpPr/>
          <p:nvPr/>
        </p:nvSpPr>
        <p:spPr>
          <a:xfrm>
            <a:off x="6052457" y="1422581"/>
            <a:ext cx="2087880" cy="1135380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chemeClr val="tx1"/>
                </a:solidFill>
              </a:rPr>
              <a:t>sakila_film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B158AA10-40DD-43A0-8BC5-713254FFD749}"/>
              </a:ext>
            </a:extLst>
          </p:cNvPr>
          <p:cNvSpPr/>
          <p:nvPr/>
        </p:nvSpPr>
        <p:spPr>
          <a:xfrm>
            <a:off x="5529943" y="1788885"/>
            <a:ext cx="413657" cy="20138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Diagrama de flujo: documento 8">
            <a:extLst>
              <a:ext uri="{FF2B5EF4-FFF2-40B4-BE49-F238E27FC236}">
                <a16:creationId xmlns:a16="http://schemas.microsoft.com/office/drawing/2014/main" id="{8A88B4E0-810C-4F85-ADF7-86819C67B49E}"/>
              </a:ext>
            </a:extLst>
          </p:cNvPr>
          <p:cNvSpPr/>
          <p:nvPr/>
        </p:nvSpPr>
        <p:spPr>
          <a:xfrm>
            <a:off x="5736771" y="3509760"/>
            <a:ext cx="1164772" cy="8382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film1.sql</a:t>
            </a:r>
            <a:endParaRPr lang="es-CL" dirty="0"/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284811A9-D415-44D0-9E3A-DFBB13D4D192}"/>
              </a:ext>
            </a:extLst>
          </p:cNvPr>
          <p:cNvSpPr/>
          <p:nvPr/>
        </p:nvSpPr>
        <p:spPr>
          <a:xfrm>
            <a:off x="6210300" y="2799818"/>
            <a:ext cx="217714" cy="48985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Diagrama de flujo: documento 10">
            <a:extLst>
              <a:ext uri="{FF2B5EF4-FFF2-40B4-BE49-F238E27FC236}">
                <a16:creationId xmlns:a16="http://schemas.microsoft.com/office/drawing/2014/main" id="{37FCA67F-773F-4C77-912B-F8F816E82E89}"/>
              </a:ext>
            </a:extLst>
          </p:cNvPr>
          <p:cNvSpPr/>
          <p:nvPr/>
        </p:nvSpPr>
        <p:spPr>
          <a:xfrm>
            <a:off x="7032172" y="3509760"/>
            <a:ext cx="1164772" cy="8382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film2.sql</a:t>
            </a:r>
            <a:endParaRPr lang="es-CL" dirty="0"/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0DCCD559-24FF-44EF-ABD5-A9532FE66C7C}"/>
              </a:ext>
            </a:extLst>
          </p:cNvPr>
          <p:cNvSpPr/>
          <p:nvPr/>
        </p:nvSpPr>
        <p:spPr>
          <a:xfrm>
            <a:off x="7505701" y="2799818"/>
            <a:ext cx="217714" cy="48985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Diagrama de flujo: disco magnético 12">
            <a:extLst>
              <a:ext uri="{FF2B5EF4-FFF2-40B4-BE49-F238E27FC236}">
                <a16:creationId xmlns:a16="http://schemas.microsoft.com/office/drawing/2014/main" id="{D2D7BE18-C7B3-43C9-90DC-F49580E7CB8F}"/>
              </a:ext>
            </a:extLst>
          </p:cNvPr>
          <p:cNvSpPr/>
          <p:nvPr/>
        </p:nvSpPr>
        <p:spPr>
          <a:xfrm>
            <a:off x="6850381" y="5116335"/>
            <a:ext cx="1528354" cy="1135380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film2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39AED15C-D207-4548-94AC-C5C6EB7C910F}"/>
              </a:ext>
            </a:extLst>
          </p:cNvPr>
          <p:cNvSpPr/>
          <p:nvPr/>
        </p:nvSpPr>
        <p:spPr>
          <a:xfrm>
            <a:off x="7505701" y="4443676"/>
            <a:ext cx="217714" cy="48985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7250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22788</TotalTime>
  <Words>1128</Words>
  <Application>Microsoft Office PowerPoint</Application>
  <PresentationFormat>Panorámica</PresentationFormat>
  <Paragraphs>160</Paragraphs>
  <Slides>19</Slides>
  <Notes>16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Presentación de PowerPoint</vt:lpstr>
      <vt:lpstr>¿Por qué hacemos backups?</vt:lpstr>
      <vt:lpstr>¿Por qué hacemos backups? (2024)</vt:lpstr>
      <vt:lpstr>Análisis de riesgos TI</vt:lpstr>
      <vt:lpstr>¿Por qué hacemos backups?</vt:lpstr>
      <vt:lpstr>¿Qué riesgos existen sobre una base de datos?</vt:lpstr>
      <vt:lpstr>InnoDB Architecture – Backup &amp; Recovery</vt:lpstr>
      <vt:lpstr>Gestión de Transacciones – propiedades ACID</vt:lpstr>
      <vt:lpstr>InnoDB Architecture – Backup &amp; Recovery</vt:lpstr>
      <vt:lpstr>¿Cuál es el mecanismo básico de backup?</vt:lpstr>
      <vt:lpstr>¿Dónde realizamos este respaldo básico? MySQL Workbench</vt:lpstr>
      <vt:lpstr>Tipos de backups – Físico (sólo versión comercial)</vt:lpstr>
      <vt:lpstr>Tipos de backups - Lógico</vt:lpstr>
      <vt:lpstr>Tipos de backups – Online vs Offline</vt:lpstr>
      <vt:lpstr>Tipos de backups – Full vs Incremental</vt:lpstr>
      <vt:lpstr>InnoDB Architecture – Backup &amp; Recovery</vt:lpstr>
      <vt:lpstr>Tipos de backups – Full vs Incremental</vt:lpstr>
      <vt:lpstr>¿Qué haremos hoy?</vt:lpstr>
      <vt:lpstr>¿Qué archivos y schemas usaremos?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178</cp:revision>
  <cp:lastPrinted>2018-03-09T00:58:19Z</cp:lastPrinted>
  <dcterms:created xsi:type="dcterms:W3CDTF">2018-03-05T20:26:11Z</dcterms:created>
  <dcterms:modified xsi:type="dcterms:W3CDTF">2026-05-27T13:13:48Z</dcterms:modified>
</cp:coreProperties>
</file>
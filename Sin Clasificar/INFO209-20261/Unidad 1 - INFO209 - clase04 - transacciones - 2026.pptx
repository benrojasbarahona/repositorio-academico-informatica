
<file path=[Content_Types].xml><?xml version="1.0" encoding="utf-8"?>
<Types xmlns="http://schemas.openxmlformats.org/package/2006/content-types">
  <Default Extension="bin" ContentType="application/vnd.ms-office.activeX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ctiveX/activeX1.xml" ContentType="application/vnd.ms-office.activeX+xml"/>
  <Override PartName="/ppt/activeX/activeX2.xml" ContentType="application/vnd.ms-office.activeX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7" r:id="rId2"/>
    <p:sldId id="265" r:id="rId3"/>
    <p:sldId id="288" r:id="rId4"/>
    <p:sldId id="298" r:id="rId5"/>
    <p:sldId id="289" r:id="rId6"/>
    <p:sldId id="290" r:id="rId7"/>
    <p:sldId id="293" r:id="rId8"/>
    <p:sldId id="292" r:id="rId9"/>
    <p:sldId id="294" r:id="rId10"/>
    <p:sldId id="297" r:id="rId11"/>
    <p:sldId id="291" r:id="rId12"/>
    <p:sldId id="296" r:id="rId13"/>
    <p:sldId id="295" r:id="rId14"/>
  </p:sldIdLst>
  <p:sldSz cx="12192000" cy="6858000"/>
  <p:notesSz cx="7077075" cy="9028113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41" autoAdjust="0"/>
    <p:restoredTop sz="86861" autoAdjust="0"/>
  </p:normalViewPr>
  <p:slideViewPr>
    <p:cSldViewPr snapToGrid="0">
      <p:cViewPr varScale="1">
        <p:scale>
          <a:sx n="98" d="100"/>
          <a:sy n="98" d="100"/>
        </p:scale>
        <p:origin x="2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activeX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529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08705" y="0"/>
            <a:ext cx="3066733" cy="4529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1F1719-9756-4A84-82A5-4DD33F36571E}" type="datetimeFigureOut">
              <a:rPr lang="es-CL" smtClean="0"/>
              <a:t>31-03-2026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575141"/>
            <a:ext cx="3066733" cy="4529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08705" y="8575141"/>
            <a:ext cx="3066733" cy="4529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FAC36-D20F-4D20-A1F7-B93EBCBA800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5022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529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08705" y="0"/>
            <a:ext cx="3066733" cy="4529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CA8EBD-F228-4310-98D3-0AA28F568233}" type="datetimeFigureOut">
              <a:rPr lang="es-CL" smtClean="0"/>
              <a:t>31-03-2026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830263" y="1128713"/>
            <a:ext cx="5416550" cy="3046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7708" y="4344780"/>
            <a:ext cx="5661660" cy="355481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575141"/>
            <a:ext cx="3066733" cy="4529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08705" y="8575141"/>
            <a:ext cx="3066733" cy="4529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801272-3DC3-4F9E-9400-55ED7D4F32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43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29997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 err="1"/>
              <a:t>Autocommit</a:t>
            </a:r>
            <a:r>
              <a:rPr lang="es-CL" dirty="0"/>
              <a:t> = ON significa que cada instrucción es una transacción</a:t>
            </a:r>
            <a:r>
              <a:rPr lang="es-CL" baseline="0" dirty="0"/>
              <a:t> atómica.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4575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5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5952613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19061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599" y="6191013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19061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4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1" y="613410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134101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13410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77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357119" y="1316735"/>
            <a:ext cx="7284720" cy="5179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451103" y="1570736"/>
            <a:ext cx="11098784" cy="1944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184912" y="1944623"/>
            <a:ext cx="11988800" cy="1981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03200" y="2544064"/>
            <a:ext cx="11738864" cy="3194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29616" y="4519168"/>
            <a:ext cx="11812016" cy="18166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1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63303"/>
            <a:ext cx="9144000" cy="18466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77941"/>
            <a:ext cx="2804160" cy="276999"/>
          </a:xfrm>
        </p:spPr>
        <p:txBody>
          <a:bodyPr/>
          <a:lstStyle/>
          <a:p>
            <a:fld id="{A9667479-CA72-4F5A-B46B-B4A3B031F1A0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31-03-2026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45281" y="6377941"/>
            <a:ext cx="3901439" cy="276999"/>
          </a:xfrm>
        </p:spPr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78240" y="6377941"/>
            <a:ext cx="2804160" cy="276999"/>
          </a:xfrm>
        </p:spPr>
        <p:txBody>
          <a:bodyPr/>
          <a:lstStyle/>
          <a:p>
            <a:fld id="{55F34035-2F18-467C-941C-89571A5FBF17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7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7"/>
            <a:ext cx="103661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1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0tAqp3w_K2o" TargetMode="Externa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2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ontrol" Target="../activeX/activeX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3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586634"/>
            <a:ext cx="9144000" cy="923329"/>
          </a:xfrm>
        </p:spPr>
        <p:txBody>
          <a:bodyPr/>
          <a:lstStyle/>
          <a:p>
            <a:r>
              <a:rPr lang="es-CL" dirty="0"/>
              <a:t>Unidad 0 - Introducción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60478" y="4300940"/>
            <a:ext cx="9144000" cy="738664"/>
          </a:xfrm>
        </p:spPr>
        <p:txBody>
          <a:bodyPr/>
          <a:lstStyle/>
          <a:p>
            <a:r>
              <a:rPr lang="es-CL" dirty="0"/>
              <a:t>INFO 209 – Taller de Bases de Datos</a:t>
            </a:r>
          </a:p>
          <a:p>
            <a:r>
              <a:rPr lang="es-CL" dirty="0"/>
              <a:t>Juan Pablo Salazar, 2026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6945" y="1663304"/>
            <a:ext cx="12192000" cy="184665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ctr">
              <a:defRPr sz="45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sz="6000" kern="0" dirty="0">
                <a:solidFill>
                  <a:prstClr val="black"/>
                </a:solidFill>
              </a:rPr>
              <a:t>Unidad 1. Introducción</a:t>
            </a:r>
          </a:p>
          <a:p>
            <a:r>
              <a:rPr lang="es-CL" sz="6000" kern="0" dirty="0">
                <a:solidFill>
                  <a:prstClr val="black"/>
                </a:solidFill>
              </a:rPr>
              <a:t>Manejo de Transacciones</a:t>
            </a:r>
          </a:p>
        </p:txBody>
      </p:sp>
    </p:spTree>
    <p:extLst>
      <p:ext uri="{BB962C8B-B14F-4D97-AF65-F5344CB8AC3E}">
        <p14:creationId xmlns:p14="http://schemas.microsoft.com/office/powerpoint/2010/main" val="29268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9430" y="1573751"/>
            <a:ext cx="5786653" cy="38600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4260"/>
              </a:lnSpc>
              <a:tabLst>
                <a:tab pos="247220" algn="l"/>
              </a:tabLst>
            </a:pPr>
            <a:r>
              <a:rPr lang="es-CL" sz="2800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Sistema </a:t>
            </a:r>
            <a:r>
              <a:rPr lang="es-CL" sz="2800" b="1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Gestor de Bases de Datos</a:t>
            </a:r>
          </a:p>
          <a:p>
            <a:pPr marL="588433" indent="-571500">
              <a:lnSpc>
                <a:spcPts val="4260"/>
              </a:lnSpc>
              <a:buFont typeface="Arial" panose="020B0604020202020204" pitchFamily="34" charset="0"/>
              <a:buChar char="•"/>
              <a:tabLst>
                <a:tab pos="247220" algn="l"/>
              </a:tabLst>
            </a:pPr>
            <a:r>
              <a:rPr lang="es-CL" sz="2800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Colección de </a:t>
            </a:r>
            <a:r>
              <a:rPr lang="es-CL" sz="2800" b="1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datos interrelacionados</a:t>
            </a:r>
            <a:r>
              <a:rPr lang="es-CL" sz="2800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588433" indent="-571500">
              <a:lnSpc>
                <a:spcPts val="4260"/>
              </a:lnSpc>
              <a:buFont typeface="Arial" panose="020B0604020202020204" pitchFamily="34" charset="0"/>
              <a:buChar char="•"/>
              <a:tabLst>
                <a:tab pos="247220" algn="l"/>
              </a:tabLst>
            </a:pPr>
            <a:r>
              <a:rPr lang="es-CL" sz="2800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Conjunto de </a:t>
            </a:r>
            <a:r>
              <a:rPr lang="es-CL" sz="2800" b="1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programas para acceder </a:t>
            </a:r>
            <a:r>
              <a:rPr lang="es-CL" sz="2800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los datos.</a:t>
            </a:r>
          </a:p>
          <a:p>
            <a:pPr marL="16933">
              <a:lnSpc>
                <a:spcPts val="4260"/>
              </a:lnSpc>
              <a:tabLst>
                <a:tab pos="247220" algn="l"/>
              </a:tabLst>
            </a:pPr>
            <a:endParaRPr lang="es-CL" sz="2800" spc="-33" dirty="0">
              <a:solidFill>
                <a:prstClr val="black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6933">
              <a:lnSpc>
                <a:spcPts val="4260"/>
              </a:lnSpc>
              <a:tabLst>
                <a:tab pos="247220" algn="l"/>
              </a:tabLst>
            </a:pPr>
            <a:r>
              <a:rPr lang="es-CL" sz="2800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Base de Datos</a:t>
            </a:r>
          </a:p>
          <a:p>
            <a:pPr marL="474133" indent="-457200">
              <a:lnSpc>
                <a:spcPts val="4260"/>
              </a:lnSpc>
              <a:buFont typeface="Arial" panose="020B0604020202020204" pitchFamily="34" charset="0"/>
              <a:buChar char="•"/>
              <a:tabLst>
                <a:tab pos="247220" algn="l"/>
              </a:tabLst>
            </a:pPr>
            <a:r>
              <a:rPr lang="es-CL" sz="2800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Colección de </a:t>
            </a:r>
            <a:r>
              <a:rPr lang="es-CL" sz="2800" b="1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datos interrelacionados</a:t>
            </a:r>
            <a:r>
              <a:rPr lang="es-CL" sz="2800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 </a:t>
            </a:r>
          </a:p>
        </p:txBody>
      </p:sp>
      <p:sp>
        <p:nvSpPr>
          <p:cNvPr id="3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Bases de Datos – Sistema Gestor de Bases de Datos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084" y="1849468"/>
            <a:ext cx="5769979" cy="318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722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Gestión de Transacciones – propiedades ACID</a:t>
            </a:r>
            <a:endParaRPr lang="en-US" dirty="0"/>
          </a:p>
        </p:txBody>
      </p:sp>
      <p:sp>
        <p:nvSpPr>
          <p:cNvPr id="7" name="Marcador de texto 2"/>
          <p:cNvSpPr>
            <a:spLocks noGrp="1"/>
          </p:cNvSpPr>
          <p:nvPr>
            <p:ph type="body" idx="1"/>
          </p:nvPr>
        </p:nvSpPr>
        <p:spPr>
          <a:xfrm>
            <a:off x="378654" y="1636882"/>
            <a:ext cx="3011660" cy="221599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600" b="1" dirty="0"/>
              <a:t>Atomicidad.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600" b="1" dirty="0"/>
              <a:t>Consistencia.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600" b="1" dirty="0"/>
              <a:t>Aislamiento.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600" b="1" dirty="0"/>
              <a:t>Durabilidad. </a:t>
            </a:r>
            <a:endParaRPr lang="es-CL" sz="2000" dirty="0"/>
          </a:p>
        </p:txBody>
      </p:sp>
      <p:pic>
        <p:nvPicPr>
          <p:cNvPr id="3" name="0tAqp3w_K2o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390314" y="1242793"/>
            <a:ext cx="8669606" cy="4876653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75" y="4393858"/>
            <a:ext cx="3046944" cy="124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29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8" y="0"/>
            <a:ext cx="8875504" cy="1107996"/>
          </a:xfrm>
        </p:spPr>
        <p:txBody>
          <a:bodyPr/>
          <a:lstStyle/>
          <a:p>
            <a:r>
              <a:rPr lang="es-CL" dirty="0"/>
              <a:t>¿Qué otros ejemplos de transacciones</a:t>
            </a:r>
            <a:br>
              <a:rPr lang="es-CL" dirty="0"/>
            </a:br>
            <a:r>
              <a:rPr lang="es-CL" dirty="0"/>
              <a:t>encontramos?</a:t>
            </a:r>
            <a:endParaRPr lang="en-U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18576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Sistema de </a:t>
            </a:r>
            <a:r>
              <a:rPr lang="en-US" dirty="0" err="1"/>
              <a:t>votación</a:t>
            </a:r>
            <a:r>
              <a:rPr lang="en-US" dirty="0"/>
              <a:t> electronica.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n-US" dirty="0" err="1"/>
              <a:t>Marcar</a:t>
            </a:r>
            <a:r>
              <a:rPr lang="en-US" dirty="0"/>
              <a:t> que </a:t>
            </a:r>
            <a:r>
              <a:rPr lang="en-US" dirty="0" err="1"/>
              <a:t>votante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votó</a:t>
            </a:r>
            <a:r>
              <a:rPr lang="en-US" dirty="0"/>
              <a:t>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n-US" dirty="0"/>
              <a:t>Registrar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voto</a:t>
            </a:r>
            <a:r>
              <a:rPr lang="en-US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Compras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juegos</a:t>
            </a:r>
            <a:r>
              <a:rPr lang="en-US" dirty="0"/>
              <a:t> online.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n-US" dirty="0"/>
              <a:t>Registrar </a:t>
            </a:r>
            <a:r>
              <a:rPr lang="en-US" dirty="0" err="1"/>
              <a:t>compra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inventario</a:t>
            </a:r>
            <a:r>
              <a:rPr lang="en-US" dirty="0"/>
              <a:t> personal.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n-US" dirty="0" err="1"/>
              <a:t>Descontar</a:t>
            </a:r>
            <a:r>
              <a:rPr lang="en-US" dirty="0"/>
              <a:t> dinero de e-wallet.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Inscripción</a:t>
            </a:r>
            <a:r>
              <a:rPr lang="en-US" dirty="0"/>
              <a:t> de </a:t>
            </a:r>
            <a:r>
              <a:rPr lang="en-US" dirty="0" err="1"/>
              <a:t>cursos</a:t>
            </a:r>
            <a:r>
              <a:rPr lang="en-US" dirty="0"/>
              <a:t> </a:t>
            </a:r>
            <a:r>
              <a:rPr lang="en-US" dirty="0" err="1"/>
              <a:t>electivos</a:t>
            </a:r>
            <a:r>
              <a:rPr lang="en-US" dirty="0"/>
              <a:t> </a:t>
            </a:r>
            <a:r>
              <a:rPr lang="en-US" dirty="0" err="1"/>
              <a:t>universitarios</a:t>
            </a:r>
            <a:r>
              <a:rPr lang="en-US" dirty="0"/>
              <a:t>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n-US" dirty="0"/>
              <a:t>Registrar </a:t>
            </a:r>
            <a:r>
              <a:rPr lang="en-US" dirty="0" err="1"/>
              <a:t>curso</a:t>
            </a:r>
            <a:r>
              <a:rPr lang="en-US" dirty="0"/>
              <a:t> a </a:t>
            </a:r>
            <a:r>
              <a:rPr lang="en-US" dirty="0" err="1"/>
              <a:t>estudiante</a:t>
            </a:r>
            <a:r>
              <a:rPr lang="en-US" dirty="0"/>
              <a:t>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n-US" dirty="0" err="1"/>
              <a:t>Rebajar</a:t>
            </a:r>
            <a:r>
              <a:rPr lang="en-US" dirty="0"/>
              <a:t> </a:t>
            </a:r>
            <a:r>
              <a:rPr lang="en-US" dirty="0" err="1"/>
              <a:t>vacantes</a:t>
            </a:r>
            <a:r>
              <a:rPr lang="en-US" dirty="0"/>
              <a:t> </a:t>
            </a:r>
            <a:r>
              <a:rPr lang="en-US" dirty="0" err="1"/>
              <a:t>disponibles</a:t>
            </a:r>
            <a:r>
              <a:rPr lang="en-US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Actualización</a:t>
            </a:r>
            <a:r>
              <a:rPr lang="en-US" dirty="0"/>
              <a:t> de </a:t>
            </a:r>
            <a:r>
              <a:rPr lang="en-US" dirty="0" err="1"/>
              <a:t>inventario</a:t>
            </a:r>
            <a:r>
              <a:rPr lang="en-US" dirty="0"/>
              <a:t> (al </a:t>
            </a:r>
            <a:r>
              <a:rPr lang="en-US" dirty="0" err="1"/>
              <a:t>recibir</a:t>
            </a:r>
            <a:r>
              <a:rPr lang="en-US" dirty="0"/>
              <a:t> </a:t>
            </a:r>
            <a:r>
              <a:rPr lang="en-US" dirty="0" err="1"/>
              <a:t>mercadería</a:t>
            </a:r>
            <a:r>
              <a:rPr lang="en-US" dirty="0"/>
              <a:t>).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n-US" dirty="0" err="1"/>
              <a:t>Productos</a:t>
            </a:r>
            <a:r>
              <a:rPr lang="en-US" dirty="0"/>
              <a:t> </a:t>
            </a:r>
            <a:r>
              <a:rPr lang="en-US" dirty="0" err="1"/>
              <a:t>recibidos</a:t>
            </a:r>
            <a:r>
              <a:rPr lang="en-US" dirty="0"/>
              <a:t> son </a:t>
            </a:r>
            <a:r>
              <a:rPr lang="en-US" dirty="0" err="1"/>
              <a:t>registrados</a:t>
            </a:r>
            <a:r>
              <a:rPr lang="en-US" dirty="0"/>
              <a:t> uno a uno. 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n-US" dirty="0"/>
              <a:t>Al </a:t>
            </a:r>
            <a:r>
              <a:rPr lang="en-US" dirty="0" err="1"/>
              <a:t>marcar</a:t>
            </a:r>
            <a:r>
              <a:rPr lang="en-US" dirty="0"/>
              <a:t> </a:t>
            </a:r>
            <a:r>
              <a:rPr lang="en-US" dirty="0" err="1"/>
              <a:t>guía</a:t>
            </a:r>
            <a:r>
              <a:rPr lang="en-US" dirty="0"/>
              <a:t> de </a:t>
            </a:r>
            <a:r>
              <a:rPr lang="en-US" dirty="0" err="1"/>
              <a:t>despacho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“</a:t>
            </a:r>
            <a:r>
              <a:rPr lang="en-US" dirty="0" err="1"/>
              <a:t>recibida</a:t>
            </a:r>
            <a:r>
              <a:rPr lang="en-US" dirty="0"/>
              <a:t> </a:t>
            </a:r>
            <a:r>
              <a:rPr lang="en-US" dirty="0" err="1"/>
              <a:t>conforme</a:t>
            </a:r>
            <a:r>
              <a:rPr lang="en-US" dirty="0"/>
              <a:t>” se </a:t>
            </a:r>
            <a:r>
              <a:rPr lang="en-US" dirty="0" err="1"/>
              <a:t>actualiza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inventario</a:t>
            </a:r>
            <a:r>
              <a:rPr lang="en-US" dirty="0"/>
              <a:t> </a:t>
            </a:r>
            <a:r>
              <a:rPr lang="en-US" dirty="0" err="1"/>
              <a:t>completo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4905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debemos hacer para que ACID se cumpla?</a:t>
            </a:r>
            <a:endParaRPr lang="en-U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1969770"/>
          </a:xfrm>
        </p:spPr>
        <p:txBody>
          <a:bodyPr/>
          <a:lstStyle/>
          <a:p>
            <a:r>
              <a:rPr lang="es-CL" dirty="0"/>
              <a:t>Programar transacciones: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Secuencia de instrucciones.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Inicio y fin de la transacción.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Manejo de excepciones.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609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debemos hacer para que ACID se cumpla?</a:t>
            </a:r>
            <a:endParaRPr lang="en-U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12909" y="1506479"/>
            <a:ext cx="10366180" cy="1723549"/>
          </a:xfrm>
        </p:spPr>
        <p:txBody>
          <a:bodyPr/>
          <a:lstStyle/>
          <a:p>
            <a:r>
              <a:rPr lang="es-CL" sz="2800" dirty="0"/>
              <a:t>Programar transacciones: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Secuencia de instrucciones.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Inicio y fin de la transacción.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Manejo de excepciones.</a:t>
            </a:r>
            <a:endParaRPr lang="en-US" sz="2800" dirty="0"/>
          </a:p>
        </p:txBody>
      </p:sp>
      <p:sp>
        <p:nvSpPr>
          <p:cNvPr id="4" name="CuadroTexto 3"/>
          <p:cNvSpPr txBox="1"/>
          <p:nvPr/>
        </p:nvSpPr>
        <p:spPr>
          <a:xfrm>
            <a:off x="912909" y="3348111"/>
            <a:ext cx="11010002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dirty="0" err="1"/>
              <a:t>MySQL</a:t>
            </a:r>
            <a:r>
              <a:rPr lang="es-CL" sz="2800" dirty="0"/>
              <a:t> tiene definida la variable “</a:t>
            </a:r>
            <a:r>
              <a:rPr lang="es-CL" sz="2800" dirty="0" err="1"/>
              <a:t>autocommit</a:t>
            </a:r>
            <a:r>
              <a:rPr lang="es-CL" sz="2800" dirty="0"/>
              <a:t>” en ON. ¿Qué significa eso?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800" dirty="0"/>
              <a:t>COMMIT (“guardar cambios”).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800" dirty="0"/>
              <a:t>ROLLBACK (“revertir cambios).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CL" sz="2800" dirty="0"/>
          </a:p>
          <a:p>
            <a:r>
              <a:rPr lang="es-CL" sz="2800" dirty="0"/>
              <a:t>Para realizar una transacción podemos: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Definir un punto de inicio (</a:t>
            </a:r>
            <a:r>
              <a:rPr lang="es-CL" sz="2800" dirty="0" err="1"/>
              <a:t>start</a:t>
            </a:r>
            <a:r>
              <a:rPr lang="es-CL" sz="2800" dirty="0"/>
              <a:t> </a:t>
            </a:r>
            <a:r>
              <a:rPr lang="es-CL" sz="2800" dirty="0" err="1"/>
              <a:t>transaction</a:t>
            </a:r>
            <a:r>
              <a:rPr lang="es-CL" sz="2800" dirty="0"/>
              <a:t>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Desactivar </a:t>
            </a:r>
            <a:r>
              <a:rPr lang="es-CL" sz="2800" dirty="0" err="1"/>
              <a:t>autocommit</a:t>
            </a:r>
            <a:r>
              <a:rPr lang="es-CL" sz="2800" dirty="0"/>
              <a:t>.</a:t>
            </a:r>
          </a:p>
        </p:txBody>
      </p:sp>
      <p:sp>
        <p:nvSpPr>
          <p:cNvPr id="5" name="Flecha izquierda 4"/>
          <p:cNvSpPr/>
          <p:nvPr/>
        </p:nvSpPr>
        <p:spPr>
          <a:xfrm>
            <a:off x="8595360" y="5669280"/>
            <a:ext cx="2250831" cy="19694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451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84885"/>
          </a:xfrm>
        </p:spPr>
        <p:txBody>
          <a:bodyPr/>
          <a:lstStyle/>
          <a:p>
            <a:r>
              <a:rPr lang="es-CL" sz="2800" dirty="0"/>
              <a:t>Veamos algunos ejemplos</a:t>
            </a:r>
            <a:br>
              <a:rPr lang="es-CL" dirty="0"/>
            </a:br>
            <a:r>
              <a:rPr lang="es-CL" dirty="0"/>
              <a:t>1. Dos transacciones concurrentes</a:t>
            </a:r>
            <a:endParaRPr lang="en-US" dirty="0"/>
          </a:p>
        </p:txBody>
      </p:sp>
      <p:sp>
        <p:nvSpPr>
          <p:cNvPr id="4" name="Flecha abajo 3"/>
          <p:cNvSpPr/>
          <p:nvPr/>
        </p:nvSpPr>
        <p:spPr>
          <a:xfrm>
            <a:off x="295422" y="1647156"/>
            <a:ext cx="253218" cy="46411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/>
          <p:cNvSpPr txBox="1"/>
          <p:nvPr/>
        </p:nvSpPr>
        <p:spPr>
          <a:xfrm>
            <a:off x="675250" y="3615397"/>
            <a:ext cx="70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err="1"/>
              <a:t>tpo</a:t>
            </a:r>
            <a:endParaRPr lang="en-US" b="1" dirty="0"/>
          </a:p>
        </p:txBody>
      </p:sp>
      <p:graphicFrame>
        <p:nvGraphicFramePr>
          <p:cNvPr id="11" name="Tab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982656"/>
              </p:ext>
            </p:extLst>
          </p:nvPr>
        </p:nvGraphicFramePr>
        <p:xfrm>
          <a:off x="1786596" y="1647156"/>
          <a:ext cx="9967256" cy="430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814">
                  <a:extLst>
                    <a:ext uri="{9D8B030D-6E8A-4147-A177-3AD203B41FA5}">
                      <a16:colId xmlns:a16="http://schemas.microsoft.com/office/drawing/2014/main" val="1639264541"/>
                    </a:ext>
                  </a:extLst>
                </a:gridCol>
                <a:gridCol w="2491814">
                  <a:extLst>
                    <a:ext uri="{9D8B030D-6E8A-4147-A177-3AD203B41FA5}">
                      <a16:colId xmlns:a16="http://schemas.microsoft.com/office/drawing/2014/main" val="3539916180"/>
                    </a:ext>
                  </a:extLst>
                </a:gridCol>
                <a:gridCol w="2491814">
                  <a:extLst>
                    <a:ext uri="{9D8B030D-6E8A-4147-A177-3AD203B41FA5}">
                      <a16:colId xmlns:a16="http://schemas.microsoft.com/office/drawing/2014/main" val="2445882781"/>
                    </a:ext>
                  </a:extLst>
                </a:gridCol>
                <a:gridCol w="2491814">
                  <a:extLst>
                    <a:ext uri="{9D8B030D-6E8A-4147-A177-3AD203B41FA5}">
                      <a16:colId xmlns:a16="http://schemas.microsoft.com/office/drawing/2014/main" val="318522419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s-CL" dirty="0"/>
                        <a:t>Conexión 1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s-CL" dirty="0"/>
                        <a:t>Conexión 2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74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/>
                        <a:t>(Transferir</a:t>
                      </a:r>
                      <a:r>
                        <a:rPr lang="es-CL" baseline="0" dirty="0"/>
                        <a:t> 100 de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 a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2)</a:t>
                      </a:r>
                    </a:p>
                    <a:p>
                      <a:r>
                        <a:rPr lang="es-CL" baseline="0" dirty="0"/>
                        <a:t>…</a:t>
                      </a:r>
                    </a:p>
                    <a:p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1:=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1 - 100</a:t>
                      </a:r>
                    </a:p>
                    <a:p>
                      <a:r>
                        <a:rPr lang="es-CL" baseline="0" dirty="0"/>
                        <a:t>…</a:t>
                      </a:r>
                    </a:p>
                    <a:p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2:=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 + 100</a:t>
                      </a:r>
                    </a:p>
                    <a:p>
                      <a:r>
                        <a:rPr lang="es-CL" baseline="0" dirty="0"/>
                        <a:t>…</a:t>
                      </a:r>
                    </a:p>
                    <a:p>
                      <a:r>
                        <a:rPr lang="es-CL" baseline="0" dirty="0" err="1"/>
                        <a:t>Commit</a:t>
                      </a:r>
                      <a:r>
                        <a:rPr lang="es-CL" baseline="0" dirty="0"/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r>
                        <a:rPr lang="es-CL" dirty="0" err="1"/>
                        <a:t>Cta</a:t>
                      </a:r>
                      <a:r>
                        <a:rPr lang="es-CL" dirty="0"/>
                        <a:t> 1 bloqueada</a:t>
                      </a:r>
                    </a:p>
                    <a:p>
                      <a:endParaRPr lang="es-CL" dirty="0"/>
                    </a:p>
                    <a:p>
                      <a:r>
                        <a:rPr lang="es-CL" dirty="0" err="1"/>
                        <a:t>Cta</a:t>
                      </a:r>
                      <a:r>
                        <a:rPr lang="es-CL" baseline="0" dirty="0"/>
                        <a:t> 2 bloqueada</a:t>
                      </a:r>
                    </a:p>
                    <a:p>
                      <a:endParaRPr lang="es-CL" baseline="0" dirty="0"/>
                    </a:p>
                    <a:p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 y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 liberadas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dirty="0"/>
                        <a:t>(Transferir</a:t>
                      </a:r>
                      <a:r>
                        <a:rPr lang="es-CL" baseline="0" dirty="0"/>
                        <a:t> 100 de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 a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2)</a:t>
                      </a:r>
                    </a:p>
                    <a:p>
                      <a:r>
                        <a:rPr lang="es-CL" dirty="0"/>
                        <a:t>…</a:t>
                      </a:r>
                    </a:p>
                    <a:p>
                      <a:r>
                        <a:rPr lang="es-CL" dirty="0"/>
                        <a:t>…</a:t>
                      </a:r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r>
                        <a:rPr lang="es-CL" dirty="0"/>
                        <a:t>…</a:t>
                      </a:r>
                    </a:p>
                    <a:p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1:=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1 - 100</a:t>
                      </a:r>
                    </a:p>
                    <a:p>
                      <a:r>
                        <a:rPr lang="es-CL" baseline="0" dirty="0"/>
                        <a:t>…</a:t>
                      </a:r>
                    </a:p>
                    <a:p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2:=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 + 100</a:t>
                      </a:r>
                    </a:p>
                    <a:p>
                      <a:r>
                        <a:rPr lang="es-CL" baseline="0" dirty="0"/>
                        <a:t>…</a:t>
                      </a:r>
                    </a:p>
                    <a:p>
                      <a:r>
                        <a:rPr lang="es-CL" baseline="0" dirty="0" err="1"/>
                        <a:t>Commit</a:t>
                      </a:r>
                      <a:r>
                        <a:rPr lang="es-CL" baseline="0" dirty="0"/>
                        <a:t>;</a:t>
                      </a:r>
                      <a:endParaRPr lang="en-US" dirty="0"/>
                    </a:p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r>
                        <a:rPr lang="es-CL" dirty="0" err="1"/>
                        <a:t>Cta</a:t>
                      </a:r>
                      <a:r>
                        <a:rPr lang="es-CL" dirty="0"/>
                        <a:t> 1 bloqueada</a:t>
                      </a:r>
                    </a:p>
                    <a:p>
                      <a:endParaRPr lang="es-CL" dirty="0"/>
                    </a:p>
                    <a:p>
                      <a:r>
                        <a:rPr lang="es-CL" dirty="0" err="1"/>
                        <a:t>Cta</a:t>
                      </a:r>
                      <a:r>
                        <a:rPr lang="es-CL" baseline="0" dirty="0"/>
                        <a:t> 2 bloqueada</a:t>
                      </a:r>
                    </a:p>
                    <a:p>
                      <a:endParaRPr lang="es-CL" baseline="0" dirty="0"/>
                    </a:p>
                    <a:p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 y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 liberadas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838945"/>
                  </a:ext>
                </a:extLst>
              </a:tr>
            </a:tbl>
          </a:graphicData>
        </a:graphic>
      </p:graphicFrame>
      <p:sp>
        <p:nvSpPr>
          <p:cNvPr id="12" name="CuadroTexto 11"/>
          <p:cNvSpPr txBox="1"/>
          <p:nvPr/>
        </p:nvSpPr>
        <p:spPr>
          <a:xfrm>
            <a:off x="2011680" y="1263535"/>
            <a:ext cx="349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Saldo inicial (</a:t>
            </a:r>
            <a:r>
              <a:rPr lang="es-CL" dirty="0" err="1"/>
              <a:t>Cta</a:t>
            </a:r>
            <a:r>
              <a:rPr lang="es-CL" dirty="0"/>
              <a:t> 1: 500; </a:t>
            </a:r>
            <a:r>
              <a:rPr lang="es-CL" dirty="0" err="1"/>
              <a:t>Cta</a:t>
            </a:r>
            <a:r>
              <a:rPr lang="es-CL" dirty="0"/>
              <a:t> 2: 300)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255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84885"/>
          </a:xfrm>
        </p:spPr>
        <p:txBody>
          <a:bodyPr/>
          <a:lstStyle/>
          <a:p>
            <a:r>
              <a:rPr lang="es-CL" sz="2800" dirty="0"/>
              <a:t>Veamos algunos ejemplos</a:t>
            </a:r>
            <a:br>
              <a:rPr lang="es-CL" dirty="0"/>
            </a:br>
            <a:r>
              <a:rPr lang="es-CL" dirty="0"/>
              <a:t>2. Dos transacciones concurrentes + consulta</a:t>
            </a:r>
            <a:endParaRPr lang="en-US" dirty="0"/>
          </a:p>
        </p:txBody>
      </p:sp>
      <p:sp>
        <p:nvSpPr>
          <p:cNvPr id="4" name="Flecha abajo 3"/>
          <p:cNvSpPr/>
          <p:nvPr/>
        </p:nvSpPr>
        <p:spPr>
          <a:xfrm>
            <a:off x="295422" y="1647156"/>
            <a:ext cx="253218" cy="46411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/>
          <p:cNvSpPr txBox="1"/>
          <p:nvPr/>
        </p:nvSpPr>
        <p:spPr>
          <a:xfrm>
            <a:off x="675250" y="3615397"/>
            <a:ext cx="70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err="1"/>
              <a:t>tpo</a:t>
            </a:r>
            <a:endParaRPr lang="en-US" b="1" dirty="0"/>
          </a:p>
        </p:txBody>
      </p:sp>
      <p:graphicFrame>
        <p:nvGraphicFramePr>
          <p:cNvPr id="11" name="Tab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95340"/>
              </p:ext>
            </p:extLst>
          </p:nvPr>
        </p:nvGraphicFramePr>
        <p:xfrm>
          <a:off x="1786596" y="1463041"/>
          <a:ext cx="9967256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814">
                  <a:extLst>
                    <a:ext uri="{9D8B030D-6E8A-4147-A177-3AD203B41FA5}">
                      <a16:colId xmlns:a16="http://schemas.microsoft.com/office/drawing/2014/main" val="1639264541"/>
                    </a:ext>
                  </a:extLst>
                </a:gridCol>
                <a:gridCol w="2491814">
                  <a:extLst>
                    <a:ext uri="{9D8B030D-6E8A-4147-A177-3AD203B41FA5}">
                      <a16:colId xmlns:a16="http://schemas.microsoft.com/office/drawing/2014/main" val="3539916180"/>
                    </a:ext>
                  </a:extLst>
                </a:gridCol>
                <a:gridCol w="2491814">
                  <a:extLst>
                    <a:ext uri="{9D8B030D-6E8A-4147-A177-3AD203B41FA5}">
                      <a16:colId xmlns:a16="http://schemas.microsoft.com/office/drawing/2014/main" val="2445882781"/>
                    </a:ext>
                  </a:extLst>
                </a:gridCol>
                <a:gridCol w="2491814">
                  <a:extLst>
                    <a:ext uri="{9D8B030D-6E8A-4147-A177-3AD203B41FA5}">
                      <a16:colId xmlns:a16="http://schemas.microsoft.com/office/drawing/2014/main" val="3185224194"/>
                    </a:ext>
                  </a:extLst>
                </a:gridCol>
              </a:tblGrid>
              <a:tr h="349134">
                <a:tc gridSpan="2">
                  <a:txBody>
                    <a:bodyPr/>
                    <a:lstStyle/>
                    <a:p>
                      <a:r>
                        <a:rPr lang="es-CL" dirty="0"/>
                        <a:t>Conexión 1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s-CL" dirty="0"/>
                        <a:t>Conexión 2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74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/>
                        <a:t>(Transferir</a:t>
                      </a:r>
                      <a:r>
                        <a:rPr lang="es-CL" baseline="0" dirty="0"/>
                        <a:t> 100 de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 a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2)</a:t>
                      </a:r>
                    </a:p>
                    <a:p>
                      <a:r>
                        <a:rPr lang="es-CL" dirty="0"/>
                        <a:t>Valor1 =</a:t>
                      </a:r>
                      <a:r>
                        <a:rPr lang="es-CL" baseline="0" dirty="0"/>
                        <a:t> (</a:t>
                      </a:r>
                      <a:r>
                        <a:rPr lang="es-CL" dirty="0" err="1"/>
                        <a:t>Select</a:t>
                      </a:r>
                      <a:r>
                        <a:rPr lang="es-CL" dirty="0"/>
                        <a:t> saldo </a:t>
                      </a:r>
                    </a:p>
                    <a:p>
                      <a:r>
                        <a:rPr lang="es-CL" dirty="0" err="1"/>
                        <a:t>from</a:t>
                      </a:r>
                      <a:r>
                        <a:rPr lang="es-CL" baseline="0" dirty="0"/>
                        <a:t> cuentas </a:t>
                      </a:r>
                    </a:p>
                    <a:p>
                      <a:r>
                        <a:rPr lang="es-CL" baseline="0" dirty="0" err="1"/>
                        <a:t>where</a:t>
                      </a:r>
                      <a:r>
                        <a:rPr lang="es-CL" baseline="0" dirty="0"/>
                        <a:t> cuenta =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1)</a:t>
                      </a:r>
                    </a:p>
                    <a:p>
                      <a:endParaRPr lang="es-CL" dirty="0"/>
                    </a:p>
                    <a:p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1:= Valor1 - 100</a:t>
                      </a:r>
                    </a:p>
                    <a:p>
                      <a:r>
                        <a:rPr lang="es-CL" baseline="0" dirty="0"/>
                        <a:t>…</a:t>
                      </a:r>
                    </a:p>
                    <a:p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2:=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 + 100</a:t>
                      </a:r>
                    </a:p>
                    <a:p>
                      <a:r>
                        <a:rPr lang="es-CL" baseline="0" dirty="0"/>
                        <a:t>…</a:t>
                      </a:r>
                    </a:p>
                    <a:p>
                      <a:r>
                        <a:rPr lang="es-CL" baseline="0" dirty="0" err="1"/>
                        <a:t>Commit</a:t>
                      </a:r>
                      <a:r>
                        <a:rPr lang="es-CL" baseline="0" dirty="0"/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r>
                        <a:rPr lang="es-CL" dirty="0" err="1"/>
                        <a:t>Cta</a:t>
                      </a:r>
                      <a:r>
                        <a:rPr lang="es-CL" dirty="0"/>
                        <a:t> 1 bloqueada</a:t>
                      </a:r>
                    </a:p>
                    <a:p>
                      <a:endParaRPr lang="es-CL" dirty="0"/>
                    </a:p>
                    <a:p>
                      <a:r>
                        <a:rPr lang="es-CL" dirty="0" err="1"/>
                        <a:t>Cta</a:t>
                      </a:r>
                      <a:r>
                        <a:rPr lang="es-CL" baseline="0" dirty="0"/>
                        <a:t> 2 bloqueada</a:t>
                      </a:r>
                    </a:p>
                    <a:p>
                      <a:endParaRPr lang="es-CL" baseline="0" dirty="0"/>
                    </a:p>
                    <a:p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 y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 liberadas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dirty="0"/>
                        <a:t>(Transferir</a:t>
                      </a:r>
                      <a:r>
                        <a:rPr lang="es-CL" baseline="0" dirty="0"/>
                        <a:t> 100 de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 a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2)</a:t>
                      </a:r>
                    </a:p>
                    <a:p>
                      <a:r>
                        <a:rPr lang="es-CL" dirty="0"/>
                        <a:t>…</a:t>
                      </a:r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r>
                        <a:rPr lang="es-CL" dirty="0"/>
                        <a:t>…</a:t>
                      </a:r>
                    </a:p>
                    <a:p>
                      <a:r>
                        <a:rPr lang="es-CL" dirty="0"/>
                        <a:t>Valor1 =</a:t>
                      </a:r>
                      <a:r>
                        <a:rPr lang="es-CL" baseline="0" dirty="0"/>
                        <a:t> (</a:t>
                      </a:r>
                      <a:r>
                        <a:rPr lang="es-CL" dirty="0" err="1"/>
                        <a:t>Select</a:t>
                      </a:r>
                      <a:r>
                        <a:rPr lang="es-CL" dirty="0"/>
                        <a:t> saldo </a:t>
                      </a:r>
                    </a:p>
                    <a:p>
                      <a:r>
                        <a:rPr lang="es-CL" dirty="0" err="1"/>
                        <a:t>from</a:t>
                      </a:r>
                      <a:r>
                        <a:rPr lang="es-CL" baseline="0" dirty="0"/>
                        <a:t> cuentas </a:t>
                      </a:r>
                    </a:p>
                    <a:p>
                      <a:r>
                        <a:rPr lang="es-CL" baseline="0" dirty="0" err="1"/>
                        <a:t>where</a:t>
                      </a:r>
                      <a:r>
                        <a:rPr lang="es-CL" baseline="0" dirty="0"/>
                        <a:t> cuenta =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1)</a:t>
                      </a:r>
                      <a:endParaRPr lang="es-CL" dirty="0"/>
                    </a:p>
                    <a:p>
                      <a:endParaRPr lang="es-CL" dirty="0"/>
                    </a:p>
                    <a:p>
                      <a:r>
                        <a:rPr lang="es-CL" dirty="0"/>
                        <a:t>…</a:t>
                      </a:r>
                    </a:p>
                    <a:p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1:= Valor1  - 100</a:t>
                      </a:r>
                    </a:p>
                    <a:p>
                      <a:r>
                        <a:rPr lang="es-CL" baseline="0" dirty="0"/>
                        <a:t>…</a:t>
                      </a:r>
                    </a:p>
                    <a:p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2:=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 + 100</a:t>
                      </a:r>
                    </a:p>
                    <a:p>
                      <a:r>
                        <a:rPr lang="es-CL" baseline="0" dirty="0"/>
                        <a:t>…</a:t>
                      </a:r>
                    </a:p>
                    <a:p>
                      <a:r>
                        <a:rPr lang="es-CL" baseline="0" dirty="0" err="1"/>
                        <a:t>Commit</a:t>
                      </a:r>
                      <a:r>
                        <a:rPr lang="es-CL" baseline="0" dirty="0"/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r>
                        <a:rPr lang="es-CL" dirty="0"/>
                        <a:t>¿Qué</a:t>
                      </a:r>
                      <a:r>
                        <a:rPr lang="es-CL" baseline="0" dirty="0"/>
                        <a:t> sucede con esta consulta? ¿Responde? ¿Se bloquea? ¿Devuelve algún valor? ¿Cuál?</a:t>
                      </a:r>
                      <a:endParaRPr lang="es-CL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838945"/>
                  </a:ext>
                </a:extLst>
              </a:tr>
            </a:tbl>
          </a:graphicData>
        </a:graphic>
      </p:graphicFrame>
      <p:sp>
        <p:nvSpPr>
          <p:cNvPr id="12" name="CuadroTexto 11"/>
          <p:cNvSpPr txBox="1"/>
          <p:nvPr/>
        </p:nvSpPr>
        <p:spPr>
          <a:xfrm>
            <a:off x="1961804" y="1083098"/>
            <a:ext cx="349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Saldo inicial (</a:t>
            </a:r>
            <a:r>
              <a:rPr lang="es-CL" dirty="0" err="1"/>
              <a:t>Cta</a:t>
            </a:r>
            <a:r>
              <a:rPr lang="es-CL" dirty="0"/>
              <a:t> 1: 500; </a:t>
            </a:r>
            <a:r>
              <a:rPr lang="es-CL" dirty="0" err="1"/>
              <a:t>Cta</a:t>
            </a:r>
            <a:r>
              <a:rPr lang="es-CL" dirty="0"/>
              <a:t> 2: 300)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197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84885"/>
          </a:xfrm>
        </p:spPr>
        <p:txBody>
          <a:bodyPr/>
          <a:lstStyle/>
          <a:p>
            <a:r>
              <a:rPr lang="es-CL" sz="2800" dirty="0"/>
              <a:t>Veamos algunos ejemplos</a:t>
            </a:r>
            <a:br>
              <a:rPr lang="es-CL" dirty="0"/>
            </a:br>
            <a:r>
              <a:rPr lang="es-CL" dirty="0"/>
              <a:t>3. Dos transacciones concurrentes (sobregiro)</a:t>
            </a:r>
            <a:endParaRPr lang="en-US" dirty="0"/>
          </a:p>
        </p:txBody>
      </p:sp>
      <p:sp>
        <p:nvSpPr>
          <p:cNvPr id="4" name="Flecha abajo 3"/>
          <p:cNvSpPr/>
          <p:nvPr/>
        </p:nvSpPr>
        <p:spPr>
          <a:xfrm>
            <a:off x="295422" y="1647156"/>
            <a:ext cx="253218" cy="46411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/>
          <p:cNvSpPr txBox="1"/>
          <p:nvPr/>
        </p:nvSpPr>
        <p:spPr>
          <a:xfrm>
            <a:off x="675250" y="3615397"/>
            <a:ext cx="70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err="1"/>
              <a:t>tpo</a:t>
            </a:r>
            <a:endParaRPr lang="en-US" b="1" dirty="0"/>
          </a:p>
        </p:txBody>
      </p:sp>
      <p:graphicFrame>
        <p:nvGraphicFramePr>
          <p:cNvPr id="11" name="Tab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62547"/>
              </p:ext>
            </p:extLst>
          </p:nvPr>
        </p:nvGraphicFramePr>
        <p:xfrm>
          <a:off x="1786596" y="1647156"/>
          <a:ext cx="9967256" cy="402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814">
                  <a:extLst>
                    <a:ext uri="{9D8B030D-6E8A-4147-A177-3AD203B41FA5}">
                      <a16:colId xmlns:a16="http://schemas.microsoft.com/office/drawing/2014/main" val="1639264541"/>
                    </a:ext>
                  </a:extLst>
                </a:gridCol>
                <a:gridCol w="2491814">
                  <a:extLst>
                    <a:ext uri="{9D8B030D-6E8A-4147-A177-3AD203B41FA5}">
                      <a16:colId xmlns:a16="http://schemas.microsoft.com/office/drawing/2014/main" val="3539916180"/>
                    </a:ext>
                  </a:extLst>
                </a:gridCol>
                <a:gridCol w="2491814">
                  <a:extLst>
                    <a:ext uri="{9D8B030D-6E8A-4147-A177-3AD203B41FA5}">
                      <a16:colId xmlns:a16="http://schemas.microsoft.com/office/drawing/2014/main" val="2445882781"/>
                    </a:ext>
                  </a:extLst>
                </a:gridCol>
                <a:gridCol w="2491814">
                  <a:extLst>
                    <a:ext uri="{9D8B030D-6E8A-4147-A177-3AD203B41FA5}">
                      <a16:colId xmlns:a16="http://schemas.microsoft.com/office/drawing/2014/main" val="318522419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s-CL" dirty="0"/>
                        <a:t>Conexión 1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s-CL" dirty="0"/>
                        <a:t>Conexión 2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74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/>
                        <a:t>(Transferir</a:t>
                      </a:r>
                      <a:r>
                        <a:rPr lang="es-CL" baseline="0" dirty="0"/>
                        <a:t> 500 de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 a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2)</a:t>
                      </a:r>
                    </a:p>
                    <a:p>
                      <a:r>
                        <a:rPr lang="es-CL" baseline="0" dirty="0"/>
                        <a:t>…</a:t>
                      </a:r>
                    </a:p>
                    <a:p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1:=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1 - 500</a:t>
                      </a:r>
                    </a:p>
                    <a:p>
                      <a:r>
                        <a:rPr lang="es-CL" baseline="0" dirty="0"/>
                        <a:t>…</a:t>
                      </a:r>
                    </a:p>
                    <a:p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2:=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 + 500</a:t>
                      </a:r>
                    </a:p>
                    <a:p>
                      <a:r>
                        <a:rPr lang="es-CL" baseline="0" dirty="0"/>
                        <a:t>…</a:t>
                      </a:r>
                    </a:p>
                    <a:p>
                      <a:r>
                        <a:rPr lang="es-CL" baseline="0" dirty="0" err="1"/>
                        <a:t>Commit</a:t>
                      </a:r>
                      <a:r>
                        <a:rPr lang="es-CL" baseline="0" dirty="0"/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r>
                        <a:rPr lang="es-CL" dirty="0" err="1"/>
                        <a:t>Cta</a:t>
                      </a:r>
                      <a:r>
                        <a:rPr lang="es-CL" dirty="0"/>
                        <a:t> 1 bloqueada</a:t>
                      </a:r>
                    </a:p>
                    <a:p>
                      <a:endParaRPr lang="es-CL" dirty="0"/>
                    </a:p>
                    <a:p>
                      <a:r>
                        <a:rPr lang="es-CL" dirty="0" err="1"/>
                        <a:t>Cta</a:t>
                      </a:r>
                      <a:r>
                        <a:rPr lang="es-CL" baseline="0" dirty="0"/>
                        <a:t> 2 bloqueada</a:t>
                      </a:r>
                    </a:p>
                    <a:p>
                      <a:endParaRPr lang="es-CL" baseline="0" dirty="0"/>
                    </a:p>
                    <a:p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 y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 liberadas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dirty="0"/>
                        <a:t>(Transferir</a:t>
                      </a:r>
                      <a:r>
                        <a:rPr lang="es-CL" baseline="0" dirty="0"/>
                        <a:t> 500 de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 a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2)</a:t>
                      </a:r>
                    </a:p>
                    <a:p>
                      <a:r>
                        <a:rPr lang="es-CL" dirty="0"/>
                        <a:t>…</a:t>
                      </a:r>
                    </a:p>
                    <a:p>
                      <a:r>
                        <a:rPr lang="es-CL" dirty="0"/>
                        <a:t>…</a:t>
                      </a:r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r>
                        <a:rPr lang="es-CL" dirty="0"/>
                        <a:t>…</a:t>
                      </a:r>
                    </a:p>
                    <a:p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1:=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1 - 500</a:t>
                      </a:r>
                    </a:p>
                    <a:p>
                      <a:r>
                        <a:rPr lang="es-CL" baseline="0" dirty="0"/>
                        <a:t>…</a:t>
                      </a:r>
                    </a:p>
                    <a:p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2:=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 + 500</a:t>
                      </a:r>
                    </a:p>
                    <a:p>
                      <a:r>
                        <a:rPr lang="es-CL" baseline="0" dirty="0"/>
                        <a:t>…</a:t>
                      </a:r>
                    </a:p>
                    <a:p>
                      <a:r>
                        <a:rPr lang="es-CL" baseline="0" dirty="0" err="1"/>
                        <a:t>Commit</a:t>
                      </a:r>
                      <a:r>
                        <a:rPr lang="es-CL" baseline="0" dirty="0"/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r>
                        <a:rPr lang="es-CL" dirty="0" err="1"/>
                        <a:t>Cta</a:t>
                      </a:r>
                      <a:r>
                        <a:rPr lang="es-CL" dirty="0"/>
                        <a:t> 1 bloqueada</a:t>
                      </a:r>
                    </a:p>
                    <a:p>
                      <a:endParaRPr lang="es-CL" dirty="0"/>
                    </a:p>
                    <a:p>
                      <a:r>
                        <a:rPr lang="es-CL" dirty="0"/>
                        <a:t>¿Qué sucede?</a:t>
                      </a:r>
                      <a:endParaRPr lang="es-CL" baseline="0" dirty="0"/>
                    </a:p>
                    <a:p>
                      <a:endParaRPr lang="es-CL" baseline="0" dirty="0"/>
                    </a:p>
                    <a:p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 y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 liberadas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838945"/>
                  </a:ext>
                </a:extLst>
              </a:tr>
            </a:tbl>
          </a:graphicData>
        </a:graphic>
      </p:graphicFrame>
      <p:sp>
        <p:nvSpPr>
          <p:cNvPr id="12" name="CuadroTexto 11"/>
          <p:cNvSpPr txBox="1"/>
          <p:nvPr/>
        </p:nvSpPr>
        <p:spPr>
          <a:xfrm>
            <a:off x="2011680" y="1263535"/>
            <a:ext cx="349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Saldo inicial (</a:t>
            </a:r>
            <a:r>
              <a:rPr lang="es-CL" dirty="0" err="1"/>
              <a:t>Cta</a:t>
            </a:r>
            <a:r>
              <a:rPr lang="es-CL" dirty="0"/>
              <a:t> 1: 500; </a:t>
            </a:r>
            <a:r>
              <a:rPr lang="es-CL" dirty="0" err="1"/>
              <a:t>Cta</a:t>
            </a:r>
            <a:r>
              <a:rPr lang="es-CL" dirty="0"/>
              <a:t> 2: 300)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1786596" y="5918926"/>
            <a:ext cx="3702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¿Cuál es el saldo final de Cta1 y Cta2?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610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84885"/>
          </a:xfrm>
        </p:spPr>
        <p:txBody>
          <a:bodyPr/>
          <a:lstStyle/>
          <a:p>
            <a:r>
              <a:rPr lang="es-CL" sz="2800" dirty="0"/>
              <a:t>Veamos algunos ejemplos</a:t>
            </a:r>
            <a:br>
              <a:rPr lang="es-CL" dirty="0"/>
            </a:br>
            <a:r>
              <a:rPr lang="es-CL" dirty="0"/>
              <a:t>2. Sobregiro (consulta)</a:t>
            </a:r>
            <a:endParaRPr lang="en-US" dirty="0"/>
          </a:p>
        </p:txBody>
      </p:sp>
      <p:sp>
        <p:nvSpPr>
          <p:cNvPr id="4" name="Flecha abajo 3"/>
          <p:cNvSpPr/>
          <p:nvPr/>
        </p:nvSpPr>
        <p:spPr>
          <a:xfrm>
            <a:off x="295422" y="1647156"/>
            <a:ext cx="253218" cy="46411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/>
          <p:cNvSpPr txBox="1"/>
          <p:nvPr/>
        </p:nvSpPr>
        <p:spPr>
          <a:xfrm>
            <a:off x="675250" y="3615397"/>
            <a:ext cx="70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err="1"/>
              <a:t>tpo</a:t>
            </a:r>
            <a:endParaRPr lang="en-US" b="1" dirty="0"/>
          </a:p>
        </p:txBody>
      </p:sp>
      <p:graphicFrame>
        <p:nvGraphicFramePr>
          <p:cNvPr id="11" name="Tab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932239"/>
              </p:ext>
            </p:extLst>
          </p:nvPr>
        </p:nvGraphicFramePr>
        <p:xfrm>
          <a:off x="1786596" y="1463041"/>
          <a:ext cx="9827887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6972">
                  <a:extLst>
                    <a:ext uri="{9D8B030D-6E8A-4147-A177-3AD203B41FA5}">
                      <a16:colId xmlns:a16="http://schemas.microsoft.com/office/drawing/2014/main" val="1639264541"/>
                    </a:ext>
                  </a:extLst>
                </a:gridCol>
                <a:gridCol w="2266709">
                  <a:extLst>
                    <a:ext uri="{9D8B030D-6E8A-4147-A177-3AD203B41FA5}">
                      <a16:colId xmlns:a16="http://schemas.microsoft.com/office/drawing/2014/main" val="3539916180"/>
                    </a:ext>
                  </a:extLst>
                </a:gridCol>
                <a:gridCol w="2372669">
                  <a:extLst>
                    <a:ext uri="{9D8B030D-6E8A-4147-A177-3AD203B41FA5}">
                      <a16:colId xmlns:a16="http://schemas.microsoft.com/office/drawing/2014/main" val="2445882781"/>
                    </a:ext>
                  </a:extLst>
                </a:gridCol>
                <a:gridCol w="2731537">
                  <a:extLst>
                    <a:ext uri="{9D8B030D-6E8A-4147-A177-3AD203B41FA5}">
                      <a16:colId xmlns:a16="http://schemas.microsoft.com/office/drawing/2014/main" val="3185224194"/>
                    </a:ext>
                  </a:extLst>
                </a:gridCol>
              </a:tblGrid>
              <a:tr h="349134">
                <a:tc gridSpan="2">
                  <a:txBody>
                    <a:bodyPr/>
                    <a:lstStyle/>
                    <a:p>
                      <a:r>
                        <a:rPr lang="es-CL" dirty="0"/>
                        <a:t>Conexión 1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s-CL" dirty="0"/>
                        <a:t>Conexión 2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74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/>
                        <a:t>(Transferir</a:t>
                      </a:r>
                      <a:r>
                        <a:rPr lang="es-CL" baseline="0" dirty="0"/>
                        <a:t> 500 de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 a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2)</a:t>
                      </a:r>
                    </a:p>
                    <a:p>
                      <a:r>
                        <a:rPr lang="es-CL" dirty="0"/>
                        <a:t>Valor1 =</a:t>
                      </a:r>
                      <a:r>
                        <a:rPr lang="es-CL" baseline="0" dirty="0"/>
                        <a:t> (</a:t>
                      </a:r>
                      <a:r>
                        <a:rPr lang="es-CL" dirty="0" err="1"/>
                        <a:t>Select</a:t>
                      </a:r>
                      <a:r>
                        <a:rPr lang="es-CL" dirty="0"/>
                        <a:t> saldo </a:t>
                      </a:r>
                    </a:p>
                    <a:p>
                      <a:r>
                        <a:rPr lang="es-CL" dirty="0" err="1"/>
                        <a:t>from</a:t>
                      </a:r>
                      <a:r>
                        <a:rPr lang="es-CL" baseline="0" dirty="0"/>
                        <a:t> cuentas </a:t>
                      </a:r>
                    </a:p>
                    <a:p>
                      <a:r>
                        <a:rPr lang="es-CL" baseline="0" dirty="0" err="1"/>
                        <a:t>where</a:t>
                      </a:r>
                      <a:r>
                        <a:rPr lang="es-CL" baseline="0" dirty="0"/>
                        <a:t> cuenta =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1)</a:t>
                      </a:r>
                    </a:p>
                    <a:p>
                      <a:r>
                        <a:rPr lang="es-CL" dirty="0"/>
                        <a:t>Si Valor1</a:t>
                      </a:r>
                      <a:r>
                        <a:rPr lang="es-CL" baseline="0" dirty="0"/>
                        <a:t> – 500 &gt;=0 {</a:t>
                      </a:r>
                      <a:endParaRPr lang="es-CL" dirty="0"/>
                    </a:p>
                    <a:p>
                      <a:r>
                        <a:rPr lang="es-CL" baseline="0" dirty="0"/>
                        <a:t> 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1:= Valor1 -500</a:t>
                      </a:r>
                    </a:p>
                    <a:p>
                      <a:r>
                        <a:rPr lang="es-CL" baseline="0" dirty="0"/>
                        <a:t>…</a:t>
                      </a:r>
                    </a:p>
                    <a:p>
                      <a:r>
                        <a:rPr lang="es-CL" baseline="0" dirty="0"/>
                        <a:t> 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2:=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  +500</a:t>
                      </a:r>
                    </a:p>
                    <a:p>
                      <a:r>
                        <a:rPr lang="es-CL" baseline="0" dirty="0"/>
                        <a:t>…</a:t>
                      </a:r>
                    </a:p>
                    <a:p>
                      <a:r>
                        <a:rPr lang="es-CL" baseline="0" dirty="0"/>
                        <a:t>  </a:t>
                      </a:r>
                      <a:r>
                        <a:rPr lang="es-CL" baseline="0" dirty="0" err="1"/>
                        <a:t>Commit</a:t>
                      </a:r>
                      <a:r>
                        <a:rPr lang="es-CL" baseline="0" dirty="0"/>
                        <a:t>;</a:t>
                      </a:r>
                    </a:p>
                    <a:p>
                      <a:r>
                        <a:rPr lang="es-CL" baseline="0" dirty="0"/>
                        <a:t>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r>
                        <a:rPr lang="es-CL" dirty="0" err="1"/>
                        <a:t>Cta</a:t>
                      </a:r>
                      <a:r>
                        <a:rPr lang="es-CL" dirty="0"/>
                        <a:t> 1 bloqueada</a:t>
                      </a:r>
                    </a:p>
                    <a:p>
                      <a:endParaRPr lang="es-CL" dirty="0"/>
                    </a:p>
                    <a:p>
                      <a:r>
                        <a:rPr lang="es-CL" dirty="0" err="1"/>
                        <a:t>Cta</a:t>
                      </a:r>
                      <a:r>
                        <a:rPr lang="es-CL" baseline="0" dirty="0"/>
                        <a:t> 2 bloqueada</a:t>
                      </a:r>
                    </a:p>
                    <a:p>
                      <a:endParaRPr lang="es-CL" baseline="0" dirty="0"/>
                    </a:p>
                    <a:p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 y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 liberadas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dirty="0"/>
                        <a:t>(Transferir</a:t>
                      </a:r>
                      <a:r>
                        <a:rPr lang="es-CL" baseline="0" dirty="0"/>
                        <a:t> 500 de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 a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2)</a:t>
                      </a:r>
                    </a:p>
                    <a:p>
                      <a:r>
                        <a:rPr lang="es-CL" dirty="0"/>
                        <a:t>…</a:t>
                      </a:r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r>
                        <a:rPr lang="es-CL" dirty="0"/>
                        <a:t>…</a:t>
                      </a:r>
                    </a:p>
                    <a:p>
                      <a:r>
                        <a:rPr lang="es-CL" dirty="0"/>
                        <a:t>Valor1 =</a:t>
                      </a:r>
                      <a:r>
                        <a:rPr lang="es-CL" baseline="0" dirty="0"/>
                        <a:t> (</a:t>
                      </a:r>
                      <a:r>
                        <a:rPr lang="es-CL" dirty="0" err="1"/>
                        <a:t>Select</a:t>
                      </a:r>
                      <a:r>
                        <a:rPr lang="es-CL" dirty="0"/>
                        <a:t> saldo </a:t>
                      </a:r>
                    </a:p>
                    <a:p>
                      <a:r>
                        <a:rPr lang="es-CL" dirty="0" err="1"/>
                        <a:t>from</a:t>
                      </a:r>
                      <a:r>
                        <a:rPr lang="es-CL" baseline="0" dirty="0"/>
                        <a:t> cuentas </a:t>
                      </a:r>
                    </a:p>
                    <a:p>
                      <a:r>
                        <a:rPr lang="es-CL" baseline="0" dirty="0" err="1"/>
                        <a:t>where</a:t>
                      </a:r>
                      <a:r>
                        <a:rPr lang="es-CL" baseline="0" dirty="0"/>
                        <a:t> cuenta =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1)</a:t>
                      </a:r>
                      <a:endParaRPr lang="es-CL" dirty="0"/>
                    </a:p>
                    <a:p>
                      <a:endParaRPr lang="es-CL" dirty="0"/>
                    </a:p>
                    <a:p>
                      <a:r>
                        <a:rPr lang="es-CL" dirty="0"/>
                        <a:t>Si Valor1</a:t>
                      </a:r>
                      <a:r>
                        <a:rPr lang="es-CL" baseline="0" dirty="0"/>
                        <a:t> – 500 &gt;=0 {</a:t>
                      </a:r>
                      <a:endParaRPr lang="es-CL" dirty="0"/>
                    </a:p>
                    <a:p>
                      <a:r>
                        <a:rPr lang="es-CL" baseline="0" dirty="0"/>
                        <a:t> 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1:= Valor1 -500</a:t>
                      </a:r>
                    </a:p>
                    <a:p>
                      <a:r>
                        <a:rPr lang="es-CL" baseline="0" dirty="0"/>
                        <a:t>…</a:t>
                      </a:r>
                    </a:p>
                    <a:p>
                      <a:r>
                        <a:rPr lang="es-CL" baseline="0" dirty="0"/>
                        <a:t> 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2:= </a:t>
                      </a:r>
                      <a:r>
                        <a:rPr lang="es-CL" baseline="0" dirty="0" err="1"/>
                        <a:t>cta</a:t>
                      </a:r>
                      <a:r>
                        <a:rPr lang="es-CL" baseline="0" dirty="0"/>
                        <a:t> 2  +500</a:t>
                      </a:r>
                    </a:p>
                    <a:p>
                      <a:r>
                        <a:rPr lang="es-CL" baseline="0" dirty="0"/>
                        <a:t>…</a:t>
                      </a:r>
                    </a:p>
                    <a:p>
                      <a:r>
                        <a:rPr lang="es-CL" baseline="0" dirty="0"/>
                        <a:t>  </a:t>
                      </a:r>
                      <a:r>
                        <a:rPr lang="es-CL" baseline="0" dirty="0" err="1"/>
                        <a:t>Commit</a:t>
                      </a:r>
                      <a:r>
                        <a:rPr lang="es-CL" baseline="0" dirty="0"/>
                        <a:t>;</a:t>
                      </a:r>
                    </a:p>
                    <a:p>
                      <a:r>
                        <a:rPr lang="es-CL" baseline="0" dirty="0"/>
                        <a:t>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r>
                        <a:rPr lang="es-CL" dirty="0"/>
                        <a:t>¿Qué</a:t>
                      </a:r>
                      <a:r>
                        <a:rPr lang="es-CL" baseline="0" dirty="0"/>
                        <a:t> sucede con esta consulta? ¿Responde? ¿Se bloquea? ¿Devuelve algún valor? ¿Cuál?</a:t>
                      </a:r>
                    </a:p>
                    <a:p>
                      <a:endParaRPr lang="es-CL" baseline="0" dirty="0"/>
                    </a:p>
                    <a:p>
                      <a:endParaRPr lang="es-CL" baseline="0" dirty="0"/>
                    </a:p>
                    <a:p>
                      <a:r>
                        <a:rPr lang="es-CL" baseline="0" dirty="0"/>
                        <a:t>¿Qué sucede aquí?</a:t>
                      </a:r>
                      <a:endParaRPr lang="es-CL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838945"/>
                  </a:ext>
                </a:extLst>
              </a:tr>
            </a:tbl>
          </a:graphicData>
        </a:graphic>
      </p:graphicFrame>
      <p:sp>
        <p:nvSpPr>
          <p:cNvPr id="12" name="CuadroTexto 11"/>
          <p:cNvSpPr txBox="1"/>
          <p:nvPr/>
        </p:nvSpPr>
        <p:spPr>
          <a:xfrm>
            <a:off x="1961804" y="1083098"/>
            <a:ext cx="349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Saldo inicial (</a:t>
            </a:r>
            <a:r>
              <a:rPr lang="es-CL" dirty="0" err="1"/>
              <a:t>Cta</a:t>
            </a:r>
            <a:r>
              <a:rPr lang="es-CL" dirty="0"/>
              <a:t> 1: 500; </a:t>
            </a:r>
            <a:r>
              <a:rPr lang="es-CL" dirty="0" err="1"/>
              <a:t>Cta</a:t>
            </a:r>
            <a:r>
              <a:rPr lang="es-CL" dirty="0"/>
              <a:t> 2: 300)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805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Veamos un procedimiento almacenado</a:t>
            </a:r>
            <a:endParaRPr lang="en-US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38" name="TextBox1" r:id="rId2" imgW="9658440" imgH="4826160"/>
        </mc:Choice>
        <mc:Fallback>
          <p:control name="TextBox1" r:id="rId2" imgW="9658440" imgH="4826160">
            <p:pic>
              <p:nvPicPr>
                <p:cNvPr id="5" name="TextBox1"/>
                <p:cNvPicPr>
                  <a:picLocks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658247" y="1363913"/>
                  <a:ext cx="9656679" cy="4827588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69198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Veamos un procedimiento almacenado</a:t>
            </a:r>
            <a:endParaRPr lang="en-US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2057" name="TextBox1" r:id="rId2" imgW="8528040" imgH="5295960"/>
        </mc:Choice>
        <mc:Fallback>
          <p:control name="TextBox1" r:id="rId2" imgW="8528040" imgH="5295960">
            <p:pic>
              <p:nvPicPr>
                <p:cNvPr id="5" name="TextBox1"/>
                <p:cNvPicPr>
                  <a:picLocks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658248" y="1075119"/>
                  <a:ext cx="8528490" cy="5297546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4093215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 continuación …</a:t>
            </a:r>
            <a:endParaRPr lang="en-U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246221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Veamos esto de manera práctica.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Escribamos procedimientos almacenados que ejecuten transacciones de manera robusta.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95814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18858</TotalTime>
  <Words>857</Words>
  <Application>Microsoft Office PowerPoint</Application>
  <PresentationFormat>Panorámica</PresentationFormat>
  <Paragraphs>251</Paragraphs>
  <Slides>13</Slides>
  <Notes>2</Notes>
  <HiddenSlides>0</HiddenSlides>
  <MMClips>1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Unidad 0 - Introducción</vt:lpstr>
      <vt:lpstr>Bases de Datos – Sistema Gestor de Bases de Datos</vt:lpstr>
      <vt:lpstr>Gestión de Transacciones – propiedades ACID</vt:lpstr>
      <vt:lpstr>¿Qué otros ejemplos de transacciones encontramos?</vt:lpstr>
      <vt:lpstr>¿Qué debemos hacer para que ACID se cumpla?</vt:lpstr>
      <vt:lpstr>¿Qué debemos hacer para que ACID se cumpla?</vt:lpstr>
      <vt:lpstr>Veamos algunos ejemplos 1. Dos transacciones concurrentes</vt:lpstr>
      <vt:lpstr>Veamos algunos ejemplos 2. Dos transacciones concurrentes + consulta</vt:lpstr>
      <vt:lpstr>Veamos algunos ejemplos 3. Dos transacciones concurrentes (sobregiro)</vt:lpstr>
      <vt:lpstr>Veamos algunos ejemplos 2. Sobregiro (consulta)</vt:lpstr>
      <vt:lpstr>Veamos un procedimiento almacenado</vt:lpstr>
      <vt:lpstr>Veamos un procedimiento almacenado</vt:lpstr>
      <vt:lpstr>A continuación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0 - Introducción</dc:title>
  <dc:creator>Valeria Henriquez Norambuena</dc:creator>
  <cp:lastModifiedBy>Juan Pablo Salazar Fernández</cp:lastModifiedBy>
  <cp:revision>88</cp:revision>
  <cp:lastPrinted>2018-03-09T00:58:19Z</cp:lastPrinted>
  <dcterms:created xsi:type="dcterms:W3CDTF">2018-03-05T20:26:11Z</dcterms:created>
  <dcterms:modified xsi:type="dcterms:W3CDTF">2026-03-31T15:21:13Z</dcterms:modified>
</cp:coreProperties>
</file>
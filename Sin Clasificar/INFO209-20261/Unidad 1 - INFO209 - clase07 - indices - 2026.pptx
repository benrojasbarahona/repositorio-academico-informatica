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0"/>
  </p:notesMasterIdLst>
  <p:handoutMasterIdLst>
    <p:handoutMasterId r:id="rId31"/>
  </p:handoutMasterIdLst>
  <p:sldIdLst>
    <p:sldId id="257" r:id="rId2"/>
    <p:sldId id="303" r:id="rId3"/>
    <p:sldId id="331" r:id="rId4"/>
    <p:sldId id="332" r:id="rId5"/>
    <p:sldId id="318" r:id="rId6"/>
    <p:sldId id="304" r:id="rId7"/>
    <p:sldId id="319" r:id="rId8"/>
    <p:sldId id="305" r:id="rId9"/>
    <p:sldId id="306" r:id="rId10"/>
    <p:sldId id="307" r:id="rId11"/>
    <p:sldId id="308" r:id="rId12"/>
    <p:sldId id="312" r:id="rId13"/>
    <p:sldId id="310" r:id="rId14"/>
    <p:sldId id="313" r:id="rId15"/>
    <p:sldId id="311" r:id="rId16"/>
    <p:sldId id="314" r:id="rId17"/>
    <p:sldId id="316" r:id="rId18"/>
    <p:sldId id="317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  <p:sldId id="328" r:id="rId28"/>
    <p:sldId id="330" r:id="rId29"/>
  </p:sldIdLst>
  <p:sldSz cx="12192000" cy="6858000"/>
  <p:notesSz cx="7077075" cy="9028113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985" autoAdjust="0"/>
    <p:restoredTop sz="84460" autoAdjust="0"/>
  </p:normalViewPr>
  <p:slideViewPr>
    <p:cSldViewPr snapToGrid="0">
      <p:cViewPr varScale="1">
        <p:scale>
          <a:sx n="95" d="100"/>
          <a:sy n="95" d="100"/>
        </p:scale>
        <p:origin x="107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Libro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 baseline="0"/>
              <a:t>N° de registros &amp; </a:t>
            </a:r>
            <a:r>
              <a:rPr lang="en-US" sz="1800" b="1" i="0" u="none" strike="noStrike" baseline="0">
                <a:effectLst/>
              </a:rPr>
              <a:t>N° Operaciones (PK)</a:t>
            </a:r>
            <a:endParaRPr lang="en-US" sz="1800" b="1"/>
          </a:p>
        </c:rich>
      </c:tx>
      <c:layout>
        <c:manualLayout>
          <c:xMode val="edge"/>
          <c:yMode val="edge"/>
          <c:x val="0.21258024222875754"/>
          <c:y val="4.184392217030476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Hoja1!$C$2</c:f>
              <c:strCache>
                <c:ptCount val="1"/>
                <c:pt idx="0">
                  <c:v>N° Operaciones PK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og"/>
            <c:dispRSqr val="0"/>
            <c:dispEq val="0"/>
          </c:trendline>
          <c:xVal>
            <c:numRef>
              <c:f>Hoja1!$B$3:$B$10</c:f>
              <c:numCache>
                <c:formatCode>_(* #,##0_);_(* \(#,##0\);_(* "-"_);_(@_)</c:formatCode>
                <c:ptCount val="8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  <c:pt idx="6">
                  <c:v>10000000</c:v>
                </c:pt>
                <c:pt idx="7">
                  <c:v>100000000</c:v>
                </c:pt>
              </c:numCache>
            </c:numRef>
          </c:xVal>
          <c:yVal>
            <c:numRef>
              <c:f>Hoja1!$C$3:$C$10</c:f>
              <c:numCache>
                <c:formatCode>General</c:formatCode>
                <c:ptCount val="8"/>
                <c:pt idx="0">
                  <c:v>6</c:v>
                </c:pt>
                <c:pt idx="1">
                  <c:v>9</c:v>
                </c:pt>
                <c:pt idx="2">
                  <c:v>12</c:v>
                </c:pt>
                <c:pt idx="3">
                  <c:v>16</c:v>
                </c:pt>
                <c:pt idx="4">
                  <c:v>19</c:v>
                </c:pt>
                <c:pt idx="5">
                  <c:v>22</c:v>
                </c:pt>
                <c:pt idx="6">
                  <c:v>26</c:v>
                </c:pt>
                <c:pt idx="7">
                  <c:v>29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FC1-4021-9C43-3822D76C5E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242016"/>
        <c:axId val="566232032"/>
      </c:scatterChart>
      <c:valAx>
        <c:axId val="5662420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66232032"/>
        <c:crosses val="autoZero"/>
        <c:crossBetween val="midCat"/>
      </c:valAx>
      <c:valAx>
        <c:axId val="566232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56624201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b="1"/>
              <a:t>N° de Registros</a:t>
            </a:r>
            <a:r>
              <a:rPr lang="en-US" sz="1800" b="1" baseline="0"/>
              <a:t> &amp; N° de Operaciones</a:t>
            </a:r>
            <a:endParaRPr lang="en-US" sz="18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title>
    <c:autoTitleDeleted val="0"/>
    <c:plotArea>
      <c:layout/>
      <c:scatterChart>
        <c:scatterStyle val="smoothMarker"/>
        <c:varyColors val="0"/>
        <c:ser>
          <c:idx val="0"/>
          <c:order val="0"/>
          <c:tx>
            <c:strRef>
              <c:f>Hoja1!$C$2</c:f>
              <c:strCache>
                <c:ptCount val="1"/>
                <c:pt idx="0">
                  <c:v>N° Operaciones PK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Hoja1!$B$3:$B$10</c:f>
              <c:numCache>
                <c:formatCode>_(* #,##0_);_(* \(#,##0\);_(* "-"_);_(@_)</c:formatCode>
                <c:ptCount val="8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  <c:pt idx="6">
                  <c:v>10000000</c:v>
                </c:pt>
                <c:pt idx="7">
                  <c:v>100000000</c:v>
                </c:pt>
              </c:numCache>
            </c:numRef>
          </c:xVal>
          <c:yVal>
            <c:numRef>
              <c:f>Hoja1!$C$3:$C$10</c:f>
              <c:numCache>
                <c:formatCode>General</c:formatCode>
                <c:ptCount val="8"/>
                <c:pt idx="0">
                  <c:v>6</c:v>
                </c:pt>
                <c:pt idx="1">
                  <c:v>9</c:v>
                </c:pt>
                <c:pt idx="2">
                  <c:v>12</c:v>
                </c:pt>
                <c:pt idx="3">
                  <c:v>16</c:v>
                </c:pt>
                <c:pt idx="4">
                  <c:v>19</c:v>
                </c:pt>
                <c:pt idx="5">
                  <c:v>22</c:v>
                </c:pt>
                <c:pt idx="6">
                  <c:v>26</c:v>
                </c:pt>
                <c:pt idx="7">
                  <c:v>29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BE82-48B2-A9F0-D94AE32827C1}"/>
            </c:ext>
          </c:extLst>
        </c:ser>
        <c:ser>
          <c:idx val="1"/>
          <c:order val="1"/>
          <c:tx>
            <c:strRef>
              <c:f>Hoja1!$D$2</c:f>
              <c:strCache>
                <c:ptCount val="1"/>
                <c:pt idx="0">
                  <c:v>N° Operaciones Full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Hoja1!$B$3:$B$10</c:f>
              <c:numCache>
                <c:formatCode>_(* #,##0_);_(* \(#,##0\);_(* "-"_);_(@_)</c:formatCode>
                <c:ptCount val="8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  <c:pt idx="6">
                  <c:v>10000000</c:v>
                </c:pt>
                <c:pt idx="7">
                  <c:v>100000000</c:v>
                </c:pt>
              </c:numCache>
            </c:numRef>
          </c:xVal>
          <c:yVal>
            <c:numRef>
              <c:f>Hoja1!$D$3:$D$10</c:f>
              <c:numCache>
                <c:formatCode>General</c:formatCode>
                <c:ptCount val="8"/>
                <c:pt idx="0">
                  <c:v>10</c:v>
                </c:pt>
                <c:pt idx="1">
                  <c:v>100</c:v>
                </c:pt>
                <c:pt idx="2">
                  <c:v>1000</c:v>
                </c:pt>
                <c:pt idx="3">
                  <c:v>10000</c:v>
                </c:pt>
                <c:pt idx="4">
                  <c:v>100000</c:v>
                </c:pt>
                <c:pt idx="5">
                  <c:v>1000000</c:v>
                </c:pt>
                <c:pt idx="6">
                  <c:v>10000000</c:v>
                </c:pt>
                <c:pt idx="7">
                  <c:v>100000000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BE82-48B2-A9F0-D94AE32827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08458112"/>
        <c:axId val="408465600"/>
      </c:scatterChart>
      <c:valAx>
        <c:axId val="408458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* #,##0_);_(* \(#,##0\);_(* &quot;-&quot;_);_(@_)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408465600"/>
        <c:crosses val="autoZero"/>
        <c:crossBetween val="midCat"/>
      </c:valAx>
      <c:valAx>
        <c:axId val="408465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L"/>
          </a:p>
        </c:txPr>
        <c:crossAx val="4084581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s-C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1F1719-9756-4A84-82A5-4DD33F36571E}" type="datetimeFigureOut">
              <a:rPr lang="es-CL" smtClean="0"/>
              <a:t>22-04-2026</a:t>
            </a:fld>
            <a:endParaRPr lang="es-CL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FAC36-D20F-4D20-A1F7-B93EBCBA800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750227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08705" y="0"/>
            <a:ext cx="3066733" cy="45297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CA8EBD-F228-4310-98D3-0AA28F568233}" type="datetimeFigureOut">
              <a:rPr lang="es-CL" smtClean="0"/>
              <a:t>22-04-2026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830263" y="1128713"/>
            <a:ext cx="5416550" cy="30464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7708" y="4344780"/>
            <a:ext cx="5661660" cy="355481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08705" y="8575141"/>
            <a:ext cx="3066733" cy="45297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801272-3DC3-4F9E-9400-55ED7D4F3253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43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Hacer</a:t>
            </a:r>
            <a:r>
              <a:rPr lang="es-CL" baseline="0" dirty="0"/>
              <a:t> el ejercicio de recorrido, ver si recuerdan cómo funciona.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59737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No</a:t>
            </a:r>
            <a:r>
              <a:rPr lang="es-CL" baseline="0" dirty="0"/>
              <a:t> olvidar que estamos simplificando. </a:t>
            </a:r>
          </a:p>
          <a:p>
            <a:r>
              <a:rPr lang="es-CL" baseline="0" dirty="0"/>
              <a:t>Las BD no leen los registros uno a uno, sino que leen bloques.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78520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r>
              <a:rPr lang="es-ES" dirty="0"/>
              <a:t>Encuentro la hoja</a:t>
            </a:r>
          </a:p>
          <a:p>
            <a:pPr marL="228600" indent="-228600">
              <a:buAutoNum type="arabicParenR"/>
            </a:pPr>
            <a:r>
              <a:rPr lang="es-ES" dirty="0"/>
              <a:t>Busco las llaves primarias</a:t>
            </a:r>
          </a:p>
          <a:p>
            <a:pPr marL="228600" indent="-228600">
              <a:buAutoNum type="arabicParenR"/>
            </a:pPr>
            <a:r>
              <a:rPr lang="es-ES" dirty="0"/>
              <a:t>Para cada llave primaria, busco en la tabla (la recorro x llave primaria).</a:t>
            </a:r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72342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¿</a:t>
            </a:r>
            <a:r>
              <a:rPr lang="es-CL" dirty="0" err="1"/>
              <a:t>Cúantas</a:t>
            </a:r>
            <a:r>
              <a:rPr lang="es-CL" baseline="0" dirty="0"/>
              <a:t> operaciones habría requerido el acceso secuencial?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28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801272-3DC3-4F9E-9400-55ED7D4F3253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48168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png"/><Relationship Id="rId9" Type="http://schemas.openxmlformats.org/officeDocument/2006/relationships/image" Target="../media/image8.jp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/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1" y="3840480"/>
            <a:ext cx="8534399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4/22/2026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865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5952613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92443"/>
          </a:xfrm>
        </p:spPr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19061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599" y="6191013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4/22/2026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19061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57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4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333500"/>
            <a:ext cx="530352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145281" y="6134101"/>
            <a:ext cx="3901439" cy="276999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609600" y="6134101"/>
            <a:ext cx="2804160" cy="276999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4/22/2026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778240" y="6134101"/>
            <a:ext cx="2804160" cy="276999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47770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553998"/>
          </a:xfrm>
        </p:spPr>
        <p:txBody>
          <a:bodyPr lIns="0" tIns="0" rIns="0" bIns="0"/>
          <a:lstStyle>
            <a:lvl1pPr>
              <a:defRPr sz="36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4/22/2026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30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0" y="6039105"/>
            <a:ext cx="12192000" cy="8188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357119" y="1316735"/>
            <a:ext cx="7284720" cy="5179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451103" y="1570736"/>
            <a:ext cx="11098784" cy="19446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184912" y="1944623"/>
            <a:ext cx="11988800" cy="198119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03200" y="2544064"/>
            <a:ext cx="11738864" cy="319430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29616" y="4519168"/>
            <a:ext cx="11812016" cy="181660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4/22/2026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17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663303"/>
            <a:ext cx="9144000" cy="184666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36933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77941"/>
            <a:ext cx="2804160" cy="276999"/>
          </a:xfrm>
        </p:spPr>
        <p:txBody>
          <a:bodyPr/>
          <a:lstStyle/>
          <a:p>
            <a:fld id="{A9667479-CA72-4F5A-B46B-B4A3B031F1A0}" type="datetimeFigureOut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22-04-2026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45281" y="6377941"/>
            <a:ext cx="3901439" cy="276999"/>
          </a:xfrm>
        </p:spPr>
        <p:txBody>
          <a:bodyPr/>
          <a:lstStyle/>
          <a:p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78240" y="6377941"/>
            <a:ext cx="2804160" cy="276999"/>
          </a:xfrm>
        </p:spPr>
        <p:txBody>
          <a:bodyPr/>
          <a:lstStyle/>
          <a:p>
            <a:fld id="{55F34035-2F18-467C-941C-89571A5FBF17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476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99161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335279" y="164592"/>
            <a:ext cx="1247648" cy="124764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40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58247" y="98213"/>
            <a:ext cx="8875504" cy="4154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0" i="0">
                <a:solidFill>
                  <a:schemeClr val="bg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2910" y="1647157"/>
            <a:ext cx="1036618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1" y="6377941"/>
            <a:ext cx="3901439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4/22/2026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1"/>
            <a:ext cx="28041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311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609585">
        <a:defRPr>
          <a:latin typeface="+mn-lt"/>
          <a:ea typeface="+mn-ea"/>
          <a:cs typeface="+mn-cs"/>
        </a:defRPr>
      </a:lvl2pPr>
      <a:lvl3pPr marL="1219170">
        <a:defRPr>
          <a:latin typeface="+mn-lt"/>
          <a:ea typeface="+mn-ea"/>
          <a:cs typeface="+mn-cs"/>
        </a:defRPr>
      </a:lvl3pPr>
      <a:lvl4pPr marL="1828754">
        <a:defRPr>
          <a:latin typeface="+mn-lt"/>
          <a:ea typeface="+mn-ea"/>
          <a:cs typeface="+mn-cs"/>
        </a:defRPr>
      </a:lvl4pPr>
      <a:lvl5pPr marL="2438339">
        <a:defRPr>
          <a:latin typeface="+mn-lt"/>
          <a:ea typeface="+mn-ea"/>
          <a:cs typeface="+mn-cs"/>
        </a:defRPr>
      </a:lvl5pPr>
      <a:lvl6pPr marL="3047924">
        <a:defRPr>
          <a:latin typeface="+mn-lt"/>
          <a:ea typeface="+mn-ea"/>
          <a:cs typeface="+mn-cs"/>
        </a:defRPr>
      </a:lvl6pPr>
      <a:lvl7pPr marL="3657509">
        <a:defRPr>
          <a:latin typeface="+mn-lt"/>
          <a:ea typeface="+mn-ea"/>
          <a:cs typeface="+mn-cs"/>
        </a:defRPr>
      </a:lvl7pPr>
      <a:lvl8pPr marL="4267093">
        <a:defRPr>
          <a:latin typeface="+mn-lt"/>
          <a:ea typeface="+mn-ea"/>
          <a:cs typeface="+mn-cs"/>
        </a:defRPr>
      </a:lvl8pPr>
      <a:lvl9pPr marL="487667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0.png"/><Relationship Id="rId5" Type="http://schemas.openxmlformats.org/officeDocument/2006/relationships/image" Target="../media/image310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10.png"/><Relationship Id="rId9" Type="http://schemas.openxmlformats.org/officeDocument/2006/relationships/image" Target="../media/image7.png"/><Relationship Id="rId14" Type="http://schemas.openxmlformats.org/officeDocument/2006/relationships/image" Target="../media/image1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0.png"/><Relationship Id="rId3" Type="http://schemas.openxmlformats.org/officeDocument/2006/relationships/image" Target="../media/image21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0.png"/><Relationship Id="rId4" Type="http://schemas.openxmlformats.org/officeDocument/2006/relationships/image" Target="../media/image310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23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60945" y="4845470"/>
            <a:ext cx="9144000" cy="738664"/>
          </a:xfrm>
        </p:spPr>
        <p:txBody>
          <a:bodyPr/>
          <a:lstStyle/>
          <a:p>
            <a:r>
              <a:rPr lang="es-CL" dirty="0"/>
              <a:t>INFO 209 – Taller de Bases de Datos</a:t>
            </a:r>
          </a:p>
          <a:p>
            <a:r>
              <a:rPr lang="es-CL" dirty="0"/>
              <a:t>Juan Pablo Salazar, 2026</a:t>
            </a: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6945" y="1663303"/>
            <a:ext cx="12192000" cy="276998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algn="ctr">
              <a:defRPr sz="4500" b="0" i="0">
                <a:solidFill>
                  <a:schemeClr val="bg1"/>
                </a:solidFill>
                <a:latin typeface="Calibri Light"/>
                <a:ea typeface="+mj-ea"/>
                <a:cs typeface="Calibri Light"/>
              </a:defRPr>
            </a:lvl1pPr>
          </a:lstStyle>
          <a:p>
            <a:r>
              <a:rPr lang="es-CL" sz="6000" kern="0" dirty="0">
                <a:solidFill>
                  <a:prstClr val="black"/>
                </a:solidFill>
              </a:rPr>
              <a:t>Unidad 2. </a:t>
            </a:r>
          </a:p>
          <a:p>
            <a:r>
              <a:rPr lang="es-CL" sz="6000" kern="0" dirty="0">
                <a:solidFill>
                  <a:prstClr val="black"/>
                </a:solidFill>
              </a:rPr>
              <a:t>Administración y Optimización</a:t>
            </a:r>
          </a:p>
          <a:p>
            <a:r>
              <a:rPr lang="es-CL" sz="5400" kern="0" dirty="0">
                <a:solidFill>
                  <a:prstClr val="black"/>
                </a:solidFill>
              </a:rPr>
              <a:t>Índices en BD. Relacionales</a:t>
            </a:r>
          </a:p>
        </p:txBody>
      </p:sp>
    </p:spTree>
    <p:extLst>
      <p:ext uri="{BB962C8B-B14F-4D97-AF65-F5344CB8AC3E}">
        <p14:creationId xmlns:p14="http://schemas.microsoft.com/office/powerpoint/2010/main" val="292688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 - Índices</a:t>
            </a:r>
            <a:endParaRPr lang="en-U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EAD2E25-C863-485E-91B6-BA4574756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244" y="1253066"/>
            <a:ext cx="3658448" cy="482600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1EACE99C-20AD-4849-B33F-248A4F39E418}"/>
              </a:ext>
            </a:extLst>
          </p:cNvPr>
          <p:cNvSpPr txBox="1"/>
          <p:nvPr/>
        </p:nvSpPr>
        <p:spPr>
          <a:xfrm>
            <a:off x="6095999" y="1634066"/>
            <a:ext cx="5706534" cy="450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b="0" i="0" u="none" strike="noStrike" baseline="0" dirty="0">
                <a:highlight>
                  <a:srgbClr val="FFFF00"/>
                </a:highlight>
                <a:latin typeface="MyriadPro-SemiboldCond"/>
              </a:rPr>
              <a:t>2. Indexes and Indexing.. . . . . . . . . . . . . . . . . . . . . . . . . . . . . . 35</a:t>
            </a:r>
          </a:p>
          <a:p>
            <a:pPr algn="l"/>
            <a:r>
              <a:rPr lang="en-US" sz="1050" b="0" i="0" u="none" strike="noStrike" baseline="0" dirty="0">
                <a:highlight>
                  <a:srgbClr val="FFFF00"/>
                </a:highlight>
                <a:latin typeface="MinionPro-Regular"/>
              </a:rPr>
              <a:t>Red Herrings of Performance 37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Better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,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Faster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Hardware! 37</a:t>
            </a:r>
          </a:p>
          <a:p>
            <a:pPr algn="l"/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MySQL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Tuning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39</a:t>
            </a:r>
          </a:p>
          <a:p>
            <a:pPr algn="l"/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MySQL Indexes: A Visual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Introduction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40</a:t>
            </a:r>
          </a:p>
          <a:p>
            <a:pPr algn="l"/>
            <a:r>
              <a:rPr lang="en-US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InnoDB</a:t>
            </a:r>
            <a:r>
              <a:rPr lang="en-US" sz="1050" b="0" i="0" u="none" strike="noStrike" baseline="0" dirty="0">
                <a:highlight>
                  <a:srgbClr val="FFFF00"/>
                </a:highlight>
                <a:latin typeface="MinionPro-Regular"/>
              </a:rPr>
              <a:t> Tables Are Indexes 41</a:t>
            </a:r>
          </a:p>
          <a:p>
            <a:pPr algn="l"/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Table Access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Methods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45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Leftmost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Prefix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Requirement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49</a:t>
            </a:r>
          </a:p>
          <a:p>
            <a:pPr algn="l"/>
            <a:r>
              <a:rPr lang="en-US" sz="1050" b="0" i="0" u="none" strike="noStrike" baseline="0" dirty="0">
                <a:latin typeface="MinionPro-Regular"/>
              </a:rPr>
              <a:t>EXPLAIN: Query Execution Plan 51</a:t>
            </a:r>
          </a:p>
          <a:p>
            <a:pPr algn="l"/>
            <a:r>
              <a:rPr lang="es-CL" sz="1050" b="0" i="0" u="none" strike="noStrike" baseline="0" dirty="0">
                <a:latin typeface="MinionPro-Regular"/>
              </a:rPr>
              <a:t>WHERE 54</a:t>
            </a:r>
          </a:p>
          <a:p>
            <a:pPr algn="l"/>
            <a:r>
              <a:rPr lang="es-CL" sz="1050" b="0" i="0" u="none" strike="noStrike" baseline="0" dirty="0">
                <a:latin typeface="MinionPro-Regular"/>
              </a:rPr>
              <a:t>GROUP BY 60</a:t>
            </a:r>
          </a:p>
          <a:p>
            <a:pPr algn="l"/>
            <a:r>
              <a:rPr lang="es-CL" sz="1050" b="0" i="0" u="none" strike="noStrike" baseline="0" dirty="0">
                <a:latin typeface="MinionPro-Regular"/>
              </a:rPr>
              <a:t>ORDER BY 65</a:t>
            </a:r>
          </a:p>
          <a:p>
            <a:pPr algn="l"/>
            <a:r>
              <a:rPr lang="es-CL" sz="1050" b="0" i="0" u="none" strike="noStrike" baseline="0" dirty="0" err="1">
                <a:latin typeface="MinionPro-Regular"/>
              </a:rPr>
              <a:t>Covering</a:t>
            </a:r>
            <a:r>
              <a:rPr lang="es-CL" sz="1050" b="0" i="0" u="none" strike="noStrike" baseline="0" dirty="0">
                <a:latin typeface="MinionPro-Regular"/>
              </a:rPr>
              <a:t> Indexes 71</a:t>
            </a:r>
          </a:p>
          <a:p>
            <a:pPr algn="l"/>
            <a:r>
              <a:rPr lang="es-CL" sz="1050" b="0" i="0" u="none" strike="noStrike" baseline="0" dirty="0" err="1">
                <a:latin typeface="MinionPro-Regular"/>
              </a:rPr>
              <a:t>Join</a:t>
            </a:r>
            <a:r>
              <a:rPr lang="es-CL" sz="1050" b="0" i="0" u="none" strike="noStrike" baseline="0" dirty="0">
                <a:latin typeface="MinionPro-Regular"/>
              </a:rPr>
              <a:t> Tables 71</a:t>
            </a:r>
          </a:p>
          <a:p>
            <a:pPr algn="l"/>
            <a:r>
              <a:rPr lang="en-US" sz="1050" b="0" i="0" u="none" strike="noStrike" baseline="0" dirty="0">
                <a:latin typeface="MinionPro-Regular"/>
              </a:rPr>
              <a:t>Indexing: How to Think Like MySQL 80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Know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the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Query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80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Understand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with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EXPLAIN 81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Optimize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the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Query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82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Deploy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and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Verify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83</a:t>
            </a:r>
          </a:p>
          <a:p>
            <a:pPr algn="l"/>
            <a:r>
              <a:rPr lang="en-US" sz="1050" b="0" i="0" u="none" strike="noStrike" baseline="0" dirty="0">
                <a:highlight>
                  <a:srgbClr val="FFFF00"/>
                </a:highlight>
                <a:latin typeface="MinionPro-Regular"/>
              </a:rPr>
              <a:t>It Was a Good Index Until… 84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Queries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Changed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84</a:t>
            </a:r>
          </a:p>
          <a:p>
            <a:pPr algn="l"/>
            <a:r>
              <a:rPr lang="en-US" sz="1050" b="0" i="0" u="none" strike="noStrike" baseline="0" dirty="0">
                <a:highlight>
                  <a:srgbClr val="FFFF00"/>
                </a:highlight>
                <a:latin typeface="MinionPro-Regular"/>
              </a:rPr>
              <a:t>Excessive, Duplicate, and Unused 85</a:t>
            </a:r>
          </a:p>
          <a:p>
            <a:pPr algn="l"/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Extreme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Selectivity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86</a:t>
            </a:r>
          </a:p>
          <a:p>
            <a:pPr algn="l"/>
            <a:r>
              <a:rPr lang="en-US" sz="1050" b="0" i="0" u="none" strike="noStrike" baseline="0" dirty="0">
                <a:highlight>
                  <a:srgbClr val="FFFF00"/>
                </a:highlight>
                <a:latin typeface="MinionPro-Regular"/>
              </a:rPr>
              <a:t>It’s a Trap! (When MySQL Chooses Another Index) 87</a:t>
            </a:r>
          </a:p>
          <a:p>
            <a:pPr algn="l"/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Table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Join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</a:t>
            </a:r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Algorithms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87</a:t>
            </a:r>
          </a:p>
          <a:p>
            <a:pPr algn="l"/>
            <a:r>
              <a:rPr lang="es-CL" sz="1050" b="0" i="0" u="none" strike="noStrike" baseline="0" dirty="0" err="1">
                <a:highlight>
                  <a:srgbClr val="FFFF00"/>
                </a:highlight>
                <a:latin typeface="MinionPro-Regular"/>
              </a:rPr>
              <a:t>Summary</a:t>
            </a:r>
            <a:r>
              <a:rPr lang="es-CL" sz="1050" b="0" i="0" u="none" strike="noStrike" baseline="0" dirty="0">
                <a:highlight>
                  <a:srgbClr val="FFFF00"/>
                </a:highlight>
                <a:latin typeface="MinionPro-Regular"/>
              </a:rPr>
              <a:t> 89</a:t>
            </a:r>
          </a:p>
          <a:p>
            <a:pPr algn="l"/>
            <a:r>
              <a:rPr lang="en-US" sz="1050" b="0" i="0" u="none" strike="noStrike" baseline="0" dirty="0">
                <a:latin typeface="MinionPro-Regular"/>
              </a:rPr>
              <a:t>Practice: Find Duplicate Indexes 90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7813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 - Índices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6740958" cy="4643924"/>
          </a:xfrm>
        </p:spPr>
        <p:txBody>
          <a:bodyPr/>
          <a:lstStyle/>
          <a:p>
            <a:r>
              <a:rPr lang="es-CL" dirty="0"/>
              <a:t>Estrategias para mejorar performance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 err="1"/>
              <a:t>Tuning</a:t>
            </a:r>
            <a:r>
              <a:rPr lang="es-CL" dirty="0"/>
              <a:t> (ajustar variables internas, cercano a R&amp;D).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 err="1"/>
              <a:t>Configuring</a:t>
            </a:r>
            <a:r>
              <a:rPr lang="es-CL" dirty="0"/>
              <a:t> (ajustar parámetros).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b="1" dirty="0" err="1"/>
              <a:t>Optimizing</a:t>
            </a:r>
            <a:r>
              <a:rPr lang="es-CL" dirty="0"/>
              <a:t> (reducir carga de trabajo en MySQL).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CL" dirty="0"/>
          </a:p>
          <a:p>
            <a:r>
              <a:rPr lang="es-CL" dirty="0"/>
              <a:t>Escalar en hardware </a:t>
            </a:r>
            <a:r>
              <a:rPr lang="es-CL" b="1" dirty="0"/>
              <a:t>nunca</a:t>
            </a:r>
            <a:r>
              <a:rPr lang="es-CL" dirty="0"/>
              <a:t> es la primera opción. </a:t>
            </a:r>
          </a:p>
          <a:p>
            <a:endParaRPr lang="es-CL" sz="20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9FE1BC1A-4CB2-4100-A3ED-978C855956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737" y="1549177"/>
            <a:ext cx="3535466" cy="187982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5C3FB77-B448-4772-A7F4-FEA4A4178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3737" y="4251157"/>
            <a:ext cx="3535466" cy="193807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1D0F7FC-D666-42B9-A1E8-5161F3155935}"/>
              </a:ext>
            </a:extLst>
          </p:cNvPr>
          <p:cNvSpPr txBox="1"/>
          <p:nvPr/>
        </p:nvSpPr>
        <p:spPr>
          <a:xfrm>
            <a:off x="8932333" y="3881825"/>
            <a:ext cx="12570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Con índices</a:t>
            </a:r>
            <a:endParaRPr lang="es-CL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FBB4D9D-2F9E-48A6-8205-C685D61E34B9}"/>
              </a:ext>
            </a:extLst>
          </p:cNvPr>
          <p:cNvSpPr txBox="1"/>
          <p:nvPr/>
        </p:nvSpPr>
        <p:spPr>
          <a:xfrm>
            <a:off x="8932333" y="1138099"/>
            <a:ext cx="117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Sin índices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937517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 - Índices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912909" y="1460543"/>
            <a:ext cx="10366180" cy="4862870"/>
          </a:xfrm>
        </p:spPr>
        <p:txBody>
          <a:bodyPr/>
          <a:lstStyle/>
          <a:p>
            <a:r>
              <a:rPr lang="es-CL" dirty="0" err="1"/>
              <a:t>MySQL</a:t>
            </a:r>
            <a:r>
              <a:rPr lang="es-CL" dirty="0"/>
              <a:t> utiliza índices B-</a:t>
            </a:r>
            <a:r>
              <a:rPr lang="es-CL" dirty="0" err="1"/>
              <a:t>Tree</a:t>
            </a:r>
            <a:r>
              <a:rPr lang="es-C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000" dirty="0"/>
              <a:t>Los árboles </a:t>
            </a:r>
            <a:r>
              <a:rPr lang="es-CL" sz="2000" b="1" dirty="0"/>
              <a:t>no necesariamente </a:t>
            </a:r>
            <a:r>
              <a:rPr lang="es-CL" sz="2000" dirty="0"/>
              <a:t>son binarios.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sz="2000" dirty="0"/>
              <a:t>Por simplicidad, </a:t>
            </a:r>
            <a:r>
              <a:rPr lang="es-CL" sz="2000" b="1" dirty="0"/>
              <a:t>asumiremos</a:t>
            </a:r>
            <a:r>
              <a:rPr lang="es-CL" sz="2000" dirty="0"/>
              <a:t> que son binarios.</a:t>
            </a:r>
          </a:p>
          <a:p>
            <a:endParaRPr lang="es-CL" sz="2000" dirty="0"/>
          </a:p>
          <a:p>
            <a:r>
              <a:rPr lang="es-CL" dirty="0"/>
              <a:t>En MySQL, </a:t>
            </a:r>
            <a:r>
              <a:rPr lang="es-CL" b="1" dirty="0"/>
              <a:t>son estructuras separadas </a:t>
            </a:r>
            <a:r>
              <a:rPr lang="es-CL" dirty="0"/>
              <a:t>de las tablas.</a:t>
            </a:r>
          </a:p>
          <a:p>
            <a:r>
              <a:rPr lang="es-CL" sz="2000" dirty="0"/>
              <a:t>(S</a:t>
            </a:r>
            <a:r>
              <a:rPr lang="es-CL" sz="2000" b="1" dirty="0"/>
              <a:t>alvo la llave primaria</a:t>
            </a:r>
            <a:r>
              <a:rPr lang="es-CL" sz="2000" dirty="0"/>
              <a:t>, que es parte de la tabla).</a:t>
            </a:r>
          </a:p>
          <a:p>
            <a:endParaRPr lang="es-CL" sz="2000" dirty="0">
              <a:latin typeface="+mn-lt"/>
              <a:cs typeface="+mn-cs"/>
            </a:endParaRPr>
          </a:p>
          <a:p>
            <a:r>
              <a:rPr lang="es-CL" dirty="0"/>
              <a:t>Operaciones básicas. </a:t>
            </a:r>
          </a:p>
          <a:p>
            <a:pPr lvl="1"/>
            <a:r>
              <a:rPr lang="es-CL" dirty="0"/>
              <a:t>Búsqueda en una tabla</a:t>
            </a:r>
          </a:p>
          <a:p>
            <a:pPr lvl="2"/>
            <a:r>
              <a:rPr lang="es-CL" dirty="0"/>
              <a:t>Sin índice			Orden (N)</a:t>
            </a:r>
          </a:p>
          <a:p>
            <a:pPr lvl="2"/>
            <a:r>
              <a:rPr lang="es-CL" dirty="0"/>
              <a:t>Con llave primaria		Orden (Log</a:t>
            </a:r>
            <a:r>
              <a:rPr lang="es-CL" baseline="-25000" dirty="0"/>
              <a:t>2</a:t>
            </a:r>
            <a:r>
              <a:rPr lang="es-CL" dirty="0"/>
              <a:t>N)</a:t>
            </a:r>
            <a:endParaRPr lang="en-US" dirty="0"/>
          </a:p>
          <a:p>
            <a:pPr lvl="1"/>
            <a:r>
              <a:rPr lang="es-CL" dirty="0" err="1"/>
              <a:t>Join</a:t>
            </a:r>
            <a:r>
              <a:rPr lang="es-CL" dirty="0"/>
              <a:t> de 2 tablas</a:t>
            </a:r>
          </a:p>
          <a:p>
            <a:pPr lvl="2"/>
            <a:r>
              <a:rPr lang="es-CL" dirty="0"/>
              <a:t>Sin índice			Orden (N</a:t>
            </a:r>
            <a:r>
              <a:rPr lang="es-CL" baseline="30000" dirty="0"/>
              <a:t>2</a:t>
            </a:r>
            <a:r>
              <a:rPr lang="es-CL" dirty="0"/>
              <a:t>)</a:t>
            </a:r>
          </a:p>
          <a:p>
            <a:pPr lvl="2"/>
            <a:r>
              <a:rPr lang="es-CL" dirty="0"/>
              <a:t>Con índice en una de ellas  	Orden (N Log</a:t>
            </a:r>
            <a:r>
              <a:rPr lang="es-CL" baseline="-25000" dirty="0"/>
              <a:t>2</a:t>
            </a:r>
            <a:r>
              <a:rPr lang="es-CL" dirty="0"/>
              <a:t>N)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306" y="1027030"/>
            <a:ext cx="3869094" cy="1990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754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¿Cómo creo un índice? 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393954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Llave primaria (agiliza validación de unicidad).</a:t>
            </a:r>
          </a:p>
          <a:p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Llave foránea (agiliza validaciones de  </a:t>
            </a:r>
            <a:r>
              <a:rPr lang="es-CL" dirty="0" err="1"/>
              <a:t>foreign</a:t>
            </a:r>
            <a:r>
              <a:rPr lang="es-CL" dirty="0"/>
              <a:t> </a:t>
            </a:r>
            <a:r>
              <a:rPr lang="es-CL" dirty="0" err="1"/>
              <a:t>keys</a:t>
            </a:r>
            <a:r>
              <a:rPr lang="es-CL" dirty="0"/>
              <a:t>).</a:t>
            </a:r>
          </a:p>
          <a:p>
            <a:endParaRPr lang="es-CL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Índice diferente. </a:t>
            </a:r>
            <a:r>
              <a:rPr lang="es-CL" dirty="0" err="1"/>
              <a:t>Ejm</a:t>
            </a:r>
            <a:r>
              <a:rPr lang="es-CL" dirty="0"/>
              <a:t>:</a:t>
            </a:r>
          </a:p>
          <a:p>
            <a:r>
              <a:rPr lang="es-CL" dirty="0"/>
              <a:t>	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create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index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indice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on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sakila.rental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return_date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endParaRPr lang="es-CL" dirty="0"/>
          </a:p>
          <a:p>
            <a:r>
              <a:rPr lang="es-CL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014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B-</a:t>
            </a:r>
            <a:r>
              <a:rPr lang="es-CL" dirty="0" err="1"/>
              <a:t>Tree</a:t>
            </a:r>
            <a:r>
              <a:rPr lang="es-CL" dirty="0"/>
              <a:t> – </a:t>
            </a:r>
            <a:r>
              <a:rPr lang="es-CL" dirty="0" err="1"/>
              <a:t>Primary</a:t>
            </a:r>
            <a:r>
              <a:rPr lang="es-CL" dirty="0"/>
              <a:t> Key</a:t>
            </a:r>
            <a:endParaRPr lang="en-US" dirty="0"/>
          </a:p>
        </p:txBody>
      </p:sp>
      <p:sp>
        <p:nvSpPr>
          <p:cNvPr id="4" name="Elipse 3"/>
          <p:cNvSpPr/>
          <p:nvPr/>
        </p:nvSpPr>
        <p:spPr>
          <a:xfrm>
            <a:off x="4987987" y="1422590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5" name="Elipse 4"/>
          <p:cNvSpPr/>
          <p:nvPr/>
        </p:nvSpPr>
        <p:spPr>
          <a:xfrm>
            <a:off x="2279311" y="2290493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7" name="Elipse 6"/>
          <p:cNvSpPr/>
          <p:nvPr/>
        </p:nvSpPr>
        <p:spPr>
          <a:xfrm>
            <a:off x="961956" y="3266887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8" name="Elipse 7"/>
          <p:cNvSpPr/>
          <p:nvPr/>
        </p:nvSpPr>
        <p:spPr>
          <a:xfrm>
            <a:off x="3637996" y="3274637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3</a:t>
            </a:r>
            <a:endParaRPr lang="en-US" dirty="0"/>
          </a:p>
        </p:txBody>
      </p:sp>
      <p:sp>
        <p:nvSpPr>
          <p:cNvPr id="11" name="Elipse 10"/>
          <p:cNvSpPr/>
          <p:nvPr/>
        </p:nvSpPr>
        <p:spPr>
          <a:xfrm>
            <a:off x="140777" y="4258781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12" name="Elipse 11"/>
          <p:cNvSpPr/>
          <p:nvPr/>
        </p:nvSpPr>
        <p:spPr>
          <a:xfrm>
            <a:off x="1783135" y="4258781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13" name="Elipse 12"/>
          <p:cNvSpPr/>
          <p:nvPr/>
        </p:nvSpPr>
        <p:spPr>
          <a:xfrm>
            <a:off x="2816817" y="4258780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3</a:t>
            </a:r>
            <a:endParaRPr lang="en-US" dirty="0"/>
          </a:p>
        </p:txBody>
      </p:sp>
      <p:sp>
        <p:nvSpPr>
          <p:cNvPr id="14" name="Elipse 13"/>
          <p:cNvSpPr/>
          <p:nvPr/>
        </p:nvSpPr>
        <p:spPr>
          <a:xfrm>
            <a:off x="4459175" y="4258780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15" name="Elipse 14"/>
          <p:cNvSpPr/>
          <p:nvPr/>
        </p:nvSpPr>
        <p:spPr>
          <a:xfrm>
            <a:off x="7720506" y="2304618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16" name="Elipse 15"/>
          <p:cNvSpPr/>
          <p:nvPr/>
        </p:nvSpPr>
        <p:spPr>
          <a:xfrm>
            <a:off x="6403151" y="3281012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  <a:endParaRPr lang="en-US" dirty="0"/>
          </a:p>
        </p:txBody>
      </p:sp>
      <p:sp>
        <p:nvSpPr>
          <p:cNvPr id="17" name="Elipse 16"/>
          <p:cNvSpPr/>
          <p:nvPr/>
        </p:nvSpPr>
        <p:spPr>
          <a:xfrm>
            <a:off x="9079191" y="3288762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18" name="Elipse 17"/>
          <p:cNvSpPr/>
          <p:nvPr/>
        </p:nvSpPr>
        <p:spPr>
          <a:xfrm>
            <a:off x="5581972" y="4272906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  <a:endParaRPr lang="en-US" dirty="0"/>
          </a:p>
        </p:txBody>
      </p:sp>
      <p:sp>
        <p:nvSpPr>
          <p:cNvPr id="19" name="Elipse 18"/>
          <p:cNvSpPr/>
          <p:nvPr/>
        </p:nvSpPr>
        <p:spPr>
          <a:xfrm>
            <a:off x="7224330" y="4272906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20" name="Elipse 19"/>
          <p:cNvSpPr/>
          <p:nvPr/>
        </p:nvSpPr>
        <p:spPr>
          <a:xfrm>
            <a:off x="8258012" y="4272905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21" name="Elipse 20"/>
          <p:cNvSpPr/>
          <p:nvPr/>
        </p:nvSpPr>
        <p:spPr>
          <a:xfrm>
            <a:off x="9900370" y="4272905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8</a:t>
            </a:r>
            <a:endParaRPr lang="en-US" dirty="0"/>
          </a:p>
        </p:txBody>
      </p:sp>
      <p:sp>
        <p:nvSpPr>
          <p:cNvPr id="22" name="Elipse 21"/>
          <p:cNvSpPr/>
          <p:nvPr/>
        </p:nvSpPr>
        <p:spPr>
          <a:xfrm>
            <a:off x="140776" y="5250675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23" name="Elipse 22"/>
          <p:cNvSpPr/>
          <p:nvPr/>
        </p:nvSpPr>
        <p:spPr>
          <a:xfrm>
            <a:off x="1783134" y="5261548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24" name="Elipse 23"/>
          <p:cNvSpPr/>
          <p:nvPr/>
        </p:nvSpPr>
        <p:spPr>
          <a:xfrm>
            <a:off x="2816816" y="5250674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3</a:t>
            </a:r>
            <a:endParaRPr lang="en-US" dirty="0"/>
          </a:p>
        </p:txBody>
      </p:sp>
      <p:sp>
        <p:nvSpPr>
          <p:cNvPr id="25" name="Elipse 24"/>
          <p:cNvSpPr/>
          <p:nvPr/>
        </p:nvSpPr>
        <p:spPr>
          <a:xfrm>
            <a:off x="4459174" y="5233674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26" name="Elipse 25"/>
          <p:cNvSpPr/>
          <p:nvPr/>
        </p:nvSpPr>
        <p:spPr>
          <a:xfrm>
            <a:off x="5581971" y="5250673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  <a:endParaRPr lang="en-US" dirty="0"/>
          </a:p>
        </p:txBody>
      </p:sp>
      <p:sp>
        <p:nvSpPr>
          <p:cNvPr id="27" name="Elipse 26"/>
          <p:cNvSpPr/>
          <p:nvPr/>
        </p:nvSpPr>
        <p:spPr>
          <a:xfrm>
            <a:off x="7221929" y="5233673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28" name="Elipse 27"/>
          <p:cNvSpPr/>
          <p:nvPr/>
        </p:nvSpPr>
        <p:spPr>
          <a:xfrm>
            <a:off x="8258011" y="5261548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29" name="Elipse 28"/>
          <p:cNvSpPr/>
          <p:nvPr/>
        </p:nvSpPr>
        <p:spPr>
          <a:xfrm>
            <a:off x="9885074" y="5261548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8</a:t>
            </a:r>
            <a:endParaRPr lang="en-US" dirty="0"/>
          </a:p>
        </p:txBody>
      </p:sp>
      <p:cxnSp>
        <p:nvCxnSpPr>
          <p:cNvPr id="31" name="Conector recto de flecha 30"/>
          <p:cNvCxnSpPr/>
          <p:nvPr/>
        </p:nvCxnSpPr>
        <p:spPr>
          <a:xfrm flipH="1">
            <a:off x="3164511" y="1852171"/>
            <a:ext cx="1705252" cy="601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 flipH="1">
            <a:off x="1555324" y="2840813"/>
            <a:ext cx="723987" cy="41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/>
          <p:nvPr/>
        </p:nvCxnSpPr>
        <p:spPr>
          <a:xfrm flipH="1">
            <a:off x="654626" y="3843607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/>
          <p:nvPr/>
        </p:nvCxnSpPr>
        <p:spPr>
          <a:xfrm flipH="1">
            <a:off x="6996519" y="2825313"/>
            <a:ext cx="723987" cy="41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/>
          <p:nvPr/>
        </p:nvCxnSpPr>
        <p:spPr>
          <a:xfrm flipH="1">
            <a:off x="3422867" y="3842449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H="1">
            <a:off x="6105975" y="3856574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 flipH="1">
            <a:off x="8786064" y="3842449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>
            <a:off x="5809166" y="1852171"/>
            <a:ext cx="1823352" cy="53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>
            <a:off x="3033262" y="2869893"/>
            <a:ext cx="692977" cy="36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>
            <a:off x="8668600" y="2825313"/>
            <a:ext cx="692977" cy="36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/>
          <p:nvPr/>
        </p:nvCxnSpPr>
        <p:spPr>
          <a:xfrm>
            <a:off x="1783134" y="3830962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/>
          <p:nvPr/>
        </p:nvCxnSpPr>
        <p:spPr>
          <a:xfrm>
            <a:off x="9849452" y="3827464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>
            <a:off x="7141956" y="3811506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/>
          <p:nvPr/>
        </p:nvCxnSpPr>
        <p:spPr>
          <a:xfrm>
            <a:off x="4462545" y="3823671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/>
          <p:nvPr/>
        </p:nvCxnSpPr>
        <p:spPr>
          <a:xfrm>
            <a:off x="541250" y="4789109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cto de flecha 59"/>
          <p:cNvCxnSpPr/>
          <p:nvPr/>
        </p:nvCxnSpPr>
        <p:spPr>
          <a:xfrm>
            <a:off x="2181921" y="4834344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cto de flecha 60"/>
          <p:cNvCxnSpPr/>
          <p:nvPr/>
        </p:nvCxnSpPr>
        <p:spPr>
          <a:xfrm>
            <a:off x="4881427" y="4832059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cto de flecha 61"/>
          <p:cNvCxnSpPr/>
          <p:nvPr/>
        </p:nvCxnSpPr>
        <p:spPr>
          <a:xfrm>
            <a:off x="3229942" y="4825812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cto de flecha 62"/>
          <p:cNvCxnSpPr/>
          <p:nvPr/>
        </p:nvCxnSpPr>
        <p:spPr>
          <a:xfrm>
            <a:off x="6009688" y="4816984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cto de flecha 63"/>
          <p:cNvCxnSpPr/>
          <p:nvPr/>
        </p:nvCxnSpPr>
        <p:spPr>
          <a:xfrm>
            <a:off x="7651058" y="4816984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cto de flecha 64"/>
          <p:cNvCxnSpPr/>
          <p:nvPr/>
        </p:nvCxnSpPr>
        <p:spPr>
          <a:xfrm>
            <a:off x="8658485" y="4816984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cto de flecha 65"/>
          <p:cNvCxnSpPr/>
          <p:nvPr/>
        </p:nvCxnSpPr>
        <p:spPr>
          <a:xfrm>
            <a:off x="10300844" y="4834344"/>
            <a:ext cx="10115" cy="444564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/>
              <p:cNvSpPr txBox="1"/>
              <p:nvPr/>
            </p:nvSpPr>
            <p:spPr>
              <a:xfrm>
                <a:off x="3747060" y="178371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CuadroTexto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060" y="1783710"/>
                <a:ext cx="60305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/>
              <p:cNvSpPr txBox="1"/>
              <p:nvPr/>
            </p:nvSpPr>
            <p:spPr>
              <a:xfrm>
                <a:off x="1481609" y="2715929"/>
                <a:ext cx="526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2</a:t>
                </a:r>
              </a:p>
            </p:txBody>
          </p:sp>
        </mc:Choice>
        <mc:Fallback xmlns="">
          <p:sp>
            <p:nvSpPr>
              <p:cNvPr id="68" name="CuadroTexto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609" y="2715929"/>
                <a:ext cx="526106" cy="369332"/>
              </a:xfrm>
              <a:prstGeom prst="rect">
                <a:avLst/>
              </a:prstGeom>
              <a:blipFill>
                <a:blip r:embed="rId4"/>
                <a:stretch>
                  <a:fillRect t="-10000" r="-93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/>
              <p:cNvSpPr txBox="1"/>
              <p:nvPr/>
            </p:nvSpPr>
            <p:spPr>
              <a:xfrm>
                <a:off x="334755" y="3810832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CuadroTexto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55" y="3810832"/>
                <a:ext cx="603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/>
              <p:cNvSpPr txBox="1"/>
              <p:nvPr/>
            </p:nvSpPr>
            <p:spPr>
              <a:xfrm>
                <a:off x="6813740" y="2711587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CuadroTexto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740" y="2711587"/>
                <a:ext cx="60305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/>
              <p:cNvSpPr txBox="1"/>
              <p:nvPr/>
            </p:nvSpPr>
            <p:spPr>
              <a:xfrm>
                <a:off x="5728637" y="3794548"/>
                <a:ext cx="474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71" name="Cuadro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637" y="3794548"/>
                <a:ext cx="474810" cy="369332"/>
              </a:xfrm>
              <a:prstGeom prst="rect">
                <a:avLst/>
              </a:prstGeom>
              <a:blipFill>
                <a:blip r:embed="rId7"/>
                <a:stretch>
                  <a:fillRect t="-8197" r="-897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/>
              <p:cNvSpPr txBox="1"/>
              <p:nvPr/>
            </p:nvSpPr>
            <p:spPr>
              <a:xfrm>
                <a:off x="3031190" y="3810832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CuadroTexto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190" y="3810832"/>
                <a:ext cx="6030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/>
              <p:cNvSpPr txBox="1"/>
              <p:nvPr/>
            </p:nvSpPr>
            <p:spPr>
              <a:xfrm>
                <a:off x="8391092" y="379454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CuadroTexto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092" y="3794548"/>
                <a:ext cx="6030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/>
              <p:cNvSpPr txBox="1"/>
              <p:nvPr/>
            </p:nvSpPr>
            <p:spPr>
              <a:xfrm>
                <a:off x="6555867" y="178371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CuadroTexto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867" y="1783710"/>
                <a:ext cx="60305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/>
              <p:cNvSpPr txBox="1"/>
              <p:nvPr/>
            </p:nvSpPr>
            <p:spPr>
              <a:xfrm>
                <a:off x="3531519" y="2865938"/>
                <a:ext cx="474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2</a:t>
                </a:r>
              </a:p>
            </p:txBody>
          </p:sp>
        </mc:Choice>
        <mc:Fallback xmlns="">
          <p:sp>
            <p:nvSpPr>
              <p:cNvPr id="76" name="CuadroTexto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519" y="2865938"/>
                <a:ext cx="474810" cy="369332"/>
              </a:xfrm>
              <a:prstGeom prst="rect">
                <a:avLst/>
              </a:prstGeom>
              <a:blipFill>
                <a:blip r:embed="rId11"/>
                <a:stretch>
                  <a:fillRect t="-8197" r="-1025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/>
              <p:cNvSpPr txBox="1"/>
              <p:nvPr/>
            </p:nvSpPr>
            <p:spPr>
              <a:xfrm>
                <a:off x="1996037" y="384279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CuadroTexto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37" y="3842790"/>
                <a:ext cx="60305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/>
              <p:cNvSpPr txBox="1"/>
              <p:nvPr/>
            </p:nvSpPr>
            <p:spPr>
              <a:xfrm>
                <a:off x="4615382" y="379454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CuadroTexto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382" y="3794548"/>
                <a:ext cx="60305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/>
              <p:cNvSpPr txBox="1"/>
              <p:nvPr/>
            </p:nvSpPr>
            <p:spPr>
              <a:xfrm>
                <a:off x="7282176" y="379454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CuadroTexto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176" y="3794548"/>
                <a:ext cx="60305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/>
              <p:cNvSpPr txBox="1"/>
              <p:nvPr/>
            </p:nvSpPr>
            <p:spPr>
              <a:xfrm>
                <a:off x="9015088" y="2711587"/>
                <a:ext cx="474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6</a:t>
                </a:r>
              </a:p>
            </p:txBody>
          </p:sp>
        </mc:Choice>
        <mc:Fallback xmlns="">
          <p:sp>
            <p:nvSpPr>
              <p:cNvPr id="80" name="CuadroTexto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088" y="2711587"/>
                <a:ext cx="474810" cy="369332"/>
              </a:xfrm>
              <a:prstGeom prst="rect">
                <a:avLst/>
              </a:prstGeom>
              <a:blipFill>
                <a:blip r:embed="rId15"/>
                <a:stretch>
                  <a:fillRect t="-10000" r="-897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/>
              <p:cNvSpPr txBox="1"/>
              <p:nvPr/>
            </p:nvSpPr>
            <p:spPr>
              <a:xfrm>
                <a:off x="10087719" y="3810832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CuadroTexto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719" y="3810832"/>
                <a:ext cx="60305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Cerrar llave 81"/>
          <p:cNvSpPr/>
          <p:nvPr/>
        </p:nvSpPr>
        <p:spPr>
          <a:xfrm>
            <a:off x="10720019" y="1384499"/>
            <a:ext cx="385963" cy="2594715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errar llave 82"/>
          <p:cNvSpPr/>
          <p:nvPr/>
        </p:nvSpPr>
        <p:spPr>
          <a:xfrm>
            <a:off x="10721549" y="4123919"/>
            <a:ext cx="434698" cy="1645949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uadroTexto 83"/>
          <p:cNvSpPr txBox="1"/>
          <p:nvPr/>
        </p:nvSpPr>
        <p:spPr>
          <a:xfrm>
            <a:off x="11356101" y="247148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Ramas</a:t>
            </a:r>
            <a:endParaRPr lang="en-US" dirty="0"/>
          </a:p>
        </p:txBody>
      </p:sp>
      <p:sp>
        <p:nvSpPr>
          <p:cNvPr id="86" name="CuadroTexto 85"/>
          <p:cNvSpPr txBox="1"/>
          <p:nvPr/>
        </p:nvSpPr>
        <p:spPr>
          <a:xfrm>
            <a:off x="11356101" y="4699564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Hojas</a:t>
            </a:r>
            <a:endParaRPr lang="en-US" dirty="0"/>
          </a:p>
        </p:txBody>
      </p:sp>
      <p:sp>
        <p:nvSpPr>
          <p:cNvPr id="87" name="Cerrar llave 86"/>
          <p:cNvSpPr/>
          <p:nvPr/>
        </p:nvSpPr>
        <p:spPr>
          <a:xfrm rot="5400000">
            <a:off x="5297733" y="667393"/>
            <a:ext cx="323967" cy="10684214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uadroTexto 87"/>
          <p:cNvSpPr txBox="1"/>
          <p:nvPr/>
        </p:nvSpPr>
        <p:spPr>
          <a:xfrm>
            <a:off x="4957405" y="6171484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Registros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661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Cálculo de alturas de árbol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10" y="1647156"/>
            <a:ext cx="10366180" cy="4431983"/>
          </a:xfrm>
        </p:spPr>
        <p:txBody>
          <a:bodyPr/>
          <a:lstStyle/>
          <a:p>
            <a:r>
              <a:rPr lang="es-CL" dirty="0"/>
              <a:t>Si tengo 2 registros</a:t>
            </a:r>
          </a:p>
          <a:p>
            <a:endParaRPr lang="es-CL" dirty="0"/>
          </a:p>
          <a:p>
            <a:r>
              <a:rPr lang="es-CL" dirty="0"/>
              <a:t>Si tengo 16 registros.</a:t>
            </a:r>
          </a:p>
          <a:p>
            <a:endParaRPr lang="es-CL" dirty="0"/>
          </a:p>
          <a:p>
            <a:r>
              <a:rPr lang="es-CL" dirty="0"/>
              <a:t>Si tengo 30 registros.</a:t>
            </a:r>
          </a:p>
          <a:p>
            <a:endParaRPr lang="es-CL" dirty="0"/>
          </a:p>
          <a:p>
            <a:r>
              <a:rPr lang="es-CL" dirty="0"/>
              <a:t>Si tengo 32 registros.</a:t>
            </a:r>
          </a:p>
          <a:p>
            <a:endParaRPr lang="es-CL" dirty="0"/>
          </a:p>
          <a:p>
            <a:r>
              <a:rPr lang="es-CL" dirty="0"/>
              <a:t>Si tengo 35 registros. </a:t>
            </a:r>
          </a:p>
        </p:txBody>
      </p:sp>
    </p:spTree>
    <p:extLst>
      <p:ext uri="{BB962C8B-B14F-4D97-AF65-F5344CB8AC3E}">
        <p14:creationId xmlns:p14="http://schemas.microsoft.com/office/powerpoint/2010/main" val="1045327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547" y="1717979"/>
            <a:ext cx="6815814" cy="2921064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36295" y="208025"/>
            <a:ext cx="9600364" cy="1325563"/>
          </a:xfrm>
        </p:spPr>
        <p:txBody>
          <a:bodyPr/>
          <a:lstStyle/>
          <a:p>
            <a:r>
              <a:rPr lang="es-CL" dirty="0"/>
              <a:t>B-</a:t>
            </a:r>
            <a:r>
              <a:rPr lang="es-CL" dirty="0" err="1"/>
              <a:t>Tree</a:t>
            </a:r>
            <a:r>
              <a:rPr lang="es-CL" dirty="0"/>
              <a:t> –</a:t>
            </a:r>
            <a:r>
              <a:rPr lang="es-CL" dirty="0" err="1"/>
              <a:t>Primary</a:t>
            </a:r>
            <a:r>
              <a:rPr lang="es-CL" dirty="0"/>
              <a:t> </a:t>
            </a:r>
            <a:r>
              <a:rPr lang="es-CL" dirty="0" err="1"/>
              <a:t>key</a:t>
            </a:r>
            <a:endParaRPr lang="en-US" dirty="0"/>
          </a:p>
        </p:txBody>
      </p:sp>
      <p:sp>
        <p:nvSpPr>
          <p:cNvPr id="6" name="CuadroTexto 5"/>
          <p:cNvSpPr txBox="1"/>
          <p:nvPr/>
        </p:nvSpPr>
        <p:spPr>
          <a:xfrm>
            <a:off x="3176115" y="4465277"/>
            <a:ext cx="2542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N = Cantidad de registros</a:t>
            </a:r>
            <a:endParaRPr lang="en-US" dirty="0"/>
          </a:p>
        </p:txBody>
      </p:sp>
      <p:sp>
        <p:nvSpPr>
          <p:cNvPr id="7" name="Cerrar llave 6"/>
          <p:cNvSpPr/>
          <p:nvPr/>
        </p:nvSpPr>
        <p:spPr>
          <a:xfrm>
            <a:off x="7786609" y="1626254"/>
            <a:ext cx="534689" cy="2303643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/>
              <p:cNvSpPr txBox="1"/>
              <p:nvPr/>
            </p:nvSpPr>
            <p:spPr>
              <a:xfrm>
                <a:off x="8449546" y="2593409"/>
                <a:ext cx="30654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dirty="0"/>
                  <a:t>Altura del árbol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9546" y="2593409"/>
                <a:ext cx="3065455" cy="369332"/>
              </a:xfrm>
              <a:prstGeom prst="rect">
                <a:avLst/>
              </a:prstGeom>
              <a:blipFill>
                <a:blip r:embed="rId4"/>
                <a:stretch>
                  <a:fillRect l="-159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uadroTexto 11"/>
              <p:cNvSpPr txBox="1"/>
              <p:nvPr/>
            </p:nvSpPr>
            <p:spPr>
              <a:xfrm>
                <a:off x="5936691" y="5909358"/>
                <a:ext cx="610549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sz="2400" b="1" dirty="0"/>
                  <a:t>#Operaciones de lectura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2400" b="1" i="1" smtClean="0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s-CL" sz="2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s-CL" sz="2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2400" b="1" i="1" smtClean="0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  <m:r>
                      <a:rPr lang="es-CL" sz="2400" b="1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400" b="1" dirty="0"/>
                  <a:t>1 </a:t>
                </a:r>
              </a:p>
            </p:txBody>
          </p:sp>
        </mc:Choice>
        <mc:Fallback>
          <p:sp>
            <p:nvSpPr>
              <p:cNvPr id="12" name="CuadroTexto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691" y="5909358"/>
                <a:ext cx="6105490" cy="461665"/>
              </a:xfrm>
              <a:prstGeom prst="rect">
                <a:avLst/>
              </a:prstGeom>
              <a:blipFill>
                <a:blip r:embed="rId5"/>
                <a:stretch>
                  <a:fillRect l="-1598" t="-10526" b="-28947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ector recto de flecha 14"/>
          <p:cNvCxnSpPr/>
          <p:nvPr/>
        </p:nvCxnSpPr>
        <p:spPr>
          <a:xfrm flipH="1">
            <a:off x="1181100" y="4448820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/>
          <p:cNvCxnSpPr/>
          <p:nvPr/>
        </p:nvCxnSpPr>
        <p:spPr>
          <a:xfrm flipH="1">
            <a:off x="2170309" y="4488128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/>
          <p:cNvCxnSpPr/>
          <p:nvPr/>
        </p:nvCxnSpPr>
        <p:spPr>
          <a:xfrm flipH="1">
            <a:off x="2774771" y="4505064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/>
          <p:nvPr/>
        </p:nvCxnSpPr>
        <p:spPr>
          <a:xfrm flipH="1">
            <a:off x="3813280" y="4469581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/>
          <p:cNvCxnSpPr/>
          <p:nvPr/>
        </p:nvCxnSpPr>
        <p:spPr>
          <a:xfrm flipH="1">
            <a:off x="4569176" y="4521516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de flecha 19"/>
          <p:cNvCxnSpPr/>
          <p:nvPr/>
        </p:nvCxnSpPr>
        <p:spPr>
          <a:xfrm flipH="1">
            <a:off x="5581930" y="4505064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de flecha 20"/>
          <p:cNvCxnSpPr/>
          <p:nvPr/>
        </p:nvCxnSpPr>
        <p:spPr>
          <a:xfrm flipH="1">
            <a:off x="6268964" y="4505064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/>
          <p:cNvCxnSpPr/>
          <p:nvPr/>
        </p:nvCxnSpPr>
        <p:spPr>
          <a:xfrm flipH="1">
            <a:off x="7280573" y="4488128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uadroTexto 22"/>
          <p:cNvSpPr txBox="1"/>
          <p:nvPr/>
        </p:nvSpPr>
        <p:spPr>
          <a:xfrm>
            <a:off x="9159498" y="3470435"/>
            <a:ext cx="1914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Hojas distintas = N</a:t>
            </a:r>
            <a:endParaRPr lang="en-US" dirty="0"/>
          </a:p>
        </p:txBody>
      </p:sp>
      <p:sp>
        <p:nvSpPr>
          <p:cNvPr id="24" name="CuadroTexto 23"/>
          <p:cNvSpPr txBox="1"/>
          <p:nvPr/>
        </p:nvSpPr>
        <p:spPr>
          <a:xfrm>
            <a:off x="188003" y="5955372"/>
            <a:ext cx="3964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(*) Siempre usaremos el entero superior.</a:t>
            </a:r>
            <a:endParaRPr lang="en-US" dirty="0"/>
          </a:p>
        </p:txBody>
      </p:sp>
      <p:sp>
        <p:nvSpPr>
          <p:cNvPr id="25" name="CuadroTexto 24"/>
          <p:cNvSpPr txBox="1"/>
          <p:nvPr/>
        </p:nvSpPr>
        <p:spPr>
          <a:xfrm>
            <a:off x="1700463" y="1042109"/>
            <a:ext cx="41469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2000" dirty="0" err="1"/>
              <a:t>Ejm</a:t>
            </a:r>
            <a:r>
              <a:rPr lang="es-CL" sz="2000" dirty="0"/>
              <a:t>: </a:t>
            </a:r>
            <a:r>
              <a:rPr lang="es-CL" sz="2000" dirty="0" err="1"/>
              <a:t>Select</a:t>
            </a:r>
            <a:r>
              <a:rPr lang="es-CL" sz="2000" dirty="0"/>
              <a:t> * </a:t>
            </a:r>
            <a:r>
              <a:rPr lang="es-CL" sz="2000" dirty="0" err="1"/>
              <a:t>from</a:t>
            </a:r>
            <a:r>
              <a:rPr lang="es-CL" sz="2000" dirty="0"/>
              <a:t> Tabla </a:t>
            </a:r>
            <a:r>
              <a:rPr lang="es-CL" sz="2000" dirty="0" err="1"/>
              <a:t>where</a:t>
            </a:r>
            <a:r>
              <a:rPr lang="es-CL" sz="2000" dirty="0"/>
              <a:t> </a:t>
            </a:r>
            <a:r>
              <a:rPr lang="es-CL" sz="2000" dirty="0" err="1"/>
              <a:t>pk</a:t>
            </a:r>
            <a:r>
              <a:rPr lang="es-CL" sz="2000" dirty="0"/>
              <a:t> = 1</a:t>
            </a:r>
            <a:r>
              <a:rPr lang="es-CL" dirty="0"/>
              <a:t>;</a:t>
            </a:r>
            <a:endParaRPr lang="en-U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F266A9D-CF25-476C-AB0B-3C1346781D94}"/>
              </a:ext>
            </a:extLst>
          </p:cNvPr>
          <p:cNvSpPr txBox="1"/>
          <p:nvPr/>
        </p:nvSpPr>
        <p:spPr>
          <a:xfrm>
            <a:off x="188003" y="5045813"/>
            <a:ext cx="45443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Las hojas </a:t>
            </a:r>
            <a:r>
              <a:rPr lang="es-ES" b="1" dirty="0"/>
              <a:t>son</a:t>
            </a:r>
            <a:r>
              <a:rPr lang="es-ES" dirty="0"/>
              <a:t> los registros de datos de la tabla.</a:t>
            </a:r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AC53EE18-0630-40E5-B7A5-C2D0C28AF7DE}"/>
              </a:ext>
            </a:extLst>
          </p:cNvPr>
          <p:cNvSpPr/>
          <p:nvPr/>
        </p:nvSpPr>
        <p:spPr>
          <a:xfrm>
            <a:off x="668867" y="3904903"/>
            <a:ext cx="6989494" cy="10878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206277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B-</a:t>
            </a:r>
            <a:r>
              <a:rPr lang="es-CL" dirty="0" err="1"/>
              <a:t>Tree</a:t>
            </a:r>
            <a:r>
              <a:rPr lang="es-CL" dirty="0"/>
              <a:t> – Índice no único</a:t>
            </a:r>
            <a:endParaRPr lang="en-US" dirty="0"/>
          </a:p>
        </p:txBody>
      </p:sp>
      <p:sp>
        <p:nvSpPr>
          <p:cNvPr id="4" name="Elipse 3"/>
          <p:cNvSpPr/>
          <p:nvPr/>
        </p:nvSpPr>
        <p:spPr>
          <a:xfrm>
            <a:off x="4987987" y="1422590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5" name="Elipse 4"/>
          <p:cNvSpPr/>
          <p:nvPr/>
        </p:nvSpPr>
        <p:spPr>
          <a:xfrm>
            <a:off x="2279311" y="2290493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7" name="Elipse 6"/>
          <p:cNvSpPr/>
          <p:nvPr/>
        </p:nvSpPr>
        <p:spPr>
          <a:xfrm>
            <a:off x="961956" y="3266887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8" name="Elipse 7"/>
          <p:cNvSpPr/>
          <p:nvPr/>
        </p:nvSpPr>
        <p:spPr>
          <a:xfrm>
            <a:off x="3637996" y="3274637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3</a:t>
            </a:r>
            <a:endParaRPr lang="en-US" dirty="0"/>
          </a:p>
        </p:txBody>
      </p:sp>
      <p:sp>
        <p:nvSpPr>
          <p:cNvPr id="11" name="Elipse 10"/>
          <p:cNvSpPr/>
          <p:nvPr/>
        </p:nvSpPr>
        <p:spPr>
          <a:xfrm>
            <a:off x="140777" y="4258781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12" name="Elipse 11"/>
          <p:cNvSpPr/>
          <p:nvPr/>
        </p:nvSpPr>
        <p:spPr>
          <a:xfrm>
            <a:off x="1783135" y="4258781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13" name="Elipse 12"/>
          <p:cNvSpPr/>
          <p:nvPr/>
        </p:nvSpPr>
        <p:spPr>
          <a:xfrm>
            <a:off x="2816817" y="4258780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3</a:t>
            </a:r>
            <a:endParaRPr lang="en-US" dirty="0"/>
          </a:p>
        </p:txBody>
      </p:sp>
      <p:sp>
        <p:nvSpPr>
          <p:cNvPr id="14" name="Elipse 13"/>
          <p:cNvSpPr/>
          <p:nvPr/>
        </p:nvSpPr>
        <p:spPr>
          <a:xfrm>
            <a:off x="4459175" y="4258780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15" name="Elipse 14"/>
          <p:cNvSpPr/>
          <p:nvPr/>
        </p:nvSpPr>
        <p:spPr>
          <a:xfrm>
            <a:off x="7720506" y="2304618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16" name="Elipse 15"/>
          <p:cNvSpPr/>
          <p:nvPr/>
        </p:nvSpPr>
        <p:spPr>
          <a:xfrm>
            <a:off x="6403151" y="3281012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  <a:endParaRPr lang="en-US" dirty="0"/>
          </a:p>
        </p:txBody>
      </p:sp>
      <p:sp>
        <p:nvSpPr>
          <p:cNvPr id="17" name="Elipse 16"/>
          <p:cNvSpPr/>
          <p:nvPr/>
        </p:nvSpPr>
        <p:spPr>
          <a:xfrm>
            <a:off x="9079191" y="3288762"/>
            <a:ext cx="821179" cy="536195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18" name="Elipse 17"/>
          <p:cNvSpPr/>
          <p:nvPr/>
        </p:nvSpPr>
        <p:spPr>
          <a:xfrm>
            <a:off x="5581972" y="4272906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  <a:endParaRPr lang="en-US" dirty="0"/>
          </a:p>
        </p:txBody>
      </p:sp>
      <p:sp>
        <p:nvSpPr>
          <p:cNvPr id="19" name="Elipse 18"/>
          <p:cNvSpPr/>
          <p:nvPr/>
        </p:nvSpPr>
        <p:spPr>
          <a:xfrm>
            <a:off x="7224330" y="4272906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20" name="Elipse 19"/>
          <p:cNvSpPr/>
          <p:nvPr/>
        </p:nvSpPr>
        <p:spPr>
          <a:xfrm>
            <a:off x="8258012" y="4272905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21" name="Elipse 20"/>
          <p:cNvSpPr/>
          <p:nvPr/>
        </p:nvSpPr>
        <p:spPr>
          <a:xfrm>
            <a:off x="9900370" y="4272905"/>
            <a:ext cx="821179" cy="53619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8</a:t>
            </a:r>
            <a:endParaRPr lang="en-US" dirty="0"/>
          </a:p>
        </p:txBody>
      </p:sp>
      <p:sp>
        <p:nvSpPr>
          <p:cNvPr id="23" name="Elipse 22"/>
          <p:cNvSpPr/>
          <p:nvPr/>
        </p:nvSpPr>
        <p:spPr>
          <a:xfrm>
            <a:off x="1796029" y="5060211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24" name="Elipse 23"/>
          <p:cNvSpPr/>
          <p:nvPr/>
        </p:nvSpPr>
        <p:spPr>
          <a:xfrm>
            <a:off x="2886418" y="5064965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3</a:t>
            </a:r>
            <a:endParaRPr lang="en-US" dirty="0"/>
          </a:p>
        </p:txBody>
      </p:sp>
      <p:sp>
        <p:nvSpPr>
          <p:cNvPr id="25" name="Elipse 24"/>
          <p:cNvSpPr/>
          <p:nvPr/>
        </p:nvSpPr>
        <p:spPr>
          <a:xfrm>
            <a:off x="4459175" y="5064890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26" name="Elipse 25"/>
          <p:cNvSpPr/>
          <p:nvPr/>
        </p:nvSpPr>
        <p:spPr>
          <a:xfrm>
            <a:off x="5621342" y="5066269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5</a:t>
            </a:r>
            <a:endParaRPr lang="en-US" dirty="0"/>
          </a:p>
        </p:txBody>
      </p:sp>
      <p:sp>
        <p:nvSpPr>
          <p:cNvPr id="27" name="Elipse 26"/>
          <p:cNvSpPr/>
          <p:nvPr/>
        </p:nvSpPr>
        <p:spPr>
          <a:xfrm>
            <a:off x="7223496" y="5050989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28" name="Elipse 27"/>
          <p:cNvSpPr/>
          <p:nvPr/>
        </p:nvSpPr>
        <p:spPr>
          <a:xfrm>
            <a:off x="8309271" y="5060210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29" name="Elipse 28"/>
          <p:cNvSpPr/>
          <p:nvPr/>
        </p:nvSpPr>
        <p:spPr>
          <a:xfrm>
            <a:off x="9925746" y="5043585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8</a:t>
            </a:r>
            <a:endParaRPr lang="en-US" dirty="0"/>
          </a:p>
        </p:txBody>
      </p:sp>
      <p:cxnSp>
        <p:nvCxnSpPr>
          <p:cNvPr id="31" name="Conector recto de flecha 30"/>
          <p:cNvCxnSpPr/>
          <p:nvPr/>
        </p:nvCxnSpPr>
        <p:spPr>
          <a:xfrm flipH="1">
            <a:off x="3164511" y="1852171"/>
            <a:ext cx="1705252" cy="6017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cto de flecha 31"/>
          <p:cNvCxnSpPr/>
          <p:nvPr/>
        </p:nvCxnSpPr>
        <p:spPr>
          <a:xfrm flipH="1">
            <a:off x="1555324" y="2840813"/>
            <a:ext cx="723987" cy="41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/>
          <p:cNvCxnSpPr/>
          <p:nvPr/>
        </p:nvCxnSpPr>
        <p:spPr>
          <a:xfrm flipH="1">
            <a:off x="654626" y="3843607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/>
          <p:cNvCxnSpPr/>
          <p:nvPr/>
        </p:nvCxnSpPr>
        <p:spPr>
          <a:xfrm flipH="1">
            <a:off x="6996519" y="2825313"/>
            <a:ext cx="723987" cy="415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/>
          <p:nvPr/>
        </p:nvCxnSpPr>
        <p:spPr>
          <a:xfrm flipH="1">
            <a:off x="3422867" y="3842449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H="1">
            <a:off x="6105975" y="3856574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 flipH="1">
            <a:off x="8786064" y="3842449"/>
            <a:ext cx="430256" cy="3769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>
            <a:off x="5809166" y="1852171"/>
            <a:ext cx="1823352" cy="5311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>
            <a:off x="3033262" y="2869893"/>
            <a:ext cx="692977" cy="36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recto de flecha 46"/>
          <p:cNvCxnSpPr/>
          <p:nvPr/>
        </p:nvCxnSpPr>
        <p:spPr>
          <a:xfrm>
            <a:off x="8668600" y="2825313"/>
            <a:ext cx="692977" cy="3653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/>
          <p:cNvCxnSpPr/>
          <p:nvPr/>
        </p:nvCxnSpPr>
        <p:spPr>
          <a:xfrm>
            <a:off x="1783134" y="3830962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/>
          <p:cNvCxnSpPr/>
          <p:nvPr/>
        </p:nvCxnSpPr>
        <p:spPr>
          <a:xfrm>
            <a:off x="9849452" y="3827464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cto de flecha 50"/>
          <p:cNvCxnSpPr/>
          <p:nvPr/>
        </p:nvCxnSpPr>
        <p:spPr>
          <a:xfrm>
            <a:off x="7141956" y="3811506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recto de flecha 51"/>
          <p:cNvCxnSpPr/>
          <p:nvPr/>
        </p:nvCxnSpPr>
        <p:spPr>
          <a:xfrm>
            <a:off x="4462545" y="3823671"/>
            <a:ext cx="365814" cy="388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/>
          <p:nvPr/>
        </p:nvCxnSpPr>
        <p:spPr>
          <a:xfrm>
            <a:off x="541250" y="4789109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/>
              <p:cNvSpPr txBox="1"/>
              <p:nvPr/>
            </p:nvSpPr>
            <p:spPr>
              <a:xfrm>
                <a:off x="3747060" y="178371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CuadroTexto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060" y="1783710"/>
                <a:ext cx="60305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CuadroTexto 67"/>
              <p:cNvSpPr txBox="1"/>
              <p:nvPr/>
            </p:nvSpPr>
            <p:spPr>
              <a:xfrm>
                <a:off x="1481609" y="2715929"/>
                <a:ext cx="52610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s-C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2</a:t>
                </a:r>
              </a:p>
            </p:txBody>
          </p:sp>
        </mc:Choice>
        <mc:Fallback xmlns="">
          <p:sp>
            <p:nvSpPr>
              <p:cNvPr id="68" name="CuadroTexto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609" y="2715929"/>
                <a:ext cx="526106" cy="369332"/>
              </a:xfrm>
              <a:prstGeom prst="rect">
                <a:avLst/>
              </a:prstGeom>
              <a:blipFill>
                <a:blip r:embed="rId3"/>
                <a:stretch>
                  <a:fillRect t="-10000" r="-930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CuadroTexto 68"/>
              <p:cNvSpPr txBox="1"/>
              <p:nvPr/>
            </p:nvSpPr>
            <p:spPr>
              <a:xfrm>
                <a:off x="334755" y="3810832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CuadroTexto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755" y="3810832"/>
                <a:ext cx="60305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/>
              <p:cNvSpPr txBox="1"/>
              <p:nvPr/>
            </p:nvSpPr>
            <p:spPr>
              <a:xfrm>
                <a:off x="6813740" y="2711587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0" name="CuadroTexto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3740" y="2711587"/>
                <a:ext cx="60305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/>
              <p:cNvSpPr txBox="1"/>
              <p:nvPr/>
            </p:nvSpPr>
            <p:spPr>
              <a:xfrm>
                <a:off x="5728637" y="3794548"/>
                <a:ext cx="474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71" name="CuadroTexto 7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8637" y="3794548"/>
                <a:ext cx="474810" cy="369332"/>
              </a:xfrm>
              <a:prstGeom prst="rect">
                <a:avLst/>
              </a:prstGeom>
              <a:blipFill>
                <a:blip r:embed="rId6"/>
                <a:stretch>
                  <a:fillRect t="-8197" r="-8974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/>
              <p:cNvSpPr txBox="1"/>
              <p:nvPr/>
            </p:nvSpPr>
            <p:spPr>
              <a:xfrm>
                <a:off x="3031190" y="3810832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CuadroTexto 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1190" y="3810832"/>
                <a:ext cx="60305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CuadroTexto 72"/>
              <p:cNvSpPr txBox="1"/>
              <p:nvPr/>
            </p:nvSpPr>
            <p:spPr>
              <a:xfrm>
                <a:off x="8391092" y="379454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3" name="CuadroTexto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1092" y="3794548"/>
                <a:ext cx="60305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CuadroTexto 74"/>
              <p:cNvSpPr txBox="1"/>
              <p:nvPr/>
            </p:nvSpPr>
            <p:spPr>
              <a:xfrm>
                <a:off x="6555867" y="178371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5" name="CuadroTexto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867" y="1783710"/>
                <a:ext cx="60305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CuadroTexto 75"/>
              <p:cNvSpPr txBox="1"/>
              <p:nvPr/>
            </p:nvSpPr>
            <p:spPr>
              <a:xfrm>
                <a:off x="3531519" y="2865938"/>
                <a:ext cx="474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2</a:t>
                </a:r>
              </a:p>
            </p:txBody>
          </p:sp>
        </mc:Choice>
        <mc:Fallback xmlns="">
          <p:sp>
            <p:nvSpPr>
              <p:cNvPr id="76" name="CuadroTexto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1519" y="2865938"/>
                <a:ext cx="474810" cy="369332"/>
              </a:xfrm>
              <a:prstGeom prst="rect">
                <a:avLst/>
              </a:prstGeom>
              <a:blipFill>
                <a:blip r:embed="rId10"/>
                <a:stretch>
                  <a:fillRect t="-8197" r="-1025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CuadroTexto 76"/>
              <p:cNvSpPr txBox="1"/>
              <p:nvPr/>
            </p:nvSpPr>
            <p:spPr>
              <a:xfrm>
                <a:off x="1996037" y="3842790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CuadroTexto 7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6037" y="3842790"/>
                <a:ext cx="60305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CuadroTexto 77"/>
              <p:cNvSpPr txBox="1"/>
              <p:nvPr/>
            </p:nvSpPr>
            <p:spPr>
              <a:xfrm>
                <a:off x="4615382" y="379454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CuadroTexto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5382" y="3794548"/>
                <a:ext cx="603050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/>
              <p:cNvSpPr txBox="1"/>
              <p:nvPr/>
            </p:nvSpPr>
            <p:spPr>
              <a:xfrm>
                <a:off x="7282176" y="3794548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9" name="CuadroTexto 7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2176" y="3794548"/>
                <a:ext cx="60305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/>
              <p:cNvSpPr txBox="1"/>
              <p:nvPr/>
            </p:nvSpPr>
            <p:spPr>
              <a:xfrm>
                <a:off x="9015088" y="2711587"/>
                <a:ext cx="4748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en-US" dirty="0"/>
                  <a:t>6</a:t>
                </a:r>
              </a:p>
            </p:txBody>
          </p:sp>
        </mc:Choice>
        <mc:Fallback xmlns="">
          <p:sp>
            <p:nvSpPr>
              <p:cNvPr id="80" name="CuadroTexto 7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5088" y="2711587"/>
                <a:ext cx="474810" cy="369332"/>
              </a:xfrm>
              <a:prstGeom prst="rect">
                <a:avLst/>
              </a:prstGeom>
              <a:blipFill>
                <a:blip r:embed="rId14"/>
                <a:stretch>
                  <a:fillRect t="-10000" r="-8974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/>
              <p:cNvSpPr txBox="1"/>
              <p:nvPr/>
            </p:nvSpPr>
            <p:spPr>
              <a:xfrm>
                <a:off x="10087719" y="3810832"/>
                <a:ext cx="6030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s-C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CuadroTexto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7719" y="3810832"/>
                <a:ext cx="60305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Cerrar llave 81"/>
          <p:cNvSpPr/>
          <p:nvPr/>
        </p:nvSpPr>
        <p:spPr>
          <a:xfrm>
            <a:off x="10720019" y="1384499"/>
            <a:ext cx="385963" cy="2594715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Cerrar llave 82"/>
          <p:cNvSpPr/>
          <p:nvPr/>
        </p:nvSpPr>
        <p:spPr>
          <a:xfrm>
            <a:off x="10721549" y="4123919"/>
            <a:ext cx="395364" cy="1718158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CuadroTexto 83"/>
          <p:cNvSpPr txBox="1"/>
          <p:nvPr/>
        </p:nvSpPr>
        <p:spPr>
          <a:xfrm>
            <a:off x="11356101" y="2471481"/>
            <a:ext cx="805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Ramas</a:t>
            </a:r>
            <a:endParaRPr lang="en-US" dirty="0"/>
          </a:p>
        </p:txBody>
      </p:sp>
      <p:sp>
        <p:nvSpPr>
          <p:cNvPr id="86" name="CuadroTexto 85"/>
          <p:cNvSpPr txBox="1"/>
          <p:nvPr/>
        </p:nvSpPr>
        <p:spPr>
          <a:xfrm>
            <a:off x="11354529" y="4847005"/>
            <a:ext cx="705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Hojas</a:t>
            </a:r>
            <a:endParaRPr lang="en-US" dirty="0"/>
          </a:p>
        </p:txBody>
      </p:sp>
      <p:sp>
        <p:nvSpPr>
          <p:cNvPr id="87" name="Cerrar llave 86"/>
          <p:cNvSpPr/>
          <p:nvPr/>
        </p:nvSpPr>
        <p:spPr>
          <a:xfrm rot="5400000">
            <a:off x="5297733" y="667393"/>
            <a:ext cx="323967" cy="10684214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CuadroTexto 87"/>
          <p:cNvSpPr txBox="1"/>
          <p:nvPr/>
        </p:nvSpPr>
        <p:spPr>
          <a:xfrm>
            <a:off x="4987987" y="6146053"/>
            <a:ext cx="1035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Registros</a:t>
            </a:r>
            <a:endParaRPr lang="en-US" dirty="0"/>
          </a:p>
        </p:txBody>
      </p:sp>
      <p:cxnSp>
        <p:nvCxnSpPr>
          <p:cNvPr id="74" name="Conector recto de flecha 73"/>
          <p:cNvCxnSpPr/>
          <p:nvPr/>
        </p:nvCxnSpPr>
        <p:spPr>
          <a:xfrm>
            <a:off x="2193723" y="4821295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de flecha 84"/>
          <p:cNvCxnSpPr/>
          <p:nvPr/>
        </p:nvCxnSpPr>
        <p:spPr>
          <a:xfrm>
            <a:off x="3227405" y="4820383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de flecha 88"/>
          <p:cNvCxnSpPr/>
          <p:nvPr/>
        </p:nvCxnSpPr>
        <p:spPr>
          <a:xfrm>
            <a:off x="4878687" y="4817405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/>
          <p:cNvCxnSpPr/>
          <p:nvPr/>
        </p:nvCxnSpPr>
        <p:spPr>
          <a:xfrm>
            <a:off x="5977293" y="4817405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de flecha 90"/>
          <p:cNvCxnSpPr/>
          <p:nvPr/>
        </p:nvCxnSpPr>
        <p:spPr>
          <a:xfrm>
            <a:off x="7595426" y="4817405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de flecha 91"/>
          <p:cNvCxnSpPr/>
          <p:nvPr/>
        </p:nvCxnSpPr>
        <p:spPr>
          <a:xfrm>
            <a:off x="8680975" y="4817405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de flecha 92"/>
          <p:cNvCxnSpPr/>
          <p:nvPr/>
        </p:nvCxnSpPr>
        <p:spPr>
          <a:xfrm>
            <a:off x="10347891" y="4817405"/>
            <a:ext cx="1191" cy="202441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Elipse 93"/>
          <p:cNvSpPr/>
          <p:nvPr/>
        </p:nvSpPr>
        <p:spPr>
          <a:xfrm>
            <a:off x="136602" y="5001082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96" name="Elipse 95"/>
          <p:cNvSpPr/>
          <p:nvPr/>
        </p:nvSpPr>
        <p:spPr>
          <a:xfrm>
            <a:off x="1937198" y="5367341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2</a:t>
            </a:r>
            <a:endParaRPr lang="en-US" dirty="0"/>
          </a:p>
        </p:txBody>
      </p:sp>
      <p:sp>
        <p:nvSpPr>
          <p:cNvPr id="97" name="Elipse 96"/>
          <p:cNvSpPr/>
          <p:nvPr/>
        </p:nvSpPr>
        <p:spPr>
          <a:xfrm>
            <a:off x="4611575" y="5217290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4</a:t>
            </a:r>
            <a:endParaRPr lang="en-US" dirty="0"/>
          </a:p>
        </p:txBody>
      </p:sp>
      <p:sp>
        <p:nvSpPr>
          <p:cNvPr id="99" name="Elipse 98"/>
          <p:cNvSpPr/>
          <p:nvPr/>
        </p:nvSpPr>
        <p:spPr>
          <a:xfrm>
            <a:off x="7375896" y="5203389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6</a:t>
            </a:r>
            <a:endParaRPr lang="en-US" dirty="0"/>
          </a:p>
        </p:txBody>
      </p:sp>
      <p:sp>
        <p:nvSpPr>
          <p:cNvPr id="100" name="Elipse 99"/>
          <p:cNvSpPr/>
          <p:nvPr/>
        </p:nvSpPr>
        <p:spPr>
          <a:xfrm>
            <a:off x="8461671" y="5212610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101" name="Elipse 100"/>
          <p:cNvSpPr/>
          <p:nvPr/>
        </p:nvSpPr>
        <p:spPr>
          <a:xfrm>
            <a:off x="8614071" y="5365010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7</a:t>
            </a:r>
            <a:endParaRPr lang="en-US" dirty="0"/>
          </a:p>
        </p:txBody>
      </p:sp>
      <p:sp>
        <p:nvSpPr>
          <p:cNvPr id="102" name="Elipse 101"/>
          <p:cNvSpPr/>
          <p:nvPr/>
        </p:nvSpPr>
        <p:spPr>
          <a:xfrm>
            <a:off x="289002" y="5153482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103" name="Elipse 102"/>
          <p:cNvSpPr/>
          <p:nvPr/>
        </p:nvSpPr>
        <p:spPr>
          <a:xfrm>
            <a:off x="441402" y="5305882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  <p:sp>
        <p:nvSpPr>
          <p:cNvPr id="104" name="Elipse 103"/>
          <p:cNvSpPr/>
          <p:nvPr/>
        </p:nvSpPr>
        <p:spPr>
          <a:xfrm>
            <a:off x="593802" y="5458282"/>
            <a:ext cx="821179" cy="536195"/>
          </a:xfrm>
          <a:prstGeom prst="ellipse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CL" dirty="0"/>
              <a:t>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74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79" y="4820661"/>
            <a:ext cx="7116168" cy="82879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86203" y="208025"/>
            <a:ext cx="7389845" cy="1325563"/>
          </a:xfrm>
        </p:spPr>
        <p:txBody>
          <a:bodyPr/>
          <a:lstStyle/>
          <a:p>
            <a:r>
              <a:rPr lang="es-CL" dirty="0"/>
              <a:t>B-</a:t>
            </a:r>
            <a:r>
              <a:rPr lang="es-CL" dirty="0" err="1"/>
              <a:t>Tree</a:t>
            </a:r>
            <a:r>
              <a:rPr lang="es-CL" dirty="0"/>
              <a:t> – Índice no único</a:t>
            </a:r>
            <a:endParaRPr lang="en-US" dirty="0"/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91" y="1438313"/>
            <a:ext cx="7125694" cy="3105583"/>
          </a:xfrm>
          <a:prstGeom prst="rect">
            <a:avLst/>
          </a:prstGeom>
        </p:spPr>
      </p:pic>
      <p:sp>
        <p:nvSpPr>
          <p:cNvPr id="14" name="Cerrar llave 13"/>
          <p:cNvSpPr/>
          <p:nvPr/>
        </p:nvSpPr>
        <p:spPr>
          <a:xfrm rot="5400000">
            <a:off x="4030852" y="1981508"/>
            <a:ext cx="534689" cy="7154275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errar llave 15"/>
          <p:cNvSpPr/>
          <p:nvPr/>
        </p:nvSpPr>
        <p:spPr>
          <a:xfrm>
            <a:off x="7846753" y="1449002"/>
            <a:ext cx="534689" cy="2303643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/>
              <p:cNvSpPr txBox="1"/>
              <p:nvPr/>
            </p:nvSpPr>
            <p:spPr>
              <a:xfrm>
                <a:off x="8509690" y="2416157"/>
                <a:ext cx="31030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L" dirty="0"/>
                  <a:t>Altura del árbol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𝑙𝑜𝑔</m:t>
                        </m:r>
                      </m:e>
                      <m:sub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d>
                    <m:r>
                      <a:rPr lang="es-CL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CuadroTexto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9690" y="2416157"/>
                <a:ext cx="3103094" cy="369332"/>
              </a:xfrm>
              <a:prstGeom prst="rect">
                <a:avLst/>
              </a:prstGeom>
              <a:blipFill>
                <a:blip r:embed="rId5"/>
                <a:stretch>
                  <a:fillRect l="-1768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errar llave 17"/>
          <p:cNvSpPr/>
          <p:nvPr/>
        </p:nvSpPr>
        <p:spPr>
          <a:xfrm>
            <a:off x="7891115" y="3912356"/>
            <a:ext cx="534689" cy="508861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uadroTexto 18"/>
              <p:cNvSpPr txBox="1"/>
              <p:nvPr/>
            </p:nvSpPr>
            <p:spPr>
              <a:xfrm>
                <a:off x="8693086" y="3742197"/>
                <a:ext cx="3194113" cy="761170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L" b="1" dirty="0"/>
                  <a:t>Punteros a llaves primarias</a:t>
                </a:r>
              </a:p>
              <a:p>
                <a:pPr algn="ctr"/>
                <a:r>
                  <a:rPr lang="es-CL" dirty="0"/>
                  <a:t>Promedio registros leídos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endParaRPr lang="es-CL" b="0" dirty="0"/>
              </a:p>
            </p:txBody>
          </p:sp>
        </mc:Choice>
        <mc:Fallback>
          <p:sp>
            <p:nvSpPr>
              <p:cNvPr id="19" name="CuadroTexto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3086" y="3742197"/>
                <a:ext cx="3194113" cy="761170"/>
              </a:xfrm>
              <a:prstGeom prst="rect">
                <a:avLst/>
              </a:prstGeom>
              <a:blipFill>
                <a:blip r:embed="rId6"/>
                <a:stretch>
                  <a:fillRect t="-3937" b="-3937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uadroTexto 19"/>
          <p:cNvSpPr txBox="1"/>
          <p:nvPr/>
        </p:nvSpPr>
        <p:spPr>
          <a:xfrm>
            <a:off x="8693086" y="3340451"/>
            <a:ext cx="20321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Claves distintas = M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ángulo 20"/>
              <p:cNvSpPr/>
              <p:nvPr/>
            </p:nvSpPr>
            <p:spPr>
              <a:xfrm>
                <a:off x="4063999" y="5876654"/>
                <a:ext cx="7833958" cy="533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s-CL" sz="2400" b="1" dirty="0"/>
                  <a:t>#Operaciones de lectura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000" i="1"/>
                        </m:ctrlPr>
                      </m:sSubPr>
                      <m:e>
                        <m:r>
                          <a:rPr lang="es-CL" sz="2000" b="0" i="1"/>
                          <m:t>𝑙𝑜𝑔</m:t>
                        </m:r>
                      </m:e>
                      <m:sub>
                        <m:r>
                          <a:rPr lang="es-CL" sz="2000" b="0" i="1"/>
                          <m:t>2</m:t>
                        </m:r>
                      </m:sub>
                    </m:sSub>
                    <m:d>
                      <m:dPr>
                        <m:ctrlPr>
                          <a:rPr lang="es-CL" sz="2000" i="1"/>
                        </m:ctrlPr>
                      </m:dPr>
                      <m:e>
                        <m:r>
                          <a:rPr lang="es-CL" sz="2000" b="0" i="1" smtClean="0"/>
                          <m:t>𝑀</m:t>
                        </m:r>
                      </m:e>
                    </m:d>
                    <m:r>
                      <a:rPr lang="es-CL" sz="2000" b="0" i="1"/>
                      <m:t>+</m:t>
                    </m:r>
                  </m:oMath>
                </a14:m>
                <a:r>
                  <a:rPr lang="en-US" sz="2000" dirty="0"/>
                  <a:t>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sz="2000"/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s-CL" sz="2000" b="0" i="0"/>
                          <m:t>N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s-CL" sz="2000" b="0" i="0"/>
                          <m:t>M</m:t>
                        </m:r>
                      </m:den>
                    </m:f>
                    <m:r>
                      <a:rPr lang="es-CL" sz="2000" b="0" i="0"/>
                      <m:t> </m:t>
                    </m:r>
                  </m:oMath>
                </a14:m>
                <a:r>
                  <a:rPr lang="en-US" sz="2000" dirty="0"/>
                  <a:t>*(1 + log</a:t>
                </a:r>
                <a:r>
                  <a:rPr lang="en-US" sz="2000" baseline="-25000" dirty="0"/>
                  <a:t>2</a:t>
                </a:r>
                <a:r>
                  <a:rPr lang="en-US" sz="2000" dirty="0"/>
                  <a:t>(N) +1)</a:t>
                </a:r>
              </a:p>
            </p:txBody>
          </p:sp>
        </mc:Choice>
        <mc:Fallback>
          <p:sp>
            <p:nvSpPr>
              <p:cNvPr id="21" name="Rectángulo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99" y="5876654"/>
                <a:ext cx="7833958" cy="533992"/>
              </a:xfrm>
              <a:prstGeom prst="rect">
                <a:avLst/>
              </a:prstGeom>
              <a:blipFill>
                <a:blip r:embed="rId7"/>
                <a:stretch>
                  <a:fillRect l="-1245" t="-4545" b="-15909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Conector recto de flecha 37"/>
          <p:cNvCxnSpPr/>
          <p:nvPr/>
        </p:nvCxnSpPr>
        <p:spPr>
          <a:xfrm flipH="1">
            <a:off x="1168611" y="4551914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/>
          <p:cNvCxnSpPr/>
          <p:nvPr/>
        </p:nvCxnSpPr>
        <p:spPr>
          <a:xfrm flipH="1">
            <a:off x="2157820" y="4591222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de flecha 39"/>
          <p:cNvCxnSpPr/>
          <p:nvPr/>
        </p:nvCxnSpPr>
        <p:spPr>
          <a:xfrm flipH="1">
            <a:off x="2762282" y="4608158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de flecha 40"/>
          <p:cNvCxnSpPr/>
          <p:nvPr/>
        </p:nvCxnSpPr>
        <p:spPr>
          <a:xfrm flipH="1">
            <a:off x="3800791" y="4572675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de flecha 41"/>
          <p:cNvCxnSpPr/>
          <p:nvPr/>
        </p:nvCxnSpPr>
        <p:spPr>
          <a:xfrm flipH="1">
            <a:off x="4556687" y="4624610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cto de flecha 42"/>
          <p:cNvCxnSpPr/>
          <p:nvPr/>
        </p:nvCxnSpPr>
        <p:spPr>
          <a:xfrm flipH="1">
            <a:off x="5569441" y="4608158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de flecha 43"/>
          <p:cNvCxnSpPr/>
          <p:nvPr/>
        </p:nvCxnSpPr>
        <p:spPr>
          <a:xfrm flipH="1">
            <a:off x="6256475" y="4608158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de flecha 44"/>
          <p:cNvCxnSpPr/>
          <p:nvPr/>
        </p:nvCxnSpPr>
        <p:spPr>
          <a:xfrm flipH="1">
            <a:off x="7268084" y="4591222"/>
            <a:ext cx="7850" cy="25434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CuadroTexto 54"/>
              <p:cNvSpPr txBox="1"/>
              <p:nvPr/>
            </p:nvSpPr>
            <p:spPr>
              <a:xfrm>
                <a:off x="8554518" y="4591222"/>
                <a:ext cx="3343439" cy="1253613"/>
              </a:xfrm>
              <a:prstGeom prst="rect">
                <a:avLst/>
              </a:prstGeom>
              <a:noFill/>
              <a:ln>
                <a:solidFill>
                  <a:schemeClr val="tx2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CL" dirty="0"/>
                  <a:t>Registros de datos </a:t>
                </a:r>
              </a:p>
              <a:p>
                <a:pPr algn="ctr"/>
                <a:r>
                  <a:rPr lang="es-CL" sz="1400" dirty="0"/>
                  <a:t>(</a:t>
                </a:r>
                <a:r>
                  <a:rPr lang="es-CL" sz="1400" b="1" dirty="0"/>
                  <a:t>búsqueda de llave primaria </a:t>
                </a:r>
                <a:r>
                  <a:rPr lang="es-CL" sz="1400" dirty="0"/>
                  <a:t>en cada uno)</a:t>
                </a:r>
              </a:p>
              <a:p>
                <a:pPr algn="ctr"/>
                <a:r>
                  <a:rPr lang="es-CL" dirty="0"/>
                  <a:t>Promedio registros leídos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s-CL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s-CL" b="0" dirty="0"/>
                  <a:t>*(log</a:t>
                </a:r>
                <a:r>
                  <a:rPr lang="es-CL" b="0" baseline="-25000" dirty="0"/>
                  <a:t>2</a:t>
                </a:r>
                <a:r>
                  <a:rPr lang="es-CL" b="0" dirty="0"/>
                  <a:t>(N)+1)</a:t>
                </a:r>
              </a:p>
            </p:txBody>
          </p:sp>
        </mc:Choice>
        <mc:Fallback>
          <p:sp>
            <p:nvSpPr>
              <p:cNvPr id="55" name="CuadroTexto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518" y="4591222"/>
                <a:ext cx="3343439" cy="1253613"/>
              </a:xfrm>
              <a:prstGeom prst="rect">
                <a:avLst/>
              </a:prstGeom>
              <a:blipFill>
                <a:blip r:embed="rId8"/>
                <a:stretch>
                  <a:fillRect t="-1923" b="-1923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Cerrar llave 55"/>
          <p:cNvSpPr/>
          <p:nvPr/>
        </p:nvSpPr>
        <p:spPr>
          <a:xfrm>
            <a:off x="7916875" y="4787879"/>
            <a:ext cx="534689" cy="508861"/>
          </a:xfrm>
          <a:prstGeom prst="rightBrace">
            <a:avLst/>
          </a:prstGeom>
          <a:ln w="444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CuadroTexto 57"/>
          <p:cNvSpPr txBox="1"/>
          <p:nvPr/>
        </p:nvSpPr>
        <p:spPr>
          <a:xfrm>
            <a:off x="1700463" y="1042109"/>
            <a:ext cx="43458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 err="1"/>
              <a:t>Ejm</a:t>
            </a:r>
            <a:r>
              <a:rPr lang="es-CL" dirty="0"/>
              <a:t>: </a:t>
            </a:r>
            <a:r>
              <a:rPr lang="es-CL" dirty="0" err="1"/>
              <a:t>Select</a:t>
            </a:r>
            <a:r>
              <a:rPr lang="es-CL" dirty="0"/>
              <a:t> * </a:t>
            </a:r>
            <a:r>
              <a:rPr lang="es-CL" dirty="0" err="1"/>
              <a:t>from</a:t>
            </a:r>
            <a:r>
              <a:rPr lang="es-CL" dirty="0"/>
              <a:t> Tabla </a:t>
            </a:r>
            <a:r>
              <a:rPr lang="es-CL" dirty="0" err="1"/>
              <a:t>where</a:t>
            </a:r>
            <a:r>
              <a:rPr lang="es-CL" dirty="0"/>
              <a:t> atributo = 1;</a:t>
            </a:r>
            <a:endParaRPr lang="en-U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69947FA-A26C-40A8-A04A-73278D213D59}"/>
              </a:ext>
            </a:extLst>
          </p:cNvPr>
          <p:cNvSpPr txBox="1"/>
          <p:nvPr/>
        </p:nvSpPr>
        <p:spPr>
          <a:xfrm>
            <a:off x="8800439" y="1264336"/>
            <a:ext cx="29794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Tabla con N registros distintos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6962263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algunos ejemplos (llave primaria)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74728" y="1407170"/>
                <a:ext cx="11464871" cy="4714661"/>
              </a:xfrm>
            </p:spPr>
            <p:txBody>
              <a:bodyPr>
                <a:normAutofit fontScale="92500"/>
              </a:bodyPr>
              <a:lstStyle/>
              <a:p>
                <a:r>
                  <a:rPr lang="es-CL" dirty="0"/>
                  <a:t>Tabla T, 1000 registros. Atributo </a:t>
                </a:r>
                <a:r>
                  <a:rPr lang="es-CL" dirty="0" err="1"/>
                  <a:t>pk</a:t>
                </a:r>
                <a:r>
                  <a:rPr lang="es-CL" dirty="0"/>
                  <a:t> es su </a:t>
                </a:r>
                <a:r>
                  <a:rPr lang="es-CL" dirty="0">
                    <a:solidFill>
                      <a:srgbClr val="FF0000"/>
                    </a:solidFill>
                  </a:rPr>
                  <a:t>llave primaria</a:t>
                </a:r>
              </a:p>
              <a:p>
                <a:endParaRPr lang="es-CL" dirty="0"/>
              </a:p>
              <a:p>
                <a:r>
                  <a:rPr lang="es-CL" dirty="0" err="1"/>
                  <a:t>Select</a:t>
                </a:r>
                <a:r>
                  <a:rPr lang="es-CL" dirty="0"/>
                  <a:t> * </a:t>
                </a:r>
                <a:r>
                  <a:rPr lang="es-CL" dirty="0" err="1"/>
                  <a:t>from</a:t>
                </a:r>
                <a:r>
                  <a:rPr lang="es-CL" dirty="0"/>
                  <a:t> T </a:t>
                </a:r>
                <a:r>
                  <a:rPr lang="es-CL" dirty="0" err="1"/>
                  <a:t>where</a:t>
                </a:r>
                <a:r>
                  <a:rPr lang="es-CL" dirty="0"/>
                  <a:t> </a:t>
                </a:r>
                <a:r>
                  <a:rPr lang="es-CL" dirty="0" err="1"/>
                  <a:t>pk</a:t>
                </a:r>
                <a:r>
                  <a:rPr lang="es-CL" dirty="0"/>
                  <a:t>=1 /* retorna 1 registro!! */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¿Cuántas operaciones de lectura se realizan?</a:t>
                </a:r>
              </a:p>
              <a:p>
                <a:r>
                  <a:rPr lang="es-CL" dirty="0"/>
                  <a:t>N = 1000</a:t>
                </a:r>
              </a:p>
              <a:p>
                <a:pPr marL="0" indent="0">
                  <a:buNone/>
                </a:pPr>
                <a:endParaRPr lang="es-CL" b="1" dirty="0"/>
              </a:p>
              <a:p>
                <a:pPr marL="0" indent="0">
                  <a:buNone/>
                </a:pPr>
                <a:r>
                  <a:rPr lang="es-CL" b="1" dirty="0"/>
                  <a:t>#Operaciones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1" i="1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s-CL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s-CL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1" i="1">
                            <a:latin typeface="Cambria Math" panose="02040503050406030204" pitchFamily="18" charset="0"/>
                          </a:rPr>
                          <m:t>𝑵</m:t>
                        </m:r>
                      </m:e>
                    </m:d>
                    <m:r>
                      <a:rPr lang="es-CL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b="1" i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(</a:t>
                </a:r>
                <a:r>
                  <a:rPr lang="en-US" b="1" dirty="0" err="1"/>
                  <a:t>recorrer</a:t>
                </a:r>
                <a:r>
                  <a:rPr lang="en-US" b="1" dirty="0"/>
                  <a:t> </a:t>
                </a:r>
                <a:r>
                  <a:rPr lang="en-US" b="1" dirty="0" err="1"/>
                  <a:t>árbol</a:t>
                </a:r>
                <a:r>
                  <a:rPr lang="en-US" b="1" dirty="0"/>
                  <a:t> + </a:t>
                </a:r>
                <a:r>
                  <a:rPr lang="en-US" b="1" dirty="0" err="1"/>
                  <a:t>hoja</a:t>
                </a:r>
                <a:r>
                  <a:rPr lang="en-US" b="1" dirty="0"/>
                  <a:t> + </a:t>
                </a:r>
                <a:r>
                  <a:rPr lang="en-US" b="1" dirty="0" err="1"/>
                  <a:t>puntero</a:t>
                </a:r>
                <a:r>
                  <a:rPr lang="en-US" b="1" dirty="0"/>
                  <a:t> + </a:t>
                </a:r>
                <a:r>
                  <a:rPr lang="en-US" b="1" dirty="0" err="1"/>
                  <a:t>registro</a:t>
                </a:r>
                <a:r>
                  <a:rPr lang="en-US" b="1" dirty="0"/>
                  <a:t>)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#Operaciones = 10+1=11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28" y="1407170"/>
                <a:ext cx="11464871" cy="4714661"/>
              </a:xfrm>
              <a:blipFill>
                <a:blip r:embed="rId2"/>
                <a:stretch>
                  <a:fillRect l="-2020" t="-2587" b="-207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757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un gráfico (PK &amp; Access Full)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23850" y="5703377"/>
            <a:ext cx="6882860" cy="984885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Muy buena escalabilidad (Orden (Log</a:t>
            </a:r>
            <a:r>
              <a:rPr lang="es-CL" baseline="-25000" dirty="0"/>
              <a:t>2</a:t>
            </a:r>
            <a:r>
              <a:rPr lang="es-CL" dirty="0"/>
              <a:t>N))</a:t>
            </a:r>
            <a:endParaRPr lang="en-US" dirty="0"/>
          </a:p>
        </p:txBody>
      </p:sp>
      <p:graphicFrame>
        <p:nvGraphicFramePr>
          <p:cNvPr id="6" name="Tab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650917"/>
              </p:ext>
            </p:extLst>
          </p:nvPr>
        </p:nvGraphicFramePr>
        <p:xfrm>
          <a:off x="7206710" y="1966512"/>
          <a:ext cx="4572001" cy="37368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70980">
                  <a:extLst>
                    <a:ext uri="{9D8B030D-6E8A-4147-A177-3AD203B41FA5}">
                      <a16:colId xmlns:a16="http://schemas.microsoft.com/office/drawing/2014/main" val="1957168259"/>
                    </a:ext>
                  </a:extLst>
                </a:gridCol>
                <a:gridCol w="2601021">
                  <a:extLst>
                    <a:ext uri="{9D8B030D-6E8A-4147-A177-3AD203B41FA5}">
                      <a16:colId xmlns:a16="http://schemas.microsoft.com/office/drawing/2014/main" val="902412232"/>
                    </a:ext>
                  </a:extLst>
                </a:gridCol>
              </a:tblGrid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 N° </a:t>
                      </a:r>
                      <a:r>
                        <a:rPr lang="en-US" sz="2400" b="1" u="none" strike="noStrike" dirty="0" err="1">
                          <a:effectLst/>
                        </a:rPr>
                        <a:t>Registros</a:t>
                      </a:r>
                      <a:r>
                        <a:rPr lang="en-US" sz="2400" b="1" u="none" strike="noStrike" dirty="0">
                          <a:effectLst/>
                        </a:rPr>
                        <a:t>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b="1" u="none" strike="noStrike" dirty="0">
                          <a:effectLst/>
                        </a:rPr>
                        <a:t>N° </a:t>
                      </a:r>
                      <a:r>
                        <a:rPr lang="en-US" sz="2400" b="1" u="none" strike="noStrike" dirty="0" err="1">
                          <a:effectLst/>
                        </a:rPr>
                        <a:t>Operaciones</a:t>
                      </a:r>
                      <a:r>
                        <a:rPr lang="en-US" sz="2400" b="1" u="none" strike="noStrike" dirty="0">
                          <a:effectLst/>
                        </a:rPr>
                        <a:t> (PK)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9540208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                    10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5552801"/>
                  </a:ext>
                </a:extLst>
              </a:tr>
              <a:tr h="689473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                  100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28662296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              1,000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25397429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            10,000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12453307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          100,000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18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75031552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  1,000,000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21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529752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   10,000,000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25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0560399"/>
                  </a:ext>
                </a:extLst>
              </a:tr>
              <a:tr h="380924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>
                          <a:effectLst/>
                        </a:rPr>
                        <a:t> 100,000,000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u="none" strike="noStrike" dirty="0">
                          <a:effectLst/>
                        </a:rPr>
                        <a:t>28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28306785"/>
                  </a:ext>
                </a:extLst>
              </a:tr>
            </a:tbl>
          </a:graphicData>
        </a:graphic>
      </p:graphicFrame>
      <p:graphicFrame>
        <p:nvGraphicFramePr>
          <p:cNvPr id="7" name="Gráfico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940286"/>
              </p:ext>
            </p:extLst>
          </p:nvPr>
        </p:nvGraphicFramePr>
        <p:xfrm>
          <a:off x="323850" y="1966512"/>
          <a:ext cx="6324600" cy="3642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85468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algunos ejemplos (acceso secuencial)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74729" y="1407171"/>
                <a:ext cx="10515600" cy="4431983"/>
              </a:xfrm>
            </p:spPr>
            <p:txBody>
              <a:bodyPr/>
              <a:lstStyle/>
              <a:p>
                <a:r>
                  <a:rPr lang="es-CL" dirty="0"/>
                  <a:t>Tabla T, 1000 registros. Atributo a </a:t>
                </a:r>
                <a:r>
                  <a:rPr lang="es-CL" b="1" dirty="0">
                    <a:solidFill>
                      <a:srgbClr val="FF0000"/>
                    </a:solidFill>
                  </a:rPr>
                  <a:t>no tiene índice</a:t>
                </a:r>
              </a:p>
              <a:p>
                <a:endParaRPr lang="es-CL" dirty="0"/>
              </a:p>
              <a:p>
                <a:r>
                  <a:rPr lang="es-CL" dirty="0" err="1"/>
                  <a:t>Select</a:t>
                </a:r>
                <a:r>
                  <a:rPr lang="es-CL" dirty="0"/>
                  <a:t> * </a:t>
                </a:r>
                <a:r>
                  <a:rPr lang="es-CL" dirty="0" err="1"/>
                  <a:t>from</a:t>
                </a:r>
                <a:r>
                  <a:rPr lang="es-CL" dirty="0"/>
                  <a:t> T </a:t>
                </a:r>
                <a:r>
                  <a:rPr lang="es-CL" dirty="0" err="1"/>
                  <a:t>where</a:t>
                </a:r>
                <a:r>
                  <a:rPr lang="es-CL" dirty="0"/>
                  <a:t> a=1 /* retorna 5 registros!! */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¿Cuántas operaciones de lectura se realizan?</a:t>
                </a:r>
              </a:p>
              <a:p>
                <a:pPr marL="0" indent="0">
                  <a:buNone/>
                </a:pPr>
                <a:r>
                  <a:rPr lang="es-CL" dirty="0"/>
                  <a:t>#Operaciones = </a:t>
                </a:r>
                <a14:m>
                  <m:oMath xmlns:m="http://schemas.openxmlformats.org/officeDocument/2006/math">
                    <m:r>
                      <a:rPr lang="es-CL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#Operaciones = 1000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s-CL" dirty="0"/>
              </a:p>
            </p:txBody>
          </p:sp>
        </mc:Choice>
        <mc:Fallback xmlns=""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29" y="1407171"/>
                <a:ext cx="10515600" cy="4431983"/>
              </a:xfrm>
              <a:blipFill>
                <a:blip r:embed="rId2"/>
                <a:stretch>
                  <a:fillRect l="-2319" t="-2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78922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un gráfico (PK &amp; Access Full)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77872" y="5703377"/>
            <a:ext cx="9585378" cy="492443"/>
          </a:xfrm>
        </p:spPr>
        <p:txBody>
          <a:bodyPr/>
          <a:lstStyle/>
          <a:p>
            <a:pPr marL="0" indent="0" algn="ctr">
              <a:buNone/>
            </a:pPr>
            <a:r>
              <a:rPr lang="es-CL" dirty="0"/>
              <a:t>Full tiene escalabilidad lineal (Orden(N))</a:t>
            </a:r>
            <a:endParaRPr lang="en-US" dirty="0"/>
          </a:p>
        </p:txBody>
      </p:sp>
      <p:graphicFrame>
        <p:nvGraphicFramePr>
          <p:cNvPr id="8" name="Gráfico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72313311"/>
              </p:ext>
            </p:extLst>
          </p:nvPr>
        </p:nvGraphicFramePr>
        <p:xfrm>
          <a:off x="2990849" y="1560567"/>
          <a:ext cx="6210300" cy="37368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66833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algunos ejemplos (índice no único)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74728" y="1407171"/>
                <a:ext cx="11388671" cy="4918398"/>
              </a:xfrm>
            </p:spPr>
            <p:txBody>
              <a:bodyPr/>
              <a:lstStyle/>
              <a:p>
                <a:r>
                  <a:rPr lang="es-CL" sz="2800" dirty="0"/>
                  <a:t>Tabla T2, 1000 registros. Atributo a tiene </a:t>
                </a:r>
                <a:r>
                  <a:rPr lang="es-CL" sz="2800" b="1" dirty="0">
                    <a:solidFill>
                      <a:srgbClr val="FF0000"/>
                    </a:solidFill>
                  </a:rPr>
                  <a:t>índice no único</a:t>
                </a:r>
                <a:r>
                  <a:rPr lang="es-CL" sz="2800" dirty="0"/>
                  <a:t> </a:t>
                </a:r>
                <a:endParaRPr lang="es-CL" sz="2800" b="1" dirty="0">
                  <a:solidFill>
                    <a:srgbClr val="FF0000"/>
                  </a:solidFill>
                </a:endParaRPr>
              </a:p>
              <a:p>
                <a:endParaRPr lang="es-CL" sz="2800" dirty="0"/>
              </a:p>
              <a:p>
                <a:r>
                  <a:rPr lang="es-CL" sz="2800" dirty="0" err="1"/>
                  <a:t>Select</a:t>
                </a:r>
                <a:r>
                  <a:rPr lang="es-CL" sz="2800" dirty="0"/>
                  <a:t> * </a:t>
                </a:r>
                <a:r>
                  <a:rPr lang="es-CL" sz="2800" dirty="0" err="1"/>
                  <a:t>from</a:t>
                </a:r>
                <a:r>
                  <a:rPr lang="es-CL" sz="2800" dirty="0"/>
                  <a:t> T </a:t>
                </a:r>
                <a:r>
                  <a:rPr lang="es-CL" sz="2800" dirty="0" err="1"/>
                  <a:t>where</a:t>
                </a:r>
                <a:r>
                  <a:rPr lang="es-CL" sz="2800" dirty="0"/>
                  <a:t> a=1 /* retorna 5 registros */</a:t>
                </a:r>
              </a:p>
              <a:p>
                <a:pPr marL="0" indent="0">
                  <a:buNone/>
                </a:pPr>
                <a:endParaRPr lang="es-CL" sz="2800" dirty="0"/>
              </a:p>
              <a:p>
                <a:pPr marL="0" indent="0">
                  <a:buNone/>
                </a:pPr>
                <a:r>
                  <a:rPr lang="es-CL" sz="2800" dirty="0"/>
                  <a:t>¿Cuántas operaciones de lectura se realizan?</a:t>
                </a:r>
              </a:p>
              <a:p>
                <a:r>
                  <a:rPr lang="es-CL" sz="2800" dirty="0"/>
                  <a:t>N = 1000; M=200</a:t>
                </a:r>
              </a:p>
              <a:p>
                <a:pPr marL="0" indent="0">
                  <a:buNone/>
                </a:pPr>
                <a:r>
                  <a:rPr lang="es-CL" sz="2800" dirty="0"/>
                  <a:t>#Operaciones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sz="2800" b="1" i="1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s-CL" sz="2800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s-CL" sz="28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sz="2800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  <m:r>
                      <a:rPr lang="es-CL" sz="2800" b="1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800" b="1" dirty="0"/>
                  <a:t>1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sz="2800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s-CL" sz="2800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s-CL" sz="2800" dirty="0"/>
                  <a:t> </a:t>
                </a:r>
                <a:r>
                  <a:rPr lang="es-CL" sz="2400" b="1" dirty="0"/>
                  <a:t>(hoja + búsqueda por llave primaria)</a:t>
                </a:r>
                <a:endParaRPr lang="es-CL" sz="2800" b="1" dirty="0"/>
              </a:p>
              <a:p>
                <a:pPr marL="0" indent="0">
                  <a:buNone/>
                </a:pPr>
                <a:r>
                  <a:rPr lang="es-CL" sz="2800" dirty="0"/>
                  <a:t>#Operaciones = 8+1+5* (1+ log</a:t>
                </a:r>
                <a:r>
                  <a:rPr lang="es-CL" sz="2800" baseline="-25000" dirty="0"/>
                  <a:t>2</a:t>
                </a:r>
                <a:r>
                  <a:rPr lang="es-CL" sz="2800" dirty="0"/>
                  <a:t>(1000) +1) = 8 + 1 + 5*12 = 69</a:t>
                </a: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s-CL" sz="2800" dirty="0"/>
                  <a:t>Comparado con acceso por llave primaria (11), y con Full </a:t>
                </a:r>
                <a:r>
                  <a:rPr lang="es-CL" sz="2800" dirty="0" err="1"/>
                  <a:t>Scan</a:t>
                </a:r>
                <a:r>
                  <a:rPr lang="es-CL" sz="2800" dirty="0"/>
                  <a:t> (1000), es bastante bueno.</a:t>
                </a:r>
              </a:p>
            </p:txBody>
          </p:sp>
        </mc:Choice>
        <mc:Fallback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28" y="1407171"/>
                <a:ext cx="11388671" cy="4918398"/>
              </a:xfrm>
              <a:blipFill>
                <a:blip r:embed="rId2"/>
                <a:stretch>
                  <a:fillRect l="-1874" t="-2107" b="-3470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7619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Veamos algunos ejemplos (índice </a:t>
            </a:r>
            <a:r>
              <a:rPr lang="es-CL"/>
              <a:t>no único)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/>
              <p:cNvSpPr>
                <a:spLocks noGrp="1"/>
              </p:cNvSpPr>
              <p:nvPr>
                <p:ph idx="1"/>
              </p:nvPr>
            </p:nvSpPr>
            <p:spPr>
              <a:xfrm>
                <a:off x="574728" y="1407171"/>
                <a:ext cx="11255321" cy="4636269"/>
              </a:xfrm>
            </p:spPr>
            <p:txBody>
              <a:bodyPr/>
              <a:lstStyle/>
              <a:p>
                <a:r>
                  <a:rPr lang="es-CL" dirty="0"/>
                  <a:t>Tabla T2, 1.000.000 registros. Atributo sexo tiene </a:t>
                </a:r>
                <a:r>
                  <a:rPr lang="es-CL" b="1" dirty="0">
                    <a:solidFill>
                      <a:srgbClr val="FF0000"/>
                    </a:solidFill>
                  </a:rPr>
                  <a:t>índice no único</a:t>
                </a:r>
              </a:p>
              <a:p>
                <a:endParaRPr lang="es-CL" dirty="0"/>
              </a:p>
              <a:p>
                <a:r>
                  <a:rPr lang="es-CL" dirty="0" err="1"/>
                  <a:t>Select</a:t>
                </a:r>
                <a:r>
                  <a:rPr lang="es-CL" dirty="0"/>
                  <a:t> * </a:t>
                </a:r>
                <a:r>
                  <a:rPr lang="es-CL" dirty="0" err="1"/>
                  <a:t>from</a:t>
                </a:r>
                <a:r>
                  <a:rPr lang="es-CL" dirty="0"/>
                  <a:t> T2 </a:t>
                </a:r>
                <a:r>
                  <a:rPr lang="es-CL" dirty="0" err="1"/>
                  <a:t>where</a:t>
                </a:r>
                <a:r>
                  <a:rPr lang="es-CL" dirty="0"/>
                  <a:t> sexo=‘F’ /* retorna 500.000 registros!! */</a:t>
                </a:r>
              </a:p>
              <a:p>
                <a:pPr marL="0" indent="0">
                  <a:buNone/>
                </a:pPr>
                <a:endParaRPr lang="es-CL" dirty="0"/>
              </a:p>
              <a:p>
                <a:pPr marL="0" indent="0">
                  <a:buNone/>
                </a:pPr>
                <a:r>
                  <a:rPr lang="es-CL" dirty="0"/>
                  <a:t>¿Cuántas operaciones de lectura se realizan?</a:t>
                </a:r>
              </a:p>
              <a:p>
                <a:r>
                  <a:rPr lang="es-CL" dirty="0"/>
                  <a:t>N = 1.000.000; M=2</a:t>
                </a:r>
              </a:p>
              <a:p>
                <a:r>
                  <a:rPr lang="es-CL" dirty="0"/>
                  <a:t>#Operaciones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CL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L" b="1" i="1">
                            <a:latin typeface="Cambria Math" panose="02040503050406030204" pitchFamily="18" charset="0"/>
                          </a:rPr>
                          <m:t>𝒍𝒐𝒈</m:t>
                        </m:r>
                      </m:e>
                      <m:sub>
                        <m:r>
                          <a:rPr lang="es-CL" b="1" i="1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d>
                      <m:dPr>
                        <m:ctrlPr>
                          <a:rPr lang="es-CL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L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d>
                    <m:r>
                      <a:rPr lang="es-CL" b="1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b="1" dirty="0"/>
                  <a:t>1 +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CL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L" i="1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s-CL" i="1"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s-CL" dirty="0"/>
                  <a:t> (1+ log</a:t>
                </a:r>
                <a:r>
                  <a:rPr lang="es-CL" baseline="-25000" dirty="0"/>
                  <a:t>2</a:t>
                </a:r>
                <a:r>
                  <a:rPr lang="es-CL" dirty="0"/>
                  <a:t>(1.000.000) +1)</a:t>
                </a:r>
              </a:p>
              <a:p>
                <a:pPr marL="0" indent="0">
                  <a:buNone/>
                </a:pPr>
                <a:r>
                  <a:rPr lang="es-CL" dirty="0"/>
                  <a:t>#Operaciones = 2+1 + 500.000 * (1+20+1) ≈10.000.000 !!</a:t>
                </a:r>
                <a:endParaRPr lang="en-US" dirty="0"/>
              </a:p>
              <a:p>
                <a:pPr marL="0" indent="0">
                  <a:buNone/>
                </a:pPr>
                <a:r>
                  <a:rPr lang="es-CL" b="1" dirty="0"/>
                  <a:t>Conclusión: </a:t>
                </a:r>
                <a:r>
                  <a:rPr lang="es-CL" dirty="0"/>
                  <a:t>El </a:t>
                </a:r>
                <a:r>
                  <a:rPr lang="es-CL" b="1" dirty="0"/>
                  <a:t>índice</a:t>
                </a:r>
                <a:r>
                  <a:rPr lang="es-CL" dirty="0"/>
                  <a:t> por sexo </a:t>
                </a:r>
                <a:r>
                  <a:rPr lang="es-CL" b="1" dirty="0"/>
                  <a:t>no sirve </a:t>
                </a:r>
                <a:r>
                  <a:rPr lang="es-CL" dirty="0"/>
                  <a:t>de nada.</a:t>
                </a:r>
              </a:p>
            </p:txBody>
          </p:sp>
        </mc:Choice>
        <mc:Fallback>
          <p:sp>
            <p:nvSpPr>
              <p:cNvPr id="3" name="Marcador de conteni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4728" y="1407171"/>
                <a:ext cx="11255321" cy="4636269"/>
              </a:xfrm>
              <a:blipFill>
                <a:blip r:embed="rId3"/>
                <a:stretch>
                  <a:fillRect l="-2166" t="-2763" b="-4474"/>
                </a:stretch>
              </a:blipFill>
            </p:spPr>
            <p:txBody>
              <a:bodyPr/>
              <a:lstStyle/>
              <a:p>
                <a:r>
                  <a:rPr lang="es-C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06450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Conclusiones - Índices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66700" y="1407171"/>
            <a:ext cx="11563349" cy="4678204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Acceso sin índices es secuencial.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Acceso por llave primaria es muy eficiente.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Ganancia en acceso utilizando índices no únicos, depende de las </a:t>
            </a:r>
            <a:r>
              <a:rPr lang="es-CL" dirty="0" err="1"/>
              <a:t>cardinalidades</a:t>
            </a:r>
            <a:r>
              <a:rPr lang="es-CL" dirty="0"/>
              <a:t>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Índice muy selectivo, rendimiento cercano a llave primaria.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r>
              <a:rPr lang="es-CL" sz="2800" dirty="0"/>
              <a:t>Índice poco selectivo, rendimiento cercano a acceso secuencial.</a:t>
            </a:r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marL="1066785" lvl="1" indent="-457200">
              <a:buFont typeface="Arial" panose="020B0604020202020204" pitchFamily="34" charset="0"/>
              <a:buChar char="•"/>
            </a:pPr>
            <a:endParaRPr lang="es-CL" sz="2800" dirty="0"/>
          </a:p>
          <a:p>
            <a:pPr lvl="1"/>
            <a:endParaRPr lang="es-CL" sz="3200" b="1" dirty="0"/>
          </a:p>
          <a:p>
            <a:pPr lvl="1" algn="ctr"/>
            <a:r>
              <a:rPr lang="es-CL" sz="3200" b="1" dirty="0"/>
              <a:t>¿Cómo saber de qué manera se utilizan los índices?</a:t>
            </a:r>
          </a:p>
        </p:txBody>
      </p:sp>
    </p:spTree>
    <p:extLst>
      <p:ext uri="{BB962C8B-B14F-4D97-AF65-F5344CB8AC3E}">
        <p14:creationId xmlns:p14="http://schemas.microsoft.com/office/powerpoint/2010/main" val="39594237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dirty="0" err="1"/>
              <a:t>Explain</a:t>
            </a:r>
            <a:r>
              <a:rPr lang="es-CL" dirty="0"/>
              <a:t> Plan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93860" y="1475706"/>
            <a:ext cx="10879040" cy="4308872"/>
          </a:xfrm>
        </p:spPr>
        <p:txBody>
          <a:bodyPr/>
          <a:lstStyle/>
          <a:p>
            <a:r>
              <a:rPr lang="es-CL" sz="2800" dirty="0"/>
              <a:t>Nos entrega información relativa a cómo </a:t>
            </a:r>
            <a:r>
              <a:rPr lang="es-CL" sz="2800" b="1" dirty="0" err="1"/>
              <a:t>MySQL</a:t>
            </a:r>
            <a:r>
              <a:rPr lang="es-CL" sz="2800" dirty="0"/>
              <a:t> ejecuta las instrucciones y al esfuerzo (costo) necesario.</a:t>
            </a:r>
          </a:p>
          <a:p>
            <a:endParaRPr lang="es-CL" sz="2800" dirty="0"/>
          </a:p>
          <a:p>
            <a:endParaRPr lang="es-CL" sz="2800" dirty="0"/>
          </a:p>
          <a:p>
            <a:r>
              <a:rPr lang="es-CL" sz="2800" dirty="0"/>
              <a:t>Requiere los privilegios necesarios para ejecutar instrucciones.</a:t>
            </a:r>
          </a:p>
          <a:p>
            <a:endParaRPr lang="es-CL" sz="2800" dirty="0"/>
          </a:p>
          <a:p>
            <a:r>
              <a:rPr lang="es-CL" sz="2800" dirty="0"/>
              <a:t>Nos ayuda a </a:t>
            </a:r>
            <a:r>
              <a:rPr lang="es-CL" sz="2800" b="1" dirty="0"/>
              <a:t>evaluar</a:t>
            </a:r>
            <a:r>
              <a:rPr lang="es-CL" sz="2800" dirty="0"/>
              <a:t> efecto de agregar/quitar índices.</a:t>
            </a:r>
          </a:p>
          <a:p>
            <a:endParaRPr lang="es-CL" sz="2800" dirty="0"/>
          </a:p>
          <a:p>
            <a:r>
              <a:rPr lang="es-CL" sz="2800" dirty="0"/>
              <a:t>Funciona mejor si el sistema tiene </a:t>
            </a:r>
            <a:r>
              <a:rPr lang="es-CL" sz="2800" b="1" dirty="0"/>
              <a:t>estadísticas</a:t>
            </a:r>
            <a:r>
              <a:rPr lang="es-CL" sz="2800" dirty="0"/>
              <a:t> de tablas e índices.</a:t>
            </a:r>
          </a:p>
          <a:p>
            <a:pPr algn="ctr"/>
            <a:r>
              <a:rPr lang="es-CL" sz="2800" dirty="0" err="1"/>
              <a:t>Ejm</a:t>
            </a:r>
            <a:r>
              <a:rPr lang="es-CL" sz="2800" dirty="0"/>
              <a:t>: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analyze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table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sakila.film</a:t>
            </a:r>
            <a:r>
              <a:rPr lang="es-CL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s-CL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602235"/>
              </p:ext>
            </p:extLst>
          </p:nvPr>
        </p:nvGraphicFramePr>
        <p:xfrm>
          <a:off x="1658247" y="2234979"/>
          <a:ext cx="8128000" cy="971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19864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60137715"/>
                    </a:ext>
                  </a:extLst>
                </a:gridCol>
              </a:tblGrid>
              <a:tr h="971172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s-CL" sz="2400" b="0" dirty="0" err="1">
                          <a:solidFill>
                            <a:schemeClr val="tx1"/>
                          </a:solidFill>
                        </a:rPr>
                        <a:t>Select</a:t>
                      </a:r>
                      <a:endParaRPr lang="es-CL" sz="24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s-CL" sz="2400" b="0" dirty="0" err="1">
                          <a:solidFill>
                            <a:schemeClr val="tx1"/>
                          </a:solidFill>
                        </a:rPr>
                        <a:t>Insert</a:t>
                      </a:r>
                      <a:r>
                        <a:rPr lang="es-CL" sz="24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s-CL" sz="2400" b="0" dirty="0" err="1">
                          <a:solidFill>
                            <a:schemeClr val="tx1"/>
                          </a:solidFill>
                        </a:rPr>
                        <a:t>Update</a:t>
                      </a:r>
                      <a:endParaRPr lang="es-CL" sz="2400" b="0" dirty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s-CL" sz="2400" b="0" dirty="0" err="1">
                          <a:solidFill>
                            <a:schemeClr val="tx1"/>
                          </a:solidFill>
                        </a:rPr>
                        <a:t>Delete</a:t>
                      </a:r>
                      <a:endParaRPr lang="es-CL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274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882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Analyze</a:t>
            </a:r>
            <a:r>
              <a:rPr lang="es-CL" dirty="0"/>
              <a:t> - Salida</a:t>
            </a:r>
            <a:endParaRPr lang="en-U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12909" y="1438608"/>
            <a:ext cx="10366180" cy="4924425"/>
          </a:xfrm>
        </p:spPr>
        <p:txBody>
          <a:bodyPr/>
          <a:lstStyle/>
          <a:p>
            <a:r>
              <a:rPr lang="en-US" dirty="0"/>
              <a:t>select * from </a:t>
            </a:r>
            <a:r>
              <a:rPr lang="en-US" dirty="0" err="1"/>
              <a:t>information_schema.statistics</a:t>
            </a:r>
            <a:r>
              <a:rPr lang="en-US" dirty="0"/>
              <a:t> </a:t>
            </a:r>
          </a:p>
          <a:p>
            <a:r>
              <a:rPr lang="en-US" dirty="0"/>
              <a:t>where </a:t>
            </a:r>
            <a:r>
              <a:rPr lang="en-US" dirty="0" err="1"/>
              <a:t>table_name</a:t>
            </a:r>
            <a:r>
              <a:rPr lang="en-US" dirty="0"/>
              <a:t> = 'FILM';</a:t>
            </a:r>
          </a:p>
          <a:p>
            <a:endParaRPr lang="es-CL" dirty="0"/>
          </a:p>
          <a:p>
            <a:r>
              <a:rPr lang="es-CL" dirty="0"/>
              <a:t>¿Qué información entrega?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 err="1"/>
              <a:t>Cardinalidad</a:t>
            </a:r>
            <a:r>
              <a:rPr lang="es-CL" dirty="0"/>
              <a:t> de índices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Tipo de cada índice (B-</a:t>
            </a:r>
            <a:r>
              <a:rPr lang="es-CL" dirty="0" err="1"/>
              <a:t>Tree</a:t>
            </a:r>
            <a:r>
              <a:rPr lang="es-CL" dirty="0"/>
              <a:t>, Hash)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Si el índice es único o no. </a:t>
            </a:r>
          </a:p>
          <a:p>
            <a:r>
              <a:rPr lang="es-CL" dirty="0" err="1"/>
              <a:t>Ejm</a:t>
            </a:r>
            <a:r>
              <a:rPr lang="es-CL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El índice por </a:t>
            </a:r>
            <a:r>
              <a:rPr lang="es-CL" b="1" dirty="0" err="1"/>
              <a:t>language</a:t>
            </a:r>
            <a:r>
              <a:rPr lang="es-CL" dirty="0"/>
              <a:t> tiene un único valor.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CL" dirty="0"/>
              <a:t>El índice por </a:t>
            </a:r>
            <a:r>
              <a:rPr lang="es-CL" b="1" dirty="0" err="1"/>
              <a:t>film_id</a:t>
            </a:r>
            <a:r>
              <a:rPr lang="es-CL" dirty="0"/>
              <a:t> tiene 1000 valores distintos.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5989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¿Cómo se utiliza?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247" y="1435467"/>
            <a:ext cx="6557438" cy="1179396"/>
          </a:xfrm>
          <a:prstGeom prst="rect">
            <a:avLst/>
          </a:prstGeom>
        </p:spPr>
      </p:pic>
      <p:sp>
        <p:nvSpPr>
          <p:cNvPr id="5" name="Rectángulo redondeado 4"/>
          <p:cNvSpPr/>
          <p:nvPr/>
        </p:nvSpPr>
        <p:spPr>
          <a:xfrm>
            <a:off x="3255238" y="1735916"/>
            <a:ext cx="867583" cy="57849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/>
          <p:cNvSpPr txBox="1"/>
          <p:nvPr/>
        </p:nvSpPr>
        <p:spPr>
          <a:xfrm>
            <a:off x="3850106" y="2915312"/>
            <a:ext cx="3488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Opción: </a:t>
            </a:r>
            <a:r>
              <a:rPr lang="es-CL" dirty="0" err="1"/>
              <a:t>Explain</a:t>
            </a:r>
            <a:r>
              <a:rPr lang="es-CL" dirty="0"/>
              <a:t> </a:t>
            </a:r>
            <a:r>
              <a:rPr lang="es-CL" dirty="0" err="1"/>
              <a:t>Current</a:t>
            </a:r>
            <a:r>
              <a:rPr lang="es-CL" dirty="0"/>
              <a:t> </a:t>
            </a:r>
            <a:r>
              <a:rPr lang="es-CL" dirty="0" err="1"/>
              <a:t>Statement</a:t>
            </a:r>
            <a:r>
              <a:rPr lang="es-CL" dirty="0"/>
              <a:t> </a:t>
            </a:r>
            <a:endParaRPr lang="en-US" dirty="0"/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3513221" y="2314414"/>
            <a:ext cx="336885" cy="785564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247" y="4032494"/>
            <a:ext cx="1854974" cy="2193708"/>
          </a:xfrm>
          <a:prstGeom prst="rect">
            <a:avLst/>
          </a:prstGeom>
        </p:spPr>
      </p:pic>
      <p:sp>
        <p:nvSpPr>
          <p:cNvPr id="10" name="Rectángulo 9"/>
          <p:cNvSpPr/>
          <p:nvPr/>
        </p:nvSpPr>
        <p:spPr>
          <a:xfrm>
            <a:off x="1665289" y="3493810"/>
            <a:ext cx="245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sakila.film</a:t>
            </a:r>
            <a:r>
              <a:rPr lang="en-US" dirty="0"/>
              <a:t>;</a:t>
            </a: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2664" y="1435467"/>
            <a:ext cx="4964923" cy="4811611"/>
          </a:xfrm>
          <a:prstGeom prst="rect">
            <a:avLst/>
          </a:prstGeom>
        </p:spPr>
      </p:pic>
      <p:cxnSp>
        <p:nvCxnSpPr>
          <p:cNvPr id="12" name="Conector recto de flecha 11"/>
          <p:cNvCxnSpPr/>
          <p:nvPr/>
        </p:nvCxnSpPr>
        <p:spPr>
          <a:xfrm flipV="1">
            <a:off x="3513221" y="4517609"/>
            <a:ext cx="3384884" cy="10810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15"/>
          <p:cNvSpPr/>
          <p:nvPr/>
        </p:nvSpPr>
        <p:spPr>
          <a:xfrm>
            <a:off x="7122664" y="1735916"/>
            <a:ext cx="4964923" cy="57849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redondeado 16"/>
          <p:cNvSpPr/>
          <p:nvPr/>
        </p:nvSpPr>
        <p:spPr>
          <a:xfrm>
            <a:off x="7026412" y="4768903"/>
            <a:ext cx="3850135" cy="49290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redondeado 17"/>
          <p:cNvSpPr/>
          <p:nvPr/>
        </p:nvSpPr>
        <p:spPr>
          <a:xfrm>
            <a:off x="7026412" y="5508934"/>
            <a:ext cx="1427777" cy="73814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75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6" grpId="0" animBg="1"/>
      <p:bldP spid="17" grpId="0" animBg="1"/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0997" y="1384343"/>
            <a:ext cx="4437403" cy="5012197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Consulta que utiliza llave primaria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766931" y="1991248"/>
            <a:ext cx="23950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sakila.film</a:t>
            </a:r>
            <a:endParaRPr lang="en-US" dirty="0"/>
          </a:p>
          <a:p>
            <a:r>
              <a:rPr lang="en-US" dirty="0"/>
              <a:t>where </a:t>
            </a:r>
            <a:r>
              <a:rPr lang="en-US" dirty="0" err="1"/>
              <a:t>film_id</a:t>
            </a:r>
            <a:r>
              <a:rPr lang="en-US" dirty="0"/>
              <a:t> = 1;</a:t>
            </a:r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2192877" y="3465095"/>
            <a:ext cx="3133102" cy="2214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15"/>
          <p:cNvSpPr/>
          <p:nvPr/>
        </p:nvSpPr>
        <p:spPr>
          <a:xfrm>
            <a:off x="5629003" y="1480154"/>
            <a:ext cx="2007040" cy="701571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redondeado 16"/>
          <p:cNvSpPr/>
          <p:nvPr/>
        </p:nvSpPr>
        <p:spPr>
          <a:xfrm>
            <a:off x="5486370" y="4940213"/>
            <a:ext cx="3850135" cy="492908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redondeado 17"/>
          <p:cNvSpPr/>
          <p:nvPr/>
        </p:nvSpPr>
        <p:spPr>
          <a:xfrm>
            <a:off x="5556813" y="5754207"/>
            <a:ext cx="1427777" cy="73814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889" y="2826825"/>
            <a:ext cx="1389753" cy="180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53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979" y="1209288"/>
            <a:ext cx="4967034" cy="527747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Consulta que utiliza índice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358363" y="1973557"/>
            <a:ext cx="290688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sakila.film</a:t>
            </a:r>
            <a:r>
              <a:rPr lang="en-US" dirty="0"/>
              <a:t> </a:t>
            </a:r>
          </a:p>
          <a:p>
            <a:r>
              <a:rPr lang="en-US" dirty="0"/>
              <a:t>where title like 'DINOSAUR%'</a:t>
            </a:r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2192877" y="3465095"/>
            <a:ext cx="3133102" cy="221486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15"/>
          <p:cNvSpPr/>
          <p:nvPr/>
        </p:nvSpPr>
        <p:spPr>
          <a:xfrm>
            <a:off x="5267180" y="1396048"/>
            <a:ext cx="2721787" cy="577510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redondeado 16"/>
          <p:cNvSpPr/>
          <p:nvPr/>
        </p:nvSpPr>
        <p:spPr>
          <a:xfrm>
            <a:off x="5325979" y="4786441"/>
            <a:ext cx="4106779" cy="571621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redondeado 17"/>
          <p:cNvSpPr/>
          <p:nvPr/>
        </p:nvSpPr>
        <p:spPr>
          <a:xfrm>
            <a:off x="5382110" y="5761320"/>
            <a:ext cx="1427777" cy="73814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363" y="2901624"/>
            <a:ext cx="1834514" cy="1977633"/>
          </a:xfrm>
          <a:prstGeom prst="rect">
            <a:avLst/>
          </a:prstGeom>
        </p:spPr>
      </p:pic>
      <p:sp>
        <p:nvSpPr>
          <p:cNvPr id="13" name="Rectángulo redondeado 12"/>
          <p:cNvSpPr/>
          <p:nvPr/>
        </p:nvSpPr>
        <p:spPr>
          <a:xfrm>
            <a:off x="1435769" y="2296723"/>
            <a:ext cx="1888280" cy="323166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ángulo redondeado 13"/>
          <p:cNvSpPr/>
          <p:nvPr/>
        </p:nvSpPr>
        <p:spPr>
          <a:xfrm>
            <a:off x="358364" y="3890440"/>
            <a:ext cx="1834514" cy="571621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39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304" y="1283263"/>
            <a:ext cx="4846348" cy="521620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29" y="3255895"/>
            <a:ext cx="3296110" cy="250542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Consulta que accede a 2 tablas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358363" y="1973557"/>
            <a:ext cx="45525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sakila.film</a:t>
            </a:r>
            <a:r>
              <a:rPr lang="en-US" dirty="0"/>
              <a:t> f, </a:t>
            </a:r>
            <a:r>
              <a:rPr lang="en-US" dirty="0" err="1"/>
              <a:t>sakila.film_actor</a:t>
            </a:r>
            <a:r>
              <a:rPr lang="en-US" dirty="0"/>
              <a:t> a</a:t>
            </a:r>
          </a:p>
          <a:p>
            <a:r>
              <a:rPr lang="en-US" dirty="0"/>
              <a:t>where </a:t>
            </a:r>
            <a:r>
              <a:rPr lang="en-US" dirty="0" err="1"/>
              <a:t>f.film_id</a:t>
            </a:r>
            <a:r>
              <a:rPr lang="en-US" dirty="0"/>
              <a:t>= </a:t>
            </a:r>
            <a:r>
              <a:rPr lang="en-US" dirty="0" err="1"/>
              <a:t>a.film_id</a:t>
            </a:r>
            <a:r>
              <a:rPr lang="en-US" dirty="0"/>
              <a:t> and</a:t>
            </a:r>
          </a:p>
          <a:p>
            <a:r>
              <a:rPr lang="en-US" dirty="0"/>
              <a:t>            title like 'DINOSAUR%'</a:t>
            </a:r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1658247" y="4347411"/>
            <a:ext cx="3491269" cy="101065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15"/>
          <p:cNvSpPr/>
          <p:nvPr/>
        </p:nvSpPr>
        <p:spPr>
          <a:xfrm>
            <a:off x="5069304" y="1283263"/>
            <a:ext cx="2721787" cy="577510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redondeado 16"/>
          <p:cNvSpPr/>
          <p:nvPr/>
        </p:nvSpPr>
        <p:spPr>
          <a:xfrm>
            <a:off x="4954357" y="4812630"/>
            <a:ext cx="4106779" cy="571621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redondeado 17"/>
          <p:cNvSpPr/>
          <p:nvPr/>
        </p:nvSpPr>
        <p:spPr>
          <a:xfrm>
            <a:off x="5069304" y="5761320"/>
            <a:ext cx="1427777" cy="73814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857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9167" y="2141591"/>
            <a:ext cx="6595668" cy="3433193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929" y="3255895"/>
            <a:ext cx="3296110" cy="2505425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Consulta que accede a 2 tablas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358363" y="1973557"/>
            <a:ext cx="455252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* FROM </a:t>
            </a:r>
            <a:r>
              <a:rPr lang="en-US" dirty="0" err="1"/>
              <a:t>sakila.film</a:t>
            </a:r>
            <a:r>
              <a:rPr lang="en-US" dirty="0"/>
              <a:t> f, </a:t>
            </a:r>
            <a:r>
              <a:rPr lang="en-US" dirty="0" err="1"/>
              <a:t>sakila.film_actor</a:t>
            </a:r>
            <a:r>
              <a:rPr lang="en-US" dirty="0"/>
              <a:t> a</a:t>
            </a:r>
          </a:p>
          <a:p>
            <a:r>
              <a:rPr lang="en-US" dirty="0"/>
              <a:t>where </a:t>
            </a:r>
            <a:r>
              <a:rPr lang="en-US" dirty="0" err="1"/>
              <a:t>f.film_id</a:t>
            </a:r>
            <a:r>
              <a:rPr lang="en-US" dirty="0"/>
              <a:t>= </a:t>
            </a:r>
            <a:r>
              <a:rPr lang="en-US" dirty="0" err="1"/>
              <a:t>a.film_id</a:t>
            </a:r>
            <a:r>
              <a:rPr lang="en-US" dirty="0"/>
              <a:t> and</a:t>
            </a:r>
          </a:p>
          <a:p>
            <a:r>
              <a:rPr lang="en-US" dirty="0"/>
              <a:t>            title like 'DINOSAUR%'</a:t>
            </a:r>
          </a:p>
        </p:txBody>
      </p:sp>
      <p:cxnSp>
        <p:nvCxnSpPr>
          <p:cNvPr id="12" name="Conector recto de flecha 11"/>
          <p:cNvCxnSpPr/>
          <p:nvPr/>
        </p:nvCxnSpPr>
        <p:spPr>
          <a:xfrm flipV="1">
            <a:off x="3547039" y="4074695"/>
            <a:ext cx="1217466" cy="1155031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15"/>
          <p:cNvSpPr/>
          <p:nvPr/>
        </p:nvSpPr>
        <p:spPr>
          <a:xfrm>
            <a:off x="4954357" y="2146467"/>
            <a:ext cx="6695140" cy="577510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ángulo redondeado 16"/>
          <p:cNvSpPr/>
          <p:nvPr/>
        </p:nvSpPr>
        <p:spPr>
          <a:xfrm>
            <a:off x="4909167" y="4036480"/>
            <a:ext cx="5036938" cy="615731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ángulo redondeado 17"/>
          <p:cNvSpPr/>
          <p:nvPr/>
        </p:nvSpPr>
        <p:spPr>
          <a:xfrm>
            <a:off x="4909168" y="4836640"/>
            <a:ext cx="1331212" cy="738144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412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9" y="1802855"/>
            <a:ext cx="5893197" cy="4479512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Consulta que accede a 2 tablas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358363" y="1973557"/>
            <a:ext cx="6109365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SELECT * FROM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sakila.film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sakila.film_actor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f.film_id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a.film_id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and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title like 'DINOSAUR%'</a:t>
            </a:r>
          </a:p>
        </p:txBody>
      </p:sp>
      <p:sp>
        <p:nvSpPr>
          <p:cNvPr id="11" name="Rectángulo redondeado 10"/>
          <p:cNvSpPr/>
          <p:nvPr/>
        </p:nvSpPr>
        <p:spPr>
          <a:xfrm>
            <a:off x="9561094" y="3142720"/>
            <a:ext cx="1662467" cy="1254349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/>
          <p:cNvSpPr txBox="1"/>
          <p:nvPr/>
        </p:nvSpPr>
        <p:spPr>
          <a:xfrm>
            <a:off x="358363" y="3142720"/>
            <a:ext cx="660309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each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 f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matching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range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each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 a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matching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reference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row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satisfies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join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condition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</a:t>
            </a:r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s-C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</a:t>
            </a:r>
            <a:endParaRPr lang="es-C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r>
              <a:rPr lang="es-C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0896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Consulta que utiliza tabla temporal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1818194" y="2518988"/>
            <a:ext cx="326467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select distinct </a:t>
            </a:r>
            <a:r>
              <a:rPr lang="en-US" dirty="0" err="1"/>
              <a:t>replacement_cost</a:t>
            </a:r>
            <a:r>
              <a:rPr lang="en-US" dirty="0"/>
              <a:t> </a:t>
            </a:r>
          </a:p>
          <a:p>
            <a:r>
              <a:rPr lang="en-US" dirty="0"/>
              <a:t>from </a:t>
            </a:r>
            <a:r>
              <a:rPr lang="en-US" dirty="0" err="1"/>
              <a:t>sakila.film</a:t>
            </a:r>
            <a:endParaRPr lang="en-US" dirty="0"/>
          </a:p>
          <a:p>
            <a:r>
              <a:rPr lang="en-US" dirty="0"/>
              <a:t>where title like 'DINOSAUR%'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305" y="1465207"/>
            <a:ext cx="4989095" cy="4273876"/>
          </a:xfrm>
          <a:prstGeom prst="rect">
            <a:avLst/>
          </a:prstGeom>
        </p:spPr>
      </p:pic>
      <p:sp>
        <p:nvSpPr>
          <p:cNvPr id="13" name="Rectángulo redondeado 12"/>
          <p:cNvSpPr/>
          <p:nvPr/>
        </p:nvSpPr>
        <p:spPr>
          <a:xfrm>
            <a:off x="8630653" y="3272589"/>
            <a:ext cx="3064041" cy="1124480"/>
          </a:xfrm>
          <a:prstGeom prst="roundRect">
            <a:avLst/>
          </a:prstGeom>
          <a:solidFill>
            <a:schemeClr val="accent1">
              <a:alpha val="17000"/>
            </a:schemeClr>
          </a:solidFill>
          <a:ln w="349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455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 err="1"/>
              <a:t>Explain</a:t>
            </a:r>
            <a:r>
              <a:rPr lang="es-CL" dirty="0"/>
              <a:t> – </a:t>
            </a:r>
            <a:r>
              <a:rPr lang="es-CL" dirty="0" err="1"/>
              <a:t>Update</a:t>
            </a:r>
            <a:endParaRPr lang="en-US" dirty="0"/>
          </a:p>
        </p:txBody>
      </p:sp>
      <p:sp>
        <p:nvSpPr>
          <p:cNvPr id="10" name="Rectángulo 9"/>
          <p:cNvSpPr/>
          <p:nvPr/>
        </p:nvSpPr>
        <p:spPr>
          <a:xfrm>
            <a:off x="802105" y="1962108"/>
            <a:ext cx="46317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update </a:t>
            </a:r>
            <a:r>
              <a:rPr lang="en-US" dirty="0" err="1"/>
              <a:t>sakila.film</a:t>
            </a:r>
            <a:r>
              <a:rPr lang="en-US" dirty="0"/>
              <a:t> </a:t>
            </a:r>
          </a:p>
          <a:p>
            <a:r>
              <a:rPr lang="en-US" dirty="0"/>
              <a:t>set </a:t>
            </a:r>
            <a:r>
              <a:rPr lang="en-US" dirty="0" err="1"/>
              <a:t>replacement_cost</a:t>
            </a:r>
            <a:r>
              <a:rPr lang="en-US" dirty="0"/>
              <a:t>= </a:t>
            </a:r>
            <a:r>
              <a:rPr lang="en-US" dirty="0" err="1"/>
              <a:t>replacement_cost</a:t>
            </a:r>
            <a:r>
              <a:rPr lang="en-US" dirty="0"/>
              <a:t> * 1.1;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547" y="1364741"/>
            <a:ext cx="2342147" cy="2487397"/>
          </a:xfrm>
          <a:prstGeom prst="rect">
            <a:avLst/>
          </a:prstGeom>
        </p:spPr>
      </p:pic>
      <p:sp>
        <p:nvSpPr>
          <p:cNvPr id="4" name="Rectángulo 3"/>
          <p:cNvSpPr/>
          <p:nvPr/>
        </p:nvSpPr>
        <p:spPr>
          <a:xfrm>
            <a:off x="802105" y="4771752"/>
            <a:ext cx="68499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update </a:t>
            </a:r>
            <a:r>
              <a:rPr lang="en-US" dirty="0" err="1"/>
              <a:t>sakila.film</a:t>
            </a:r>
            <a:r>
              <a:rPr lang="en-US" dirty="0"/>
              <a:t> set </a:t>
            </a:r>
            <a:r>
              <a:rPr lang="en-US" dirty="0" err="1"/>
              <a:t>replacement_cost</a:t>
            </a:r>
            <a:r>
              <a:rPr lang="en-US" dirty="0"/>
              <a:t>= </a:t>
            </a:r>
            <a:r>
              <a:rPr lang="en-US" dirty="0" err="1"/>
              <a:t>replacement_cost</a:t>
            </a:r>
            <a:r>
              <a:rPr lang="en-US" dirty="0"/>
              <a:t> * 1.1</a:t>
            </a:r>
          </a:p>
          <a:p>
            <a:r>
              <a:rPr lang="en-US" dirty="0"/>
              <a:t>where title like 'DINOSAUR%'; 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547" y="3961379"/>
            <a:ext cx="2342147" cy="2267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269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Vamos ahora a </a:t>
            </a:r>
            <a:r>
              <a:rPr lang="es-CL" dirty="0" err="1"/>
              <a:t>MySQL</a:t>
            </a:r>
            <a:r>
              <a:rPr lang="es-CL" dirty="0"/>
              <a:t> </a:t>
            </a:r>
            <a:r>
              <a:rPr lang="es-CL" dirty="0" err="1"/>
              <a:t>Workbench</a:t>
            </a:r>
            <a:endParaRPr lang="en-US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468" y="1122595"/>
            <a:ext cx="8447061" cy="5013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996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20683</TotalTime>
  <Words>1597</Words>
  <Application>Microsoft Office PowerPoint</Application>
  <PresentationFormat>Panorámica</PresentationFormat>
  <Paragraphs>333</Paragraphs>
  <Slides>28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Cambria Math</vt:lpstr>
      <vt:lpstr>Courier New</vt:lpstr>
      <vt:lpstr>MinionPro-Regular</vt:lpstr>
      <vt:lpstr>MyriadPro-SemiboldCond</vt:lpstr>
      <vt:lpstr>Office Theme</vt:lpstr>
      <vt:lpstr>Presentación de PowerPoint</vt:lpstr>
      <vt:lpstr>Introducción - Índices</vt:lpstr>
      <vt:lpstr>Introducción - Índices</vt:lpstr>
      <vt:lpstr>Introducción - Índices</vt:lpstr>
      <vt:lpstr>¿Cómo creo un índice? </vt:lpstr>
      <vt:lpstr>B-Tree – Primary Key</vt:lpstr>
      <vt:lpstr>Cálculo de alturas de árbol</vt:lpstr>
      <vt:lpstr>B-Tree –Primary key</vt:lpstr>
      <vt:lpstr>B-Tree – Índice no único</vt:lpstr>
      <vt:lpstr>B-Tree – Índice no único</vt:lpstr>
      <vt:lpstr>Veamos algunos ejemplos (llave primaria)</vt:lpstr>
      <vt:lpstr>Veamos un gráfico (PK &amp; Access Full)</vt:lpstr>
      <vt:lpstr>Veamos algunos ejemplos (acceso secuencial)</vt:lpstr>
      <vt:lpstr>Veamos un gráfico (PK &amp; Access Full)</vt:lpstr>
      <vt:lpstr>Veamos algunos ejemplos (índice no único)</vt:lpstr>
      <vt:lpstr>Veamos algunos ejemplos (índice no único)</vt:lpstr>
      <vt:lpstr>Conclusiones - Índices</vt:lpstr>
      <vt:lpstr>Explain Plan</vt:lpstr>
      <vt:lpstr>Analyze - Salida</vt:lpstr>
      <vt:lpstr>Explain ¿Cómo se utiliza?</vt:lpstr>
      <vt:lpstr>Explain – Consulta que utiliza llave primaria</vt:lpstr>
      <vt:lpstr>Explain – Consulta que utiliza índice</vt:lpstr>
      <vt:lpstr>Explain – Consulta que accede a 2 tablas</vt:lpstr>
      <vt:lpstr>Explain – Consulta que accede a 2 tablas</vt:lpstr>
      <vt:lpstr>Explain – Consulta que accede a 2 tablas</vt:lpstr>
      <vt:lpstr>Explain – Consulta que utiliza tabla temporal</vt:lpstr>
      <vt:lpstr>Explain – Update</vt:lpstr>
      <vt:lpstr>Vamos ahora a MySQL Workbench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Unidad 0 - Introducción</dc:title>
  <dc:creator>Valeria Henriquez Norambuena</dc:creator>
  <cp:lastModifiedBy>Juan Pablo Salazar Fernández</cp:lastModifiedBy>
  <cp:revision>129</cp:revision>
  <cp:lastPrinted>2018-03-09T00:58:19Z</cp:lastPrinted>
  <dcterms:created xsi:type="dcterms:W3CDTF">2018-03-05T20:26:11Z</dcterms:created>
  <dcterms:modified xsi:type="dcterms:W3CDTF">2026-04-23T04:27:36Z</dcterms:modified>
</cp:coreProperties>
</file>
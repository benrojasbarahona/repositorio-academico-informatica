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wi6/SI6OHuZCCCSA2M2fyzXge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0d6b41e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60d6b41e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4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Google Shape;24;p1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1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" name="Google Shape;26;p14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27" name="Google Shape;27;p14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1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0" name="Google Shape;30;p14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1" name="Google Shape;31;p14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2" name="Google Shape;32;p1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4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14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2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escripción">
  <p:cSld name="Título y descripció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 con descripción">
  <p:cSld name="Cita con descripció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  <p:sp>
        <p:nvSpPr>
          <p:cNvPr id="103" name="Google Shape;103;p2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jeta de nombre">
  <p:cSld name="Tarjeta de nombr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r la tarjeta de nombre">
  <p:cSld name="Citar la tarjeta de nombr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  <p:sp>
        <p:nvSpPr>
          <p:cNvPr id="118" name="Google Shape;118;p2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2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dadero o falso">
  <p:cSld name="Verdadero o falso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body" idx="1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" name="Google Shape;8;p1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" name="Google Shape;9;p1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0" name="Google Shape;10;p1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3" name="Google Shape;13;p1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1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5" name="Google Shape;15;p1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1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>
            <a:spLocks noGrp="1"/>
          </p:cNvSpPr>
          <p:nvPr>
            <p:ph type="ctrTitle"/>
          </p:nvPr>
        </p:nvSpPr>
        <p:spPr>
          <a:xfrm>
            <a:off x="975360" y="2404534"/>
            <a:ext cx="8646160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s-CL"/>
              <a:t>Introducción a Cypher y Neo4j</a:t>
            </a:r>
            <a:endParaRPr/>
          </a:p>
        </p:txBody>
      </p:sp>
      <p:sp>
        <p:nvSpPr>
          <p:cNvPr id="144" name="Google Shape;144;p1"/>
          <p:cNvSpPr txBox="1">
            <a:spLocks noGrp="1"/>
          </p:cNvSpPr>
          <p:nvPr>
            <p:ph type="subTitle" idx="1"/>
          </p:nvPr>
        </p:nvSpPr>
        <p:spPr>
          <a:xfrm>
            <a:off x="1414967" y="5144633"/>
            <a:ext cx="77670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s-CL" dirty="0"/>
              <a:t>INFO209 - Taller de Bases de Datos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s-CL" dirty="0"/>
              <a:t>Cristian Oyarce – Juan Pablo Salazar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s-CL" dirty="0"/>
              <a:t>jun-2026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"/>
          <p:cNvPicPr preferRelativeResize="0"/>
          <p:nvPr/>
        </p:nvPicPr>
        <p:blipFill rotWithShape="1">
          <a:blip r:embed="rId3">
            <a:alphaModFix/>
          </a:blip>
          <a:srcRect r="-2" b="21654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 extrusionOk="0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0" name="Google Shape;150;p2"/>
          <p:cNvSpPr txBox="1"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s-CL" sz="3300"/>
              <a:t>¿Qué son las bases de datos de grafos?</a:t>
            </a:r>
            <a:endParaRPr/>
          </a:p>
        </p:txBody>
      </p:sp>
      <p:sp>
        <p:nvSpPr>
          <p:cNvPr id="151" name="Google Shape;151;p2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3851122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Modelo de datos orientado a nodos y relaciones, no relacional.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Representa entidades como nodos y las relaciones como aristas.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Permite modelar relaciones complejas de forma natural.</a:t>
            </a:r>
            <a:endParaRPr/>
          </a:p>
        </p:txBody>
      </p:sp>
      <p:cxnSp>
        <p:nvCxnSpPr>
          <p:cNvPr id="152" name="Google Shape;152;p2"/>
          <p:cNvCxnSpPr/>
          <p:nvPr/>
        </p:nvCxnSpPr>
        <p:spPr>
          <a:xfrm>
            <a:off x="9371012" y="0"/>
            <a:ext cx="1219200" cy="68580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2"/>
          <p:cNvCxnSpPr/>
          <p:nvPr/>
        </p:nvCxnSpPr>
        <p:spPr>
          <a:xfrm flipH="1">
            <a:off x="7425267" y="3681413"/>
            <a:ext cx="4763558" cy="317658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2"/>
          <p:cNvSpPr/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176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66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7" name="Google Shape;167;p3"/>
          <p:cNvCxnSpPr/>
          <p:nvPr/>
        </p:nvCxnSpPr>
        <p:spPr>
          <a:xfrm>
            <a:off x="5111313" y="0"/>
            <a:ext cx="1219200" cy="6858000"/>
          </a:xfrm>
          <a:prstGeom prst="straightConnector1">
            <a:avLst/>
          </a:prstGeom>
          <a:noFill/>
          <a:ln w="9525" cap="flat" cmpd="sng">
            <a:solidFill>
              <a:srgbClr val="6C911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" name="Google Shape;168;p3"/>
          <p:cNvCxnSpPr/>
          <p:nvPr/>
        </p:nvCxnSpPr>
        <p:spPr>
          <a:xfrm flipH="1">
            <a:off x="3290979" y="3681413"/>
            <a:ext cx="4763558" cy="3176587"/>
          </a:xfrm>
          <a:prstGeom prst="straightConnector1">
            <a:avLst/>
          </a:prstGeom>
          <a:noFill/>
          <a:ln w="9525" cap="flat" cmpd="sng">
            <a:solidFill>
              <a:srgbClr val="7F7F7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3"/>
          <p:cNvSpPr/>
          <p:nvPr/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176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6197631" y="-8467"/>
            <a:ext cx="5994369" cy="6866467"/>
          </a:xfrm>
          <a:custGeom>
            <a:avLst/>
            <a:gdLst/>
            <a:ahLst/>
            <a:cxnLst/>
            <a:rect l="l" t="t" r="r" b="b"/>
            <a:pathLst>
              <a:path w="5994369" h="6866467" extrusionOk="0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rgbClr val="3F781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p3"/>
          <p:cNvSpPr txBox="1"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lang="es-CL">
                <a:solidFill>
                  <a:srgbClr val="FFFFFF"/>
                </a:solidFill>
              </a:rPr>
              <a:t>Usos comunes de las bases de datos de grafos</a:t>
            </a:r>
            <a:endParaRPr/>
          </a:p>
        </p:txBody>
      </p:sp>
      <p:pic>
        <p:nvPicPr>
          <p:cNvPr id="176" name="Google Shape;176;p3" descr="Data Profiling: A Holistic View of Data using Neo4j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251" y="1795752"/>
            <a:ext cx="3856774" cy="33553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"/>
          <p:cNvSpPr txBox="1">
            <a:spLocks noGrp="1"/>
          </p:cNvSpPr>
          <p:nvPr>
            <p:ph type="body" idx="1"/>
          </p:nvPr>
        </p:nvSpPr>
        <p:spPr>
          <a:xfrm>
            <a:off x="7181725" y="2837329"/>
            <a:ext cx="4512988" cy="331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65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endParaRPr sz="1700">
              <a:solidFill>
                <a:srgbClr val="FFFFFF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60"/>
              <a:buChar char="►"/>
            </a:pPr>
            <a:r>
              <a:rPr lang="es-CL" sz="1700">
                <a:solidFill>
                  <a:srgbClr val="FFFFFF"/>
                </a:solidFill>
              </a:rPr>
              <a:t>Análisis de Redes sociales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60"/>
              <a:buChar char="►"/>
            </a:pPr>
            <a:r>
              <a:rPr lang="es-CL" sz="1700">
                <a:solidFill>
                  <a:srgbClr val="FFFFFF"/>
                </a:solidFill>
              </a:rPr>
              <a:t>Recomendadores de productos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60"/>
              <a:buChar char="►"/>
            </a:pPr>
            <a:r>
              <a:rPr lang="es-CL" sz="1700">
                <a:solidFill>
                  <a:srgbClr val="FFFFFF"/>
                </a:solidFill>
              </a:rPr>
              <a:t>Sistemas de fraude y seguridad (detección de patrones anómalos)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60"/>
              <a:buChar char="►"/>
            </a:pPr>
            <a:r>
              <a:rPr lang="es-CL" sz="1700">
                <a:solidFill>
                  <a:srgbClr val="FFFFFF"/>
                </a:solidFill>
              </a:rPr>
              <a:t>Gestión de redes de telecomunicaciones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60"/>
              <a:buChar char="►"/>
            </a:pPr>
            <a:r>
              <a:rPr lang="es-CL" sz="1700">
                <a:solidFill>
                  <a:srgbClr val="FFFFFF"/>
                </a:solidFill>
              </a:rPr>
              <a:t>Motores de búsqueda semántica (consultas más rápidas y precisas)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60"/>
              <a:buChar char="►"/>
            </a:pPr>
            <a:r>
              <a:rPr lang="es-CL" sz="1700">
                <a:solidFill>
                  <a:srgbClr val="FFFFFF"/>
                </a:solidFill>
              </a:rPr>
              <a:t>Gestión de procesos empresariales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60"/>
              <a:buChar char="►"/>
            </a:pPr>
            <a:r>
              <a:rPr lang="es-CL" sz="1700">
                <a:solidFill>
                  <a:srgbClr val="FFFFFF"/>
                </a:solidFill>
              </a:rPr>
              <a:t>Investigación y Análisis de datos</a:t>
            </a:r>
            <a:endParaRPr/>
          </a:p>
          <a:p>
            <a:pPr marL="342900" lvl="0" indent="-2565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</a:pP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Uso Empresarial</a:t>
            </a:r>
            <a:endParaRPr/>
          </a:p>
        </p:txBody>
      </p:sp>
      <p:pic>
        <p:nvPicPr>
          <p:cNvPr id="183" name="Google Shape;183;p4" descr="Facebook - Wikipedia, la enciclopedia libr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0406" y="1853249"/>
            <a:ext cx="1176496" cy="117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4" descr="Logotipo LinkedIn : Historia y descarga gratuita (2025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0310" y="1369934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 txBox="1"/>
          <p:nvPr/>
        </p:nvSpPr>
        <p:spPr>
          <a:xfrm>
            <a:off x="681923" y="3079176"/>
            <a:ext cx="23615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Gestión de redes de contactos de usuarios</a:t>
            </a:r>
            <a:endParaRPr/>
          </a:p>
        </p:txBody>
      </p:sp>
      <p:pic>
        <p:nvPicPr>
          <p:cNvPr id="186" name="Google Shape;186;p4" descr="La Historia del logo de Amazon – Guía Impresió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6813" y="4043442"/>
            <a:ext cx="1578855" cy="884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4148" y="4128463"/>
            <a:ext cx="1785290" cy="71411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 txBox="1"/>
          <p:nvPr/>
        </p:nvSpPr>
        <p:spPr>
          <a:xfrm>
            <a:off x="3869506" y="4976239"/>
            <a:ext cx="269456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Análisis y recomendación de productos</a:t>
            </a:r>
            <a:endParaRPr/>
          </a:p>
        </p:txBody>
      </p:sp>
      <p:pic>
        <p:nvPicPr>
          <p:cNvPr id="189" name="Google Shape;189;p4" descr="Google logo - Wikipedi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81554" y="2087523"/>
            <a:ext cx="2086009" cy="707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 descr="Certificaciones de las plataformas de Apple - Soporte técnico de Apple (CL)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67563" y="1896603"/>
            <a:ext cx="959694" cy="95969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4"/>
          <p:cNvSpPr txBox="1"/>
          <p:nvPr/>
        </p:nvSpPr>
        <p:spPr>
          <a:xfrm>
            <a:off x="6881554" y="2928134"/>
            <a:ext cx="315217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Uso en mejoras de comprensión de semántica para IA y motores de búsqueda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5" descr="Pines clavados en una superficie blanca y conectando un hilo negro"/>
          <p:cNvPicPr preferRelativeResize="0"/>
          <p:nvPr/>
        </p:nvPicPr>
        <p:blipFill rotWithShape="1">
          <a:blip r:embed="rId3">
            <a:alphaModFix/>
          </a:blip>
          <a:srcRect r="22891" b="-2"/>
          <a:stretch/>
        </p:blipFill>
        <p:spPr>
          <a:xfrm>
            <a:off x="6019539" y="-64294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 extrusionOk="0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97" name="Google Shape;197;p5"/>
          <p:cNvSpPr txBox="1">
            <a:spLocks noGrp="1"/>
          </p:cNvSpPr>
          <p:nvPr>
            <p:ph type="title"/>
          </p:nvPr>
        </p:nvSpPr>
        <p:spPr>
          <a:xfrm>
            <a:off x="343852" y="1500189"/>
            <a:ext cx="6830907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Ventajas y Desventajas</a:t>
            </a:r>
            <a:endParaRPr/>
          </a:p>
        </p:txBody>
      </p:sp>
      <p:sp>
        <p:nvSpPr>
          <p:cNvPr id="198" name="Google Shape;198;p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6231466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50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►"/>
            </a:pPr>
            <a:r>
              <a:rPr lang="es-CL" sz="1500"/>
              <a:t>Alta eficiencia en consultas relacionales complejas.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►"/>
            </a:pPr>
            <a:r>
              <a:rPr lang="es-CL" sz="1500"/>
              <a:t>Modelo flexible y fácilmente escalable.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►"/>
            </a:pPr>
            <a:r>
              <a:rPr lang="es-CL" sz="1500"/>
              <a:t>Ideal para datos altamente conectados.</a:t>
            </a:r>
            <a:endParaRPr/>
          </a:p>
          <a:p>
            <a:pPr marL="3429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50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►"/>
            </a:pPr>
            <a:r>
              <a:rPr lang="es-CL" sz="1500"/>
              <a:t>Menor madurez que las bases de datos relacionales.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►"/>
            </a:pPr>
            <a:r>
              <a:rPr lang="es-CL" sz="1500"/>
              <a:t>Menor soporte por parte de herramientas tradicionales.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►"/>
            </a:pPr>
            <a:r>
              <a:rPr lang="es-CL" sz="1500"/>
              <a:t>Curva de aprendizaje si se viene de SQL.</a:t>
            </a:r>
            <a:endParaRPr/>
          </a:p>
          <a:p>
            <a:pPr marL="3429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500"/>
          </a:p>
        </p:txBody>
      </p:sp>
      <p:cxnSp>
        <p:nvCxnSpPr>
          <p:cNvPr id="199" name="Google Shape;199;p5"/>
          <p:cNvCxnSpPr/>
          <p:nvPr/>
        </p:nvCxnSpPr>
        <p:spPr>
          <a:xfrm>
            <a:off x="9371012" y="0"/>
            <a:ext cx="1219200" cy="68580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5"/>
          <p:cNvCxnSpPr/>
          <p:nvPr/>
        </p:nvCxnSpPr>
        <p:spPr>
          <a:xfrm flipH="1">
            <a:off x="7425267" y="3681413"/>
            <a:ext cx="4763558" cy="317658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5"/>
          <p:cNvSpPr/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176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66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>
            <a:spLocks noGrp="1"/>
          </p:cNvSpPr>
          <p:nvPr>
            <p:ph type="title"/>
          </p:nvPr>
        </p:nvSpPr>
        <p:spPr>
          <a:xfrm>
            <a:off x="676746" y="609600"/>
            <a:ext cx="4271174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es-CL"/>
              <a:t>Estilo de Consultas Cypher Query Language</a:t>
            </a:r>
            <a:endParaRPr/>
          </a:p>
        </p:txBody>
      </p:sp>
      <p:sp>
        <p:nvSpPr>
          <p:cNvPr id="213" name="Google Shape;213;p6"/>
          <p:cNvSpPr txBox="1">
            <a:spLocks noGrp="1"/>
          </p:cNvSpPr>
          <p:nvPr>
            <p:ph type="body" idx="1"/>
          </p:nvPr>
        </p:nvSpPr>
        <p:spPr>
          <a:xfrm>
            <a:off x="685167" y="2160589"/>
            <a:ext cx="3720916" cy="356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Lenguaje declarativo y visual.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Consulta basada en patrones de nodos y relaciones.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Sintaxis amigable y expresiva.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Permite filtros, agregaciones y consultas anidadas.</a:t>
            </a:r>
            <a:endParaRPr/>
          </a:p>
        </p:txBody>
      </p:sp>
      <p:pic>
        <p:nvPicPr>
          <p:cNvPr id="214" name="Google Shape;214;p6" descr="What is Cypher? A Quick Neo4j Cypher Intro (With Examples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4035" y="1370156"/>
            <a:ext cx="4602747" cy="361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 txBox="1"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Ejemplo de Consulta Cypher</a:t>
            </a:r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body" idx="1"/>
          </p:nvPr>
        </p:nvSpPr>
        <p:spPr>
          <a:xfrm>
            <a:off x="284480" y="2160589"/>
            <a:ext cx="6502400" cy="356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MATCH (a:Person)-[:IS_FRIENDS_WITH]-&gt;(b:Person)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WHERE a.name = “Sally"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/>
              <a:t>RETURN b.name AS friends</a:t>
            </a:r>
            <a:endParaRPr/>
          </a:p>
        </p:txBody>
      </p:sp>
      <p:pic>
        <p:nvPicPr>
          <p:cNvPr id="221" name="Google Shape;22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5395" y="3713480"/>
            <a:ext cx="4602747" cy="278466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 descr="cypher learning arr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Operaciones en Cypher</a:t>
            </a:r>
            <a:endParaRPr/>
          </a:p>
        </p:txBody>
      </p:sp>
      <p:sp>
        <p:nvSpPr>
          <p:cNvPr id="228" name="Google Shape;228;p8"/>
          <p:cNvSpPr txBox="1">
            <a:spLocks noGrp="1"/>
          </p:cNvSpPr>
          <p:nvPr>
            <p:ph type="body" idx="1"/>
          </p:nvPr>
        </p:nvSpPr>
        <p:spPr>
          <a:xfrm>
            <a:off x="849339" y="2619277"/>
            <a:ext cx="8252657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L" sz="2400" b="1" i="0" u="none" strike="noStrike" cap="none">
                <a:solidFill>
                  <a:schemeClr val="dk1"/>
                </a:solidFill>
              </a:rPr>
              <a:t>MATCH</a:t>
            </a:r>
            <a:r>
              <a:rPr lang="es-CL" sz="2400" b="0" i="0" u="none" strike="noStrike" cap="none">
                <a:solidFill>
                  <a:schemeClr val="dk1"/>
                </a:solidFill>
              </a:rPr>
              <a:t>: Buscar patrones de nodos y relaciones.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L" sz="2400" b="1" i="0" u="none" strike="noStrike" cap="none">
                <a:solidFill>
                  <a:schemeClr val="dk1"/>
                </a:solidFill>
              </a:rPr>
              <a:t>WHERE</a:t>
            </a:r>
            <a:r>
              <a:rPr lang="es-CL" sz="2400" b="0" i="0" u="none" strike="noStrike" cap="none">
                <a:solidFill>
                  <a:schemeClr val="dk1"/>
                </a:solidFill>
              </a:rPr>
              <a:t>: Filtrar condiciones.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L" sz="2400" b="1" i="0" u="none" strike="noStrike" cap="none">
                <a:solidFill>
                  <a:schemeClr val="dk1"/>
                </a:solidFill>
              </a:rPr>
              <a:t>RETURN</a:t>
            </a:r>
            <a:r>
              <a:rPr lang="es-CL" sz="2400" b="0" i="0" u="none" strike="noStrike" cap="none">
                <a:solidFill>
                  <a:schemeClr val="dk1"/>
                </a:solidFill>
              </a:rPr>
              <a:t>: Devolver resultados.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L" sz="2400" b="1" i="0" u="none" strike="noStrike" cap="none">
                <a:solidFill>
                  <a:schemeClr val="dk1"/>
                </a:solidFill>
              </a:rPr>
              <a:t>CREATE</a:t>
            </a:r>
            <a:r>
              <a:rPr lang="es-CL" sz="2400" b="0" i="0" u="none" strike="noStrike" cap="none">
                <a:solidFill>
                  <a:schemeClr val="dk1"/>
                </a:solidFill>
              </a:rPr>
              <a:t>: Insertar nodos y relaciones.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L" sz="2400" b="1" i="0" u="none" strike="noStrike" cap="none">
                <a:solidFill>
                  <a:schemeClr val="dk1"/>
                </a:solidFill>
              </a:rPr>
              <a:t>SET</a:t>
            </a:r>
            <a:r>
              <a:rPr lang="es-CL" sz="2400" b="0" i="0" u="none" strike="noStrike" cap="none">
                <a:solidFill>
                  <a:schemeClr val="dk1"/>
                </a:solidFill>
              </a:rPr>
              <a:t>: Modificar propiedades.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L" sz="2400" b="1" i="0" u="none" strike="noStrike" cap="none">
                <a:solidFill>
                  <a:schemeClr val="dk1"/>
                </a:solidFill>
              </a:rPr>
              <a:t>DELETE/DETACH DELETE</a:t>
            </a:r>
            <a:r>
              <a:rPr lang="es-CL" sz="2400" b="0" i="0" u="none" strike="noStrike" cap="none">
                <a:solidFill>
                  <a:schemeClr val="dk1"/>
                </a:solidFill>
              </a:rPr>
              <a:t>: Eliminar nodos/relaciones.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p9"/>
          <p:cNvSpPr/>
          <p:nvPr/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Google Shape;236;p9"/>
          <p:cNvSpPr txBox="1"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CL">
                <a:solidFill>
                  <a:schemeClr val="lt1"/>
                </a:solidFill>
              </a:rPr>
              <a:t>¿Qué es Neo4j?</a:t>
            </a:r>
            <a:endParaRPr/>
          </a:p>
        </p:txBody>
      </p:sp>
      <p:sp>
        <p:nvSpPr>
          <p:cNvPr id="237" name="Google Shape;237;p9"/>
          <p:cNvSpPr txBox="1">
            <a:spLocks noGrp="1"/>
          </p:cNvSpPr>
          <p:nvPr>
            <p:ph type="body" idx="1"/>
          </p:nvPr>
        </p:nvSpPr>
        <p:spPr>
          <a:xfrm>
            <a:off x="673754" y="2160590"/>
            <a:ext cx="3973943" cy="344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>
              <a:solidFill>
                <a:schemeClr val="lt1"/>
              </a:solidFill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>
                <a:solidFill>
                  <a:schemeClr val="lt1"/>
                </a:solidFill>
              </a:rPr>
              <a:t>Base de datos de grafos más popular y ampliamente adoptada.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>
                <a:solidFill>
                  <a:schemeClr val="lt1"/>
                </a:solidFill>
              </a:rPr>
              <a:t>Desarrollada en Java, con soporte para múltiples lenguajes.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>
                <a:solidFill>
                  <a:schemeClr val="lt1"/>
                </a:solidFill>
              </a:rPr>
              <a:t>Permite la ejecución de consultas Cypher.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CL">
                <a:solidFill>
                  <a:schemeClr val="lt1"/>
                </a:solidFill>
              </a:rPr>
              <a:t>Ofrece una interfaz web, herramientas gráficas y APIs.</a:t>
            </a:r>
            <a:endParaRPr/>
          </a:p>
        </p:txBody>
      </p:sp>
      <p:pic>
        <p:nvPicPr>
          <p:cNvPr id="238" name="Google Shape;238;p9" descr="Conoces Neo4j o sabes de qué va?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1" y="1808969"/>
            <a:ext cx="5143500" cy="322754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0d6b41efb_0_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L"/>
              <a:t>Instalación Neo4j Desktop</a:t>
            </a:r>
            <a:endParaRPr/>
          </a:p>
        </p:txBody>
      </p:sp>
      <p:sp>
        <p:nvSpPr>
          <p:cNvPr id="311" name="Google Shape;311;g360d6b41efb_0_0"/>
          <p:cNvSpPr txBox="1">
            <a:spLocks noGrp="1"/>
          </p:cNvSpPr>
          <p:nvPr>
            <p:ph type="body" idx="1"/>
          </p:nvPr>
        </p:nvSpPr>
        <p:spPr>
          <a:xfrm>
            <a:off x="557825" y="2065551"/>
            <a:ext cx="92535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L" sz="2400" dirty="0">
                <a:solidFill>
                  <a:schemeClr val="dk1"/>
                </a:solidFill>
              </a:rPr>
              <a:t>Descargue el archivo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es-CL" sz="2400" dirty="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L" sz="2400" dirty="0">
                <a:solidFill>
                  <a:schemeClr val="dk1"/>
                </a:solidFill>
              </a:rPr>
              <a:t>Descargue desde SIVEDUC el práctico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 sz="2400" dirty="0">
                <a:solidFill>
                  <a:schemeClr val="dk1"/>
                </a:solidFill>
              </a:rPr>
              <a:t>	(INFO209 – Practico BD Grafos – 2026, versión DOCX o PDF).</a:t>
            </a:r>
          </a:p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L" sz="2400" dirty="0">
                <a:solidFill>
                  <a:schemeClr val="dk1"/>
                </a:solidFill>
              </a:rPr>
              <a:t>Siga los pasos indicados ahí (están disponibles para </a:t>
            </a:r>
            <a:r>
              <a:rPr lang="es-CL" sz="2400" b="1" dirty="0">
                <a:solidFill>
                  <a:schemeClr val="dk1"/>
                </a:solidFill>
              </a:rPr>
              <a:t>Linux</a:t>
            </a:r>
            <a:r>
              <a:rPr lang="es-CL" sz="2400" dirty="0">
                <a:solidFill>
                  <a:schemeClr val="dk1"/>
                </a:solidFill>
              </a:rPr>
              <a:t>, </a:t>
            </a:r>
            <a:r>
              <a:rPr lang="es-CL" sz="2400" b="1" dirty="0">
                <a:solidFill>
                  <a:schemeClr val="dk1"/>
                </a:solidFill>
              </a:rPr>
              <a:t>macOS </a:t>
            </a:r>
            <a:r>
              <a:rPr lang="es-CL" sz="2400" dirty="0">
                <a:solidFill>
                  <a:schemeClr val="dk1"/>
                </a:solidFill>
              </a:rPr>
              <a:t>y </a:t>
            </a:r>
            <a:r>
              <a:rPr lang="es-CL" sz="2400" b="1" dirty="0">
                <a:solidFill>
                  <a:schemeClr val="dk1"/>
                </a:solidFill>
              </a:rPr>
              <a:t>Windows</a:t>
            </a:r>
            <a:r>
              <a:rPr lang="es-CL" sz="2400" dirty="0">
                <a:solidFill>
                  <a:schemeClr val="dk1"/>
                </a:solidFill>
              </a:rPr>
              <a:t>).</a:t>
            </a: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1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7" name="Google Shape;317;p1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1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9" name="Google Shape;319;p12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0" name="Google Shape;320;p12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3" name="Google Shape;323;p12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4" name="Google Shape;324;p12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5" name="Google Shape;325;p1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6" name="Google Shape;326;p1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327" name="Google Shape;327;p12" descr="ArchiMate Model Transfer from Archi to Neo4j Graph Database - Holistic  Enterprise Development"/>
          <p:cNvPicPr preferRelativeResize="0"/>
          <p:nvPr/>
        </p:nvPicPr>
        <p:blipFill rotWithShape="1">
          <a:blip r:embed="rId3">
            <a:alphaModFix/>
          </a:blip>
          <a:srcRect l="9091" t="16865" b="22438"/>
          <a:stretch/>
        </p:blipFill>
        <p:spPr>
          <a:xfrm>
            <a:off x="-3175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2"/>
          <p:cNvSpPr/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dk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0" name="Google Shape;330;p12"/>
          <p:cNvCxnSpPr/>
          <p:nvPr/>
        </p:nvCxnSpPr>
        <p:spPr>
          <a:xfrm>
            <a:off x="9371012" y="0"/>
            <a:ext cx="1219200" cy="68580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1" name="Google Shape;331;p12"/>
          <p:cNvCxnSpPr/>
          <p:nvPr/>
        </p:nvCxnSpPr>
        <p:spPr>
          <a:xfrm flipH="1">
            <a:off x="7425267" y="3681413"/>
            <a:ext cx="4763558" cy="3176587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2" name="Google Shape;332;p12"/>
          <p:cNvSpPr/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176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5" name="Google Shape;335;p12"/>
          <p:cNvSpPr txBox="1">
            <a:spLocks noGrp="1"/>
          </p:cNvSpPr>
          <p:nvPr>
            <p:ph type="title"/>
          </p:nvPr>
        </p:nvSpPr>
        <p:spPr>
          <a:xfrm>
            <a:off x="4704200" y="1678665"/>
            <a:ext cx="4569803" cy="236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s-CL" sz="5400"/>
              <a:t>Continuar en la guía de ejercicios</a:t>
            </a:r>
            <a:endParaRPr/>
          </a:p>
        </p:txBody>
      </p:sp>
      <p:sp>
        <p:nvSpPr>
          <p:cNvPr id="336" name="Google Shape;336;p12"/>
          <p:cNvSpPr txBox="1">
            <a:spLocks noGrp="1"/>
          </p:cNvSpPr>
          <p:nvPr>
            <p:ph type="body" idx="1"/>
          </p:nvPr>
        </p:nvSpPr>
        <p:spPr>
          <a:xfrm>
            <a:off x="4700964" y="4050832"/>
            <a:ext cx="4573037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66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387</Words>
  <Application>Microsoft Office PowerPoint</Application>
  <PresentationFormat>Panorámica</PresentationFormat>
  <Paragraphs>64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Noto Sans Symbols</vt:lpstr>
      <vt:lpstr>Trebuchet MS</vt:lpstr>
      <vt:lpstr>Faceta</vt:lpstr>
      <vt:lpstr>Introducción a Cypher y Neo4j</vt:lpstr>
      <vt:lpstr>¿Qué son las bases de datos de grafos?</vt:lpstr>
      <vt:lpstr>Usos comunes de las bases de datos de grafos</vt:lpstr>
      <vt:lpstr>Uso Empresarial</vt:lpstr>
      <vt:lpstr>Ventajas y Desventajas</vt:lpstr>
      <vt:lpstr>Estilo de Consultas Cypher Query Language</vt:lpstr>
      <vt:lpstr>Ejemplo de Consulta Cypher</vt:lpstr>
      <vt:lpstr>Operaciones en Cypher</vt:lpstr>
      <vt:lpstr>¿Qué es Neo4j?</vt:lpstr>
      <vt:lpstr>Instalación Neo4j Desktop</vt:lpstr>
      <vt:lpstr>Continuar en la guía de ejercicios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Cypher y Neo4j</dc:title>
  <dc:creator>crist</dc:creator>
  <cp:lastModifiedBy>Juan Pablo Salazar Fernández</cp:lastModifiedBy>
  <cp:revision>2</cp:revision>
  <dcterms:created xsi:type="dcterms:W3CDTF">2013-01-27T09:14:16Z</dcterms:created>
  <dcterms:modified xsi:type="dcterms:W3CDTF">2026-06-25T17:19:02Z</dcterms:modified>
</cp:coreProperties>
</file>
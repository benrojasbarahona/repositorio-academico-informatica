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257" r:id="rId2"/>
    <p:sldId id="277" r:id="rId3"/>
    <p:sldId id="292" r:id="rId4"/>
    <p:sldId id="293" r:id="rId5"/>
    <p:sldId id="295" r:id="rId6"/>
    <p:sldId id="294" r:id="rId7"/>
    <p:sldId id="280" r:id="rId8"/>
    <p:sldId id="296" r:id="rId9"/>
    <p:sldId id="297" r:id="rId10"/>
    <p:sldId id="289" r:id="rId11"/>
    <p:sldId id="288" r:id="rId12"/>
    <p:sldId id="301" r:id="rId13"/>
    <p:sldId id="298" r:id="rId14"/>
    <p:sldId id="299" r:id="rId15"/>
    <p:sldId id="303" r:id="rId16"/>
    <p:sldId id="302" r:id="rId17"/>
  </p:sldIdLst>
  <p:sldSz cx="12192000" cy="6858000"/>
  <p:notesSz cx="7077075" cy="9028113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341" autoAdjust="0"/>
    <p:restoredTop sz="84307" autoAdjust="0"/>
  </p:normalViewPr>
  <p:slideViewPr>
    <p:cSldViewPr snapToGrid="0">
      <p:cViewPr varScale="1">
        <p:scale>
          <a:sx n="91" d="100"/>
          <a:sy n="91" d="100"/>
        </p:scale>
        <p:origin x="64" y="1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6733" cy="4529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4008705" y="0"/>
            <a:ext cx="3066733" cy="4529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1F1719-9756-4A84-82A5-4DD33F36571E}" type="datetimeFigureOut">
              <a:rPr lang="es-CL" smtClean="0"/>
              <a:t>19-03-2026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575141"/>
            <a:ext cx="3066733" cy="4529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4008705" y="8575141"/>
            <a:ext cx="3066733" cy="4529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FAC36-D20F-4D20-A1F7-B93EBCBA800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750227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6733" cy="4529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008705" y="0"/>
            <a:ext cx="3066733" cy="4529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CA8EBD-F228-4310-98D3-0AA28F568233}" type="datetimeFigureOut">
              <a:rPr lang="es-CL" smtClean="0"/>
              <a:t>19-03-2026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830263" y="1128713"/>
            <a:ext cx="5416550" cy="3046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07708" y="4344780"/>
            <a:ext cx="5661660" cy="355481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575141"/>
            <a:ext cx="3066733" cy="4529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008705" y="8575141"/>
            <a:ext cx="3066733" cy="4529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801272-3DC3-4F9E-9400-55ED7D4F325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94369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/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1" y="3840480"/>
            <a:ext cx="853439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3/19/2026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656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5952613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6"/>
            <a:ext cx="10366180" cy="492443"/>
          </a:xfr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19061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599" y="6191013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3/19/2026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19061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79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4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79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4145281" y="613410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609600" y="6134101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3/19/2026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778240" y="613410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4777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3/19/2026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30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357119" y="1316735"/>
            <a:ext cx="7284720" cy="51795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451103" y="1570736"/>
            <a:ext cx="11098784" cy="19446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184912" y="1944623"/>
            <a:ext cx="11988800" cy="19811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03200" y="2544064"/>
            <a:ext cx="11738864" cy="31943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29616" y="4519168"/>
            <a:ext cx="11812016" cy="181660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3/19/2026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017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663303"/>
            <a:ext cx="9144000" cy="184666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6933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09600" y="6377941"/>
            <a:ext cx="2804160" cy="276999"/>
          </a:xfrm>
        </p:spPr>
        <p:txBody>
          <a:bodyPr/>
          <a:lstStyle/>
          <a:p>
            <a:fld id="{A9667479-CA72-4F5A-B46B-B4A3B031F1A0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19-03-2026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145281" y="6377941"/>
            <a:ext cx="3901439" cy="276999"/>
          </a:xfrm>
        </p:spPr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778240" y="6377941"/>
            <a:ext cx="2804160" cy="276999"/>
          </a:xfrm>
        </p:spPr>
        <p:txBody>
          <a:bodyPr/>
          <a:lstStyle/>
          <a:p>
            <a:fld id="{55F34035-2F18-467C-941C-89571A5FBF17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476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7"/>
            <a:ext cx="1036618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377941"/>
            <a:ext cx="390143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3/19/2026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311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3053665"/>
            <a:ext cx="9144000" cy="1538883"/>
          </a:xfrm>
        </p:spPr>
        <p:txBody>
          <a:bodyPr/>
          <a:lstStyle/>
          <a:p>
            <a:r>
              <a:rPr lang="es-CL" dirty="0"/>
              <a:t>Unidad 0 – Introducción</a:t>
            </a:r>
            <a:br>
              <a:rPr lang="es-CL" dirty="0"/>
            </a:br>
            <a:r>
              <a:rPr lang="es-CL" sz="4000" dirty="0">
                <a:solidFill>
                  <a:schemeClr val="tx1"/>
                </a:solidFill>
              </a:rPr>
              <a:t>Bases de datos relacionales</a:t>
            </a:r>
            <a:endParaRPr lang="es-CL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60945" y="4845470"/>
            <a:ext cx="9144000" cy="738664"/>
          </a:xfrm>
        </p:spPr>
        <p:txBody>
          <a:bodyPr/>
          <a:lstStyle/>
          <a:p>
            <a:r>
              <a:rPr lang="es-CL" dirty="0"/>
              <a:t>INFO 209 – Taller de Bases de Datos</a:t>
            </a:r>
          </a:p>
          <a:p>
            <a:r>
              <a:rPr lang="es-CL" dirty="0"/>
              <a:t>Juan Pablo Salazar</a:t>
            </a:r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36945" y="2586633"/>
            <a:ext cx="12192000" cy="923330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ctr">
              <a:defRPr sz="4500" b="0" i="0">
                <a:solidFill>
                  <a:schemeClr val="bg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CL" sz="6000" kern="0" dirty="0">
                <a:solidFill>
                  <a:prstClr val="black"/>
                </a:solidFill>
              </a:rPr>
              <a:t>Unidad 1. Introducción</a:t>
            </a:r>
          </a:p>
        </p:txBody>
      </p:sp>
    </p:spTree>
    <p:extLst>
      <p:ext uri="{BB962C8B-B14F-4D97-AF65-F5344CB8AC3E}">
        <p14:creationId xmlns:p14="http://schemas.microsoft.com/office/powerpoint/2010/main" val="2926880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Modelos Relacional</a:t>
            </a:r>
            <a:endParaRPr lang="en-U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12910" y="1647156"/>
            <a:ext cx="10366180" cy="3447098"/>
          </a:xfrm>
        </p:spPr>
        <p:txBody>
          <a:bodyPr/>
          <a:lstStyle/>
          <a:p>
            <a:r>
              <a:rPr lang="es-CL" dirty="0"/>
              <a:t>Principal modelo de datos para aplicaciones de procesamiento de datos. </a:t>
            </a:r>
          </a:p>
          <a:p>
            <a:endParaRPr lang="es-CL" dirty="0"/>
          </a:p>
          <a:p>
            <a:r>
              <a:rPr lang="es-CL" b="1" dirty="0"/>
              <a:t>Características principales: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Simplicidad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Basado en el álgebra relacional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19351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Álgebra Relacional</a:t>
            </a:r>
            <a:endParaRPr lang="en-U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332509" y="4207476"/>
            <a:ext cx="10929954" cy="2154436"/>
          </a:xfrm>
        </p:spPr>
        <p:txBody>
          <a:bodyPr/>
          <a:lstStyle/>
          <a:p>
            <a:r>
              <a:rPr lang="es-CL" dirty="0"/>
              <a:t>Concepto clave: la </a:t>
            </a:r>
            <a:r>
              <a:rPr lang="es-CL" b="1" dirty="0"/>
              <a:t>TABLA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¿Qué es una tabla? Un conjunto de </a:t>
            </a:r>
            <a:r>
              <a:rPr lang="es-CL" dirty="0" err="1"/>
              <a:t>tuplas</a:t>
            </a:r>
            <a:r>
              <a:rPr lang="es-CL" dirty="0"/>
              <a:t>, en este caso (</a:t>
            </a:r>
            <a:r>
              <a:rPr lang="es-CL" dirty="0" err="1"/>
              <a:t>a,b</a:t>
            </a:r>
            <a:r>
              <a:rPr lang="es-CL" dirty="0"/>
              <a:t>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Una </a:t>
            </a:r>
            <a:r>
              <a:rPr lang="es-CL" b="1" dirty="0"/>
              <a:t>tabla</a:t>
            </a:r>
            <a:r>
              <a:rPr lang="es-CL" dirty="0"/>
              <a:t> es, entonces, una </a:t>
            </a:r>
            <a:r>
              <a:rPr lang="es-CL" b="1" dirty="0"/>
              <a:t>relación</a:t>
            </a:r>
            <a:r>
              <a:rPr lang="es-CL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(</a:t>
            </a:r>
            <a:r>
              <a:rPr lang="es-CL" sz="4400" b="1" dirty="0"/>
              <a:t>no confundir </a:t>
            </a:r>
            <a:r>
              <a:rPr lang="es-CL" dirty="0"/>
              <a:t>con </a:t>
            </a:r>
            <a:r>
              <a:rPr lang="es-CL" b="1" dirty="0"/>
              <a:t>relaciones</a:t>
            </a:r>
            <a:r>
              <a:rPr lang="es-CL" dirty="0"/>
              <a:t> en modelo Entidad-Relación).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247" y="1188926"/>
            <a:ext cx="9318870" cy="2834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81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Diagrama de esquema</a:t>
            </a:r>
            <a:endParaRPr lang="en-US" dirty="0"/>
          </a:p>
        </p:txBody>
      </p:sp>
      <p:sp>
        <p:nvSpPr>
          <p:cNvPr id="8" name="Marcador de texto 2"/>
          <p:cNvSpPr txBox="1">
            <a:spLocks/>
          </p:cNvSpPr>
          <p:nvPr/>
        </p:nvSpPr>
        <p:spPr>
          <a:xfrm>
            <a:off x="1658247" y="4932006"/>
            <a:ext cx="9480809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3200" b="0" i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609585">
              <a:defRPr>
                <a:latin typeface="+mn-lt"/>
                <a:ea typeface="+mn-ea"/>
                <a:cs typeface="+mn-cs"/>
              </a:defRPr>
            </a:lvl2pPr>
            <a:lvl3pPr marL="1219170">
              <a:defRPr>
                <a:latin typeface="+mn-lt"/>
                <a:ea typeface="+mn-ea"/>
                <a:cs typeface="+mn-cs"/>
              </a:defRPr>
            </a:lvl3pPr>
            <a:lvl4pPr marL="1828754">
              <a:defRPr>
                <a:latin typeface="+mn-lt"/>
                <a:ea typeface="+mn-ea"/>
                <a:cs typeface="+mn-cs"/>
              </a:defRPr>
            </a:lvl4pPr>
            <a:lvl5pPr marL="2438339">
              <a:defRPr>
                <a:latin typeface="+mn-lt"/>
                <a:ea typeface="+mn-ea"/>
                <a:cs typeface="+mn-cs"/>
              </a:defRPr>
            </a:lvl5pPr>
            <a:lvl6pPr marL="3047924">
              <a:defRPr>
                <a:latin typeface="+mn-lt"/>
                <a:ea typeface="+mn-ea"/>
                <a:cs typeface="+mn-cs"/>
              </a:defRPr>
            </a:lvl6pPr>
            <a:lvl7pPr marL="3657509">
              <a:defRPr>
                <a:latin typeface="+mn-lt"/>
                <a:ea typeface="+mn-ea"/>
                <a:cs typeface="+mn-cs"/>
              </a:defRPr>
            </a:lvl7pPr>
            <a:lvl8pPr marL="4267093">
              <a:defRPr>
                <a:latin typeface="+mn-lt"/>
                <a:ea typeface="+mn-ea"/>
                <a:cs typeface="+mn-cs"/>
              </a:defRPr>
            </a:lvl8pPr>
            <a:lvl9pPr marL="4876678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s-CL" kern="0" dirty="0"/>
              <a:t>El diagrama muestra las tablas, las </a:t>
            </a:r>
            <a:r>
              <a:rPr lang="es-CL" b="1" kern="0" dirty="0"/>
              <a:t>claves primarias </a:t>
            </a:r>
            <a:r>
              <a:rPr lang="es-CL" kern="0" dirty="0"/>
              <a:t>y las dependencias entre tablas</a:t>
            </a: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2469" y="1793347"/>
            <a:ext cx="5087060" cy="301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984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Álgebra Relacional</a:t>
            </a:r>
            <a:endParaRPr lang="en-U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247" y="1866535"/>
            <a:ext cx="9090199" cy="1973944"/>
          </a:xfrm>
          <a:prstGeom prst="rect">
            <a:avLst/>
          </a:prstGeom>
        </p:spPr>
      </p:pic>
      <p:sp>
        <p:nvSpPr>
          <p:cNvPr id="7" name="Marcador de texto 2"/>
          <p:cNvSpPr>
            <a:spLocks noGrp="1"/>
          </p:cNvSpPr>
          <p:nvPr>
            <p:ph type="body" idx="1"/>
          </p:nvPr>
        </p:nvSpPr>
        <p:spPr>
          <a:xfrm>
            <a:off x="1658247" y="1214894"/>
            <a:ext cx="2826327" cy="492443"/>
          </a:xfrm>
        </p:spPr>
        <p:txBody>
          <a:bodyPr/>
          <a:lstStyle/>
          <a:p>
            <a:r>
              <a:rPr lang="es-CL" dirty="0"/>
              <a:t>Tabla </a:t>
            </a:r>
            <a:r>
              <a:rPr lang="es-CL" b="1" dirty="0" err="1"/>
              <a:t>musicos</a:t>
            </a:r>
            <a:endParaRPr lang="es-CL" b="1" dirty="0"/>
          </a:p>
        </p:txBody>
      </p:sp>
      <p:sp>
        <p:nvSpPr>
          <p:cNvPr id="8" name="Marcador de texto 2"/>
          <p:cNvSpPr txBox="1">
            <a:spLocks/>
          </p:cNvSpPr>
          <p:nvPr/>
        </p:nvSpPr>
        <p:spPr>
          <a:xfrm>
            <a:off x="1658246" y="3999677"/>
            <a:ext cx="9480809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3200" b="0" i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609585">
              <a:defRPr>
                <a:latin typeface="+mn-lt"/>
                <a:ea typeface="+mn-ea"/>
                <a:cs typeface="+mn-cs"/>
              </a:defRPr>
            </a:lvl2pPr>
            <a:lvl3pPr marL="1219170">
              <a:defRPr>
                <a:latin typeface="+mn-lt"/>
                <a:ea typeface="+mn-ea"/>
                <a:cs typeface="+mn-cs"/>
              </a:defRPr>
            </a:lvl3pPr>
            <a:lvl4pPr marL="1828754">
              <a:defRPr>
                <a:latin typeface="+mn-lt"/>
                <a:ea typeface="+mn-ea"/>
                <a:cs typeface="+mn-cs"/>
              </a:defRPr>
            </a:lvl4pPr>
            <a:lvl5pPr marL="2438339">
              <a:defRPr>
                <a:latin typeface="+mn-lt"/>
                <a:ea typeface="+mn-ea"/>
                <a:cs typeface="+mn-cs"/>
              </a:defRPr>
            </a:lvl5pPr>
            <a:lvl6pPr marL="3047924">
              <a:defRPr>
                <a:latin typeface="+mn-lt"/>
                <a:ea typeface="+mn-ea"/>
                <a:cs typeface="+mn-cs"/>
              </a:defRPr>
            </a:lvl6pPr>
            <a:lvl7pPr marL="3657509">
              <a:defRPr>
                <a:latin typeface="+mn-lt"/>
                <a:ea typeface="+mn-ea"/>
                <a:cs typeface="+mn-cs"/>
              </a:defRPr>
            </a:lvl7pPr>
            <a:lvl8pPr marL="4267093">
              <a:defRPr>
                <a:latin typeface="+mn-lt"/>
                <a:ea typeface="+mn-ea"/>
                <a:cs typeface="+mn-cs"/>
              </a:defRPr>
            </a:lvl8pPr>
            <a:lvl9pPr marL="4876678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s-CL" kern="0" dirty="0"/>
              <a:t>La </a:t>
            </a:r>
            <a:r>
              <a:rPr lang="es-CL" b="1" kern="0" dirty="0"/>
              <a:t>Clave primaria </a:t>
            </a:r>
            <a:r>
              <a:rPr lang="es-CL" kern="0" dirty="0"/>
              <a:t>en este ejemplo es </a:t>
            </a:r>
            <a:r>
              <a:rPr lang="es-CL" b="1" kern="0" dirty="0" err="1"/>
              <a:t>idmusico</a:t>
            </a:r>
            <a:r>
              <a:rPr lang="es-CL" kern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76868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06071" y="98213"/>
            <a:ext cx="9027680" cy="492443"/>
          </a:xfrm>
        </p:spPr>
        <p:txBody>
          <a:bodyPr/>
          <a:lstStyle/>
          <a:p>
            <a:r>
              <a:rPr lang="es-CL" sz="3200" dirty="0"/>
              <a:t>Operaciones fundamentales – selección  y proyección</a:t>
            </a:r>
            <a:endParaRPr lang="en-US" sz="32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643" y="2913938"/>
            <a:ext cx="9090199" cy="1973944"/>
          </a:xfrm>
          <a:prstGeom prst="rect">
            <a:avLst/>
          </a:prstGeom>
        </p:spPr>
      </p:pic>
      <p:sp>
        <p:nvSpPr>
          <p:cNvPr id="7" name="Marcador de texto 2"/>
          <p:cNvSpPr>
            <a:spLocks noGrp="1"/>
          </p:cNvSpPr>
          <p:nvPr>
            <p:ph type="body" idx="1"/>
          </p:nvPr>
        </p:nvSpPr>
        <p:spPr>
          <a:xfrm>
            <a:off x="1658247" y="1214894"/>
            <a:ext cx="2826327" cy="492443"/>
          </a:xfrm>
        </p:spPr>
        <p:txBody>
          <a:bodyPr/>
          <a:lstStyle/>
          <a:p>
            <a:r>
              <a:rPr lang="es-CL" dirty="0"/>
              <a:t>Tabla </a:t>
            </a:r>
            <a:r>
              <a:rPr lang="es-CL" b="1" dirty="0" err="1"/>
              <a:t>musicos</a:t>
            </a:r>
            <a:endParaRPr lang="es-CL" b="1" dirty="0"/>
          </a:p>
        </p:txBody>
      </p:sp>
      <p:sp>
        <p:nvSpPr>
          <p:cNvPr id="3" name="Rectángulo redondeado 2"/>
          <p:cNvSpPr/>
          <p:nvPr/>
        </p:nvSpPr>
        <p:spPr>
          <a:xfrm>
            <a:off x="0" y="3900910"/>
            <a:ext cx="11920451" cy="366290"/>
          </a:xfrm>
          <a:prstGeom prst="roundRect">
            <a:avLst/>
          </a:prstGeom>
          <a:solidFill>
            <a:schemeClr val="accent3">
              <a:lumMod val="75000"/>
              <a:alpha val="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sz="2400" b="1" dirty="0">
                <a:solidFill>
                  <a:schemeClr val="tx1"/>
                </a:solidFill>
              </a:rPr>
              <a:t>SELECCIÓN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9" name="Rectángulo redondeado 8"/>
          <p:cNvSpPr/>
          <p:nvPr/>
        </p:nvSpPr>
        <p:spPr>
          <a:xfrm>
            <a:off x="3227293" y="2270020"/>
            <a:ext cx="4536142" cy="2911580"/>
          </a:xfrm>
          <a:prstGeom prst="roundRect">
            <a:avLst/>
          </a:prstGeom>
          <a:solidFill>
            <a:schemeClr val="accent3">
              <a:lumMod val="75000"/>
              <a:alpha val="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CL" sz="2400" b="1" dirty="0">
                <a:solidFill>
                  <a:schemeClr val="tx1"/>
                </a:solidFill>
              </a:rPr>
              <a:t>PROYECCIÓN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4386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Operaciones fundamentales – producto cartesiano</a:t>
            </a:r>
            <a:endParaRPr lang="en-US" sz="3200" dirty="0"/>
          </a:p>
        </p:txBody>
      </p:sp>
      <p:sp>
        <p:nvSpPr>
          <p:cNvPr id="7" name="CuadroTexto 6"/>
          <p:cNvSpPr txBox="1"/>
          <p:nvPr/>
        </p:nvSpPr>
        <p:spPr>
          <a:xfrm>
            <a:off x="8435157" y="3038249"/>
            <a:ext cx="26631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dirty="0" err="1"/>
              <a:t>musicos</a:t>
            </a:r>
            <a:r>
              <a:rPr lang="es-CL" sz="2400" dirty="0"/>
              <a:t> X </a:t>
            </a:r>
            <a:r>
              <a:rPr lang="es-CL" sz="2400" dirty="0" err="1"/>
              <a:t>paises</a:t>
            </a:r>
            <a:r>
              <a:rPr lang="es-CL" sz="2400" dirty="0"/>
              <a:t> </a:t>
            </a:r>
            <a:r>
              <a:rPr lang="es-CL" sz="4400" b="1" dirty="0"/>
              <a:t>?</a:t>
            </a:r>
            <a:endParaRPr lang="en-US" sz="2400" b="1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864" y="1928070"/>
            <a:ext cx="6868484" cy="1571844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5977" y="4395116"/>
            <a:ext cx="1581371" cy="971686"/>
          </a:xfrm>
          <a:prstGeom prst="rect">
            <a:avLst/>
          </a:prstGeom>
        </p:spPr>
      </p:pic>
      <p:sp>
        <p:nvSpPr>
          <p:cNvPr id="10" name="CuadroTexto 9"/>
          <p:cNvSpPr txBox="1"/>
          <p:nvPr/>
        </p:nvSpPr>
        <p:spPr>
          <a:xfrm>
            <a:off x="3218014" y="1352787"/>
            <a:ext cx="1502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400" dirty="0" err="1"/>
              <a:t>musicos</a:t>
            </a:r>
            <a:endParaRPr lang="en-US" sz="2400" b="1" dirty="0"/>
          </a:p>
        </p:txBody>
      </p:sp>
      <p:sp>
        <p:nvSpPr>
          <p:cNvPr id="11" name="CuadroTexto 10"/>
          <p:cNvSpPr txBox="1"/>
          <p:nvPr/>
        </p:nvSpPr>
        <p:spPr>
          <a:xfrm>
            <a:off x="5682308" y="3807690"/>
            <a:ext cx="1488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400" dirty="0" err="1"/>
              <a:t>paises</a:t>
            </a:r>
            <a:endParaRPr lang="en-US" sz="2400" b="1" dirty="0"/>
          </a:p>
        </p:txBody>
      </p:sp>
      <p:sp>
        <p:nvSpPr>
          <p:cNvPr id="12" name="CuadroTexto 11"/>
          <p:cNvSpPr txBox="1"/>
          <p:nvPr/>
        </p:nvSpPr>
        <p:spPr>
          <a:xfrm>
            <a:off x="3626440" y="5903904"/>
            <a:ext cx="56004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dirty="0"/>
              <a:t>¿Cuántas </a:t>
            </a:r>
            <a:r>
              <a:rPr lang="es-CL" sz="2000" dirty="0" err="1"/>
              <a:t>tuplas</a:t>
            </a:r>
            <a:r>
              <a:rPr lang="es-CL" sz="2000" dirty="0"/>
              <a:t> devuelve este producto cartesiano?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87595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Operaciones fundamentales – producto cartesiano</a:t>
            </a:r>
            <a:endParaRPr lang="en-US" sz="32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414" y="1956870"/>
            <a:ext cx="8845519" cy="3554092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5023910" y="1326778"/>
            <a:ext cx="2264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dirty="0" err="1"/>
              <a:t>musicos</a:t>
            </a:r>
            <a:r>
              <a:rPr lang="es-CL" sz="2400" dirty="0"/>
              <a:t> X </a:t>
            </a:r>
            <a:r>
              <a:rPr lang="es-CL" sz="2400" dirty="0" err="1"/>
              <a:t>paises</a:t>
            </a:r>
            <a:endParaRPr lang="en-US" sz="2400" dirty="0"/>
          </a:p>
        </p:txBody>
      </p:sp>
      <p:sp>
        <p:nvSpPr>
          <p:cNvPr id="9" name="CuadroTexto 8"/>
          <p:cNvSpPr txBox="1"/>
          <p:nvPr/>
        </p:nvSpPr>
        <p:spPr>
          <a:xfrm>
            <a:off x="4029355" y="5868045"/>
            <a:ext cx="49896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dirty="0"/>
              <a:t>¿Qué sucede en este caso? ¿Cómo resolverlo?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51932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Operaciones fundamentales – producto cartesiano</a:t>
            </a:r>
            <a:endParaRPr lang="en-US" sz="32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414" y="1956870"/>
            <a:ext cx="8845519" cy="3554092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5023910" y="1326778"/>
            <a:ext cx="2264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dirty="0" err="1"/>
              <a:t>musicos</a:t>
            </a:r>
            <a:r>
              <a:rPr lang="es-CL" sz="2400" dirty="0"/>
              <a:t> X </a:t>
            </a:r>
            <a:r>
              <a:rPr lang="es-CL" sz="2400" dirty="0" err="1"/>
              <a:t>paises</a:t>
            </a:r>
            <a:endParaRPr lang="en-US" sz="2400" dirty="0"/>
          </a:p>
        </p:txBody>
      </p:sp>
      <p:sp>
        <p:nvSpPr>
          <p:cNvPr id="8" name="Rectángulo redondeado 7"/>
          <p:cNvSpPr/>
          <p:nvPr/>
        </p:nvSpPr>
        <p:spPr>
          <a:xfrm>
            <a:off x="0" y="5328900"/>
            <a:ext cx="11920451" cy="219165"/>
          </a:xfrm>
          <a:prstGeom prst="roundRect">
            <a:avLst/>
          </a:prstGeom>
          <a:solidFill>
            <a:schemeClr val="accent3">
              <a:lumMod val="75000"/>
              <a:alpha val="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sz="2400" b="1" dirty="0">
                <a:solidFill>
                  <a:schemeClr val="tx1"/>
                </a:solidFill>
              </a:rPr>
              <a:t>SELECCIÓN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" name="Rectángulo redondeado 9"/>
          <p:cNvSpPr/>
          <p:nvPr/>
        </p:nvSpPr>
        <p:spPr>
          <a:xfrm>
            <a:off x="-3" y="4387832"/>
            <a:ext cx="11920451" cy="219165"/>
          </a:xfrm>
          <a:prstGeom prst="roundRect">
            <a:avLst/>
          </a:prstGeom>
          <a:solidFill>
            <a:schemeClr val="accent3">
              <a:lumMod val="75000"/>
              <a:alpha val="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sz="2400" b="1" dirty="0">
                <a:solidFill>
                  <a:schemeClr val="tx1"/>
                </a:solidFill>
              </a:rPr>
              <a:t>SELECCIÓN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1" name="Rectángulo redondeado 10"/>
          <p:cNvSpPr/>
          <p:nvPr/>
        </p:nvSpPr>
        <p:spPr>
          <a:xfrm>
            <a:off x="-1" y="2868931"/>
            <a:ext cx="11920451" cy="171450"/>
          </a:xfrm>
          <a:prstGeom prst="roundRect">
            <a:avLst/>
          </a:prstGeom>
          <a:solidFill>
            <a:schemeClr val="accent3">
              <a:lumMod val="75000"/>
              <a:alpha val="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sz="2400" b="1" dirty="0">
                <a:solidFill>
                  <a:schemeClr val="tx1"/>
                </a:solidFill>
              </a:rPr>
              <a:t>SELECCIÓN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" name="Rectángulo redondeado 11"/>
          <p:cNvSpPr/>
          <p:nvPr/>
        </p:nvSpPr>
        <p:spPr>
          <a:xfrm>
            <a:off x="-2" y="3543119"/>
            <a:ext cx="11920451" cy="219165"/>
          </a:xfrm>
          <a:prstGeom prst="roundRect">
            <a:avLst/>
          </a:prstGeom>
          <a:solidFill>
            <a:schemeClr val="accent3">
              <a:lumMod val="75000"/>
              <a:alpha val="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sz="2400" b="1" dirty="0">
                <a:solidFill>
                  <a:schemeClr val="tx1"/>
                </a:solidFill>
              </a:rPr>
              <a:t>SELECCIÓN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3" name="Rectángulo redondeado 12"/>
          <p:cNvSpPr/>
          <p:nvPr/>
        </p:nvSpPr>
        <p:spPr>
          <a:xfrm>
            <a:off x="0" y="2216163"/>
            <a:ext cx="11920451" cy="219165"/>
          </a:xfrm>
          <a:prstGeom prst="roundRect">
            <a:avLst/>
          </a:prstGeom>
          <a:solidFill>
            <a:schemeClr val="accent3">
              <a:lumMod val="75000"/>
              <a:alpha val="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sz="2400" b="1" dirty="0">
                <a:solidFill>
                  <a:schemeClr val="tx1"/>
                </a:solidFill>
              </a:rPr>
              <a:t>SELECCIÓN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3619647" y="5863533"/>
            <a:ext cx="4952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Se puede utilizar una combinación de operaciones.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860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Lenguaje SQL</a:t>
            </a:r>
            <a:endParaRPr lang="en-US" dirty="0"/>
          </a:p>
        </p:txBody>
      </p:sp>
      <p:sp>
        <p:nvSpPr>
          <p:cNvPr id="7" name="Marcador de texto 2"/>
          <p:cNvSpPr>
            <a:spLocks noGrp="1"/>
          </p:cNvSpPr>
          <p:nvPr>
            <p:ph type="body" idx="1"/>
          </p:nvPr>
        </p:nvSpPr>
        <p:spPr>
          <a:xfrm>
            <a:off x="378653" y="1636882"/>
            <a:ext cx="11491613" cy="4370427"/>
          </a:xfrm>
        </p:spPr>
        <p:txBody>
          <a:bodyPr/>
          <a:lstStyle/>
          <a:p>
            <a:r>
              <a:rPr lang="es-CL" sz="4400" b="1" dirty="0" err="1"/>
              <a:t>S</a:t>
            </a:r>
            <a:r>
              <a:rPr lang="es-CL" sz="3600" dirty="0" err="1"/>
              <a:t>tructured</a:t>
            </a:r>
            <a:r>
              <a:rPr lang="es-CL" sz="3600" dirty="0"/>
              <a:t> </a:t>
            </a:r>
            <a:r>
              <a:rPr lang="es-CL" sz="4400" b="1" dirty="0" err="1"/>
              <a:t>Q</a:t>
            </a:r>
            <a:r>
              <a:rPr lang="es-CL" sz="3600" dirty="0" err="1"/>
              <a:t>uery</a:t>
            </a:r>
            <a:r>
              <a:rPr lang="es-CL" sz="3600" dirty="0"/>
              <a:t> </a:t>
            </a:r>
            <a:r>
              <a:rPr lang="es-CL" sz="4400" b="1" dirty="0" err="1"/>
              <a:t>L</a:t>
            </a:r>
            <a:r>
              <a:rPr lang="es-CL" sz="3600" dirty="0" err="1"/>
              <a:t>anguaje</a:t>
            </a:r>
            <a:r>
              <a:rPr lang="es-CL" sz="3600" dirty="0"/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Lenguaje, originalmente de consulta, basado en el álgebra relacional.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Incluye adicionalmente otras funcionalidades: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s-CL" sz="2000" dirty="0"/>
              <a:t>Definición de datos (permite crear la estructura de la base de datos).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s-CL" sz="2000" dirty="0"/>
              <a:t>Manipulación de datos (permite, además de consultar, insertar, modificar y  borrar registros).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s-CL" sz="2000" dirty="0"/>
              <a:t>Definición de vistas (consultas almacenadas).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s-CL" sz="2000" dirty="0"/>
              <a:t>Control de transacciones (</a:t>
            </a:r>
            <a:r>
              <a:rPr lang="es-CL" sz="2000" dirty="0" err="1"/>
              <a:t>commit</a:t>
            </a:r>
            <a:r>
              <a:rPr lang="es-CL" sz="2000" dirty="0"/>
              <a:t> y </a:t>
            </a:r>
            <a:r>
              <a:rPr lang="es-CL" sz="2000" dirty="0" err="1"/>
              <a:t>rollback</a:t>
            </a:r>
            <a:r>
              <a:rPr lang="es-CL" sz="2000" dirty="0"/>
              <a:t>).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s-CL" sz="2000" dirty="0"/>
              <a:t>Control de acceso.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s-CL" sz="2200" dirty="0"/>
          </a:p>
          <a:p>
            <a:pPr lvl="1"/>
            <a:endParaRPr lang="es-CL" sz="2200" b="1" dirty="0"/>
          </a:p>
          <a:p>
            <a:endParaRPr lang="es-CL" sz="3600" b="1" dirty="0"/>
          </a:p>
          <a:p>
            <a:pPr marL="1066785" lvl="1" indent="-457200">
              <a:buFont typeface="Arial" panose="020B0604020202020204" pitchFamily="34" charset="0"/>
              <a:buChar char="•"/>
            </a:pPr>
            <a:endParaRPr lang="es-CL" sz="600" dirty="0"/>
          </a:p>
        </p:txBody>
      </p:sp>
    </p:spTree>
    <p:extLst>
      <p:ext uri="{BB962C8B-B14F-4D97-AF65-F5344CB8AC3E}">
        <p14:creationId xmlns:p14="http://schemas.microsoft.com/office/powerpoint/2010/main" val="23235188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/>
          <a:lstStyle/>
          <a:p>
            <a:r>
              <a:rPr lang="es-CL" dirty="0"/>
              <a:t>Consulta – Estructura básica</a:t>
            </a:r>
            <a:endParaRPr lang="en-US" dirty="0"/>
          </a:p>
        </p:txBody>
      </p:sp>
      <p:sp>
        <p:nvSpPr>
          <p:cNvPr id="7" name="Marcador de texto 2"/>
          <p:cNvSpPr>
            <a:spLocks noGrp="1"/>
          </p:cNvSpPr>
          <p:nvPr>
            <p:ph type="body" idx="1"/>
          </p:nvPr>
        </p:nvSpPr>
        <p:spPr>
          <a:xfrm>
            <a:off x="378653" y="1636882"/>
            <a:ext cx="11491613" cy="1477328"/>
          </a:xfrm>
        </p:spPr>
        <p:txBody>
          <a:bodyPr/>
          <a:lstStyle/>
          <a:p>
            <a:pPr marL="952485" lvl="1" indent="-342900">
              <a:buFont typeface="Arial" panose="020B0604020202020204" pitchFamily="34" charset="0"/>
              <a:buChar char="•"/>
            </a:pPr>
            <a:r>
              <a:rPr lang="es-CL" sz="2400" b="1" dirty="0" err="1">
                <a:cs typeface="Courier New" panose="02070309020205020404" pitchFamily="49" charset="0"/>
              </a:rPr>
              <a:t>select</a:t>
            </a:r>
            <a:r>
              <a:rPr lang="es-CL" sz="2400" dirty="0">
                <a:cs typeface="Courier New" panose="02070309020205020404" pitchFamily="49" charset="0"/>
              </a:rPr>
              <a:t>: Operación de </a:t>
            </a:r>
            <a:r>
              <a:rPr lang="es-CL" sz="2400" b="1" dirty="0">
                <a:cs typeface="Courier New" panose="02070309020205020404" pitchFamily="49" charset="0"/>
              </a:rPr>
              <a:t>proyección</a:t>
            </a:r>
            <a:r>
              <a:rPr lang="es-CL" sz="2400" dirty="0">
                <a:cs typeface="Courier New" panose="02070309020205020404" pitchFamily="49" charset="0"/>
              </a:rPr>
              <a:t> en álgebra relacional.</a:t>
            </a:r>
          </a:p>
          <a:p>
            <a:pPr marL="952485" lvl="1" indent="-342900">
              <a:buFont typeface="Arial" panose="020B0604020202020204" pitchFamily="34" charset="0"/>
              <a:buChar char="•"/>
            </a:pPr>
            <a:r>
              <a:rPr lang="es-CL" sz="2400" b="1" dirty="0" err="1">
                <a:cs typeface="Courier New" panose="02070309020205020404" pitchFamily="49" charset="0"/>
              </a:rPr>
              <a:t>from</a:t>
            </a:r>
            <a:r>
              <a:rPr lang="es-CL" sz="2400" dirty="0">
                <a:cs typeface="Courier New" panose="02070309020205020404" pitchFamily="49" charset="0"/>
              </a:rPr>
              <a:t>: Operación </a:t>
            </a:r>
            <a:r>
              <a:rPr lang="es-CL" sz="2400" b="1" dirty="0">
                <a:cs typeface="Courier New" panose="02070309020205020404" pitchFamily="49" charset="0"/>
              </a:rPr>
              <a:t>producto cartesiano </a:t>
            </a:r>
            <a:r>
              <a:rPr lang="es-CL" sz="2400" dirty="0">
                <a:cs typeface="Courier New" panose="02070309020205020404" pitchFamily="49" charset="0"/>
              </a:rPr>
              <a:t>del álgebra relacional.</a:t>
            </a:r>
          </a:p>
          <a:p>
            <a:pPr marL="952485" lvl="1" indent="-342900">
              <a:buFont typeface="Arial" panose="020B0604020202020204" pitchFamily="34" charset="0"/>
              <a:buChar char="•"/>
            </a:pPr>
            <a:r>
              <a:rPr lang="es-CL" sz="2400" b="1" dirty="0" err="1">
                <a:cs typeface="Courier New" panose="02070309020205020404" pitchFamily="49" charset="0"/>
              </a:rPr>
              <a:t>where</a:t>
            </a:r>
            <a:r>
              <a:rPr lang="es-CL" sz="2400" dirty="0">
                <a:cs typeface="Courier New" panose="02070309020205020404" pitchFamily="49" charset="0"/>
              </a:rPr>
              <a:t>: operación de </a:t>
            </a:r>
            <a:r>
              <a:rPr lang="es-CL" sz="2400" b="1" dirty="0">
                <a:cs typeface="Courier New" panose="02070309020205020404" pitchFamily="49" charset="0"/>
              </a:rPr>
              <a:t>selección</a:t>
            </a:r>
            <a:r>
              <a:rPr lang="es-CL" sz="2400" dirty="0">
                <a:cs typeface="Courier New" panose="02070309020205020404" pitchFamily="49" charset="0"/>
              </a:rPr>
              <a:t> en álgebra relacional.</a:t>
            </a:r>
          </a:p>
          <a:p>
            <a:pPr marL="952485" lvl="1" indent="-342900">
              <a:buFont typeface="Arial" panose="020B0604020202020204" pitchFamily="34" charset="0"/>
              <a:buChar char="•"/>
            </a:pPr>
            <a:endParaRPr lang="es-CL" sz="2400" dirty="0">
              <a:cs typeface="Courier New" panose="02070309020205020404" pitchFamily="49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6843" y="3758128"/>
            <a:ext cx="9090199" cy="1973944"/>
          </a:xfrm>
          <a:prstGeom prst="rect">
            <a:avLst/>
          </a:prstGeom>
        </p:spPr>
      </p:pic>
      <p:sp>
        <p:nvSpPr>
          <p:cNvPr id="5" name="Rectángulo redondeado 4"/>
          <p:cNvSpPr/>
          <p:nvPr/>
        </p:nvSpPr>
        <p:spPr>
          <a:xfrm>
            <a:off x="3684493" y="3114210"/>
            <a:ext cx="4536142" cy="2911580"/>
          </a:xfrm>
          <a:prstGeom prst="roundRect">
            <a:avLst/>
          </a:prstGeom>
          <a:solidFill>
            <a:schemeClr val="accent3">
              <a:lumMod val="75000"/>
              <a:alpha val="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CL" sz="2400" b="1" dirty="0">
                <a:solidFill>
                  <a:schemeClr val="tx1"/>
                </a:solidFill>
              </a:rPr>
              <a:t>PROYECCIÓN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66591" y="4386855"/>
            <a:ext cx="11920451" cy="366290"/>
          </a:xfrm>
          <a:prstGeom prst="roundRect">
            <a:avLst/>
          </a:prstGeom>
          <a:solidFill>
            <a:schemeClr val="accent3">
              <a:lumMod val="75000"/>
              <a:alpha val="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sz="2400" b="1" dirty="0">
                <a:solidFill>
                  <a:schemeClr val="tx1"/>
                </a:solidFill>
              </a:rPr>
              <a:t>SELECCIÓN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59298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/>
          <a:lstStyle/>
          <a:p>
            <a:r>
              <a:rPr lang="es-CL" dirty="0"/>
              <a:t>Consulta – Estructura básica</a:t>
            </a:r>
            <a:endParaRPr lang="en-US" dirty="0"/>
          </a:p>
        </p:txBody>
      </p:sp>
      <p:sp>
        <p:nvSpPr>
          <p:cNvPr id="7" name="Marcador de texto 2"/>
          <p:cNvSpPr>
            <a:spLocks noGrp="1"/>
          </p:cNvSpPr>
          <p:nvPr>
            <p:ph type="body" idx="1"/>
          </p:nvPr>
        </p:nvSpPr>
        <p:spPr>
          <a:xfrm>
            <a:off x="378653" y="1636882"/>
            <a:ext cx="11491613" cy="1846659"/>
          </a:xfrm>
        </p:spPr>
        <p:txBody>
          <a:bodyPr/>
          <a:lstStyle/>
          <a:p>
            <a:pPr lvl="1"/>
            <a:r>
              <a:rPr lang="es-CL" sz="2400" dirty="0">
                <a:cs typeface="Courier New" panose="02070309020205020404" pitchFamily="49" charset="0"/>
              </a:rPr>
              <a:t>SELECT</a:t>
            </a:r>
          </a:p>
          <a:p>
            <a:pPr lvl="1"/>
            <a:r>
              <a:rPr lang="es-CL" sz="2400" dirty="0">
                <a:cs typeface="Courier New" panose="02070309020205020404" pitchFamily="49" charset="0"/>
              </a:rPr>
              <a:t>FROM</a:t>
            </a:r>
          </a:p>
          <a:p>
            <a:pPr lvl="1"/>
            <a:r>
              <a:rPr lang="es-CL" sz="2400" dirty="0">
                <a:cs typeface="Courier New" panose="02070309020205020404" pitchFamily="49" charset="0"/>
              </a:rPr>
              <a:t>WHERE</a:t>
            </a:r>
          </a:p>
          <a:p>
            <a:pPr lvl="1"/>
            <a:r>
              <a:rPr lang="es-CL" sz="2400" dirty="0">
                <a:cs typeface="Courier New" panose="02070309020205020404" pitchFamily="49" charset="0"/>
              </a:rPr>
              <a:t>GROUP BY</a:t>
            </a:r>
          </a:p>
          <a:p>
            <a:pPr lvl="1"/>
            <a:r>
              <a:rPr lang="es-CL" sz="2400" dirty="0">
                <a:cs typeface="Courier New" panose="02070309020205020404" pitchFamily="49" charset="0"/>
              </a:rPr>
              <a:t>ORDER BY</a:t>
            </a:r>
          </a:p>
        </p:txBody>
      </p:sp>
    </p:spTree>
    <p:extLst>
      <p:ext uri="{BB962C8B-B14F-4D97-AF65-F5344CB8AC3E}">
        <p14:creationId xmlns:p14="http://schemas.microsoft.com/office/powerpoint/2010/main" val="886900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/>
          <a:lstStyle/>
          <a:p>
            <a:r>
              <a:rPr lang="es-CL" dirty="0"/>
              <a:t>Consulta – Estructura básica</a:t>
            </a:r>
            <a:endParaRPr lang="en-US" dirty="0"/>
          </a:p>
        </p:txBody>
      </p:sp>
      <p:sp>
        <p:nvSpPr>
          <p:cNvPr id="7" name="Marcador de texto 2"/>
          <p:cNvSpPr>
            <a:spLocks noGrp="1"/>
          </p:cNvSpPr>
          <p:nvPr>
            <p:ph type="body" idx="1"/>
          </p:nvPr>
        </p:nvSpPr>
        <p:spPr>
          <a:xfrm>
            <a:off x="378653" y="1636882"/>
            <a:ext cx="5633527" cy="923330"/>
          </a:xfrm>
        </p:spPr>
        <p:txBody>
          <a:bodyPr/>
          <a:lstStyle/>
          <a:p>
            <a:pPr lvl="1"/>
            <a:r>
              <a:rPr lang="es-CL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s-C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Nombre, Instrumento</a:t>
            </a:r>
          </a:p>
          <a:p>
            <a:pPr lvl="1"/>
            <a:r>
              <a:rPr lang="es-CL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s-C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musicos</a:t>
            </a:r>
            <a:endParaRPr lang="es-C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s-CL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s-C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idmusico</a:t>
            </a:r>
            <a:r>
              <a:rPr lang="es-C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2;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6843" y="3758128"/>
            <a:ext cx="9090199" cy="1973944"/>
          </a:xfrm>
          <a:prstGeom prst="rect">
            <a:avLst/>
          </a:prstGeom>
        </p:spPr>
      </p:pic>
      <p:sp>
        <p:nvSpPr>
          <p:cNvPr id="5" name="Rectángulo redondeado 4"/>
          <p:cNvSpPr/>
          <p:nvPr/>
        </p:nvSpPr>
        <p:spPr>
          <a:xfrm>
            <a:off x="3863339" y="3114210"/>
            <a:ext cx="2914651" cy="2911580"/>
          </a:xfrm>
          <a:prstGeom prst="roundRect">
            <a:avLst/>
          </a:prstGeom>
          <a:solidFill>
            <a:schemeClr val="accent3">
              <a:lumMod val="75000"/>
              <a:alpha val="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CL" sz="2400" b="1" dirty="0">
                <a:solidFill>
                  <a:schemeClr val="tx1"/>
                </a:solidFill>
              </a:rPr>
              <a:t>PROYECCIÓN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66591" y="4386855"/>
            <a:ext cx="11920451" cy="366290"/>
          </a:xfrm>
          <a:prstGeom prst="roundRect">
            <a:avLst/>
          </a:prstGeom>
          <a:solidFill>
            <a:schemeClr val="accent3">
              <a:lumMod val="75000"/>
              <a:alpha val="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sz="2400" b="1" dirty="0">
                <a:solidFill>
                  <a:schemeClr val="tx1"/>
                </a:solidFill>
              </a:rPr>
              <a:t>SELECCIÓN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Flecha derecha 2"/>
          <p:cNvSpPr/>
          <p:nvPr/>
        </p:nvSpPr>
        <p:spPr>
          <a:xfrm>
            <a:off x="6095999" y="1900968"/>
            <a:ext cx="651510" cy="4686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962" y="1636882"/>
            <a:ext cx="3515450" cy="101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18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/>
          <a:lstStyle/>
          <a:p>
            <a:r>
              <a:rPr lang="es-CL" dirty="0"/>
              <a:t>Consulta – Estructura básica - JOIN</a:t>
            </a:r>
            <a:endParaRPr lang="en-US" dirty="0"/>
          </a:p>
        </p:txBody>
      </p:sp>
      <p:sp>
        <p:nvSpPr>
          <p:cNvPr id="7" name="Marcador de texto 2"/>
          <p:cNvSpPr>
            <a:spLocks noGrp="1"/>
          </p:cNvSpPr>
          <p:nvPr>
            <p:ph type="body" idx="1"/>
          </p:nvPr>
        </p:nvSpPr>
        <p:spPr>
          <a:xfrm>
            <a:off x="1" y="1636882"/>
            <a:ext cx="6667498" cy="923330"/>
          </a:xfrm>
        </p:spPr>
        <p:txBody>
          <a:bodyPr/>
          <a:lstStyle/>
          <a:p>
            <a:pPr lvl="1"/>
            <a:r>
              <a:rPr lang="es-CL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s-C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nombre,instrumento,nombre_pais</a:t>
            </a:r>
            <a:r>
              <a:rPr lang="es-C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lvl="1"/>
            <a:r>
              <a:rPr lang="es-CL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s-C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músicos </a:t>
            </a:r>
            <a:r>
              <a:rPr lang="es-CL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join</a:t>
            </a:r>
            <a:r>
              <a:rPr lang="es-C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paises</a:t>
            </a:r>
            <a:endParaRPr lang="es-C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s-CL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es-C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musicos.id_pais</a:t>
            </a:r>
            <a:r>
              <a:rPr lang="es-C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C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paises.id_pais</a:t>
            </a:r>
            <a:endParaRPr lang="es-C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Flecha derecha 2"/>
          <p:cNvSpPr/>
          <p:nvPr/>
        </p:nvSpPr>
        <p:spPr>
          <a:xfrm>
            <a:off x="6667499" y="1864232"/>
            <a:ext cx="651510" cy="4686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505" y="3076350"/>
            <a:ext cx="10069330" cy="3219899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4836" y="1395699"/>
            <a:ext cx="4044106" cy="1576101"/>
          </a:xfrm>
          <a:prstGeom prst="rect">
            <a:avLst/>
          </a:prstGeom>
        </p:spPr>
      </p:pic>
      <p:sp>
        <p:nvSpPr>
          <p:cNvPr id="8" name="Rectángulo redondeado 7"/>
          <p:cNvSpPr/>
          <p:nvPr/>
        </p:nvSpPr>
        <p:spPr>
          <a:xfrm>
            <a:off x="3580706" y="2698574"/>
            <a:ext cx="2105199" cy="3597674"/>
          </a:xfrm>
          <a:prstGeom prst="roundRect">
            <a:avLst/>
          </a:prstGeom>
          <a:solidFill>
            <a:schemeClr val="accent3">
              <a:lumMod val="75000"/>
              <a:alpha val="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CL" sz="2400" b="1" dirty="0">
                <a:solidFill>
                  <a:schemeClr val="tx1"/>
                </a:solidFill>
              </a:rPr>
              <a:t>PROYECCIÓN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1" name="Rectángulo redondeado 10"/>
          <p:cNvSpPr/>
          <p:nvPr/>
        </p:nvSpPr>
        <p:spPr>
          <a:xfrm>
            <a:off x="9592887" y="2698574"/>
            <a:ext cx="2121882" cy="3597674"/>
          </a:xfrm>
          <a:prstGeom prst="roundRect">
            <a:avLst/>
          </a:prstGeom>
          <a:solidFill>
            <a:schemeClr val="accent3">
              <a:lumMod val="75000"/>
              <a:alpha val="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CL" sz="2400" b="1" dirty="0">
                <a:solidFill>
                  <a:schemeClr val="tx1"/>
                </a:solidFill>
              </a:rPr>
              <a:t>PROYECCIÓN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00413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/>
          <a:lstStyle/>
          <a:p>
            <a:r>
              <a:rPr lang="es-CL" dirty="0" err="1"/>
              <a:t>Sakila</a:t>
            </a:r>
            <a:r>
              <a:rPr lang="es-CL" dirty="0"/>
              <a:t> – Modelo de datos en MySQL</a:t>
            </a:r>
            <a:endParaRPr lang="en-US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2CF282B-29A1-4ED4-BD70-E8ACAAD883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3472" y="1067096"/>
            <a:ext cx="7285055" cy="5434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5797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1" y="1481932"/>
            <a:ext cx="7867824" cy="4567176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/>
          <a:lstStyle/>
          <a:p>
            <a:r>
              <a:rPr lang="es-CL" dirty="0"/>
              <a:t>¿Cómo seguimos? Vamos al práctico.</a:t>
            </a:r>
            <a:endParaRPr lang="en-US" dirty="0"/>
          </a:p>
        </p:txBody>
      </p:sp>
      <p:sp>
        <p:nvSpPr>
          <p:cNvPr id="6" name="Rectángulo redondeado 5"/>
          <p:cNvSpPr/>
          <p:nvPr/>
        </p:nvSpPr>
        <p:spPr>
          <a:xfrm>
            <a:off x="815926" y="5050301"/>
            <a:ext cx="1969477" cy="90033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5203" y="1302643"/>
            <a:ext cx="6338879" cy="4925754"/>
          </a:xfrm>
          <a:prstGeom prst="rect">
            <a:avLst/>
          </a:prstGeom>
        </p:spPr>
      </p:pic>
      <p:sp>
        <p:nvSpPr>
          <p:cNvPr id="13" name="Rectángulo redondeado 12"/>
          <p:cNvSpPr/>
          <p:nvPr/>
        </p:nvSpPr>
        <p:spPr>
          <a:xfrm>
            <a:off x="5498123" y="5344477"/>
            <a:ext cx="5840437" cy="88392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27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18397</TotalTime>
  <Words>370</Words>
  <Application>Microsoft Office PowerPoint</Application>
  <PresentationFormat>Panorámica</PresentationFormat>
  <Paragraphs>77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Courier New</vt:lpstr>
      <vt:lpstr>Office Theme</vt:lpstr>
      <vt:lpstr>Unidad 0 – Introducción Bases de datos relacionales</vt:lpstr>
      <vt:lpstr>Modelos Relacional</vt:lpstr>
      <vt:lpstr>Álgebra Relacional</vt:lpstr>
      <vt:lpstr>Diagrama de esquema</vt:lpstr>
      <vt:lpstr>Álgebra Relacional</vt:lpstr>
      <vt:lpstr>Operaciones fundamentales – selección  y proyección</vt:lpstr>
      <vt:lpstr>Operaciones fundamentales – producto cartesiano</vt:lpstr>
      <vt:lpstr>Operaciones fundamentales – producto cartesiano</vt:lpstr>
      <vt:lpstr>Operaciones fundamentales – producto cartesiano</vt:lpstr>
      <vt:lpstr>Lenguaje SQL</vt:lpstr>
      <vt:lpstr>Consulta – Estructura básica</vt:lpstr>
      <vt:lpstr>Consulta – Estructura básica</vt:lpstr>
      <vt:lpstr>Consulta – Estructura básica</vt:lpstr>
      <vt:lpstr>Consulta – Estructura básica - JOIN</vt:lpstr>
      <vt:lpstr>Sakila – Modelo de datos en MySQL</vt:lpstr>
      <vt:lpstr>¿Cómo seguimos? Vamos al práctico.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0 - Introducción</dc:title>
  <dc:creator>Valeria Henriquez Norambuena</dc:creator>
  <cp:lastModifiedBy>Juan Pablo Salazar Fernández</cp:lastModifiedBy>
  <cp:revision>94</cp:revision>
  <cp:lastPrinted>2018-03-09T00:58:19Z</cp:lastPrinted>
  <dcterms:created xsi:type="dcterms:W3CDTF">2018-03-05T20:26:11Z</dcterms:created>
  <dcterms:modified xsi:type="dcterms:W3CDTF">2026-03-19T13:12:27Z</dcterms:modified>
</cp:coreProperties>
</file>
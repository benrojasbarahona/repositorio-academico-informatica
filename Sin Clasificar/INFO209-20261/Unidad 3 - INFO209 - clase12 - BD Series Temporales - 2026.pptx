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handoutMasterIdLst>
    <p:handoutMasterId r:id="rId18"/>
  </p:handoutMasterIdLst>
  <p:sldIdLst>
    <p:sldId id="257" r:id="rId2"/>
    <p:sldId id="348" r:id="rId3"/>
    <p:sldId id="357" r:id="rId4"/>
    <p:sldId id="351" r:id="rId5"/>
    <p:sldId id="353" r:id="rId6"/>
    <p:sldId id="354" r:id="rId7"/>
    <p:sldId id="355" r:id="rId8"/>
    <p:sldId id="356" r:id="rId9"/>
    <p:sldId id="358" r:id="rId10"/>
    <p:sldId id="359" r:id="rId11"/>
    <p:sldId id="360" r:id="rId12"/>
    <p:sldId id="362" r:id="rId13"/>
    <p:sldId id="364" r:id="rId14"/>
    <p:sldId id="363" r:id="rId15"/>
    <p:sldId id="365" r:id="rId16"/>
  </p:sldIdLst>
  <p:sldSz cx="12192000" cy="6858000"/>
  <p:notesSz cx="7077075" cy="9028113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3" autoAdjust="0"/>
    <p:restoredTop sz="77920" autoAdjust="0"/>
  </p:normalViewPr>
  <p:slideViewPr>
    <p:cSldViewPr snapToGrid="0">
      <p:cViewPr varScale="1">
        <p:scale>
          <a:sx n="88" d="100"/>
          <a:sy n="88" d="100"/>
        </p:scale>
        <p:origin x="812" y="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66733" cy="4529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4008705" y="0"/>
            <a:ext cx="3066733" cy="4529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1F1719-9756-4A84-82A5-4DD33F36571E}" type="datetimeFigureOut">
              <a:rPr lang="es-CL" smtClean="0"/>
              <a:t>18-06-2026</a:t>
            </a:fld>
            <a:endParaRPr lang="es-C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575141"/>
            <a:ext cx="3066733" cy="45297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4008705" y="8575141"/>
            <a:ext cx="3066733" cy="45297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1FAC36-D20F-4D20-A1F7-B93EBCBA800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750227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66733" cy="4529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008705" y="0"/>
            <a:ext cx="3066733" cy="4529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CA8EBD-F228-4310-98D3-0AA28F568233}" type="datetimeFigureOut">
              <a:rPr lang="es-CL" smtClean="0"/>
              <a:t>18-06-2026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830263" y="1128713"/>
            <a:ext cx="5416550" cy="30464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07708" y="4344780"/>
            <a:ext cx="5661660" cy="355481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575141"/>
            <a:ext cx="3066733" cy="45297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008705" y="8575141"/>
            <a:ext cx="3066733" cy="45297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801272-3DC3-4F9E-9400-55ED7D4F325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94369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En el caso del monitoreo,</a:t>
            </a:r>
            <a:r>
              <a:rPr lang="es-CL" baseline="0" dirty="0"/>
              <a:t> es posible definir reglas y cursos de acción en base a ellas. </a:t>
            </a:r>
            <a:r>
              <a:rPr lang="es-CL" baseline="0" dirty="0" err="1"/>
              <a:t>Ejm</a:t>
            </a:r>
            <a:r>
              <a:rPr lang="es-CL" baseline="0" dirty="0"/>
              <a:t>: </a:t>
            </a:r>
            <a:r>
              <a:rPr lang="es-CL" baseline="0" dirty="0" err="1"/>
              <a:t>timeouts</a:t>
            </a:r>
            <a:r>
              <a:rPr lang="es-CL" baseline="0" dirty="0"/>
              <a:t>, limitar cantidad de conexiones, aumento de capacidad.</a:t>
            </a:r>
          </a:p>
          <a:p>
            <a:r>
              <a:rPr lang="es-CL" baseline="0" dirty="0"/>
              <a:t>La observación es complementaria, nos puede permitir definir reglas.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536602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Colocarle</a:t>
            </a:r>
            <a:r>
              <a:rPr lang="en-US" dirty="0"/>
              <a:t> </a:t>
            </a:r>
            <a:r>
              <a:rPr lang="en-US" dirty="0" err="1"/>
              <a:t>subtítulos</a:t>
            </a:r>
            <a:r>
              <a:rPr lang="en-US" dirty="0"/>
              <a:t> y </a:t>
            </a:r>
            <a:r>
              <a:rPr lang="en-US" dirty="0" err="1"/>
              <a:t>velocidad</a:t>
            </a:r>
            <a:r>
              <a:rPr lang="en-US" dirty="0"/>
              <a:t> 0.75, </a:t>
            </a:r>
            <a:r>
              <a:rPr lang="en-US" dirty="0" err="1"/>
              <a:t>preguntar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se </a:t>
            </a:r>
            <a:r>
              <a:rPr lang="en-US" dirty="0" err="1"/>
              <a:t>entiende</a:t>
            </a:r>
            <a:r>
              <a:rPr lang="en-US" dirty="0"/>
              <a:t>. </a:t>
            </a:r>
            <a:r>
              <a:rPr lang="en-US" dirty="0" err="1"/>
              <a:t>Comentar</a:t>
            </a:r>
            <a:r>
              <a:rPr lang="en-US" dirty="0"/>
              <a:t> </a:t>
            </a:r>
            <a:r>
              <a:rPr lang="en-US" dirty="0" err="1"/>
              <a:t>tema</a:t>
            </a:r>
            <a:r>
              <a:rPr lang="en-US" dirty="0"/>
              <a:t> </a:t>
            </a:r>
            <a:r>
              <a:rPr lang="en-US" dirty="0" err="1"/>
              <a:t>inglés</a:t>
            </a:r>
            <a:r>
              <a:rPr lang="en-US" dirty="0"/>
              <a:t> Ing2030.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014342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76722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537461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09423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En resumen,</a:t>
            </a:r>
            <a:r>
              <a:rPr lang="es-CL" baseline="0" dirty="0"/>
              <a:t> </a:t>
            </a:r>
            <a:r>
              <a:rPr lang="es-CL" baseline="0" dirty="0" err="1"/>
              <a:t>Telegraf</a:t>
            </a:r>
            <a:r>
              <a:rPr lang="es-CL" baseline="0" dirty="0"/>
              <a:t> nos ayuda a realizar esta recolección de datos. 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195566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495233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En resumen,</a:t>
            </a:r>
            <a:r>
              <a:rPr lang="es-CL" baseline="0" dirty="0"/>
              <a:t> </a:t>
            </a:r>
            <a:r>
              <a:rPr lang="es-CL" baseline="0" dirty="0" err="1"/>
              <a:t>Telegraf</a:t>
            </a:r>
            <a:r>
              <a:rPr lang="es-CL" baseline="0" dirty="0"/>
              <a:t> nos ayuda a realizar esta recolección de datos. 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835879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944022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En resumen,</a:t>
            </a:r>
            <a:r>
              <a:rPr lang="es-CL" baseline="0" dirty="0"/>
              <a:t> </a:t>
            </a:r>
            <a:r>
              <a:rPr lang="es-CL" baseline="0" dirty="0" err="1"/>
              <a:t>Telegraf</a:t>
            </a:r>
            <a:r>
              <a:rPr lang="es-CL" baseline="0" dirty="0"/>
              <a:t> nos ayuda a realizar esta recolección de datos. 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0352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Comenzaremos por </a:t>
            </a:r>
            <a:r>
              <a:rPr lang="es-CL" dirty="0" err="1"/>
              <a:t>Influx</a:t>
            </a:r>
            <a:r>
              <a:rPr lang="es-CL" baseline="0" dirty="0" err="1"/>
              <a:t>DB</a:t>
            </a:r>
            <a:r>
              <a:rPr lang="es-CL" baseline="0" dirty="0"/>
              <a:t>, para entender su lógica. 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035908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42642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899720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10904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png"/><Relationship Id="rId9" Type="http://schemas.openxmlformats.org/officeDocument/2006/relationships/image" Target="../media/image8.jp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/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1" y="3840480"/>
            <a:ext cx="853439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6/18/2026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8656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5952613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2910" y="1647156"/>
            <a:ext cx="10366180" cy="492443"/>
          </a:xfrm>
        </p:spPr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1" y="6190611"/>
            <a:ext cx="3901439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599" y="6191013"/>
            <a:ext cx="2804160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6/18/2026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190611"/>
            <a:ext cx="280416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579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6039105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4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33350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79" y="133350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4145281" y="6134101"/>
            <a:ext cx="3901439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609600" y="6134101"/>
            <a:ext cx="2804160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6/18/2026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8778240" y="6134101"/>
            <a:ext cx="280416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4777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6/18/2026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130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6039105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357119" y="1316735"/>
            <a:ext cx="7284720" cy="517956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451103" y="1570736"/>
            <a:ext cx="11098784" cy="19446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184912" y="1944623"/>
            <a:ext cx="11988800" cy="19811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03200" y="2544064"/>
            <a:ext cx="11738864" cy="319430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29616" y="4519168"/>
            <a:ext cx="11812016" cy="181660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6/18/2026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017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663303"/>
            <a:ext cx="9144000" cy="184666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6933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09600" y="6377941"/>
            <a:ext cx="2804160" cy="276999"/>
          </a:xfrm>
        </p:spPr>
        <p:txBody>
          <a:bodyPr/>
          <a:lstStyle/>
          <a:p>
            <a:fld id="{A9667479-CA72-4F5A-B46B-B4A3B031F1A0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18-06-2026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145281" y="6377941"/>
            <a:ext cx="3901439" cy="276999"/>
          </a:xfrm>
        </p:spPr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778240" y="6377941"/>
            <a:ext cx="2804160" cy="276999"/>
          </a:xfrm>
        </p:spPr>
        <p:txBody>
          <a:bodyPr/>
          <a:lstStyle/>
          <a:p>
            <a:fld id="{55F34035-2F18-467C-941C-89571A5FBF17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476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2910" y="1647157"/>
            <a:ext cx="1036618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1" y="6377941"/>
            <a:ext cx="390143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6/18/2026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9311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KZwr1xBDbBQ" TargetMode="External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60945" y="4845470"/>
            <a:ext cx="9144000" cy="738664"/>
          </a:xfrm>
        </p:spPr>
        <p:txBody>
          <a:bodyPr/>
          <a:lstStyle/>
          <a:p>
            <a:r>
              <a:rPr lang="es-CL" dirty="0"/>
              <a:t>INFO 209 – Taller de Bases de Datos</a:t>
            </a:r>
          </a:p>
          <a:p>
            <a:r>
              <a:rPr lang="es-CL" dirty="0"/>
              <a:t>Juan Pablo Salazar, 2026</a:t>
            </a:r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36945" y="2586633"/>
            <a:ext cx="12192000" cy="184665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ctr">
              <a:defRPr sz="4500" b="0" i="0">
                <a:solidFill>
                  <a:schemeClr val="bg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r>
              <a:rPr lang="es-CL" sz="6000" kern="0" dirty="0">
                <a:solidFill>
                  <a:prstClr val="black"/>
                </a:solidFill>
              </a:rPr>
              <a:t>Unidad 3. </a:t>
            </a:r>
          </a:p>
          <a:p>
            <a:r>
              <a:rPr lang="es-CL" sz="6000" kern="0" dirty="0">
                <a:solidFill>
                  <a:prstClr val="black"/>
                </a:solidFill>
              </a:rPr>
              <a:t>BD Series Temporales</a:t>
            </a:r>
            <a:endParaRPr lang="es-CL" sz="5400" kern="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6880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Monitoreo &amp; Observación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912909" y="1460543"/>
            <a:ext cx="10366180" cy="393954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b="1" dirty="0"/>
              <a:t>Monitoreo: </a:t>
            </a:r>
            <a:r>
              <a:rPr lang="es-CL" dirty="0"/>
              <a:t>Recopilación y análisis de métricas, registros y eventos, para:</a:t>
            </a:r>
          </a:p>
          <a:p>
            <a:pPr marL="1066785" lvl="1" indent="-457200">
              <a:buFont typeface="Arial" panose="020B0604020202020204" pitchFamily="34" charset="0"/>
              <a:buChar char="•"/>
            </a:pPr>
            <a:r>
              <a:rPr lang="es-CL" sz="2400" dirty="0"/>
              <a:t>Realizar un seguimiento del rendimiento del sistema, </a:t>
            </a:r>
          </a:p>
          <a:p>
            <a:pPr marL="1066785" lvl="1" indent="-457200">
              <a:buFont typeface="Arial" panose="020B0604020202020204" pitchFamily="34" charset="0"/>
              <a:buChar char="•"/>
            </a:pPr>
            <a:r>
              <a:rPr lang="es-CL" sz="2400" dirty="0"/>
              <a:t>Detectar problemas potenciales, y</a:t>
            </a:r>
          </a:p>
          <a:p>
            <a:pPr marL="1066785" lvl="1" indent="-457200">
              <a:buFont typeface="Arial" panose="020B0604020202020204" pitchFamily="34" charset="0"/>
              <a:buChar char="•"/>
            </a:pPr>
            <a:r>
              <a:rPr lang="es-CL" sz="2400" dirty="0"/>
              <a:t>Levantar alertas.</a:t>
            </a:r>
          </a:p>
          <a:p>
            <a:pPr lvl="1"/>
            <a:endParaRPr lang="es-CL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b="1" dirty="0"/>
              <a:t>Observación: </a:t>
            </a:r>
            <a:r>
              <a:rPr lang="es-CL" dirty="0"/>
              <a:t>El propósito es el diagnóstico, la comprensión del comportamiento de un sistema.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dirty="0"/>
          </a:p>
        </p:txBody>
      </p:sp>
      <p:sp>
        <p:nvSpPr>
          <p:cNvPr id="5" name="Rectángulo 4"/>
          <p:cNvSpPr/>
          <p:nvPr/>
        </p:nvSpPr>
        <p:spPr>
          <a:xfrm>
            <a:off x="1152562" y="6031206"/>
            <a:ext cx="98868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Fuente: </a:t>
            </a:r>
            <a:r>
              <a:rPr lang="en-US" dirty="0"/>
              <a:t>https://www.influxdata.com/blog/infrastructure-monitoring-basics-telegraf-influxdb-grafana/</a:t>
            </a:r>
          </a:p>
        </p:txBody>
      </p:sp>
    </p:spTree>
    <p:extLst>
      <p:ext uri="{BB962C8B-B14F-4D97-AF65-F5344CB8AC3E}">
        <p14:creationId xmlns:p14="http://schemas.microsoft.com/office/powerpoint/2010/main" val="2137471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¿Qué es una serie de datos temporales?</a:t>
            </a:r>
            <a:endParaRPr lang="en-US" dirty="0"/>
          </a:p>
        </p:txBody>
      </p:sp>
      <p:sp>
        <p:nvSpPr>
          <p:cNvPr id="5" name="Rectángulo 4"/>
          <p:cNvSpPr/>
          <p:nvPr/>
        </p:nvSpPr>
        <p:spPr>
          <a:xfrm>
            <a:off x="1152562" y="6031206"/>
            <a:ext cx="98868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Fuente</a:t>
            </a:r>
            <a:r>
              <a:rPr lang="en-US" dirty="0"/>
              <a:t>: https://www.youtube.com/watch?v=KZwr1xBDbBQ</a:t>
            </a:r>
          </a:p>
        </p:txBody>
      </p:sp>
      <p:pic>
        <p:nvPicPr>
          <p:cNvPr id="6" name="KZwr1xBDbBQ"/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908047" y="1118997"/>
            <a:ext cx="8375904" cy="4711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83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Arquitectura para monitoreo &amp; observación</a:t>
            </a:r>
            <a:endParaRPr lang="en-US" dirty="0"/>
          </a:p>
        </p:txBody>
      </p:sp>
      <p:sp>
        <p:nvSpPr>
          <p:cNvPr id="7" name="CuadroTexto 6"/>
          <p:cNvSpPr txBox="1"/>
          <p:nvPr/>
        </p:nvSpPr>
        <p:spPr>
          <a:xfrm>
            <a:off x="1847088" y="1438208"/>
            <a:ext cx="19984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200" b="1" dirty="0"/>
              <a:t>TIG </a:t>
            </a:r>
            <a:r>
              <a:rPr lang="es-CL" sz="3200" b="1" dirty="0" err="1"/>
              <a:t>Stack</a:t>
            </a:r>
            <a:endParaRPr lang="en-US" sz="2400" b="1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6054" y="2358264"/>
            <a:ext cx="6599889" cy="3972854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1152562" y="6342102"/>
            <a:ext cx="98868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Fuente: </a:t>
            </a:r>
            <a:r>
              <a:rPr lang="en-US" dirty="0"/>
              <a:t>https://www.influxdata.com/blog/infrastructure-monitoring-basics-telegraf-influxdb-grafana/</a:t>
            </a: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0878" y="1190358"/>
            <a:ext cx="3562847" cy="100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789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984885"/>
          </a:xfrm>
        </p:spPr>
        <p:txBody>
          <a:bodyPr/>
          <a:lstStyle/>
          <a:p>
            <a:r>
              <a:rPr lang="es-CL" sz="2800" dirty="0"/>
              <a:t>Arquitectura para monitoreo &amp; observación</a:t>
            </a:r>
            <a:br>
              <a:rPr lang="es-CL" dirty="0"/>
            </a:br>
            <a:r>
              <a:rPr lang="es-CL" b="1" dirty="0" err="1"/>
              <a:t>Telegraf</a:t>
            </a:r>
            <a:endParaRPr lang="en-US" b="1" dirty="0"/>
          </a:p>
        </p:txBody>
      </p:sp>
      <p:sp>
        <p:nvSpPr>
          <p:cNvPr id="5" name="Rectángulo 4"/>
          <p:cNvSpPr/>
          <p:nvPr/>
        </p:nvSpPr>
        <p:spPr>
          <a:xfrm>
            <a:off x="1152562" y="6342102"/>
            <a:ext cx="98868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Fuente: </a:t>
            </a:r>
            <a:r>
              <a:rPr lang="en-US" dirty="0"/>
              <a:t>https://www.influxdata.com/blog/infrastructure-monitoring-basics-telegraf-influxdb-grafana/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2724" y="1245223"/>
            <a:ext cx="2599769" cy="729882"/>
          </a:xfrm>
          <a:prstGeom prst="rect">
            <a:avLst/>
          </a:prstGeom>
        </p:spPr>
      </p:pic>
      <p:sp>
        <p:nvSpPr>
          <p:cNvPr id="10" name="Marcador de contenido 2"/>
          <p:cNvSpPr txBox="1">
            <a:spLocks/>
          </p:cNvSpPr>
          <p:nvPr/>
        </p:nvSpPr>
        <p:spPr>
          <a:xfrm>
            <a:off x="912909" y="1460542"/>
            <a:ext cx="7133811" cy="4592785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609585">
              <a:defRPr>
                <a:latin typeface="+mn-lt"/>
                <a:ea typeface="+mn-ea"/>
                <a:cs typeface="+mn-cs"/>
              </a:defRPr>
            </a:lvl2pPr>
            <a:lvl3pPr marL="1219170">
              <a:defRPr>
                <a:latin typeface="+mn-lt"/>
                <a:ea typeface="+mn-ea"/>
                <a:cs typeface="+mn-cs"/>
              </a:defRPr>
            </a:lvl3pPr>
            <a:lvl4pPr marL="1828754">
              <a:defRPr>
                <a:latin typeface="+mn-lt"/>
                <a:ea typeface="+mn-ea"/>
                <a:cs typeface="+mn-cs"/>
              </a:defRPr>
            </a:lvl4pPr>
            <a:lvl5pPr marL="2438339">
              <a:defRPr>
                <a:latin typeface="+mn-lt"/>
                <a:ea typeface="+mn-ea"/>
                <a:cs typeface="+mn-cs"/>
              </a:defRPr>
            </a:lvl5pPr>
            <a:lvl6pPr marL="3047924">
              <a:defRPr>
                <a:latin typeface="+mn-lt"/>
                <a:ea typeface="+mn-ea"/>
                <a:cs typeface="+mn-cs"/>
              </a:defRPr>
            </a:lvl6pPr>
            <a:lvl7pPr marL="3657509">
              <a:defRPr>
                <a:latin typeface="+mn-lt"/>
                <a:ea typeface="+mn-ea"/>
                <a:cs typeface="+mn-cs"/>
              </a:defRPr>
            </a:lvl7pPr>
            <a:lvl8pPr marL="4267093">
              <a:defRPr>
                <a:latin typeface="+mn-lt"/>
                <a:ea typeface="+mn-ea"/>
                <a:cs typeface="+mn-cs"/>
              </a:defRPr>
            </a:lvl8pPr>
            <a:lvl9pPr marL="4876678">
              <a:defRPr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400" kern="0" dirty="0">
                <a:solidFill>
                  <a:sysClr val="windowText" lastClr="000000"/>
                </a:solidFill>
              </a:rPr>
              <a:t>Open </a:t>
            </a:r>
            <a:r>
              <a:rPr lang="es-CL" sz="2400" kern="0" dirty="0" err="1">
                <a:solidFill>
                  <a:sysClr val="windowText" lastClr="000000"/>
                </a:solidFill>
              </a:rPr>
              <a:t>source</a:t>
            </a:r>
            <a:r>
              <a:rPr lang="es-CL" sz="2400" kern="0" dirty="0">
                <a:solidFill>
                  <a:sysClr val="windowText" lastClr="000000"/>
                </a:solidFill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400" kern="0" dirty="0">
                <a:solidFill>
                  <a:sysClr val="windowText" lastClr="000000"/>
                </a:solidFill>
              </a:rPr>
              <a:t>Agente que recolecta métricas y eventos.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400" kern="0" dirty="0">
                <a:solidFill>
                  <a:sysClr val="windowText" lastClr="000000"/>
                </a:solidFill>
              </a:rPr>
              <a:t>Posee más de 300 </a:t>
            </a:r>
            <a:r>
              <a:rPr lang="es-CL" sz="2400" kern="0" dirty="0" err="1">
                <a:solidFill>
                  <a:sysClr val="windowText" lastClr="000000"/>
                </a:solidFill>
              </a:rPr>
              <a:t>plugins</a:t>
            </a:r>
            <a:r>
              <a:rPr lang="es-CL" sz="2400" kern="0" dirty="0">
                <a:solidFill>
                  <a:sysClr val="windowText" lastClr="000000"/>
                </a:solidFill>
              </a:rPr>
              <a:t> que permiten:</a:t>
            </a:r>
          </a:p>
          <a:p>
            <a:pPr marL="1066785" lvl="1" indent="-457200">
              <a:buFont typeface="Arial" panose="020B0604020202020204" pitchFamily="34" charset="0"/>
              <a:buChar char="•"/>
            </a:pPr>
            <a:r>
              <a:rPr lang="es-CL" sz="2400" kern="0" dirty="0">
                <a:solidFill>
                  <a:sysClr val="windowText" lastClr="000000"/>
                </a:solidFill>
              </a:rPr>
              <a:t>Leer,</a:t>
            </a:r>
          </a:p>
          <a:p>
            <a:pPr marL="1066785" lvl="1" indent="-457200">
              <a:buFont typeface="Arial" panose="020B0604020202020204" pitchFamily="34" charset="0"/>
              <a:buChar char="•"/>
            </a:pPr>
            <a:r>
              <a:rPr lang="es-CL" sz="2400" kern="0" dirty="0">
                <a:solidFill>
                  <a:sysClr val="windowText" lastClr="000000"/>
                </a:solidFill>
              </a:rPr>
              <a:t>Transformar, y</a:t>
            </a:r>
          </a:p>
          <a:p>
            <a:pPr marL="1066785" lvl="1" indent="-457200">
              <a:buFont typeface="Arial" panose="020B0604020202020204" pitchFamily="34" charset="0"/>
              <a:buChar char="•"/>
            </a:pPr>
            <a:r>
              <a:rPr lang="es-CL" sz="2400" kern="0" dirty="0">
                <a:solidFill>
                  <a:sysClr val="windowText" lastClr="000000"/>
                </a:solidFill>
              </a:rPr>
              <a:t>Entregar datos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400" kern="0" dirty="0">
                <a:solidFill>
                  <a:sysClr val="windowText" lastClr="000000"/>
                </a:solidFill>
              </a:rPr>
              <a:t>Puede leer múltiples formatos, entre ellos CSV, XML, JSON.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400" kern="0" dirty="0">
                <a:solidFill>
                  <a:sysClr val="windowText" lastClr="000000"/>
                </a:solidFill>
              </a:rPr>
              <a:t>Posee </a:t>
            </a:r>
            <a:r>
              <a:rPr lang="es-CL" sz="2400" kern="0" dirty="0" err="1">
                <a:solidFill>
                  <a:sysClr val="windowText" lastClr="000000"/>
                </a:solidFill>
              </a:rPr>
              <a:t>plugins</a:t>
            </a:r>
            <a:r>
              <a:rPr lang="es-CL" sz="2400" kern="0" dirty="0">
                <a:solidFill>
                  <a:sysClr val="windowText" lastClr="000000"/>
                </a:solidFill>
              </a:rPr>
              <a:t> que permiten monitorear parámetros de diferentes sistemas (hardware, sistemas operativos, bases de datos, entre otros).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kern="0" dirty="0">
              <a:solidFill>
                <a:sysClr val="windowText" lastClr="0000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kern="0" dirty="0">
              <a:solidFill>
                <a:sysClr val="windowText" lastClr="000000"/>
              </a:solidFill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9583384" y="1975105"/>
            <a:ext cx="19984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200" b="1" dirty="0"/>
              <a:t>TIG </a:t>
            </a:r>
            <a:r>
              <a:rPr lang="es-CL" sz="3200" b="1" dirty="0" err="1"/>
              <a:t>Stack</a:t>
            </a:r>
            <a:endParaRPr lang="en-US" sz="2400" b="1" dirty="0"/>
          </a:p>
        </p:txBody>
      </p:sp>
      <p:sp>
        <p:nvSpPr>
          <p:cNvPr id="13" name="Rectángulo redondeado 12"/>
          <p:cNvSpPr/>
          <p:nvPr/>
        </p:nvSpPr>
        <p:spPr>
          <a:xfrm>
            <a:off x="9125711" y="1245223"/>
            <a:ext cx="1127531" cy="834064"/>
          </a:xfrm>
          <a:prstGeom prst="roundRect">
            <a:avLst/>
          </a:prstGeom>
          <a:solidFill>
            <a:schemeClr val="accent1">
              <a:alpha val="17000"/>
            </a:schemeClr>
          </a:solidFill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872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984885"/>
          </a:xfrm>
        </p:spPr>
        <p:txBody>
          <a:bodyPr/>
          <a:lstStyle/>
          <a:p>
            <a:r>
              <a:rPr lang="es-CL" sz="2800" dirty="0"/>
              <a:t>Arquitectura para monitoreo &amp; observación</a:t>
            </a:r>
            <a:br>
              <a:rPr lang="es-CL" dirty="0"/>
            </a:br>
            <a:r>
              <a:rPr lang="es-CL" b="1" dirty="0" err="1"/>
              <a:t>Telegraf</a:t>
            </a:r>
            <a:endParaRPr lang="en-US" b="1" dirty="0"/>
          </a:p>
        </p:txBody>
      </p:sp>
      <p:sp>
        <p:nvSpPr>
          <p:cNvPr id="5" name="Rectángulo 4"/>
          <p:cNvSpPr/>
          <p:nvPr/>
        </p:nvSpPr>
        <p:spPr>
          <a:xfrm>
            <a:off x="1152562" y="6342102"/>
            <a:ext cx="98868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Fuente: </a:t>
            </a:r>
            <a:r>
              <a:rPr lang="en-US" dirty="0"/>
              <a:t>https://www.influxdata.com/blog/infrastructure-monitoring-basics-telegraf-influxdb-grafana/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2724" y="1245223"/>
            <a:ext cx="2599769" cy="729882"/>
          </a:xfrm>
          <a:prstGeom prst="rect">
            <a:avLst/>
          </a:prstGeom>
        </p:spPr>
      </p:pic>
      <p:sp>
        <p:nvSpPr>
          <p:cNvPr id="10" name="Marcador de contenido 2"/>
          <p:cNvSpPr txBox="1">
            <a:spLocks/>
          </p:cNvSpPr>
          <p:nvPr/>
        </p:nvSpPr>
        <p:spPr>
          <a:xfrm>
            <a:off x="162224" y="5037366"/>
            <a:ext cx="11419607" cy="825458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609585">
              <a:defRPr>
                <a:latin typeface="+mn-lt"/>
                <a:ea typeface="+mn-ea"/>
                <a:cs typeface="+mn-cs"/>
              </a:defRPr>
            </a:lvl2pPr>
            <a:lvl3pPr marL="1219170">
              <a:defRPr>
                <a:latin typeface="+mn-lt"/>
                <a:ea typeface="+mn-ea"/>
                <a:cs typeface="+mn-cs"/>
              </a:defRPr>
            </a:lvl3pPr>
            <a:lvl4pPr marL="1828754">
              <a:defRPr>
                <a:latin typeface="+mn-lt"/>
                <a:ea typeface="+mn-ea"/>
                <a:cs typeface="+mn-cs"/>
              </a:defRPr>
            </a:lvl4pPr>
            <a:lvl5pPr marL="2438339">
              <a:defRPr>
                <a:latin typeface="+mn-lt"/>
                <a:ea typeface="+mn-ea"/>
                <a:cs typeface="+mn-cs"/>
              </a:defRPr>
            </a:lvl5pPr>
            <a:lvl6pPr marL="3047924">
              <a:defRPr>
                <a:latin typeface="+mn-lt"/>
                <a:ea typeface="+mn-ea"/>
                <a:cs typeface="+mn-cs"/>
              </a:defRPr>
            </a:lvl6pPr>
            <a:lvl7pPr marL="3657509">
              <a:defRPr>
                <a:latin typeface="+mn-lt"/>
                <a:ea typeface="+mn-ea"/>
                <a:cs typeface="+mn-cs"/>
              </a:defRPr>
            </a:lvl7pPr>
            <a:lvl8pPr marL="4267093">
              <a:defRPr>
                <a:latin typeface="+mn-lt"/>
                <a:ea typeface="+mn-ea"/>
                <a:cs typeface="+mn-cs"/>
              </a:defRPr>
            </a:lvl8pPr>
            <a:lvl9pPr marL="4876678">
              <a:defRPr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400" kern="0" dirty="0" err="1">
                <a:solidFill>
                  <a:sysClr val="windowText" lastClr="000000"/>
                </a:solidFill>
              </a:rPr>
              <a:t>Telegraf</a:t>
            </a:r>
            <a:r>
              <a:rPr lang="es-CL" sz="2400" kern="0" dirty="0">
                <a:solidFill>
                  <a:sysClr val="windowText" lastClr="000000"/>
                </a:solidFill>
              </a:rPr>
              <a:t> puede realizar operaciones de transformación en los datos.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400" kern="0" dirty="0">
                <a:solidFill>
                  <a:sysClr val="windowText" lastClr="000000"/>
                </a:solidFill>
              </a:rPr>
              <a:t>Podemos decidir escribir o no en </a:t>
            </a:r>
            <a:r>
              <a:rPr lang="es-CL" sz="2400" kern="0" dirty="0" err="1">
                <a:solidFill>
                  <a:sysClr val="windowText" lastClr="000000"/>
                </a:solidFill>
              </a:rPr>
              <a:t>InfluxDB</a:t>
            </a:r>
            <a:r>
              <a:rPr lang="es-CL" sz="2400" kern="0" dirty="0">
                <a:solidFill>
                  <a:sysClr val="windowText" lastClr="000000"/>
                </a:solidFill>
              </a:rPr>
              <a:t>, en función de ciertas reglas. </a:t>
            </a:r>
            <a:endParaRPr lang="es-CL" kern="0" dirty="0">
              <a:solidFill>
                <a:sysClr val="windowText" lastClr="000000"/>
              </a:solidFill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9583384" y="1975105"/>
            <a:ext cx="19984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200" b="1" dirty="0"/>
              <a:t>TIG </a:t>
            </a:r>
            <a:r>
              <a:rPr lang="es-CL" sz="3200" b="1" dirty="0" err="1"/>
              <a:t>Stack</a:t>
            </a:r>
            <a:endParaRPr lang="en-US" sz="2400" b="1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224" y="1695169"/>
            <a:ext cx="8970170" cy="3294198"/>
          </a:xfrm>
          <a:prstGeom prst="rect">
            <a:avLst/>
          </a:prstGeom>
        </p:spPr>
      </p:pic>
      <p:sp>
        <p:nvSpPr>
          <p:cNvPr id="9" name="Rectángulo redondeado 8"/>
          <p:cNvSpPr/>
          <p:nvPr/>
        </p:nvSpPr>
        <p:spPr>
          <a:xfrm>
            <a:off x="9125711" y="1245223"/>
            <a:ext cx="1127531" cy="834064"/>
          </a:xfrm>
          <a:prstGeom prst="roundRect">
            <a:avLst/>
          </a:prstGeom>
          <a:solidFill>
            <a:schemeClr val="accent1">
              <a:alpha val="17000"/>
            </a:schemeClr>
          </a:solidFill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83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Arquitectura para monitoreo &amp; observación</a:t>
            </a:r>
            <a:endParaRPr lang="en-US" dirty="0"/>
          </a:p>
        </p:txBody>
      </p:sp>
      <p:sp>
        <p:nvSpPr>
          <p:cNvPr id="7" name="CuadroTexto 6"/>
          <p:cNvSpPr txBox="1"/>
          <p:nvPr/>
        </p:nvSpPr>
        <p:spPr>
          <a:xfrm>
            <a:off x="1847088" y="1438208"/>
            <a:ext cx="19984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200" b="1" dirty="0"/>
              <a:t>TIG </a:t>
            </a:r>
            <a:r>
              <a:rPr lang="es-CL" sz="3200" b="1" dirty="0" err="1"/>
              <a:t>Stack</a:t>
            </a:r>
            <a:endParaRPr lang="en-US" sz="2400" b="1" dirty="0"/>
          </a:p>
        </p:txBody>
      </p:sp>
      <p:sp>
        <p:nvSpPr>
          <p:cNvPr id="5" name="Rectángulo 4"/>
          <p:cNvSpPr/>
          <p:nvPr/>
        </p:nvSpPr>
        <p:spPr>
          <a:xfrm>
            <a:off x="1152562" y="6342102"/>
            <a:ext cx="98868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Fuente: </a:t>
            </a:r>
            <a:r>
              <a:rPr lang="en-US" dirty="0"/>
              <a:t>https://www.influxdata.com/blog/infrastructure-monitoring-basics-telegraf-influxdb-grafana/</a:t>
            </a: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0878" y="1190358"/>
            <a:ext cx="3562847" cy="1000265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0672" y="2324504"/>
            <a:ext cx="6473952" cy="3849958"/>
          </a:xfrm>
          <a:prstGeom prst="rect">
            <a:avLst/>
          </a:prstGeom>
        </p:spPr>
      </p:pic>
      <p:sp>
        <p:nvSpPr>
          <p:cNvPr id="8" name="Rectángulo redondeado 7"/>
          <p:cNvSpPr/>
          <p:nvPr/>
        </p:nvSpPr>
        <p:spPr>
          <a:xfrm>
            <a:off x="4297679" y="1190358"/>
            <a:ext cx="1127531" cy="834064"/>
          </a:xfrm>
          <a:prstGeom prst="roundRect">
            <a:avLst/>
          </a:prstGeom>
          <a:solidFill>
            <a:schemeClr val="accent1">
              <a:alpha val="17000"/>
            </a:schemeClr>
          </a:solidFill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3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984885"/>
          </a:xfrm>
        </p:spPr>
        <p:txBody>
          <a:bodyPr/>
          <a:lstStyle/>
          <a:p>
            <a:r>
              <a:rPr lang="es-CL" sz="2800" dirty="0"/>
              <a:t>Arquitectura para monitoreo &amp; observación</a:t>
            </a:r>
            <a:br>
              <a:rPr lang="es-CL" dirty="0"/>
            </a:br>
            <a:r>
              <a:rPr lang="es-CL" b="1" dirty="0" err="1"/>
              <a:t>InfluxDB</a:t>
            </a:r>
            <a:endParaRPr lang="en-US" b="1" dirty="0"/>
          </a:p>
        </p:txBody>
      </p:sp>
      <p:sp>
        <p:nvSpPr>
          <p:cNvPr id="5" name="Rectángulo 4"/>
          <p:cNvSpPr/>
          <p:nvPr/>
        </p:nvSpPr>
        <p:spPr>
          <a:xfrm>
            <a:off x="1152562" y="6342102"/>
            <a:ext cx="98868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Fuente: </a:t>
            </a:r>
            <a:r>
              <a:rPr lang="en-US" dirty="0"/>
              <a:t>https://www.influxdata.com/blog/infrastructure-monitoring-basics-telegraf-influxdb-grafana/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2724" y="1245223"/>
            <a:ext cx="2599769" cy="729882"/>
          </a:xfrm>
          <a:prstGeom prst="rect">
            <a:avLst/>
          </a:prstGeom>
        </p:spPr>
      </p:pic>
      <p:sp>
        <p:nvSpPr>
          <p:cNvPr id="10" name="Marcador de contenido 2"/>
          <p:cNvSpPr txBox="1">
            <a:spLocks/>
          </p:cNvSpPr>
          <p:nvPr/>
        </p:nvSpPr>
        <p:spPr>
          <a:xfrm>
            <a:off x="912909" y="1460542"/>
            <a:ext cx="7792179" cy="4592785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609585">
              <a:defRPr>
                <a:latin typeface="+mn-lt"/>
                <a:ea typeface="+mn-ea"/>
                <a:cs typeface="+mn-cs"/>
              </a:defRPr>
            </a:lvl2pPr>
            <a:lvl3pPr marL="1219170">
              <a:defRPr>
                <a:latin typeface="+mn-lt"/>
                <a:ea typeface="+mn-ea"/>
                <a:cs typeface="+mn-cs"/>
              </a:defRPr>
            </a:lvl3pPr>
            <a:lvl4pPr marL="1828754">
              <a:defRPr>
                <a:latin typeface="+mn-lt"/>
                <a:ea typeface="+mn-ea"/>
                <a:cs typeface="+mn-cs"/>
              </a:defRPr>
            </a:lvl4pPr>
            <a:lvl5pPr marL="2438339">
              <a:defRPr>
                <a:latin typeface="+mn-lt"/>
                <a:ea typeface="+mn-ea"/>
                <a:cs typeface="+mn-cs"/>
              </a:defRPr>
            </a:lvl5pPr>
            <a:lvl6pPr marL="3047924">
              <a:defRPr>
                <a:latin typeface="+mn-lt"/>
                <a:ea typeface="+mn-ea"/>
                <a:cs typeface="+mn-cs"/>
              </a:defRPr>
            </a:lvl6pPr>
            <a:lvl7pPr marL="3657509">
              <a:defRPr>
                <a:latin typeface="+mn-lt"/>
                <a:ea typeface="+mn-ea"/>
                <a:cs typeface="+mn-cs"/>
              </a:defRPr>
            </a:lvl7pPr>
            <a:lvl8pPr marL="4267093">
              <a:defRPr>
                <a:latin typeface="+mn-lt"/>
                <a:ea typeface="+mn-ea"/>
                <a:cs typeface="+mn-cs"/>
              </a:defRPr>
            </a:lvl8pPr>
            <a:lvl9pPr marL="4876678">
              <a:defRPr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400" kern="0" dirty="0">
                <a:solidFill>
                  <a:sysClr val="windowText" lastClr="000000"/>
                </a:solidFill>
              </a:rPr>
              <a:t>Esquema de datos muy simple, e implícito.</a:t>
            </a:r>
          </a:p>
          <a:p>
            <a:pPr marL="1066785" lvl="1" indent="-457200">
              <a:buFont typeface="Arial" panose="020B0604020202020204" pitchFamily="34" charset="0"/>
              <a:buChar char="•"/>
            </a:pPr>
            <a:r>
              <a:rPr lang="es-CL" sz="2400" kern="0" dirty="0">
                <a:solidFill>
                  <a:sysClr val="windowText" lastClr="000000"/>
                </a:solidFill>
              </a:rPr>
              <a:t>Registro de eventos.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400" kern="0" dirty="0">
                <a:solidFill>
                  <a:sysClr val="windowText" lastClr="000000"/>
                </a:solidFill>
              </a:rPr>
              <a:t>Muy rápida en escritura.</a:t>
            </a:r>
          </a:p>
          <a:p>
            <a:pPr marL="1066785" lvl="1" indent="-457200">
              <a:buFont typeface="Arial" panose="020B0604020202020204" pitchFamily="34" charset="0"/>
              <a:buChar char="•"/>
            </a:pPr>
            <a:r>
              <a:rPr lang="es-CL" sz="2400" kern="0" dirty="0">
                <a:solidFill>
                  <a:sysClr val="windowText" lastClr="000000"/>
                </a:solidFill>
              </a:rPr>
              <a:t>Puede recibir millones de registros por segundo.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400" kern="0" dirty="0">
                <a:solidFill>
                  <a:sysClr val="windowText" lastClr="000000"/>
                </a:solidFill>
              </a:rPr>
              <a:t>Muy rápida en consulta.</a:t>
            </a:r>
          </a:p>
          <a:p>
            <a:pPr marL="1066785" lvl="1" indent="-457200">
              <a:buFont typeface="Arial" panose="020B0604020202020204" pitchFamily="34" charset="0"/>
              <a:buChar char="•"/>
            </a:pPr>
            <a:r>
              <a:rPr lang="es-CL" sz="2400" kern="0" dirty="0">
                <a:solidFill>
                  <a:sysClr val="windowText" lastClr="000000"/>
                </a:solidFill>
              </a:rPr>
              <a:t>Tiempo de respuesta del orden de milisegundos.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400" kern="0" dirty="0">
                <a:solidFill>
                  <a:sysClr val="windowText" lastClr="000000"/>
                </a:solidFill>
              </a:rPr>
              <a:t>Lenguaje de consulta sencillo.</a:t>
            </a:r>
          </a:p>
          <a:p>
            <a:pPr marL="1066785" lvl="1" indent="-457200">
              <a:buFont typeface="Arial" panose="020B0604020202020204" pitchFamily="34" charset="0"/>
              <a:buChar char="•"/>
            </a:pPr>
            <a:r>
              <a:rPr lang="es-CL" sz="2400" kern="0" dirty="0">
                <a:solidFill>
                  <a:sysClr val="windowText" lastClr="000000"/>
                </a:solidFill>
              </a:rPr>
              <a:t>Permite el uso de SQL.</a:t>
            </a:r>
          </a:p>
          <a:p>
            <a:pPr marL="1066785" lvl="1" indent="-457200">
              <a:buFont typeface="Arial" panose="020B0604020202020204" pitchFamily="34" charset="0"/>
              <a:buChar char="•"/>
            </a:pPr>
            <a:r>
              <a:rPr lang="es-CL" sz="2400" kern="0" dirty="0">
                <a:solidFill>
                  <a:sysClr val="windowText" lastClr="000000"/>
                </a:solidFill>
              </a:rPr>
              <a:t>El lenguaje </a:t>
            </a:r>
            <a:r>
              <a:rPr lang="es-CL" sz="2400" kern="0" dirty="0" err="1">
                <a:solidFill>
                  <a:sysClr val="windowText" lastClr="000000"/>
                </a:solidFill>
              </a:rPr>
              <a:t>InfluxQL</a:t>
            </a:r>
            <a:r>
              <a:rPr lang="es-CL" sz="2400" kern="0" dirty="0">
                <a:solidFill>
                  <a:sysClr val="windowText" lastClr="000000"/>
                </a:solidFill>
              </a:rPr>
              <a:t> está especialmente diseñado para este tipo de bases de datos.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sz="2400" kern="0" dirty="0">
              <a:solidFill>
                <a:sysClr val="windowText" lastClr="0000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kern="0" dirty="0">
              <a:solidFill>
                <a:sysClr val="windowText" lastClr="0000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kern="0" dirty="0">
              <a:solidFill>
                <a:sysClr val="windowText" lastClr="000000"/>
              </a:solidFill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9583384" y="1975105"/>
            <a:ext cx="19984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200" b="1" dirty="0"/>
              <a:t>TIG </a:t>
            </a:r>
            <a:r>
              <a:rPr lang="es-CL" sz="3200" b="1" dirty="0" err="1"/>
              <a:t>Stack</a:t>
            </a:r>
            <a:endParaRPr lang="en-US" sz="2400" b="1" dirty="0"/>
          </a:p>
        </p:txBody>
      </p:sp>
      <p:sp>
        <p:nvSpPr>
          <p:cNvPr id="7" name="Rectángulo redondeado 6"/>
          <p:cNvSpPr/>
          <p:nvPr/>
        </p:nvSpPr>
        <p:spPr>
          <a:xfrm>
            <a:off x="10186415" y="1245223"/>
            <a:ext cx="1127531" cy="834064"/>
          </a:xfrm>
          <a:prstGeom prst="roundRect">
            <a:avLst/>
          </a:prstGeom>
          <a:solidFill>
            <a:schemeClr val="accent1">
              <a:alpha val="17000"/>
            </a:schemeClr>
          </a:solidFill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024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Arquitectura para monitoreo &amp; observación</a:t>
            </a:r>
            <a:endParaRPr lang="en-US" dirty="0"/>
          </a:p>
        </p:txBody>
      </p:sp>
      <p:sp>
        <p:nvSpPr>
          <p:cNvPr id="7" name="CuadroTexto 6"/>
          <p:cNvSpPr txBox="1"/>
          <p:nvPr/>
        </p:nvSpPr>
        <p:spPr>
          <a:xfrm>
            <a:off x="1847088" y="1438208"/>
            <a:ext cx="19984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200" b="1" dirty="0"/>
              <a:t>TIG </a:t>
            </a:r>
            <a:r>
              <a:rPr lang="es-CL" sz="3200" b="1" dirty="0" err="1"/>
              <a:t>Stack</a:t>
            </a:r>
            <a:endParaRPr lang="en-US" sz="2400" b="1" dirty="0"/>
          </a:p>
        </p:txBody>
      </p:sp>
      <p:sp>
        <p:nvSpPr>
          <p:cNvPr id="5" name="Rectángulo 4"/>
          <p:cNvSpPr/>
          <p:nvPr/>
        </p:nvSpPr>
        <p:spPr>
          <a:xfrm>
            <a:off x="1152562" y="6342102"/>
            <a:ext cx="98868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Fuente: </a:t>
            </a:r>
            <a:r>
              <a:rPr lang="en-US" dirty="0"/>
              <a:t>https://www.influxdata.com/blog/infrastructure-monitoring-basics-telegraf-influxdb-grafana/</a:t>
            </a: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0878" y="1190358"/>
            <a:ext cx="3562847" cy="1000265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9790" y="2300708"/>
            <a:ext cx="6172417" cy="3763669"/>
          </a:xfrm>
          <a:prstGeom prst="rect">
            <a:avLst/>
          </a:prstGeom>
        </p:spPr>
      </p:pic>
      <p:sp>
        <p:nvSpPr>
          <p:cNvPr id="8" name="Rectángulo redondeado 7"/>
          <p:cNvSpPr/>
          <p:nvPr/>
        </p:nvSpPr>
        <p:spPr>
          <a:xfrm>
            <a:off x="5833871" y="1273374"/>
            <a:ext cx="1127531" cy="834064"/>
          </a:xfrm>
          <a:prstGeom prst="roundRect">
            <a:avLst/>
          </a:prstGeom>
          <a:solidFill>
            <a:schemeClr val="accent1">
              <a:alpha val="17000"/>
            </a:schemeClr>
          </a:solidFill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778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984885"/>
          </a:xfrm>
        </p:spPr>
        <p:txBody>
          <a:bodyPr/>
          <a:lstStyle/>
          <a:p>
            <a:r>
              <a:rPr lang="es-CL" sz="2800" dirty="0"/>
              <a:t>Arquitectura para monitoreo &amp; observación</a:t>
            </a:r>
            <a:br>
              <a:rPr lang="es-CL" dirty="0"/>
            </a:br>
            <a:r>
              <a:rPr lang="es-CL" b="1" dirty="0" err="1"/>
              <a:t>Grafana</a:t>
            </a:r>
            <a:endParaRPr lang="en-US" b="1" dirty="0"/>
          </a:p>
        </p:txBody>
      </p:sp>
      <p:sp>
        <p:nvSpPr>
          <p:cNvPr id="5" name="Rectángulo 4"/>
          <p:cNvSpPr/>
          <p:nvPr/>
        </p:nvSpPr>
        <p:spPr>
          <a:xfrm>
            <a:off x="1152562" y="6342102"/>
            <a:ext cx="98868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Fuente: </a:t>
            </a:r>
            <a:r>
              <a:rPr lang="en-US" dirty="0"/>
              <a:t>https://www.influxdata.com/blog/infrastructure-monitoring-basics-telegraf-influxdb-grafana/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2724" y="1245223"/>
            <a:ext cx="2599769" cy="729882"/>
          </a:xfrm>
          <a:prstGeom prst="rect">
            <a:avLst/>
          </a:prstGeom>
        </p:spPr>
      </p:pic>
      <p:sp>
        <p:nvSpPr>
          <p:cNvPr id="10" name="Marcador de contenido 2"/>
          <p:cNvSpPr txBox="1">
            <a:spLocks/>
          </p:cNvSpPr>
          <p:nvPr/>
        </p:nvSpPr>
        <p:spPr>
          <a:xfrm>
            <a:off x="912909" y="1460542"/>
            <a:ext cx="8069153" cy="4592785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609585">
              <a:defRPr>
                <a:latin typeface="+mn-lt"/>
                <a:ea typeface="+mn-ea"/>
                <a:cs typeface="+mn-cs"/>
              </a:defRPr>
            </a:lvl2pPr>
            <a:lvl3pPr marL="1219170">
              <a:defRPr>
                <a:latin typeface="+mn-lt"/>
                <a:ea typeface="+mn-ea"/>
                <a:cs typeface="+mn-cs"/>
              </a:defRPr>
            </a:lvl3pPr>
            <a:lvl4pPr marL="1828754">
              <a:defRPr>
                <a:latin typeface="+mn-lt"/>
                <a:ea typeface="+mn-ea"/>
                <a:cs typeface="+mn-cs"/>
              </a:defRPr>
            </a:lvl4pPr>
            <a:lvl5pPr marL="2438339">
              <a:defRPr>
                <a:latin typeface="+mn-lt"/>
                <a:ea typeface="+mn-ea"/>
                <a:cs typeface="+mn-cs"/>
              </a:defRPr>
            </a:lvl5pPr>
            <a:lvl6pPr marL="3047924">
              <a:defRPr>
                <a:latin typeface="+mn-lt"/>
                <a:ea typeface="+mn-ea"/>
                <a:cs typeface="+mn-cs"/>
              </a:defRPr>
            </a:lvl6pPr>
            <a:lvl7pPr marL="3657509">
              <a:defRPr>
                <a:latin typeface="+mn-lt"/>
                <a:ea typeface="+mn-ea"/>
                <a:cs typeface="+mn-cs"/>
              </a:defRPr>
            </a:lvl7pPr>
            <a:lvl8pPr marL="4267093">
              <a:defRPr>
                <a:latin typeface="+mn-lt"/>
                <a:ea typeface="+mn-ea"/>
                <a:cs typeface="+mn-cs"/>
              </a:defRPr>
            </a:lvl8pPr>
            <a:lvl9pPr marL="4876678">
              <a:defRPr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400" kern="0" dirty="0">
                <a:solidFill>
                  <a:sysClr val="windowText" lastClr="000000"/>
                </a:solidFill>
              </a:rPr>
              <a:t>Plataforma de monitoreo y visualización de datos.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400" kern="0" dirty="0">
                <a:solidFill>
                  <a:sysClr val="windowText" lastClr="000000"/>
                </a:solidFill>
              </a:rPr>
              <a:t>Permite crear </a:t>
            </a:r>
            <a:r>
              <a:rPr lang="es-CL" sz="2400" kern="0" dirty="0" err="1">
                <a:solidFill>
                  <a:sysClr val="windowText" lastClr="000000"/>
                </a:solidFill>
              </a:rPr>
              <a:t>dashboards</a:t>
            </a:r>
            <a:r>
              <a:rPr lang="es-CL" sz="2400" kern="0" dirty="0">
                <a:solidFill>
                  <a:sysClr val="windowText" lastClr="000000"/>
                </a:solidFill>
              </a:rPr>
              <a:t> interactivos para:</a:t>
            </a:r>
          </a:p>
          <a:p>
            <a:pPr marL="1066785" lvl="1" indent="-457200">
              <a:buFont typeface="Arial" panose="020B0604020202020204" pitchFamily="34" charset="0"/>
              <a:buChar char="•"/>
            </a:pPr>
            <a:r>
              <a:rPr lang="es-CL" sz="2400" kern="0" dirty="0">
                <a:solidFill>
                  <a:sysClr val="windowText" lastClr="000000"/>
                </a:solidFill>
              </a:rPr>
              <a:t>Análisis de datos.</a:t>
            </a:r>
          </a:p>
          <a:p>
            <a:pPr marL="1066785" lvl="1" indent="-457200">
              <a:buFont typeface="Arial" panose="020B0604020202020204" pitchFamily="34" charset="0"/>
              <a:buChar char="•"/>
            </a:pPr>
            <a:r>
              <a:rPr lang="es-CL" sz="2400" kern="0" dirty="0">
                <a:solidFill>
                  <a:sysClr val="windowText" lastClr="000000"/>
                </a:solidFill>
              </a:rPr>
              <a:t>Seguimiento de métricas.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400" kern="0" dirty="0">
                <a:solidFill>
                  <a:sysClr val="windowText" lastClr="000000"/>
                </a:solidFill>
              </a:rPr>
              <a:t>Los </a:t>
            </a:r>
            <a:r>
              <a:rPr lang="es-CL" sz="2400" kern="0" dirty="0" err="1">
                <a:solidFill>
                  <a:sysClr val="windowText" lastClr="000000"/>
                </a:solidFill>
              </a:rPr>
              <a:t>dashboards</a:t>
            </a:r>
            <a:r>
              <a:rPr lang="es-CL" sz="2400" kern="0" dirty="0">
                <a:solidFill>
                  <a:sysClr val="windowText" lastClr="000000"/>
                </a:solidFill>
              </a:rPr>
              <a:t> pueden integrar diversas fuentes de datos.</a:t>
            </a:r>
          </a:p>
          <a:p>
            <a:pPr marL="1066785" lvl="1" indent="-457200">
              <a:buFont typeface="Arial" panose="020B0604020202020204" pitchFamily="34" charset="0"/>
              <a:buChar char="•"/>
            </a:pPr>
            <a:r>
              <a:rPr lang="es-CL" sz="2400" kern="0" dirty="0">
                <a:solidFill>
                  <a:sysClr val="windowText" lastClr="000000"/>
                </a:solidFill>
              </a:rPr>
              <a:t>Entre ellas, </a:t>
            </a:r>
            <a:r>
              <a:rPr lang="es-CL" sz="2400" kern="0" dirty="0" err="1">
                <a:solidFill>
                  <a:sysClr val="windowText" lastClr="000000"/>
                </a:solidFill>
              </a:rPr>
              <a:t>InfluxDB</a:t>
            </a:r>
            <a:r>
              <a:rPr lang="es-CL" sz="2400" kern="0" dirty="0">
                <a:solidFill>
                  <a:sysClr val="windowText" lastClr="000000"/>
                </a:solidFill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400" kern="0" dirty="0">
                <a:solidFill>
                  <a:sysClr val="windowText" lastClr="000000"/>
                </a:solidFill>
              </a:rPr>
              <a:t>Permite diferentes lenguajes de consulta, entre ellos:</a:t>
            </a:r>
          </a:p>
          <a:p>
            <a:pPr marL="1066785" lvl="1" indent="-457200">
              <a:buFont typeface="Arial" panose="020B0604020202020204" pitchFamily="34" charset="0"/>
              <a:buChar char="•"/>
            </a:pPr>
            <a:r>
              <a:rPr lang="es-CL" sz="2400" kern="0" dirty="0">
                <a:solidFill>
                  <a:sysClr val="windowText" lastClr="000000"/>
                </a:solidFill>
              </a:rPr>
              <a:t>SQL</a:t>
            </a:r>
          </a:p>
          <a:p>
            <a:pPr marL="1066785" lvl="1" indent="-457200">
              <a:buFont typeface="Arial" panose="020B0604020202020204" pitchFamily="34" charset="0"/>
              <a:buChar char="•"/>
            </a:pPr>
            <a:r>
              <a:rPr lang="es-CL" sz="2400" kern="0" dirty="0">
                <a:solidFill>
                  <a:sysClr val="windowText" lastClr="000000"/>
                </a:solidFill>
              </a:rPr>
              <a:t>Flux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sz="2400" kern="0" dirty="0">
              <a:solidFill>
                <a:sysClr val="windowText" lastClr="0000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kern="0" dirty="0">
              <a:solidFill>
                <a:sysClr val="windowText" lastClr="0000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kern="0" dirty="0">
              <a:solidFill>
                <a:sysClr val="windowText" lastClr="000000"/>
              </a:solidFill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9583384" y="1975105"/>
            <a:ext cx="19984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200" b="1" dirty="0"/>
              <a:t>TIG </a:t>
            </a:r>
            <a:r>
              <a:rPr lang="es-CL" sz="3200" b="1" dirty="0" err="1"/>
              <a:t>Stack</a:t>
            </a:r>
            <a:endParaRPr lang="en-US" sz="2400" b="1" dirty="0"/>
          </a:p>
        </p:txBody>
      </p:sp>
      <p:sp>
        <p:nvSpPr>
          <p:cNvPr id="7" name="Rectángulo redondeado 6"/>
          <p:cNvSpPr/>
          <p:nvPr/>
        </p:nvSpPr>
        <p:spPr>
          <a:xfrm>
            <a:off x="11018065" y="1193132"/>
            <a:ext cx="1127531" cy="834064"/>
          </a:xfrm>
          <a:prstGeom prst="roundRect">
            <a:avLst/>
          </a:prstGeom>
          <a:solidFill>
            <a:schemeClr val="accent1">
              <a:alpha val="17000"/>
            </a:schemeClr>
          </a:solidFill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002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Arquitectura para monitoreo &amp; observación</a:t>
            </a:r>
            <a:endParaRPr lang="en-US" dirty="0"/>
          </a:p>
        </p:txBody>
      </p:sp>
      <p:sp>
        <p:nvSpPr>
          <p:cNvPr id="7" name="CuadroTexto 6"/>
          <p:cNvSpPr txBox="1"/>
          <p:nvPr/>
        </p:nvSpPr>
        <p:spPr>
          <a:xfrm>
            <a:off x="1847088" y="1438208"/>
            <a:ext cx="19984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200" b="1" dirty="0"/>
              <a:t>TIG </a:t>
            </a:r>
            <a:r>
              <a:rPr lang="es-CL" sz="3200" b="1" dirty="0" err="1"/>
              <a:t>Stack</a:t>
            </a:r>
            <a:endParaRPr lang="en-US" sz="2400" b="1" dirty="0"/>
          </a:p>
        </p:txBody>
      </p:sp>
      <p:sp>
        <p:nvSpPr>
          <p:cNvPr id="5" name="Rectángulo 4"/>
          <p:cNvSpPr/>
          <p:nvPr/>
        </p:nvSpPr>
        <p:spPr>
          <a:xfrm>
            <a:off x="1152562" y="6342102"/>
            <a:ext cx="98868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Fuente: </a:t>
            </a:r>
            <a:r>
              <a:rPr lang="en-US" dirty="0"/>
              <a:t>https://www.influxdata.com/blog/infrastructure-monitoring-basics-telegraf-influxdb-grafana/</a:t>
            </a: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0878" y="1190358"/>
            <a:ext cx="3562847" cy="1000265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4320" y="2313315"/>
            <a:ext cx="6855962" cy="3906095"/>
          </a:xfrm>
          <a:prstGeom prst="rect">
            <a:avLst/>
          </a:prstGeom>
        </p:spPr>
      </p:pic>
      <p:sp>
        <p:nvSpPr>
          <p:cNvPr id="8" name="Rectángulo redondeado 7"/>
          <p:cNvSpPr/>
          <p:nvPr/>
        </p:nvSpPr>
        <p:spPr>
          <a:xfrm>
            <a:off x="7132319" y="1313563"/>
            <a:ext cx="1127531" cy="834064"/>
          </a:xfrm>
          <a:prstGeom prst="roundRect">
            <a:avLst/>
          </a:prstGeom>
          <a:solidFill>
            <a:schemeClr val="accent1">
              <a:alpha val="17000"/>
            </a:schemeClr>
          </a:solidFill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975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984885"/>
          </a:xfrm>
        </p:spPr>
        <p:txBody>
          <a:bodyPr/>
          <a:lstStyle/>
          <a:p>
            <a:r>
              <a:rPr lang="es-CL" sz="2800" dirty="0"/>
              <a:t>Vamos a lo práctico. ¿Qué haremos?</a:t>
            </a:r>
            <a:br>
              <a:rPr lang="es-CL" sz="2800" dirty="0"/>
            </a:br>
            <a:r>
              <a:rPr lang="es-CL" b="1" dirty="0"/>
              <a:t>Parte 1</a:t>
            </a:r>
            <a:endParaRPr lang="en-US" b="1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2724" y="1245223"/>
            <a:ext cx="2599769" cy="729882"/>
          </a:xfrm>
          <a:prstGeom prst="rect">
            <a:avLst/>
          </a:prstGeom>
        </p:spPr>
      </p:pic>
      <p:sp>
        <p:nvSpPr>
          <p:cNvPr id="10" name="Marcador de contenido 2"/>
          <p:cNvSpPr txBox="1">
            <a:spLocks/>
          </p:cNvSpPr>
          <p:nvPr/>
        </p:nvSpPr>
        <p:spPr>
          <a:xfrm>
            <a:off x="912909" y="1460543"/>
            <a:ext cx="8069153" cy="2818850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609585">
              <a:defRPr>
                <a:latin typeface="+mn-lt"/>
                <a:ea typeface="+mn-ea"/>
                <a:cs typeface="+mn-cs"/>
              </a:defRPr>
            </a:lvl2pPr>
            <a:lvl3pPr marL="1219170">
              <a:defRPr>
                <a:latin typeface="+mn-lt"/>
                <a:ea typeface="+mn-ea"/>
                <a:cs typeface="+mn-cs"/>
              </a:defRPr>
            </a:lvl3pPr>
            <a:lvl4pPr marL="1828754">
              <a:defRPr>
                <a:latin typeface="+mn-lt"/>
                <a:ea typeface="+mn-ea"/>
                <a:cs typeface="+mn-cs"/>
              </a:defRPr>
            </a:lvl4pPr>
            <a:lvl5pPr marL="2438339">
              <a:defRPr>
                <a:latin typeface="+mn-lt"/>
                <a:ea typeface="+mn-ea"/>
                <a:cs typeface="+mn-cs"/>
              </a:defRPr>
            </a:lvl5pPr>
            <a:lvl6pPr marL="3047924">
              <a:defRPr>
                <a:latin typeface="+mn-lt"/>
                <a:ea typeface="+mn-ea"/>
                <a:cs typeface="+mn-cs"/>
              </a:defRPr>
            </a:lvl6pPr>
            <a:lvl7pPr marL="3657509">
              <a:defRPr>
                <a:latin typeface="+mn-lt"/>
                <a:ea typeface="+mn-ea"/>
                <a:cs typeface="+mn-cs"/>
              </a:defRPr>
            </a:lvl7pPr>
            <a:lvl8pPr marL="4267093">
              <a:defRPr>
                <a:latin typeface="+mn-lt"/>
                <a:ea typeface="+mn-ea"/>
                <a:cs typeface="+mn-cs"/>
              </a:defRPr>
            </a:lvl8pPr>
            <a:lvl9pPr marL="4876678">
              <a:defRPr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AutoNum type="arabicPeriod"/>
            </a:pPr>
            <a:r>
              <a:rPr lang="es-CL" sz="2400" kern="0" dirty="0">
                <a:solidFill>
                  <a:sysClr val="windowText" lastClr="000000"/>
                </a:solidFill>
              </a:rPr>
              <a:t>Crear una cuenta en </a:t>
            </a:r>
            <a:r>
              <a:rPr lang="es-CL" sz="2400" b="1" kern="0" dirty="0" err="1">
                <a:solidFill>
                  <a:sysClr val="windowText" lastClr="000000"/>
                </a:solidFill>
              </a:rPr>
              <a:t>InfluxDB</a:t>
            </a:r>
            <a:r>
              <a:rPr lang="es-CL" sz="2400" b="1" kern="0" dirty="0">
                <a:solidFill>
                  <a:sysClr val="windowText" lastClr="000000"/>
                </a:solidFill>
              </a:rPr>
              <a:t> Cloud </a:t>
            </a:r>
            <a:r>
              <a:rPr lang="es-CL" sz="2400" kern="0" dirty="0">
                <a:solidFill>
                  <a:sysClr val="windowText" lastClr="000000"/>
                </a:solidFill>
              </a:rPr>
              <a:t>(versión gratuita).</a:t>
            </a:r>
          </a:p>
          <a:p>
            <a:pPr marL="457200" indent="-457200">
              <a:buAutoNum type="arabicPeriod"/>
            </a:pPr>
            <a:r>
              <a:rPr lang="es-CL" sz="2400" kern="0" dirty="0">
                <a:solidFill>
                  <a:sysClr val="windowText" lastClr="000000"/>
                </a:solidFill>
              </a:rPr>
              <a:t>Cargar un archivo CSV en </a:t>
            </a:r>
            <a:r>
              <a:rPr lang="es-CL" sz="2400" kern="0" dirty="0" err="1">
                <a:solidFill>
                  <a:sysClr val="windowText" lastClr="000000"/>
                </a:solidFill>
              </a:rPr>
              <a:t>Influx</a:t>
            </a:r>
            <a:r>
              <a:rPr lang="es-CL" sz="2400" kern="0" dirty="0">
                <a:solidFill>
                  <a:sysClr val="windowText" lastClr="000000"/>
                </a:solidFill>
              </a:rPr>
              <a:t> DB, que contenga una serie de datos temporal.</a:t>
            </a:r>
          </a:p>
          <a:p>
            <a:pPr marL="1066785" lvl="1" indent="-457200">
              <a:buAutoNum type="arabicPeriod"/>
            </a:pPr>
            <a:r>
              <a:rPr lang="es-CL" sz="2400" kern="0" dirty="0">
                <a:solidFill>
                  <a:sysClr val="windowText" lastClr="000000"/>
                </a:solidFill>
              </a:rPr>
              <a:t>Revisar el formato del </a:t>
            </a:r>
            <a:r>
              <a:rPr lang="es-CL" sz="2400" b="1" kern="0" dirty="0">
                <a:solidFill>
                  <a:sysClr val="windowText" lastClr="000000"/>
                </a:solidFill>
              </a:rPr>
              <a:t>archivo CSV</a:t>
            </a:r>
            <a:r>
              <a:rPr lang="es-CL" sz="2400" kern="0" dirty="0">
                <a:solidFill>
                  <a:sysClr val="windowText" lastClr="000000"/>
                </a:solidFill>
              </a:rPr>
              <a:t>. ¿Qué contiene?</a:t>
            </a:r>
          </a:p>
          <a:p>
            <a:pPr marL="1066785" lvl="1" indent="-457200">
              <a:buAutoNum type="arabicPeriod"/>
            </a:pPr>
            <a:r>
              <a:rPr lang="es-CL" sz="2400" kern="0" dirty="0">
                <a:solidFill>
                  <a:sysClr val="windowText" lastClr="000000"/>
                </a:solidFill>
              </a:rPr>
              <a:t>Crear un </a:t>
            </a:r>
            <a:r>
              <a:rPr lang="es-CL" sz="2400" b="1" kern="0" dirty="0" err="1">
                <a:solidFill>
                  <a:sysClr val="windowText" lastClr="000000"/>
                </a:solidFill>
              </a:rPr>
              <a:t>Bucket</a:t>
            </a:r>
            <a:r>
              <a:rPr lang="es-CL" sz="2400" kern="0" dirty="0">
                <a:solidFill>
                  <a:sysClr val="windowText" lastClr="000000"/>
                </a:solidFill>
              </a:rPr>
              <a:t>.</a:t>
            </a:r>
          </a:p>
          <a:p>
            <a:pPr marL="1066785" lvl="1" indent="-457200">
              <a:buAutoNum type="arabicPeriod"/>
            </a:pPr>
            <a:r>
              <a:rPr lang="es-CL" sz="2400" kern="0" dirty="0">
                <a:solidFill>
                  <a:sysClr val="windowText" lastClr="000000"/>
                </a:solidFill>
              </a:rPr>
              <a:t>Cargar los datos.</a:t>
            </a:r>
          </a:p>
          <a:p>
            <a:pPr marL="1066785" lvl="1" indent="-457200">
              <a:buAutoNum type="arabicPeriod"/>
            </a:pPr>
            <a:r>
              <a:rPr lang="es-CL" sz="2400" kern="0" dirty="0">
                <a:solidFill>
                  <a:sysClr val="windowText" lastClr="000000"/>
                </a:solidFill>
              </a:rPr>
              <a:t>Revisar los datos usando el “</a:t>
            </a:r>
            <a:r>
              <a:rPr lang="es-CL" sz="2400" b="1" kern="0" dirty="0">
                <a:solidFill>
                  <a:sysClr val="windowText" lastClr="000000"/>
                </a:solidFill>
              </a:rPr>
              <a:t>Data Explorer</a:t>
            </a:r>
            <a:r>
              <a:rPr lang="es-CL" sz="2400" kern="0" dirty="0">
                <a:solidFill>
                  <a:sysClr val="windowText" lastClr="000000"/>
                </a:solidFill>
              </a:rPr>
              <a:t>”.</a:t>
            </a:r>
          </a:p>
          <a:p>
            <a:pPr marL="1066785" lvl="1" indent="-457200">
              <a:buAutoNum type="arabicPeriod"/>
            </a:pPr>
            <a:endParaRPr lang="es-CL" sz="2400" kern="0" dirty="0">
              <a:solidFill>
                <a:sysClr val="windowText" lastClr="000000"/>
              </a:solidFill>
            </a:endParaRPr>
          </a:p>
          <a:p>
            <a:pPr marL="457200" indent="-457200">
              <a:buAutoNum type="arabicPeriod"/>
            </a:pPr>
            <a:endParaRPr lang="es-CL" sz="2400" kern="0" dirty="0">
              <a:solidFill>
                <a:sysClr val="windowText" lastClr="0000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kern="0" dirty="0">
              <a:solidFill>
                <a:sysClr val="windowText" lastClr="000000"/>
              </a:solidFill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9583384" y="1975105"/>
            <a:ext cx="19984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200" b="1" dirty="0"/>
              <a:t>TIG </a:t>
            </a:r>
            <a:r>
              <a:rPr lang="es-CL" sz="3200" b="1" dirty="0" err="1"/>
              <a:t>Stack</a:t>
            </a:r>
            <a:endParaRPr lang="en-US" sz="2400" b="1" dirty="0"/>
          </a:p>
        </p:txBody>
      </p:sp>
      <p:sp>
        <p:nvSpPr>
          <p:cNvPr id="7" name="Rectángulo redondeado 6"/>
          <p:cNvSpPr/>
          <p:nvPr/>
        </p:nvSpPr>
        <p:spPr>
          <a:xfrm>
            <a:off x="10210985" y="1141041"/>
            <a:ext cx="1127531" cy="834064"/>
          </a:xfrm>
          <a:prstGeom prst="roundRect">
            <a:avLst/>
          </a:prstGeom>
          <a:solidFill>
            <a:schemeClr val="accent1">
              <a:alpha val="17000"/>
            </a:schemeClr>
          </a:solidFill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753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984885"/>
          </a:xfrm>
        </p:spPr>
        <p:txBody>
          <a:bodyPr/>
          <a:lstStyle/>
          <a:p>
            <a:r>
              <a:rPr lang="es-CL" sz="2800" dirty="0"/>
              <a:t>Vamos a lo práctico. ¿Qué haremos?</a:t>
            </a:r>
            <a:br>
              <a:rPr lang="es-CL" sz="2800" dirty="0"/>
            </a:br>
            <a:r>
              <a:rPr lang="es-CL" b="1" dirty="0"/>
              <a:t>Parte 2</a:t>
            </a:r>
            <a:endParaRPr lang="en-US" b="1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2724" y="1245223"/>
            <a:ext cx="2599769" cy="729882"/>
          </a:xfrm>
          <a:prstGeom prst="rect">
            <a:avLst/>
          </a:prstGeom>
        </p:spPr>
      </p:pic>
      <p:sp>
        <p:nvSpPr>
          <p:cNvPr id="10" name="Marcador de contenido 2"/>
          <p:cNvSpPr txBox="1">
            <a:spLocks/>
          </p:cNvSpPr>
          <p:nvPr/>
        </p:nvSpPr>
        <p:spPr>
          <a:xfrm>
            <a:off x="912909" y="1460542"/>
            <a:ext cx="8369813" cy="5397457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609585">
              <a:defRPr>
                <a:latin typeface="+mn-lt"/>
                <a:ea typeface="+mn-ea"/>
                <a:cs typeface="+mn-cs"/>
              </a:defRPr>
            </a:lvl2pPr>
            <a:lvl3pPr marL="1219170">
              <a:defRPr>
                <a:latin typeface="+mn-lt"/>
                <a:ea typeface="+mn-ea"/>
                <a:cs typeface="+mn-cs"/>
              </a:defRPr>
            </a:lvl3pPr>
            <a:lvl4pPr marL="1828754">
              <a:defRPr>
                <a:latin typeface="+mn-lt"/>
                <a:ea typeface="+mn-ea"/>
                <a:cs typeface="+mn-cs"/>
              </a:defRPr>
            </a:lvl4pPr>
            <a:lvl5pPr marL="2438339">
              <a:defRPr>
                <a:latin typeface="+mn-lt"/>
                <a:ea typeface="+mn-ea"/>
                <a:cs typeface="+mn-cs"/>
              </a:defRPr>
            </a:lvl5pPr>
            <a:lvl6pPr marL="3047924">
              <a:defRPr>
                <a:latin typeface="+mn-lt"/>
                <a:ea typeface="+mn-ea"/>
                <a:cs typeface="+mn-cs"/>
              </a:defRPr>
            </a:lvl6pPr>
            <a:lvl7pPr marL="3657509">
              <a:defRPr>
                <a:latin typeface="+mn-lt"/>
                <a:ea typeface="+mn-ea"/>
                <a:cs typeface="+mn-cs"/>
              </a:defRPr>
            </a:lvl7pPr>
            <a:lvl8pPr marL="4267093">
              <a:defRPr>
                <a:latin typeface="+mn-lt"/>
                <a:ea typeface="+mn-ea"/>
                <a:cs typeface="+mn-cs"/>
              </a:defRPr>
            </a:lvl8pPr>
            <a:lvl9pPr marL="4876678">
              <a:defRPr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AutoNum type="arabicPeriod"/>
            </a:pPr>
            <a:r>
              <a:rPr lang="es-CL" sz="2400" kern="0" dirty="0">
                <a:solidFill>
                  <a:sysClr val="windowText" lastClr="000000"/>
                </a:solidFill>
              </a:rPr>
              <a:t>Instalar y configurar </a:t>
            </a:r>
            <a:r>
              <a:rPr lang="es-CL" sz="2400" b="1" kern="0" dirty="0">
                <a:solidFill>
                  <a:sysClr val="windowText" lastClr="000000"/>
                </a:solidFill>
              </a:rPr>
              <a:t>cliente</a:t>
            </a:r>
            <a:r>
              <a:rPr lang="es-CL" sz="2400" kern="0" dirty="0">
                <a:solidFill>
                  <a:sysClr val="windowText" lastClr="000000"/>
                </a:solidFill>
              </a:rPr>
              <a:t> </a:t>
            </a:r>
            <a:r>
              <a:rPr lang="es-CL" sz="2400" kern="0" dirty="0" err="1">
                <a:solidFill>
                  <a:sysClr val="windowText" lastClr="000000"/>
                </a:solidFill>
              </a:rPr>
              <a:t>InfluxDB</a:t>
            </a:r>
            <a:r>
              <a:rPr lang="es-CL" sz="2400" kern="0" dirty="0">
                <a:solidFill>
                  <a:sysClr val="windowText" lastClr="000000"/>
                </a:solidFill>
              </a:rPr>
              <a:t> localmente.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es-CL" sz="2400" kern="0" dirty="0">
                <a:solidFill>
                  <a:sysClr val="windowText" lastClr="000000"/>
                </a:solidFill>
              </a:rPr>
              <a:t>Instalar </a:t>
            </a:r>
            <a:r>
              <a:rPr lang="es-CL" sz="2400" kern="0" dirty="0" err="1">
                <a:solidFill>
                  <a:sysClr val="windowText" lastClr="000000"/>
                </a:solidFill>
              </a:rPr>
              <a:t>Telegraf</a:t>
            </a:r>
            <a:r>
              <a:rPr lang="es-CL" sz="2400" kern="0" dirty="0">
                <a:solidFill>
                  <a:sysClr val="windowText" lastClr="000000"/>
                </a:solidFill>
              </a:rPr>
              <a:t> localmente. 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es-CL" sz="2400" kern="0" dirty="0">
                <a:solidFill>
                  <a:sysClr val="windowText" lastClr="000000"/>
                </a:solidFill>
              </a:rPr>
              <a:t>Configurar </a:t>
            </a:r>
            <a:r>
              <a:rPr lang="es-CL" sz="2400" kern="0" dirty="0" err="1">
                <a:solidFill>
                  <a:sysClr val="windowText" lastClr="000000"/>
                </a:solidFill>
              </a:rPr>
              <a:t>Telegraf</a:t>
            </a:r>
            <a:r>
              <a:rPr lang="es-CL" sz="2400" kern="0" dirty="0">
                <a:solidFill>
                  <a:sysClr val="windowText" lastClr="000000"/>
                </a:solidFill>
              </a:rPr>
              <a:t> para que envíe datos de </a:t>
            </a:r>
            <a:r>
              <a:rPr lang="es-CL" sz="2400" kern="0" dirty="0" err="1">
                <a:solidFill>
                  <a:sysClr val="windowText" lastClr="000000"/>
                </a:solidFill>
              </a:rPr>
              <a:t>MySQL</a:t>
            </a:r>
            <a:r>
              <a:rPr lang="es-CL" sz="2400" kern="0" dirty="0">
                <a:solidFill>
                  <a:sysClr val="windowText" lastClr="000000"/>
                </a:solidFill>
              </a:rPr>
              <a:t> a </a:t>
            </a:r>
            <a:r>
              <a:rPr lang="es-CL" sz="2400" kern="0" dirty="0" err="1">
                <a:solidFill>
                  <a:sysClr val="windowText" lastClr="000000"/>
                </a:solidFill>
              </a:rPr>
              <a:t>Influx</a:t>
            </a:r>
            <a:r>
              <a:rPr lang="es-CL" sz="2400" kern="0" dirty="0">
                <a:solidFill>
                  <a:sysClr val="windowText" lastClr="000000"/>
                </a:solidFill>
              </a:rPr>
              <a:t>.</a:t>
            </a:r>
          </a:p>
          <a:p>
            <a:pPr marL="457200" indent="-457200">
              <a:buAutoNum type="arabicPeriod" startAt="3"/>
            </a:pPr>
            <a:r>
              <a:rPr lang="es-CL" sz="2400" kern="0" dirty="0">
                <a:solidFill>
                  <a:sysClr val="windowText" lastClr="000000"/>
                </a:solidFill>
              </a:rPr>
              <a:t>Ejecutar </a:t>
            </a:r>
            <a:r>
              <a:rPr lang="es-CL" sz="2400" kern="0" dirty="0" err="1">
                <a:solidFill>
                  <a:sysClr val="windowText" lastClr="000000"/>
                </a:solidFill>
              </a:rPr>
              <a:t>Telegraf</a:t>
            </a:r>
            <a:r>
              <a:rPr lang="es-CL" sz="2400" kern="0" dirty="0">
                <a:solidFill>
                  <a:sysClr val="windowText" lastClr="000000"/>
                </a:solidFill>
              </a:rPr>
              <a:t>.</a:t>
            </a:r>
          </a:p>
          <a:p>
            <a:pPr marL="1066785" lvl="1" indent="-457200">
              <a:buAutoNum type="arabicPeriod"/>
            </a:pPr>
            <a:endParaRPr lang="es-CL" sz="2400" kern="0" dirty="0">
              <a:solidFill>
                <a:sysClr val="windowText" lastClr="000000"/>
              </a:solidFill>
            </a:endParaRPr>
          </a:p>
          <a:p>
            <a:pPr marL="457200" indent="-457200">
              <a:buAutoNum type="arabicPeriod" startAt="3"/>
            </a:pPr>
            <a:endParaRPr lang="es-CL" sz="2400" kern="0" dirty="0">
              <a:solidFill>
                <a:sysClr val="windowText" lastClr="0000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kern="0" dirty="0">
              <a:solidFill>
                <a:sysClr val="windowText" lastClr="000000"/>
              </a:solidFill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9583384" y="1975105"/>
            <a:ext cx="19984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200" b="1" dirty="0"/>
              <a:t>TIG </a:t>
            </a:r>
            <a:r>
              <a:rPr lang="es-CL" sz="3200" b="1" dirty="0" err="1"/>
              <a:t>Stack</a:t>
            </a:r>
            <a:endParaRPr lang="en-US" sz="2400" b="1" dirty="0"/>
          </a:p>
        </p:txBody>
      </p:sp>
      <p:sp>
        <p:nvSpPr>
          <p:cNvPr id="7" name="Rectángulo redondeado 6"/>
          <p:cNvSpPr/>
          <p:nvPr/>
        </p:nvSpPr>
        <p:spPr>
          <a:xfrm>
            <a:off x="9282723" y="1141041"/>
            <a:ext cx="958558" cy="834064"/>
          </a:xfrm>
          <a:prstGeom prst="roundRect">
            <a:avLst/>
          </a:prstGeom>
          <a:solidFill>
            <a:schemeClr val="accent1">
              <a:alpha val="17000"/>
            </a:schemeClr>
          </a:solidFill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24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984885"/>
          </a:xfrm>
        </p:spPr>
        <p:txBody>
          <a:bodyPr/>
          <a:lstStyle/>
          <a:p>
            <a:r>
              <a:rPr lang="es-CL" sz="2800" dirty="0"/>
              <a:t>Vamos a lo práctico. ¿Qué haremos?</a:t>
            </a:r>
            <a:br>
              <a:rPr lang="es-CL" sz="2800" dirty="0"/>
            </a:br>
            <a:r>
              <a:rPr lang="es-CL" b="1" dirty="0"/>
              <a:t>Parte 3</a:t>
            </a:r>
            <a:endParaRPr lang="en-US" b="1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2724" y="1245223"/>
            <a:ext cx="2599769" cy="729882"/>
          </a:xfrm>
          <a:prstGeom prst="rect">
            <a:avLst/>
          </a:prstGeom>
        </p:spPr>
      </p:pic>
      <p:sp>
        <p:nvSpPr>
          <p:cNvPr id="10" name="Marcador de contenido 2"/>
          <p:cNvSpPr txBox="1">
            <a:spLocks/>
          </p:cNvSpPr>
          <p:nvPr/>
        </p:nvSpPr>
        <p:spPr>
          <a:xfrm>
            <a:off x="912909" y="1460543"/>
            <a:ext cx="8069153" cy="2818850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609585">
              <a:defRPr>
                <a:latin typeface="+mn-lt"/>
                <a:ea typeface="+mn-ea"/>
                <a:cs typeface="+mn-cs"/>
              </a:defRPr>
            </a:lvl2pPr>
            <a:lvl3pPr marL="1219170">
              <a:defRPr>
                <a:latin typeface="+mn-lt"/>
                <a:ea typeface="+mn-ea"/>
                <a:cs typeface="+mn-cs"/>
              </a:defRPr>
            </a:lvl3pPr>
            <a:lvl4pPr marL="1828754">
              <a:defRPr>
                <a:latin typeface="+mn-lt"/>
                <a:ea typeface="+mn-ea"/>
                <a:cs typeface="+mn-cs"/>
              </a:defRPr>
            </a:lvl4pPr>
            <a:lvl5pPr marL="2438339">
              <a:defRPr>
                <a:latin typeface="+mn-lt"/>
                <a:ea typeface="+mn-ea"/>
                <a:cs typeface="+mn-cs"/>
              </a:defRPr>
            </a:lvl5pPr>
            <a:lvl6pPr marL="3047924">
              <a:defRPr>
                <a:latin typeface="+mn-lt"/>
                <a:ea typeface="+mn-ea"/>
                <a:cs typeface="+mn-cs"/>
              </a:defRPr>
            </a:lvl6pPr>
            <a:lvl7pPr marL="3657509">
              <a:defRPr>
                <a:latin typeface="+mn-lt"/>
                <a:ea typeface="+mn-ea"/>
                <a:cs typeface="+mn-cs"/>
              </a:defRPr>
            </a:lvl7pPr>
            <a:lvl8pPr marL="4267093">
              <a:defRPr>
                <a:latin typeface="+mn-lt"/>
                <a:ea typeface="+mn-ea"/>
                <a:cs typeface="+mn-cs"/>
              </a:defRPr>
            </a:lvl8pPr>
            <a:lvl9pPr marL="4876678">
              <a:defRPr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AutoNum type="arabicPeriod"/>
            </a:pPr>
            <a:r>
              <a:rPr lang="es-CL" sz="2400" kern="0" dirty="0">
                <a:solidFill>
                  <a:sysClr val="windowText" lastClr="000000"/>
                </a:solidFill>
              </a:rPr>
              <a:t>Crear cuenta en </a:t>
            </a:r>
            <a:r>
              <a:rPr lang="es-CL" sz="2400" kern="0" dirty="0" err="1">
                <a:solidFill>
                  <a:sysClr val="windowText" lastClr="000000"/>
                </a:solidFill>
              </a:rPr>
              <a:t>Grafana</a:t>
            </a:r>
            <a:endParaRPr lang="es-CL" sz="2400" kern="0" dirty="0">
              <a:solidFill>
                <a:sysClr val="windowText" lastClr="000000"/>
              </a:solidFill>
            </a:endParaRPr>
          </a:p>
          <a:p>
            <a:pPr marL="457200" indent="-457200">
              <a:buAutoNum type="arabicPeriod"/>
            </a:pPr>
            <a:r>
              <a:rPr lang="es-CL" sz="2400" kern="0" dirty="0">
                <a:solidFill>
                  <a:sysClr val="windowText" lastClr="000000"/>
                </a:solidFill>
              </a:rPr>
              <a:t>Configurar Data </a:t>
            </a:r>
            <a:r>
              <a:rPr lang="es-CL" sz="2400" kern="0" dirty="0" err="1">
                <a:solidFill>
                  <a:sysClr val="windowText" lastClr="000000"/>
                </a:solidFill>
              </a:rPr>
              <a:t>Source</a:t>
            </a:r>
            <a:r>
              <a:rPr lang="es-CL" sz="2400" kern="0" dirty="0">
                <a:solidFill>
                  <a:sysClr val="windowText" lastClr="000000"/>
                </a:solidFill>
              </a:rPr>
              <a:t> en </a:t>
            </a:r>
            <a:r>
              <a:rPr lang="es-CL" sz="2400" kern="0" dirty="0" err="1">
                <a:solidFill>
                  <a:sysClr val="windowText" lastClr="000000"/>
                </a:solidFill>
              </a:rPr>
              <a:t>Grafana</a:t>
            </a:r>
            <a:r>
              <a:rPr lang="es-CL" sz="2400" kern="0" dirty="0">
                <a:solidFill>
                  <a:sysClr val="windowText" lastClr="000000"/>
                </a:solidFill>
              </a:rPr>
              <a:t>.</a:t>
            </a:r>
          </a:p>
          <a:p>
            <a:pPr marL="457200" indent="-457200">
              <a:buAutoNum type="arabicPeriod"/>
            </a:pPr>
            <a:r>
              <a:rPr lang="es-CL" sz="2400" kern="0" dirty="0">
                <a:solidFill>
                  <a:sysClr val="windowText" lastClr="000000"/>
                </a:solidFill>
              </a:rPr>
              <a:t>Crear </a:t>
            </a:r>
            <a:r>
              <a:rPr lang="es-CL" sz="2400" kern="0" dirty="0" err="1">
                <a:solidFill>
                  <a:sysClr val="windowText" lastClr="000000"/>
                </a:solidFill>
              </a:rPr>
              <a:t>Dashboard</a:t>
            </a:r>
            <a:r>
              <a:rPr lang="es-CL" sz="2400" kern="0" dirty="0">
                <a:solidFill>
                  <a:sysClr val="windowText" lastClr="000000"/>
                </a:solidFill>
              </a:rPr>
              <a:t> sencillo en </a:t>
            </a:r>
            <a:r>
              <a:rPr lang="es-CL" sz="2400" kern="0" dirty="0" err="1">
                <a:solidFill>
                  <a:sysClr val="windowText" lastClr="000000"/>
                </a:solidFill>
              </a:rPr>
              <a:t>Grafana</a:t>
            </a:r>
            <a:r>
              <a:rPr lang="es-CL" sz="2400" kern="0" dirty="0">
                <a:solidFill>
                  <a:sysClr val="windowText" lastClr="000000"/>
                </a:solidFill>
              </a:rPr>
              <a:t>, con parámetros de MySQL.</a:t>
            </a:r>
          </a:p>
          <a:p>
            <a:pPr marL="1066785" lvl="1" indent="-457200">
              <a:buAutoNum type="arabicPeriod"/>
            </a:pPr>
            <a:endParaRPr lang="es-CL" sz="2400" kern="0" dirty="0">
              <a:solidFill>
                <a:sysClr val="windowText" lastClr="000000"/>
              </a:solidFill>
            </a:endParaRPr>
          </a:p>
          <a:p>
            <a:pPr marL="457200" indent="-457200">
              <a:buAutoNum type="arabicPeriod"/>
            </a:pPr>
            <a:endParaRPr lang="es-CL" sz="2400" kern="0" dirty="0">
              <a:solidFill>
                <a:sysClr val="windowText" lastClr="0000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kern="0" dirty="0">
              <a:solidFill>
                <a:sysClr val="windowText" lastClr="000000"/>
              </a:solidFill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9583384" y="1975105"/>
            <a:ext cx="19984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200" b="1" dirty="0"/>
              <a:t>TIG </a:t>
            </a:r>
            <a:r>
              <a:rPr lang="es-CL" sz="3200" b="1" dirty="0" err="1"/>
              <a:t>Stack</a:t>
            </a:r>
            <a:endParaRPr lang="en-US" sz="2400" b="1" dirty="0"/>
          </a:p>
        </p:txBody>
      </p:sp>
      <p:sp>
        <p:nvSpPr>
          <p:cNvPr id="7" name="Rectángulo redondeado 6"/>
          <p:cNvSpPr/>
          <p:nvPr/>
        </p:nvSpPr>
        <p:spPr>
          <a:xfrm>
            <a:off x="11102552" y="1193132"/>
            <a:ext cx="958558" cy="834064"/>
          </a:xfrm>
          <a:prstGeom prst="roundRect">
            <a:avLst/>
          </a:prstGeom>
          <a:solidFill>
            <a:schemeClr val="accent1">
              <a:alpha val="17000"/>
            </a:schemeClr>
          </a:solidFill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347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984885"/>
          </a:xfrm>
        </p:spPr>
        <p:txBody>
          <a:bodyPr/>
          <a:lstStyle/>
          <a:p>
            <a:r>
              <a:rPr lang="es-CL" sz="2800" dirty="0"/>
              <a:t>Vamos a lo práctico. ¿Qué haremos?</a:t>
            </a:r>
            <a:br>
              <a:rPr lang="es-CL" sz="2800" dirty="0"/>
            </a:br>
            <a:r>
              <a:rPr lang="es-CL" b="1" dirty="0"/>
              <a:t>Parte 4</a:t>
            </a:r>
            <a:endParaRPr lang="en-US" b="1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2724" y="1245223"/>
            <a:ext cx="2599769" cy="729882"/>
          </a:xfrm>
          <a:prstGeom prst="rect">
            <a:avLst/>
          </a:prstGeom>
        </p:spPr>
      </p:pic>
      <p:sp>
        <p:nvSpPr>
          <p:cNvPr id="10" name="Marcador de contenido 2"/>
          <p:cNvSpPr txBox="1">
            <a:spLocks/>
          </p:cNvSpPr>
          <p:nvPr/>
        </p:nvSpPr>
        <p:spPr>
          <a:xfrm>
            <a:off x="912909" y="1460543"/>
            <a:ext cx="8191196" cy="2818850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609585">
              <a:defRPr>
                <a:latin typeface="+mn-lt"/>
                <a:ea typeface="+mn-ea"/>
                <a:cs typeface="+mn-cs"/>
              </a:defRPr>
            </a:lvl2pPr>
            <a:lvl3pPr marL="1219170">
              <a:defRPr>
                <a:latin typeface="+mn-lt"/>
                <a:ea typeface="+mn-ea"/>
                <a:cs typeface="+mn-cs"/>
              </a:defRPr>
            </a:lvl3pPr>
            <a:lvl4pPr marL="1828754">
              <a:defRPr>
                <a:latin typeface="+mn-lt"/>
                <a:ea typeface="+mn-ea"/>
                <a:cs typeface="+mn-cs"/>
              </a:defRPr>
            </a:lvl4pPr>
            <a:lvl5pPr marL="2438339">
              <a:defRPr>
                <a:latin typeface="+mn-lt"/>
                <a:ea typeface="+mn-ea"/>
                <a:cs typeface="+mn-cs"/>
              </a:defRPr>
            </a:lvl5pPr>
            <a:lvl6pPr marL="3047924">
              <a:defRPr>
                <a:latin typeface="+mn-lt"/>
                <a:ea typeface="+mn-ea"/>
                <a:cs typeface="+mn-cs"/>
              </a:defRPr>
            </a:lvl6pPr>
            <a:lvl7pPr marL="3657509">
              <a:defRPr>
                <a:latin typeface="+mn-lt"/>
                <a:ea typeface="+mn-ea"/>
                <a:cs typeface="+mn-cs"/>
              </a:defRPr>
            </a:lvl7pPr>
            <a:lvl8pPr marL="4267093">
              <a:defRPr>
                <a:latin typeface="+mn-lt"/>
                <a:ea typeface="+mn-ea"/>
                <a:cs typeface="+mn-cs"/>
              </a:defRPr>
            </a:lvl8pPr>
            <a:lvl9pPr marL="4876678">
              <a:defRPr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AutoNum type="arabicPeriod"/>
            </a:pPr>
            <a:r>
              <a:rPr lang="es-CL" sz="2400" kern="0" dirty="0">
                <a:solidFill>
                  <a:sysClr val="windowText" lastClr="000000"/>
                </a:solidFill>
              </a:rPr>
              <a:t>Enviar datos de administración de sus MySQL locales a </a:t>
            </a:r>
            <a:r>
              <a:rPr lang="es-CL" sz="2400" kern="0" dirty="0" err="1">
                <a:solidFill>
                  <a:sysClr val="windowText" lastClr="000000"/>
                </a:solidFill>
              </a:rPr>
              <a:t>bd</a:t>
            </a:r>
            <a:r>
              <a:rPr lang="es-CL" sz="2400" kern="0" dirty="0">
                <a:solidFill>
                  <a:sysClr val="windowText" lastClr="000000"/>
                </a:solidFill>
              </a:rPr>
              <a:t> </a:t>
            </a:r>
            <a:r>
              <a:rPr lang="es-CL" sz="2400" kern="0" dirty="0" err="1">
                <a:solidFill>
                  <a:sysClr val="windowText" lastClr="000000"/>
                </a:solidFill>
              </a:rPr>
              <a:t>InfluxDB</a:t>
            </a:r>
            <a:r>
              <a:rPr lang="es-CL" sz="2400" kern="0" dirty="0">
                <a:solidFill>
                  <a:sysClr val="windowText" lastClr="000000"/>
                </a:solidFill>
              </a:rPr>
              <a:t> del profesor.</a:t>
            </a:r>
          </a:p>
          <a:p>
            <a:pPr marL="457200" indent="-457200">
              <a:buAutoNum type="arabicPeriod"/>
            </a:pPr>
            <a:r>
              <a:rPr lang="es-CL" sz="2400" kern="0" dirty="0">
                <a:solidFill>
                  <a:sysClr val="windowText" lastClr="000000"/>
                </a:solidFill>
              </a:rPr>
              <a:t>Ejecutar instrucciones </a:t>
            </a:r>
            <a:r>
              <a:rPr lang="es-CL" sz="2400" kern="0" dirty="0" err="1">
                <a:solidFill>
                  <a:sysClr val="windowText" lastClr="000000"/>
                </a:solidFill>
              </a:rPr>
              <a:t>Insert</a:t>
            </a:r>
            <a:r>
              <a:rPr lang="es-CL" sz="2400" kern="0" dirty="0">
                <a:solidFill>
                  <a:sysClr val="windowText" lastClr="000000"/>
                </a:solidFill>
              </a:rPr>
              <a:t>/</a:t>
            </a:r>
            <a:r>
              <a:rPr lang="es-CL" sz="2400" kern="0" dirty="0" err="1">
                <a:solidFill>
                  <a:sysClr val="windowText" lastClr="000000"/>
                </a:solidFill>
              </a:rPr>
              <a:t>Update</a:t>
            </a:r>
            <a:r>
              <a:rPr lang="es-CL" sz="2400" kern="0" dirty="0">
                <a:solidFill>
                  <a:sysClr val="windowText" lastClr="000000"/>
                </a:solidFill>
              </a:rPr>
              <a:t>/</a:t>
            </a:r>
            <a:r>
              <a:rPr lang="es-CL" sz="2400" kern="0" dirty="0" err="1">
                <a:solidFill>
                  <a:sysClr val="windowText" lastClr="000000"/>
                </a:solidFill>
              </a:rPr>
              <a:t>Delete</a:t>
            </a:r>
            <a:r>
              <a:rPr lang="es-CL" sz="2400" kern="0" dirty="0">
                <a:solidFill>
                  <a:sysClr val="windowText" lastClr="000000"/>
                </a:solidFill>
              </a:rPr>
              <a:t> en sus bases de datos MySQL locales. </a:t>
            </a:r>
          </a:p>
          <a:p>
            <a:pPr marL="457200" indent="-457200">
              <a:buAutoNum type="arabicPeriod"/>
            </a:pPr>
            <a:r>
              <a:rPr lang="es-CL" sz="2400" kern="0" dirty="0">
                <a:solidFill>
                  <a:sysClr val="windowText" lastClr="000000"/>
                </a:solidFill>
              </a:rPr>
              <a:t>Visualizar información de administración en </a:t>
            </a:r>
            <a:r>
              <a:rPr lang="es-CL" sz="2400" kern="0" dirty="0" err="1">
                <a:solidFill>
                  <a:sysClr val="windowText" lastClr="000000"/>
                </a:solidFill>
              </a:rPr>
              <a:t>Dashboard</a:t>
            </a:r>
            <a:r>
              <a:rPr lang="es-CL" sz="2400" kern="0" dirty="0">
                <a:solidFill>
                  <a:sysClr val="windowText" lastClr="000000"/>
                </a:solidFill>
              </a:rPr>
              <a:t> del profesor. </a:t>
            </a:r>
          </a:p>
          <a:p>
            <a:pPr marL="1066785" lvl="1" indent="-457200">
              <a:buAutoNum type="arabicPeriod"/>
            </a:pPr>
            <a:endParaRPr lang="es-CL" sz="2400" kern="0" dirty="0">
              <a:solidFill>
                <a:sysClr val="windowText" lastClr="000000"/>
              </a:solidFill>
            </a:endParaRPr>
          </a:p>
          <a:p>
            <a:pPr marL="457200" indent="-457200">
              <a:buAutoNum type="arabicPeriod"/>
            </a:pPr>
            <a:endParaRPr lang="es-CL" sz="2400" kern="0" dirty="0">
              <a:solidFill>
                <a:sysClr val="windowText" lastClr="0000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kern="0" dirty="0">
              <a:solidFill>
                <a:sysClr val="windowText" lastClr="000000"/>
              </a:solidFill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9583384" y="1975105"/>
            <a:ext cx="19984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200" b="1" dirty="0"/>
              <a:t>TIG </a:t>
            </a:r>
            <a:r>
              <a:rPr lang="es-CL" sz="3200" b="1" dirty="0" err="1"/>
              <a:t>Stack</a:t>
            </a:r>
            <a:endParaRPr lang="en-US" sz="2400" b="1" dirty="0"/>
          </a:p>
        </p:txBody>
      </p:sp>
      <p:sp>
        <p:nvSpPr>
          <p:cNvPr id="7" name="Rectángulo redondeado 6"/>
          <p:cNvSpPr/>
          <p:nvPr/>
        </p:nvSpPr>
        <p:spPr>
          <a:xfrm>
            <a:off x="9282724" y="1193132"/>
            <a:ext cx="2778386" cy="834064"/>
          </a:xfrm>
          <a:prstGeom prst="roundRect">
            <a:avLst/>
          </a:prstGeom>
          <a:solidFill>
            <a:schemeClr val="accent1">
              <a:alpha val="17000"/>
            </a:schemeClr>
          </a:solidFill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746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23136</TotalTime>
  <Words>792</Words>
  <Application>Microsoft Office PowerPoint</Application>
  <PresentationFormat>Panorámica</PresentationFormat>
  <Paragraphs>117</Paragraphs>
  <Slides>15</Slides>
  <Notes>14</Notes>
  <HiddenSlides>0</HiddenSlides>
  <MMClips>1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Presentación de PowerPoint</vt:lpstr>
      <vt:lpstr>Monitoreo &amp; Observación</vt:lpstr>
      <vt:lpstr>¿Qué es una serie de datos temporales?</vt:lpstr>
      <vt:lpstr>Arquitectura para monitoreo &amp; observación</vt:lpstr>
      <vt:lpstr>Arquitectura para monitoreo &amp; observación Telegraf</vt:lpstr>
      <vt:lpstr>Arquitectura para monitoreo &amp; observación Telegraf</vt:lpstr>
      <vt:lpstr>Arquitectura para monitoreo &amp; observación</vt:lpstr>
      <vt:lpstr>Arquitectura para monitoreo &amp; observación InfluxDB</vt:lpstr>
      <vt:lpstr>Arquitectura para monitoreo &amp; observación</vt:lpstr>
      <vt:lpstr>Arquitectura para monitoreo &amp; observación Grafana</vt:lpstr>
      <vt:lpstr>Arquitectura para monitoreo &amp; observación</vt:lpstr>
      <vt:lpstr>Vamos a lo práctico. ¿Qué haremos? Parte 1</vt:lpstr>
      <vt:lpstr>Vamos a lo práctico. ¿Qué haremos? Parte 2</vt:lpstr>
      <vt:lpstr>Vamos a lo práctico. ¿Qué haremos? Parte 3</vt:lpstr>
      <vt:lpstr>Vamos a lo práctico. ¿Qué haremos? Parte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0 - Introducción</dc:title>
  <dc:creator>Valeria Henriquez Norambuena</dc:creator>
  <cp:lastModifiedBy>Juan Pablo Salazar Fernández</cp:lastModifiedBy>
  <cp:revision>192</cp:revision>
  <cp:lastPrinted>2018-03-09T00:58:19Z</cp:lastPrinted>
  <dcterms:created xsi:type="dcterms:W3CDTF">2018-03-05T20:26:11Z</dcterms:created>
  <dcterms:modified xsi:type="dcterms:W3CDTF">2026-06-18T15:48:19Z</dcterms:modified>
</cp:coreProperties>
</file>
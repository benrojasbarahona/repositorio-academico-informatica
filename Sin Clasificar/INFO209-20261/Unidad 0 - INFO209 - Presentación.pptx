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285" r:id="rId4"/>
    <p:sldId id="289" r:id="rId5"/>
    <p:sldId id="297" r:id="rId6"/>
    <p:sldId id="296" r:id="rId7"/>
    <p:sldId id="290" r:id="rId8"/>
    <p:sldId id="291" r:id="rId9"/>
    <p:sldId id="292" r:id="rId10"/>
    <p:sldId id="293" r:id="rId11"/>
    <p:sldId id="294" r:id="rId12"/>
    <p:sldId id="286" r:id="rId13"/>
    <p:sldId id="303" r:id="rId14"/>
    <p:sldId id="304" r:id="rId15"/>
    <p:sldId id="306" r:id="rId16"/>
    <p:sldId id="305" r:id="rId17"/>
    <p:sldId id="298" r:id="rId18"/>
    <p:sldId id="299" r:id="rId19"/>
    <p:sldId id="258" r:id="rId20"/>
    <p:sldId id="260" r:id="rId21"/>
    <p:sldId id="262" r:id="rId22"/>
    <p:sldId id="302" r:id="rId23"/>
    <p:sldId id="301" r:id="rId24"/>
    <p:sldId id="300" r:id="rId25"/>
    <p:sldId id="307" r:id="rId2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71" autoAdjust="0"/>
    <p:restoredTop sz="96323" autoAdjust="0"/>
  </p:normalViewPr>
  <p:slideViewPr>
    <p:cSldViewPr snapToGrid="0">
      <p:cViewPr varScale="1">
        <p:scale>
          <a:sx n="108" d="100"/>
          <a:sy n="108" d="100"/>
        </p:scale>
        <p:origin x="464" y="80"/>
      </p:cViewPr>
      <p:guideLst/>
    </p:cSldViewPr>
  </p:slideViewPr>
  <p:outlineViewPr>
    <p:cViewPr>
      <p:scale>
        <a:sx n="33" d="100"/>
        <a:sy n="33" d="100"/>
      </p:scale>
      <p:origin x="0" y="-456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8514"/>
    </p:cViewPr>
  </p:sorterViewPr>
  <p:notesViewPr>
    <p:cSldViewPr snapToGrid="0">
      <p:cViewPr varScale="1">
        <p:scale>
          <a:sx n="56" d="100"/>
          <a:sy n="56" d="100"/>
        </p:scale>
        <p:origin x="284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2D594-01D5-4F2A-B097-6FE97F7732AC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40776-937C-4F3B-B2DE-CAB1656199F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73745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3B7A6-6910-4F19-8091-03329780F078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33A33-8F7E-45C3-BE77-68DACE57655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8827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CL" baseline="0" dirty="0"/>
              <a:t>Experiencia en diseño de software, en administración de bases de datos, en análisis de datos.</a:t>
            </a:r>
          </a:p>
          <a:p>
            <a:endParaRPr lang="es-CL" baseline="0" dirty="0"/>
          </a:p>
        </p:txBody>
      </p:sp>
    </p:spTree>
    <p:extLst>
      <p:ext uri="{BB962C8B-B14F-4D97-AF65-F5344CB8AC3E}">
        <p14:creationId xmlns:p14="http://schemas.microsoft.com/office/powerpoint/2010/main" val="655615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991541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9524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4158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9173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9127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¿Por qué necesitamos un tamaño de bloque distinto a 1 byte?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33A33-8F7E-45C3-BE77-68DACE576558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7745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033A33-8F7E-45C3-BE77-68DACE576558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258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7479-CA72-4F5A-B46B-B4A3B031F1A0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34035-2F18-467C-941C-89571A5FBF17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678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7479-CA72-4F5A-B46B-B4A3B031F1A0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34035-2F18-467C-941C-89571A5FBF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4586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7479-CA72-4F5A-B46B-B4A3B031F1A0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34035-2F18-467C-941C-89571A5FBF17}" type="slidenum">
              <a:rPr lang="es-CL" smtClean="0"/>
              <a:t>‹Nº›</a:t>
            </a:fld>
            <a:endParaRPr lang="es-CL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41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7479-CA72-4F5A-B46B-B4A3B031F1A0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34035-2F18-467C-941C-89571A5FBF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992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7479-CA72-4F5A-B46B-B4A3B031F1A0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34035-2F18-467C-941C-89571A5FBF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349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7479-CA72-4F5A-B46B-B4A3B031F1A0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34035-2F18-467C-941C-89571A5FBF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49797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7479-CA72-4F5A-B46B-B4A3B031F1A0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34035-2F18-467C-941C-89571A5FBF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145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9667479-CA72-4F5A-B46B-B4A3B031F1A0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5F34035-2F18-467C-941C-89571A5FBF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3870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7479-CA72-4F5A-B46B-B4A3B031F1A0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34035-2F18-467C-941C-89571A5FBF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7796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7479-CA72-4F5A-B46B-B4A3B031F1A0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34035-2F18-467C-941C-89571A5FBF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33110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67479-CA72-4F5A-B46B-B4A3B031F1A0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34035-2F18-467C-941C-89571A5FBF1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9987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9667479-CA72-4F5A-B46B-B4A3B031F1A0}" type="datetimeFigureOut">
              <a:rPr lang="es-CL" smtClean="0"/>
              <a:t>19-03-2026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5F34035-2F18-467C-941C-89571A5FBF17}" type="slidenum">
              <a:rPr lang="es-CL" smtClean="0"/>
              <a:t>‹Nº›</a:t>
            </a:fld>
            <a:endParaRPr lang="es-CL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59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ulse/choosing-right-type-db-important-different-types-paresh-nayak-i9shf/" TargetMode="Externa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eo4j.com/use-cases/fraud-detection/#deeplink1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mysql.com/downloads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INFO 209 – TALLER DE BASES DE DATOS</a:t>
            </a:r>
          </a:p>
          <a:p>
            <a:r>
              <a:rPr lang="es-CL" dirty="0"/>
              <a:t>JUAN PABLO SALAZAR F.</a:t>
            </a:r>
          </a:p>
        </p:txBody>
      </p:sp>
    </p:spTree>
    <p:extLst>
      <p:ext uri="{BB962C8B-B14F-4D97-AF65-F5344CB8AC3E}">
        <p14:creationId xmlns:p14="http://schemas.microsoft.com/office/powerpoint/2010/main" val="174619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Agenda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Presentación Profesor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Diagnóstico inicial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Introducción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Temas administrativos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Revisión del Programa del Curso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Calendarización de Evaluaciones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Repaso/Introducción</a:t>
            </a:r>
          </a:p>
        </p:txBody>
      </p:sp>
    </p:spTree>
    <p:extLst>
      <p:ext uri="{BB962C8B-B14F-4D97-AF65-F5344CB8AC3E}">
        <p14:creationId xmlns:p14="http://schemas.microsoft.com/office/powerpoint/2010/main" val="357168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-13808" y="226387"/>
            <a:ext cx="12178623" cy="803466"/>
          </a:xfrm>
          <a:prstGeom prst="rect">
            <a:avLst/>
          </a:prstGeom>
        </p:spPr>
        <p:txBody>
          <a:bodyPr vert="horz" wrap="square" lIns="0" tIns="247056" rIns="0" bIns="0" rtlCol="0">
            <a:spAutoFit/>
          </a:bodyPr>
          <a:lstStyle/>
          <a:p>
            <a:pPr marL="16933"/>
            <a:r>
              <a:rPr lang="es-MX" spc="-7" dirty="0"/>
              <a:t>Presentación del profesor: Juan Pablo Salazar</a:t>
            </a:r>
            <a:endParaRPr spc="-7" dirty="0"/>
          </a:p>
        </p:txBody>
      </p:sp>
      <p:sp>
        <p:nvSpPr>
          <p:cNvPr id="7" name="object 5"/>
          <p:cNvSpPr txBox="1"/>
          <p:nvPr/>
        </p:nvSpPr>
        <p:spPr>
          <a:xfrm>
            <a:off x="0" y="1740076"/>
            <a:ext cx="11674257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03562" marR="279393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Formación académica: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Ingeniero Civil en Informática (1996).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Magíster en Administración de Empresas (2003).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Dr. en Ciencias de la Ingeniería, Área Ciencia de la Computación (2023).</a:t>
            </a:r>
            <a:endParaRPr sz="2800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476750" y="3638020"/>
            <a:ext cx="11197505" cy="27493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03562" marR="279393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Experiencia profesional: 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Ingeniero de proyectos (1993 – 2005).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Profesor del Instituto de Informática </a:t>
            </a:r>
            <a:r>
              <a:rPr lang="es-MX" sz="2800" spc="-20" dirty="0" err="1">
                <a:solidFill>
                  <a:prstClr val="black"/>
                </a:solidFill>
                <a:cs typeface="Calibri"/>
              </a:rPr>
              <a:t>UACh</a:t>
            </a:r>
            <a:r>
              <a:rPr lang="es-MX" sz="2800" spc="-20" dirty="0">
                <a:solidFill>
                  <a:prstClr val="black"/>
                </a:solidFill>
                <a:cs typeface="Calibri"/>
              </a:rPr>
              <a:t> (desde 1996).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Director de Escuela de Ing. Civil en Informática (2006 – 2013).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Director de Planificación Estratégica UACh (2013-2014).</a:t>
            </a:r>
          </a:p>
          <a:p>
            <a:pPr marL="1160762" marR="279393" lvl="1" indent="-229441">
              <a:lnSpc>
                <a:spcPts val="3600"/>
              </a:lnSpc>
              <a:buFont typeface="Arial"/>
              <a:buChar char="•"/>
              <a:tabLst>
                <a:tab pos="704409" algn="l"/>
              </a:tabLst>
            </a:pPr>
            <a:r>
              <a:rPr lang="es-MX" sz="2800" spc="-20" dirty="0">
                <a:solidFill>
                  <a:prstClr val="black"/>
                </a:solidFill>
                <a:cs typeface="Calibri"/>
              </a:rPr>
              <a:t>Participación en proyectos UACh (2003-2025).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236790"/>
            <a:ext cx="27432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0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1450204" y="98213"/>
            <a:ext cx="9491760" cy="1074293"/>
          </a:xfrm>
        </p:spPr>
        <p:txBody>
          <a:bodyPr>
            <a:noAutofit/>
          </a:bodyPr>
          <a:lstStyle/>
          <a:p>
            <a:r>
              <a:rPr lang="es-CL" sz="3600" dirty="0"/>
              <a:t>Diagnóstico – </a:t>
            </a:r>
            <a:r>
              <a:rPr lang="es-CL" sz="3600" dirty="0" err="1"/>
              <a:t>Mentimeter</a:t>
            </a:r>
            <a:r>
              <a:rPr lang="es-CL" sz="3600" dirty="0"/>
              <a:t>  www.menti.com</a:t>
            </a:r>
          </a:p>
        </p:txBody>
      </p:sp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Horario – </a:t>
            </a:r>
            <a:r>
              <a:rPr lang="es-CL" sz="3200" dirty="0" err="1"/>
              <a:t>cod</a:t>
            </a:r>
            <a:r>
              <a:rPr lang="es-CL" sz="3200" dirty="0"/>
              <a:t>. 3257 6789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Sistema Operativo – </a:t>
            </a:r>
            <a:r>
              <a:rPr lang="es-CL" sz="3200" dirty="0" err="1"/>
              <a:t>cod</a:t>
            </a:r>
            <a:r>
              <a:rPr lang="es-CL" sz="3200" dirty="0"/>
              <a:t>. 1120 9558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Herramientas de BD – </a:t>
            </a:r>
            <a:r>
              <a:rPr lang="es-CL" sz="3200" dirty="0" err="1"/>
              <a:t>cod</a:t>
            </a:r>
            <a:r>
              <a:rPr lang="es-CL" sz="3200" dirty="0"/>
              <a:t>. 3858 5910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Notebook – </a:t>
            </a:r>
            <a:r>
              <a:rPr lang="es-CL" sz="3200" dirty="0" err="1"/>
              <a:t>cod</a:t>
            </a:r>
            <a:r>
              <a:rPr lang="es-CL" sz="3200" dirty="0"/>
              <a:t>. 3853 4530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Requisitos curso – </a:t>
            </a:r>
            <a:r>
              <a:rPr lang="es-CL" sz="3200" dirty="0" err="1"/>
              <a:t>cod</a:t>
            </a:r>
            <a:r>
              <a:rPr lang="es-CL" sz="3200" dirty="0"/>
              <a:t>. 7643 3628</a:t>
            </a:r>
          </a:p>
        </p:txBody>
      </p:sp>
    </p:spTree>
    <p:extLst>
      <p:ext uri="{BB962C8B-B14F-4D97-AF65-F5344CB8AC3E}">
        <p14:creationId xmlns:p14="http://schemas.microsoft.com/office/powerpoint/2010/main" val="812132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Agenda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Presentación Profesor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Diagnóstico inicial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b="1" dirty="0"/>
              <a:t> Introducción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Temas administrativos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Revisión del Programa del Curso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Calendarización de Evaluaciones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CL" sz="3200" dirty="0"/>
              <a:t> Repaso/Introducción</a:t>
            </a:r>
          </a:p>
        </p:txBody>
      </p:sp>
    </p:spTree>
    <p:extLst>
      <p:ext uri="{BB962C8B-B14F-4D97-AF65-F5344CB8AC3E}">
        <p14:creationId xmlns:p14="http://schemas.microsoft.com/office/powerpoint/2010/main" val="1314247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431" y="1849468"/>
            <a:ext cx="5786653" cy="38600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4260"/>
              </a:lnSpc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Sistema </a:t>
            </a:r>
            <a:r>
              <a:rPr lang="es-CL" sz="2800" b="1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Gestor de Bases de Datos</a:t>
            </a:r>
          </a:p>
          <a:p>
            <a:pPr marL="588433" indent="-5715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Colección de </a:t>
            </a:r>
            <a:r>
              <a:rPr lang="es-CL" sz="2800" b="1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datos interrelacionados</a:t>
            </a: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pPr marL="588433" indent="-5715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Conjunto de </a:t>
            </a:r>
            <a:r>
              <a:rPr lang="es-CL" sz="2800" b="1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programas para acceder </a:t>
            </a: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los datos.</a:t>
            </a:r>
          </a:p>
          <a:p>
            <a:pPr marL="16933">
              <a:lnSpc>
                <a:spcPts val="4260"/>
              </a:lnSpc>
              <a:tabLst>
                <a:tab pos="247220" algn="l"/>
              </a:tabLst>
            </a:pPr>
            <a:endParaRPr lang="es-CL" sz="2800" spc="-33" dirty="0">
              <a:solidFill>
                <a:prstClr val="black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6933">
              <a:lnSpc>
                <a:spcPts val="4260"/>
              </a:lnSpc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Base de Datos</a:t>
            </a:r>
          </a:p>
          <a:p>
            <a:pPr marL="474133" indent="-4572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Colección de </a:t>
            </a:r>
            <a:r>
              <a:rPr lang="es-CL" sz="2800" b="1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datos interrelacionados</a:t>
            </a: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 </a:t>
            </a:r>
          </a:p>
        </p:txBody>
      </p:sp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1450204" y="98213"/>
            <a:ext cx="9491760" cy="1074293"/>
          </a:xfrm>
        </p:spPr>
        <p:txBody>
          <a:bodyPr>
            <a:noAutofit/>
          </a:bodyPr>
          <a:lstStyle/>
          <a:p>
            <a:r>
              <a:rPr lang="es-CL" sz="3600" dirty="0"/>
              <a:t>Bases de Datos – Sistema Gestor de Bases de Datos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084" y="1849468"/>
            <a:ext cx="5769979" cy="3183069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751063" y="5647944"/>
            <a:ext cx="62290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>
                <a:solidFill>
                  <a:srgbClr val="FF0000"/>
                </a:solidFill>
              </a:rPr>
              <a:t>¿Es una base de datos, una planilla Excel?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7176073" y="5709499"/>
            <a:ext cx="4264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err="1"/>
              <a:t>Mentimeter</a:t>
            </a:r>
            <a:r>
              <a:rPr lang="es-CL" sz="2400" b="1" dirty="0"/>
              <a:t>, </a:t>
            </a:r>
            <a:r>
              <a:rPr lang="es-CL" sz="2400" b="1" dirty="0" err="1"/>
              <a:t>code</a:t>
            </a:r>
            <a:r>
              <a:rPr lang="es-CL" sz="2400" b="1" dirty="0"/>
              <a:t> 2841 3408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43369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86308"/>
          </a:xfrm>
        </p:spPr>
        <p:txBody>
          <a:bodyPr>
            <a:normAutofit/>
          </a:bodyPr>
          <a:lstStyle/>
          <a:p>
            <a:r>
              <a:rPr lang="es-CL" sz="3200" dirty="0"/>
              <a:t>Bases de Datos  &amp; Sistemas de Archivos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20" y="2586446"/>
            <a:ext cx="5769979" cy="318306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586446"/>
            <a:ext cx="5714286" cy="2866667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996287" y="1965278"/>
            <a:ext cx="2563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Gestor de Bases de Datos</a:t>
            </a:r>
            <a:endParaRPr lang="en-US" dirty="0"/>
          </a:p>
        </p:txBody>
      </p:sp>
      <p:sp>
        <p:nvSpPr>
          <p:cNvPr id="7" name="CuadroTexto 6"/>
          <p:cNvSpPr txBox="1"/>
          <p:nvPr/>
        </p:nvSpPr>
        <p:spPr>
          <a:xfrm>
            <a:off x="7671156" y="1965278"/>
            <a:ext cx="2054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Sistema de Archivos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286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900" y="1083098"/>
            <a:ext cx="11122928" cy="4411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4260"/>
              </a:lnSpc>
              <a:tabLst>
                <a:tab pos="247220" algn="l"/>
              </a:tabLst>
            </a:pPr>
            <a:r>
              <a:rPr lang="es-CL" sz="2800" b="1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Inconvenientes</a:t>
            </a: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de los sistemas de archivos.</a:t>
            </a:r>
          </a:p>
          <a:p>
            <a:pPr marL="474133" indent="-4572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Redundancia de datos.</a:t>
            </a:r>
          </a:p>
          <a:p>
            <a:pPr marL="474133" indent="-4572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Riesgo de inconsistencia de datos.</a:t>
            </a:r>
          </a:p>
          <a:p>
            <a:pPr marL="474133" indent="-4572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Dificultades en el acceso a los datos.</a:t>
            </a:r>
          </a:p>
          <a:p>
            <a:pPr marL="474133" indent="-4572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Riesgos/ complejidad para mantener la integridad. </a:t>
            </a:r>
          </a:p>
          <a:p>
            <a:pPr marL="474133" indent="-4572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Problemas de atomicidad.</a:t>
            </a:r>
          </a:p>
          <a:p>
            <a:pPr marL="474133" indent="-4572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Problemas de acceso concurrente.</a:t>
            </a:r>
          </a:p>
          <a:p>
            <a:pPr marL="474133" indent="-4572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Riesgos/problemas de seguridad.</a:t>
            </a:r>
          </a:p>
        </p:txBody>
      </p:sp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366900" y="98213"/>
            <a:ext cx="11122927" cy="984885"/>
          </a:xfrm>
        </p:spPr>
        <p:txBody>
          <a:bodyPr/>
          <a:lstStyle/>
          <a:p>
            <a:pPr algn="ctr"/>
            <a:r>
              <a:rPr lang="es-CL" sz="3600" b="1" dirty="0"/>
              <a:t>Bases de Datos  &amp; Sistemas de Archivos</a:t>
            </a:r>
            <a:br>
              <a:rPr lang="es-CL" sz="3200" dirty="0"/>
            </a:br>
            <a:endParaRPr lang="es-CL" sz="3200" dirty="0"/>
          </a:p>
        </p:txBody>
      </p:sp>
    </p:spTree>
    <p:extLst>
      <p:ext uri="{BB962C8B-B14F-4D97-AF65-F5344CB8AC3E}">
        <p14:creationId xmlns:p14="http://schemas.microsoft.com/office/powerpoint/2010/main" val="2162219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1636982" y="310865"/>
            <a:ext cx="8875504" cy="984885"/>
          </a:xfrm>
        </p:spPr>
        <p:txBody>
          <a:bodyPr/>
          <a:lstStyle/>
          <a:p>
            <a:r>
              <a:rPr lang="es-CL" sz="3600" b="1" dirty="0"/>
              <a:t>Niveles de abstracción de datos</a:t>
            </a:r>
            <a:br>
              <a:rPr lang="es-CL" sz="3200" dirty="0"/>
            </a:br>
            <a:endParaRPr lang="es-CL" sz="32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062" y="2065737"/>
            <a:ext cx="5136420" cy="3112981"/>
          </a:xfrm>
          <a:prstGeom prst="rect">
            <a:avLst/>
          </a:prstGeom>
        </p:spPr>
      </p:pic>
      <p:sp>
        <p:nvSpPr>
          <p:cNvPr id="8" name="object 2"/>
          <p:cNvSpPr txBox="1"/>
          <p:nvPr/>
        </p:nvSpPr>
        <p:spPr>
          <a:xfrm>
            <a:off x="409431" y="1573751"/>
            <a:ext cx="6346212" cy="4411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933">
              <a:lnSpc>
                <a:spcPts val="4260"/>
              </a:lnSpc>
              <a:tabLst>
                <a:tab pos="247220" algn="l"/>
              </a:tabLst>
            </a:pPr>
            <a:r>
              <a:rPr lang="es-CL" sz="2800" b="1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Nivel Físico. </a:t>
            </a:r>
          </a:p>
          <a:p>
            <a:pPr marL="474133" indent="-4572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Cómo se almacenan realmente los datos. </a:t>
            </a:r>
          </a:p>
          <a:p>
            <a:pPr marL="16933">
              <a:lnSpc>
                <a:spcPts val="4260"/>
              </a:lnSpc>
              <a:tabLst>
                <a:tab pos="247220" algn="l"/>
              </a:tabLst>
            </a:pPr>
            <a:r>
              <a:rPr lang="es-CL" sz="2800" b="1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Nivel lógico. </a:t>
            </a:r>
          </a:p>
          <a:p>
            <a:pPr marL="474133" indent="-4572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Qué datos se almacenan y cómo se relacionan entre ellos. </a:t>
            </a:r>
          </a:p>
          <a:p>
            <a:pPr marL="16933">
              <a:lnSpc>
                <a:spcPts val="4260"/>
              </a:lnSpc>
              <a:tabLst>
                <a:tab pos="247220" algn="l"/>
              </a:tabLst>
            </a:pPr>
            <a:r>
              <a:rPr lang="es-CL" sz="2800" b="1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Nivel de vistas. </a:t>
            </a:r>
          </a:p>
          <a:p>
            <a:pPr marL="474133" indent="-457200">
              <a:lnSpc>
                <a:spcPts val="4260"/>
              </a:lnSpc>
              <a:buFont typeface="Arial" panose="020B0604020202020204" pitchFamily="34" charset="0"/>
              <a:buChar char="•"/>
              <a:tabLst>
                <a:tab pos="247220" algn="l"/>
              </a:tabLst>
            </a:pPr>
            <a:r>
              <a:rPr lang="es-CL" sz="2800" spc="-33" dirty="0">
                <a:solidFill>
                  <a:prstClr val="black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Visión simplificada de los datos, para diferentes usuarios. 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3307941" y="5801551"/>
            <a:ext cx="88840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Silberschatz</a:t>
            </a:r>
            <a:r>
              <a:rPr lang="en-US" dirty="0"/>
              <a:t>, A., </a:t>
            </a:r>
            <a:r>
              <a:rPr lang="en-US" dirty="0" err="1"/>
              <a:t>Korth</a:t>
            </a:r>
            <a:r>
              <a:rPr lang="en-US" dirty="0"/>
              <a:t>, H. F., </a:t>
            </a:r>
            <a:r>
              <a:rPr lang="en-US" dirty="0" err="1"/>
              <a:t>Sudarshan</a:t>
            </a:r>
            <a:r>
              <a:rPr lang="en-US" dirty="0"/>
              <a:t>, S., Pérez, F. S., Santiago, A. I., &amp; Sánchez, A. V. (2002). </a:t>
            </a:r>
            <a:r>
              <a:rPr lang="en-US" i="1" dirty="0" err="1"/>
              <a:t>Fundamentos</a:t>
            </a:r>
            <a:r>
              <a:rPr lang="en-US" i="1" dirty="0"/>
              <a:t> de bases de </a:t>
            </a:r>
            <a:r>
              <a:rPr lang="en-US" i="1" dirty="0" err="1"/>
              <a:t>datos</a:t>
            </a:r>
            <a:r>
              <a:rPr lang="en-US" dirty="0"/>
              <a:t> (4° Ed). McGraw-Hill. </a:t>
            </a:r>
            <a:r>
              <a:rPr lang="en-US" b="1" dirty="0" err="1"/>
              <a:t>Capítulo</a:t>
            </a:r>
            <a:r>
              <a:rPr lang="en-US" b="1" dirty="0"/>
              <a:t>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505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896756" cy="948229"/>
          </a:xfrm>
        </p:spPr>
        <p:txBody>
          <a:bodyPr/>
          <a:lstStyle/>
          <a:p>
            <a:r>
              <a:rPr lang="es-CL" dirty="0"/>
              <a:t>Ejemplo: Almacenamiento físico BD Oracle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757" y="1493500"/>
            <a:ext cx="7230484" cy="4143953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509678" y="5896121"/>
            <a:ext cx="84843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https://jorgesanchez.net/manuales/abd/arquitectura-oracle.html</a:t>
            </a:r>
          </a:p>
        </p:txBody>
      </p:sp>
    </p:spTree>
    <p:extLst>
      <p:ext uri="{BB962C8B-B14F-4D97-AF65-F5344CB8AC3E}">
        <p14:creationId xmlns:p14="http://schemas.microsoft.com/office/powerpoint/2010/main" val="286244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53603"/>
          </a:xfrm>
        </p:spPr>
        <p:txBody>
          <a:bodyPr/>
          <a:lstStyle/>
          <a:p>
            <a:r>
              <a:rPr lang="es-CL" dirty="0"/>
              <a:t>Ejemplo Nivel Lógico y Vistas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779" y="1240206"/>
            <a:ext cx="7856043" cy="4736934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4221706" y="6133494"/>
            <a:ext cx="77473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dirty="0"/>
              <a:t>https://mariadejesusalfaro.files.wordpress.com/2010/03/tabals.png</a:t>
            </a:r>
          </a:p>
        </p:txBody>
      </p:sp>
    </p:spTree>
    <p:extLst>
      <p:ext uri="{BB962C8B-B14F-4D97-AF65-F5344CB8AC3E}">
        <p14:creationId xmlns:p14="http://schemas.microsoft.com/office/powerpoint/2010/main" val="233713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0"/>
            <a:ext cx="6824134" cy="680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636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DE68439-0334-49BF-B2F7-B2000681E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850" y="0"/>
            <a:ext cx="54483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D413551-F33C-4801-BB00-3A32AB6D0F68}"/>
              </a:ext>
            </a:extLst>
          </p:cNvPr>
          <p:cNvSpPr txBox="1"/>
          <p:nvPr/>
        </p:nvSpPr>
        <p:spPr>
          <a:xfrm>
            <a:off x="9285270" y="5728313"/>
            <a:ext cx="26224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dirty="0">
                <a:hlinkClick r:id="rId3"/>
              </a:rPr>
              <a:t>https://www.linkedin.com/pulse/choosing-right-type-db-important-different-types-paresh-nayak-i9shf/</a:t>
            </a:r>
            <a:endParaRPr lang="es-CL" sz="1100" dirty="0"/>
          </a:p>
          <a:p>
            <a:endParaRPr lang="es-CL" sz="1100" dirty="0"/>
          </a:p>
        </p:txBody>
      </p:sp>
    </p:spTree>
    <p:extLst>
      <p:ext uri="{BB962C8B-B14F-4D97-AF65-F5344CB8AC3E}">
        <p14:creationId xmlns:p14="http://schemas.microsoft.com/office/powerpoint/2010/main" val="23581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Quickly Investigate Claims Fraud">
            <a:extLst>
              <a:ext uri="{FF2B5EF4-FFF2-40B4-BE49-F238E27FC236}">
                <a16:creationId xmlns:a16="http://schemas.microsoft.com/office/drawing/2014/main" id="{4CE1978C-1FDA-4381-8A12-33C9B3B989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1A16B9D-F2F8-4A12-938C-62992C65B3DA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9536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BD Relacional Oracle - Ejemplo</a:t>
            </a:r>
            <a:endParaRPr lang="en-U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98125E9-48FF-45EC-A8CE-1FA84229C2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674" y="889698"/>
            <a:ext cx="9123452" cy="538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98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Quickly Investigate Claims Fraud">
            <a:extLst>
              <a:ext uri="{FF2B5EF4-FFF2-40B4-BE49-F238E27FC236}">
                <a16:creationId xmlns:a16="http://schemas.microsoft.com/office/drawing/2014/main" id="{4CE1978C-1FDA-4381-8A12-33C9B3B989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273982-DB63-4E98-9767-E48EAB544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182" y="1200150"/>
            <a:ext cx="4762500" cy="47625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5297623-0301-4D4B-8BB1-0D7A18760CD5}"/>
              </a:ext>
            </a:extLst>
          </p:cNvPr>
          <p:cNvSpPr txBox="1"/>
          <p:nvPr/>
        </p:nvSpPr>
        <p:spPr>
          <a:xfrm>
            <a:off x="6094288" y="5962650"/>
            <a:ext cx="59572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1400" dirty="0">
                <a:hlinkClick r:id="rId3"/>
              </a:rPr>
              <a:t>https://neo4j.com/use-cases/fraud-detection/#deeplink1</a:t>
            </a:r>
            <a:endParaRPr lang="es-CL" sz="1400" dirty="0"/>
          </a:p>
          <a:p>
            <a:pPr algn="r"/>
            <a:endParaRPr lang="es-CL" sz="1400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1A16B9D-F2F8-4A12-938C-62992C65B3DA}"/>
              </a:ext>
            </a:extLst>
          </p:cNvPr>
          <p:cNvSpPr txBox="1">
            <a:spLocks/>
          </p:cNvSpPr>
          <p:nvPr/>
        </p:nvSpPr>
        <p:spPr>
          <a:xfrm>
            <a:off x="1097280" y="286603"/>
            <a:ext cx="10058400" cy="9536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BD de Grafos Neo4j - Ejemplo</a:t>
            </a:r>
            <a:endParaRPr lang="en-U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3A1E0C-18AF-4F3A-AC08-B3EF8472E657}"/>
              </a:ext>
            </a:extLst>
          </p:cNvPr>
          <p:cNvSpPr txBox="1"/>
          <p:nvPr/>
        </p:nvSpPr>
        <p:spPr>
          <a:xfrm>
            <a:off x="7303214" y="1434910"/>
            <a:ext cx="48887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/>
              <a:t>MATCH (</a:t>
            </a:r>
            <a:r>
              <a:rPr lang="es-CL" dirty="0" err="1"/>
              <a:t>v:Vehicle</a:t>
            </a:r>
            <a:r>
              <a:rPr lang="es-CL" dirty="0"/>
              <a:t>)-[:INVOLVED_IN]-&gt;(</a:t>
            </a:r>
            <a:r>
              <a:rPr lang="es-CL" dirty="0" err="1"/>
              <a:t>cl:Claim</a:t>
            </a:r>
            <a:r>
              <a:rPr lang="es-CL" dirty="0"/>
              <a:t>)</a:t>
            </a:r>
          </a:p>
          <a:p>
            <a:r>
              <a:rPr lang="es-CL" dirty="0"/>
              <a:t>WITH v, </a:t>
            </a:r>
            <a:r>
              <a:rPr lang="es-CL" dirty="0" err="1"/>
              <a:t>count</a:t>
            </a:r>
            <a:r>
              <a:rPr lang="es-CL" dirty="0"/>
              <a:t>(</a:t>
            </a:r>
            <a:r>
              <a:rPr lang="es-CL" dirty="0" err="1"/>
              <a:t>cl</a:t>
            </a:r>
            <a:r>
              <a:rPr lang="es-CL" dirty="0"/>
              <a:t>) AS </a:t>
            </a:r>
            <a:r>
              <a:rPr lang="es-CL" dirty="0" err="1"/>
              <a:t>claimCount</a:t>
            </a:r>
            <a:endParaRPr lang="es-CL" dirty="0"/>
          </a:p>
          <a:p>
            <a:r>
              <a:rPr lang="es-CL" dirty="0"/>
              <a:t>WHERE </a:t>
            </a:r>
            <a:r>
              <a:rPr lang="es-CL" dirty="0" err="1"/>
              <a:t>claimCount</a:t>
            </a:r>
            <a:r>
              <a:rPr lang="es-CL" dirty="0"/>
              <a:t> &gt; 1</a:t>
            </a:r>
          </a:p>
          <a:p>
            <a:r>
              <a:rPr lang="es-CL" dirty="0"/>
              <a:t>RETURN </a:t>
            </a:r>
            <a:r>
              <a:rPr lang="es-CL" dirty="0" err="1"/>
              <a:t>v.VIN</a:t>
            </a:r>
            <a:r>
              <a:rPr lang="es-CL" dirty="0"/>
              <a:t> AS </a:t>
            </a:r>
            <a:r>
              <a:rPr lang="es-CL" dirty="0" err="1"/>
              <a:t>Vehicle</a:t>
            </a:r>
            <a:r>
              <a:rPr lang="es-CL" dirty="0"/>
              <a:t>, </a:t>
            </a:r>
            <a:r>
              <a:rPr lang="es-CL" dirty="0" err="1"/>
              <a:t>claimCount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55395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Quickly Investigate Claims Fraud">
            <a:extLst>
              <a:ext uri="{FF2B5EF4-FFF2-40B4-BE49-F238E27FC236}">
                <a16:creationId xmlns:a16="http://schemas.microsoft.com/office/drawing/2014/main" id="{4CE1978C-1FDA-4381-8A12-33C9B3B989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1A16B9D-F2F8-4A12-938C-62992C65B3DA}"/>
              </a:ext>
            </a:extLst>
          </p:cNvPr>
          <p:cNvSpPr txBox="1">
            <a:spLocks/>
          </p:cNvSpPr>
          <p:nvPr/>
        </p:nvSpPr>
        <p:spPr>
          <a:xfrm>
            <a:off x="503433" y="286603"/>
            <a:ext cx="11291299" cy="95360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BD de Series Temporales – </a:t>
            </a:r>
            <a:r>
              <a:rPr lang="es-CL" dirty="0" err="1"/>
              <a:t>InfluxDB</a:t>
            </a:r>
            <a:r>
              <a:rPr lang="es-CL" dirty="0"/>
              <a:t> - Ejemplo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0FFC3D9-98E2-445B-AEF0-1FE63CABF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39" y="906819"/>
            <a:ext cx="9916521" cy="534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23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30843"/>
          </a:xfrm>
        </p:spPr>
        <p:txBody>
          <a:bodyPr>
            <a:normAutofit fontScale="90000"/>
          </a:bodyPr>
          <a:lstStyle/>
          <a:p>
            <a:r>
              <a:rPr lang="es-CL" dirty="0"/>
              <a:t>Arquitectura </a:t>
            </a:r>
            <a:r>
              <a:rPr lang="es-CL" dirty="0" err="1"/>
              <a:t>MySQL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213" y="917446"/>
            <a:ext cx="7738533" cy="579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342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76997"/>
          </a:xfrm>
        </p:spPr>
        <p:txBody>
          <a:bodyPr>
            <a:normAutofit fontScale="90000"/>
          </a:bodyPr>
          <a:lstStyle/>
          <a:p>
            <a:r>
              <a:rPr lang="es-CL" dirty="0"/>
              <a:t>Arquitectura Oracle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053" y="863600"/>
            <a:ext cx="8774853" cy="592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59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Revisión del Programa del Curso</a:t>
            </a:r>
          </a:p>
        </p:txBody>
      </p:sp>
    </p:spTree>
    <p:extLst>
      <p:ext uri="{BB962C8B-B14F-4D97-AF65-F5344CB8AC3E}">
        <p14:creationId xmlns:p14="http://schemas.microsoft.com/office/powerpoint/2010/main" val="3697855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Unidades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s-CL" sz="3200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s-CL" sz="3200" dirty="0">
                <a:latin typeface="+mj-lt"/>
              </a:rPr>
              <a:t>Introducción.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dirty="0" err="1">
                <a:latin typeface="+mj-lt"/>
              </a:rPr>
              <a:t>Adm</a:t>
            </a:r>
            <a:r>
              <a:rPr lang="es-CL" sz="3200" dirty="0"/>
              <a:t>. y Optimización de BD Relacionales</a:t>
            </a:r>
          </a:p>
          <a:p>
            <a:pPr marL="806958" lvl="1" indent="-514350">
              <a:buFont typeface="Arial" panose="020B0604020202020204" pitchFamily="34" charset="0"/>
              <a:buChar char="•"/>
            </a:pPr>
            <a:r>
              <a:rPr lang="es-CL" sz="3000" dirty="0">
                <a:latin typeface="+mj-lt"/>
              </a:rPr>
              <a:t>Rol de Ingeniero de Software.</a:t>
            </a:r>
          </a:p>
          <a:p>
            <a:pPr marL="806958" lvl="1" indent="-514350">
              <a:buFont typeface="Arial" panose="020B0604020202020204" pitchFamily="34" charset="0"/>
              <a:buChar char="•"/>
            </a:pPr>
            <a:r>
              <a:rPr lang="es-CL" sz="3000" dirty="0"/>
              <a:t>Rol de DBA.</a:t>
            </a:r>
            <a:endParaRPr lang="es-CL" sz="3000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s-CL" sz="3200" dirty="0">
                <a:latin typeface="+mj-lt"/>
              </a:rPr>
              <a:t>BD no relacionales (</a:t>
            </a:r>
            <a:r>
              <a:rPr lang="es-CL" sz="3200" dirty="0" err="1">
                <a:latin typeface="+mj-lt"/>
              </a:rPr>
              <a:t>ejm</a:t>
            </a:r>
            <a:r>
              <a:rPr lang="es-CL" sz="3200" dirty="0">
                <a:latin typeface="+mj-lt"/>
              </a:rPr>
              <a:t>: multidimensionales, series temporales, grafos).</a:t>
            </a:r>
          </a:p>
        </p:txBody>
      </p:sp>
    </p:spTree>
    <p:extLst>
      <p:ext uri="{BB962C8B-B14F-4D97-AF65-F5344CB8AC3E}">
        <p14:creationId xmlns:p14="http://schemas.microsoft.com/office/powerpoint/2010/main" val="131259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Evaluaciones y Calificaciones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838199" y="1856801"/>
            <a:ext cx="10824713" cy="4428385"/>
          </a:xfrm>
          <a:ln w="28575">
            <a:noFill/>
          </a:ln>
        </p:spPr>
        <p:txBody>
          <a:bodyPr vert="horz" lIns="0" tIns="45720" rIns="0" bIns="45720" rtlCol="0">
            <a:noAutofit/>
          </a:bodyPr>
          <a:lstStyle/>
          <a:p>
            <a:pPr marL="635508" lvl="1" indent="-342900">
              <a:spcBef>
                <a:spcPts val="400"/>
              </a:spcBef>
            </a:pPr>
            <a:r>
              <a:rPr lang="es-CL" sz="2800" b="1" dirty="0"/>
              <a:t>Control de Lectura 1 (10%): </a:t>
            </a:r>
            <a:r>
              <a:rPr lang="es-CL" sz="2800" dirty="0"/>
              <a:t>Jueves 30 de abril.</a:t>
            </a:r>
          </a:p>
          <a:p>
            <a:pPr marL="635508" lvl="1" indent="-342900">
              <a:spcBef>
                <a:spcPts val="400"/>
              </a:spcBef>
            </a:pPr>
            <a:r>
              <a:rPr lang="es-CL" sz="2800" b="1" dirty="0"/>
              <a:t>Control de Lectura 2 (10%): </a:t>
            </a:r>
            <a:r>
              <a:rPr lang="es-CL" sz="2800" dirty="0"/>
              <a:t>Jueves 11 de junio.</a:t>
            </a:r>
          </a:p>
          <a:p>
            <a:pPr marL="635508" lvl="1" indent="-342900">
              <a:spcBef>
                <a:spcPts val="400"/>
              </a:spcBef>
            </a:pPr>
            <a:r>
              <a:rPr lang="es-CL" sz="2800" b="1" dirty="0"/>
              <a:t>Informes de Laboratorio (80%): </a:t>
            </a:r>
            <a:r>
              <a:rPr lang="es-CL" sz="2800" dirty="0"/>
              <a:t>semanas 2 a 16. (se elimina uno).</a:t>
            </a:r>
          </a:p>
          <a:p>
            <a:pPr marL="292608" lvl="1" indent="0">
              <a:spcBef>
                <a:spcPts val="400"/>
              </a:spcBef>
              <a:buNone/>
            </a:pPr>
            <a:endParaRPr lang="es-CL" sz="2800" b="1" dirty="0"/>
          </a:p>
          <a:p>
            <a:pPr marL="292608" lvl="1" indent="0">
              <a:spcBef>
                <a:spcPts val="400"/>
              </a:spcBef>
              <a:buNone/>
            </a:pPr>
            <a:r>
              <a:rPr lang="es-CL" sz="2800" b="1" dirty="0"/>
              <a:t>Promedio de aprobación: 4.5 (sin examen).</a:t>
            </a:r>
          </a:p>
          <a:p>
            <a:pPr marL="292608" lvl="1" indent="0">
              <a:spcBef>
                <a:spcPts val="400"/>
              </a:spcBef>
              <a:buNone/>
            </a:pPr>
            <a:r>
              <a:rPr lang="es-CL" sz="2800" b="1" dirty="0"/>
              <a:t>Actividad recuperativa parcial, para controles.</a:t>
            </a:r>
          </a:p>
          <a:p>
            <a:pPr marL="292608" lvl="1" indent="0">
              <a:spcBef>
                <a:spcPts val="400"/>
              </a:spcBef>
              <a:buNone/>
            </a:pPr>
            <a:r>
              <a:rPr lang="es-CL" sz="2800" b="1" dirty="0"/>
              <a:t>Asistencia controlada. Obligatoria para actividades evaluadas en clase.</a:t>
            </a:r>
          </a:p>
          <a:p>
            <a:pPr marL="292608" lvl="1" indent="0">
              <a:spcBef>
                <a:spcPts val="400"/>
              </a:spcBef>
              <a:buNone/>
            </a:pPr>
            <a:endParaRPr lang="es-CL" sz="2800" dirty="0"/>
          </a:p>
          <a:p>
            <a:pPr marL="0" indent="0">
              <a:buNone/>
            </a:pPr>
            <a:endParaRPr lang="es-CL" sz="2400" dirty="0"/>
          </a:p>
          <a:p>
            <a:pPr marL="0" indent="0">
              <a:buNone/>
            </a:pP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137615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MySQL</a:t>
            </a:r>
            <a:r>
              <a:rPr lang="es-CL" dirty="0"/>
              <a:t> - ¿Qué es?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 Gestor de bases de datos.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 Nació originalmente como un producto gratuito y de código abierto.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dirty="0"/>
              <a:t>Pensado para internet.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dirty="0"/>
              <a:t>Bajo soporte a propiedades ACID.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dirty="0"/>
              <a:t> Fue comprado por Oracle en 2010.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dirty="0"/>
              <a:t>Nace </a:t>
            </a:r>
            <a:r>
              <a:rPr lang="es-CL" dirty="0" err="1"/>
              <a:t>MariaDB</a:t>
            </a:r>
            <a:r>
              <a:rPr lang="es-CL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dirty="0" err="1"/>
              <a:t>MySQL</a:t>
            </a:r>
            <a:r>
              <a:rPr lang="es-CL" dirty="0"/>
              <a:t> incorpora características de Oracle.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dirty="0"/>
              <a:t>Versión Enterprise (pagada).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CL" dirty="0"/>
              <a:t>Versión </a:t>
            </a:r>
            <a:r>
              <a:rPr lang="es-CL" dirty="0" err="1"/>
              <a:t>Community</a:t>
            </a:r>
            <a:r>
              <a:rPr lang="es-CL" dirty="0"/>
              <a:t> (gratuita). Pensada para uso no comercial, con la mayoría de las características de la versión pagada.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381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12464"/>
          </a:xfrm>
        </p:spPr>
        <p:txBody>
          <a:bodyPr>
            <a:normAutofit fontScale="90000"/>
          </a:bodyPr>
          <a:lstStyle/>
          <a:p>
            <a:r>
              <a:rPr lang="es-CL" dirty="0" err="1"/>
              <a:t>MySQL</a:t>
            </a:r>
            <a:r>
              <a:rPr lang="es-CL" dirty="0"/>
              <a:t> </a:t>
            </a:r>
            <a:r>
              <a:rPr lang="es-CL" dirty="0" err="1"/>
              <a:t>Workbench</a:t>
            </a:r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25" y="999068"/>
            <a:ext cx="10640910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4258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Tarea próxima clase: Instalar </a:t>
            </a:r>
            <a:r>
              <a:rPr lang="es-CL" dirty="0" err="1"/>
              <a:t>MySQL</a:t>
            </a:r>
            <a:r>
              <a:rPr lang="es-CL" dirty="0"/>
              <a:t> 8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/>
              <a:t>El software se descarga aquí:  </a:t>
            </a:r>
            <a:r>
              <a:rPr lang="es-CL" dirty="0">
                <a:hlinkClick r:id="rId2"/>
              </a:rPr>
              <a:t>https://dev.mysql.com/downloads/</a:t>
            </a:r>
            <a:endParaRPr lang="es-CL" dirty="0"/>
          </a:p>
          <a:p>
            <a:endParaRPr lang="es-CL" dirty="0"/>
          </a:p>
          <a:p>
            <a:r>
              <a:rPr lang="es-CL" dirty="0"/>
              <a:t>La opción “MySQL </a:t>
            </a:r>
            <a:r>
              <a:rPr lang="es-CL" dirty="0" err="1"/>
              <a:t>Installer</a:t>
            </a:r>
            <a:r>
              <a:rPr lang="es-CL" dirty="0"/>
              <a:t> </a:t>
            </a:r>
            <a:r>
              <a:rPr lang="es-CL" dirty="0" err="1"/>
              <a:t>for</a:t>
            </a:r>
            <a:r>
              <a:rPr lang="es-CL" dirty="0"/>
              <a:t> Windows” trae todo lo necesario (el servidor y la herramienta de administración). Usaremos la versión 8.0.45.</a:t>
            </a:r>
          </a:p>
          <a:p>
            <a:endParaRPr lang="es-CL" dirty="0"/>
          </a:p>
          <a:p>
            <a:r>
              <a:rPr lang="es-CL" dirty="0"/>
              <a:t>Importante: </a:t>
            </a:r>
            <a:r>
              <a:rPr lang="es-CL" b="1" dirty="0"/>
              <a:t>Si no utilizarán Windows</a:t>
            </a:r>
            <a:r>
              <a:rPr lang="es-CL" dirty="0"/>
              <a:t>, </a:t>
            </a:r>
            <a:r>
              <a:rPr lang="es-CL" b="1" dirty="0"/>
              <a:t>por favor </a:t>
            </a:r>
            <a:r>
              <a:rPr lang="es-CL" dirty="0"/>
              <a:t>tómense el tiempo de instalarlo antes de clases.</a:t>
            </a:r>
          </a:p>
          <a:p>
            <a:endParaRPr lang="es-CL" dirty="0"/>
          </a:p>
          <a:p>
            <a:r>
              <a:rPr lang="es-CL" dirty="0"/>
              <a:t>Si alguien quiere realizar la instalación </a:t>
            </a:r>
            <a:r>
              <a:rPr lang="es-CL" b="1" dirty="0"/>
              <a:t>ahora</a:t>
            </a:r>
            <a:r>
              <a:rPr lang="es-CL" dirty="0"/>
              <a:t>, bienvenida/o.</a:t>
            </a:r>
          </a:p>
        </p:txBody>
      </p:sp>
    </p:spTree>
    <p:extLst>
      <p:ext uri="{BB962C8B-B14F-4D97-AF65-F5344CB8AC3E}">
        <p14:creationId xmlns:p14="http://schemas.microsoft.com/office/powerpoint/2010/main" val="3157390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Unidades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s-CL" sz="3200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s-CL" sz="3200" dirty="0">
                <a:latin typeface="+mj-lt"/>
              </a:rPr>
              <a:t>Introducción. (y repaso).</a:t>
            </a:r>
          </a:p>
          <a:p>
            <a:pPr marL="514350" indent="-514350">
              <a:buFont typeface="+mj-lt"/>
              <a:buAutoNum type="arabicPeriod"/>
            </a:pPr>
            <a:r>
              <a:rPr lang="es-CL" sz="3200" dirty="0" err="1">
                <a:latin typeface="+mj-lt"/>
              </a:rPr>
              <a:t>Adm</a:t>
            </a:r>
            <a:r>
              <a:rPr lang="es-CL" sz="3200" dirty="0"/>
              <a:t>. y Optimización de BD Relacionales</a:t>
            </a:r>
          </a:p>
          <a:p>
            <a:pPr marL="806958" lvl="1" indent="-514350">
              <a:buFont typeface="Arial" panose="020B0604020202020204" pitchFamily="34" charset="0"/>
              <a:buChar char="•"/>
            </a:pPr>
            <a:r>
              <a:rPr lang="es-CL" sz="3000" dirty="0">
                <a:latin typeface="+mj-lt"/>
              </a:rPr>
              <a:t>Rol de Ingeniero de Software.</a:t>
            </a:r>
          </a:p>
          <a:p>
            <a:pPr marL="806958" lvl="1" indent="-514350">
              <a:buFont typeface="Arial" panose="020B0604020202020204" pitchFamily="34" charset="0"/>
              <a:buChar char="•"/>
            </a:pPr>
            <a:r>
              <a:rPr lang="es-CL" sz="3000" dirty="0"/>
              <a:t>Rol de DBA.</a:t>
            </a:r>
            <a:endParaRPr lang="es-CL" sz="3000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s-CL" sz="3200" dirty="0">
                <a:latin typeface="+mj-lt"/>
              </a:rPr>
              <a:t>BD no relacionales (</a:t>
            </a:r>
            <a:r>
              <a:rPr lang="es-CL" sz="3200" dirty="0" err="1">
                <a:latin typeface="+mj-lt"/>
              </a:rPr>
              <a:t>ejm</a:t>
            </a:r>
            <a:r>
              <a:rPr lang="es-CL" sz="3200" dirty="0">
                <a:latin typeface="+mj-lt"/>
              </a:rPr>
              <a:t>: documentos, multidimensionales, series temporales, grafos).</a:t>
            </a:r>
          </a:p>
        </p:txBody>
      </p:sp>
    </p:spTree>
    <p:extLst>
      <p:ext uri="{BB962C8B-B14F-4D97-AF65-F5344CB8AC3E}">
        <p14:creationId xmlns:p14="http://schemas.microsoft.com/office/powerpoint/2010/main" val="23184363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15179</TotalTime>
  <Words>883</Words>
  <Application>Microsoft Office PowerPoint</Application>
  <PresentationFormat>Panorámica</PresentationFormat>
  <Paragraphs>127</Paragraphs>
  <Slides>25</Slides>
  <Notes>8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Retrospección</vt:lpstr>
      <vt:lpstr>Unidad 0 - Introducción</vt:lpstr>
      <vt:lpstr>Agenda</vt:lpstr>
      <vt:lpstr>Presentación del profesor: Juan Pablo Salazar</vt:lpstr>
      <vt:lpstr>Diagnóstico – Mentimeter  www.menti.com</vt:lpstr>
      <vt:lpstr>Agenda</vt:lpstr>
      <vt:lpstr>Bases de Datos – Sistema Gestor de Bases de Datos</vt:lpstr>
      <vt:lpstr>Bases de Datos  &amp; Sistemas de Archivos</vt:lpstr>
      <vt:lpstr>Bases de Datos  &amp; Sistemas de Archivos </vt:lpstr>
      <vt:lpstr>Niveles de abstracción de datos </vt:lpstr>
      <vt:lpstr>Ejemplo: Almacenamiento físico BD Oracle</vt:lpstr>
      <vt:lpstr>Ejemplo Nivel Lógico y Vistas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Arquitectura MySQL</vt:lpstr>
      <vt:lpstr>Arquitectura Oracle</vt:lpstr>
      <vt:lpstr>Revisión del Programa del Curso</vt:lpstr>
      <vt:lpstr>Unidades</vt:lpstr>
      <vt:lpstr>Evaluaciones y Calificaciones</vt:lpstr>
      <vt:lpstr>MySQL - ¿Qué es? </vt:lpstr>
      <vt:lpstr>MySQL Workbench</vt:lpstr>
      <vt:lpstr>Tarea próxima clase: Instalar MySQL 8</vt:lpstr>
      <vt:lpstr>Unidades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Instroducción</dc:title>
  <dc:creator>Valeria Henriquez Norambuena</dc:creator>
  <cp:lastModifiedBy>Juan Pablo Salazar Fernández</cp:lastModifiedBy>
  <cp:revision>160</cp:revision>
  <dcterms:created xsi:type="dcterms:W3CDTF">2017-03-03T14:54:52Z</dcterms:created>
  <dcterms:modified xsi:type="dcterms:W3CDTF">2026-03-19T13:09:51Z</dcterms:modified>
</cp:coreProperties>
</file>